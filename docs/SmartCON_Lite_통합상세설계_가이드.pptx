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44095" y="830907"/>
            <a:ext cx="5855782" cy="1289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spc="-1" kern="0" dirty="0">
                <a:solidFill>
                  <a:srgbClr val="FFFFFF"/>
                </a:solidFill>
              </a:rPr>
              <a:t>SmartCON Lite</a:t>
            </a:r>
            <a:pPr algn="ctr" indent="0" marL="0">
              <a:lnSpc>
                <a:spcPts val="4300"/>
              </a:lnSpc>
              <a:buNone/>
            </a:pPr>
            <a:r>
              <a:rPr lang="en-US" sz="3294" b="1" spc="-1" kern="0" dirty="0">
                <a:solidFill>
                  <a:srgbClr val="FFFFFF"/>
                </a:solidFill>
              </a:rPr>
              <a:t>
</a:t>
            </a:r>
            <a:pPr algn="ctr" indent="0" marL="0">
              <a:lnSpc>
                <a:spcPts val="4300"/>
              </a:lnSpc>
              <a:buNone/>
            </a:pPr>
            <a:r>
              <a:rPr lang="en-US" sz="3294" b="1" spc="-1" kern="0" dirty="0">
                <a:solidFill>
                  <a:srgbClr val="FFFFFF"/>
                </a:solidFill>
              </a:rPr>
              <a:t>통합 상세설계 가이드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1644095" y="2463254"/>
            <a:ext cx="5855782" cy="28932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E2E8F0"/>
                </a:solidFill>
              </a:rPr>
              <a:t>초급 풀스택 개발자를 위한 화면 UI, 기능 로직, 데이터 매핑 통합 명세</a:t>
            </a:r>
            <a:endParaRPr lang="en-US" sz="1397" dirty="0"/>
          </a:p>
        </p:txBody>
      </p:sp>
      <p:sp>
        <p:nvSpPr>
          <p:cNvPr id="5" name="Shape 2"/>
          <p:cNvSpPr/>
          <p:nvPr/>
        </p:nvSpPr>
        <p:spPr>
          <a:xfrm>
            <a:off x="1715532" y="3181201"/>
            <a:ext cx="1809043" cy="1423392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44120" y="3608040"/>
            <a:ext cx="154235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Transparency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1844120" y="3902720"/>
            <a:ext cx="1542352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안면인식 기반의 객관적이고</a:t>
            </a:r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
</a:t>
            </a:r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투명한 출역 관리 시스템</a:t>
            </a:r>
            <a:endParaRPr lang="en-US" sz="727" dirty="0"/>
          </a:p>
        </p:txBody>
      </p:sp>
      <p:sp>
        <p:nvSpPr>
          <p:cNvPr id="8" name="Shape 5"/>
          <p:cNvSpPr/>
          <p:nvPr/>
        </p:nvSpPr>
        <p:spPr>
          <a:xfrm>
            <a:off x="3657935" y="3181201"/>
            <a:ext cx="1813815" cy="1423392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10B981">
                <a:alpha val="20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131" y="3309789"/>
            <a:ext cx="17145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91294" y="3766989"/>
            <a:ext cx="154712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Convenience</a:t>
            </a:r>
            <a:endParaRPr lang="en-US" sz="987" dirty="0"/>
          </a:p>
        </p:txBody>
      </p:sp>
      <p:sp>
        <p:nvSpPr>
          <p:cNvPr id="11" name="Text 7"/>
          <p:cNvSpPr/>
          <p:nvPr/>
        </p:nvSpPr>
        <p:spPr>
          <a:xfrm>
            <a:off x="3791294" y="4061668"/>
            <a:ext cx="154712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현장 중심의 모바일 우선 설계와</a:t>
            </a:r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
</a:t>
            </a:r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직관적인 사용자 경험</a:t>
            </a:r>
            <a:endParaRPr lang="en-US" sz="727" dirty="0"/>
          </a:p>
        </p:txBody>
      </p:sp>
      <p:sp>
        <p:nvSpPr>
          <p:cNvPr id="12" name="Shape 8"/>
          <p:cNvSpPr/>
          <p:nvPr/>
        </p:nvSpPr>
        <p:spPr>
          <a:xfrm>
            <a:off x="5609881" y="3181201"/>
            <a:ext cx="1818587" cy="1423392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10B981">
                <a:alpha val="20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590" y="3316932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747956" y="3774132"/>
            <a:ext cx="155186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Flexibility</a:t>
            </a:r>
            <a:endParaRPr lang="en-US" sz="987" dirty="0"/>
          </a:p>
        </p:txBody>
      </p:sp>
      <p:sp>
        <p:nvSpPr>
          <p:cNvPr id="15" name="Text 10"/>
          <p:cNvSpPr/>
          <p:nvPr/>
        </p:nvSpPr>
        <p:spPr>
          <a:xfrm>
            <a:off x="5747956" y="4068812"/>
            <a:ext cx="155186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다양한 건설 현장 환경에</a:t>
            </a:r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
</a:t>
            </a:r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유연하게 대응하는 아키텍처</a:t>
            </a:r>
            <a:endParaRPr lang="en-US" sz="727" dirty="0"/>
          </a:p>
        </p:txBody>
      </p:sp>
      <p:sp>
        <p:nvSpPr>
          <p:cNvPr id="16" name="Text 11"/>
          <p:cNvSpPr/>
          <p:nvPr/>
        </p:nvSpPr>
        <p:spPr>
          <a:xfrm>
            <a:off x="3331108" y="4772025"/>
            <a:ext cx="248175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2" kern="0" dirty="0">
                <a:solidFill>
                  <a:srgbClr val="64748B"/>
                </a:solidFill>
              </a:rPr>
              <a:t>BUILDING TRUST THROUGH TECHNOLOGY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68334"/>
            <a:ext cx="8715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시스템 아키텍처 및 기술 스택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29106"/>
            <a:ext cx="8715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멀티테넌트 기반의 확장 가능한 클라우드 네이티브 아키텍처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428625" y="1404165"/>
            <a:ext cx="4014788" cy="3429000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8" y="1596154"/>
            <a:ext cx="176808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9752" y="1561328"/>
            <a:ext cx="228106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멀티테넌트 아키텍처 (Shared DB)</a:t>
            </a:r>
            <a:endParaRPr lang="en-US" sz="1090" dirty="0"/>
          </a:p>
        </p:txBody>
      </p:sp>
      <p:sp>
        <p:nvSpPr>
          <p:cNvPr id="8" name="Shape 4"/>
          <p:cNvSpPr/>
          <p:nvPr/>
        </p:nvSpPr>
        <p:spPr>
          <a:xfrm>
            <a:off x="721519" y="2052461"/>
            <a:ext cx="3429000" cy="533995"/>
          </a:xfrm>
          <a:prstGeom prst="rect">
            <a:avLst/>
          </a:prstGeom>
          <a:solidFill>
            <a:srgbClr val="0F172A">
              <a:alpha val="80000"/>
            </a:srgbClr>
          </a:solidFill>
          <a:ln w="9144">
            <a:solidFill>
              <a:srgbClr val="0EA5E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07244" y="2109611"/>
            <a:ext cx="33432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EA5E9"/>
                </a:solidFill>
              </a:rPr>
              <a:t>데이터 격리 (Isolation)</a:t>
            </a:r>
            <a:endParaRPr lang="en-US" sz="683" dirty="0"/>
          </a:p>
        </p:txBody>
      </p:sp>
      <p:sp>
        <p:nvSpPr>
          <p:cNvPr id="10" name="Text 6"/>
          <p:cNvSpPr/>
          <p:nvPr/>
        </p:nvSpPr>
        <p:spPr>
          <a:xfrm>
            <a:off x="807244" y="2291776"/>
            <a:ext cx="32531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Shared Database, Shared Schema 구조에서 tenant_id 컬럼을 통한 논리적</a:t>
            </a:r>
            <a:endParaRPr lang="en-US" sz="727" dirty="0"/>
          </a:p>
        </p:txBody>
      </p:sp>
      <p:sp>
        <p:nvSpPr>
          <p:cNvPr id="11" name="Text 7"/>
          <p:cNvSpPr/>
          <p:nvPr/>
        </p:nvSpPr>
        <p:spPr>
          <a:xfrm>
            <a:off x="807244" y="2436437"/>
            <a:ext cx="3940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격리 수행</a:t>
            </a:r>
            <a:endParaRPr lang="en-US" sz="727" dirty="0"/>
          </a:p>
        </p:txBody>
      </p:sp>
      <p:sp>
        <p:nvSpPr>
          <p:cNvPr id="12" name="Shape 8"/>
          <p:cNvSpPr/>
          <p:nvPr/>
        </p:nvSpPr>
        <p:spPr>
          <a:xfrm>
            <a:off x="721519" y="2657894"/>
            <a:ext cx="3429000" cy="389334"/>
          </a:xfrm>
          <a:prstGeom prst="rect">
            <a:avLst/>
          </a:prstGeom>
          <a:solidFill>
            <a:srgbClr val="0F172A">
              <a:alpha val="80000"/>
            </a:srgbClr>
          </a:solidFill>
          <a:ln w="9144">
            <a:solidFill>
              <a:srgbClr val="0EA5E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07244" y="2715044"/>
            <a:ext cx="33432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EA5E9"/>
                </a:solidFill>
              </a:rPr>
              <a:t>테넌트 식별 (Identification)</a:t>
            </a:r>
            <a:endParaRPr lang="en-US" sz="683" dirty="0"/>
          </a:p>
        </p:txBody>
      </p:sp>
      <p:sp>
        <p:nvSpPr>
          <p:cNvPr id="14" name="Text 10"/>
          <p:cNvSpPr/>
          <p:nvPr/>
        </p:nvSpPr>
        <p:spPr>
          <a:xfrm>
            <a:off x="807244" y="2897209"/>
            <a:ext cx="299258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JWT 토큰 내 tenant_id를 포함하여 모든 API 요청 시 컨텍스트 자동 설정</a:t>
            </a:r>
            <a:endParaRPr lang="en-US" sz="727" dirty="0"/>
          </a:p>
        </p:txBody>
      </p:sp>
      <p:sp>
        <p:nvSpPr>
          <p:cNvPr id="15" name="Shape 11"/>
          <p:cNvSpPr/>
          <p:nvPr/>
        </p:nvSpPr>
        <p:spPr>
          <a:xfrm>
            <a:off x="721519" y="3118665"/>
            <a:ext cx="3429000" cy="389334"/>
          </a:xfrm>
          <a:prstGeom prst="rect">
            <a:avLst/>
          </a:prstGeom>
          <a:solidFill>
            <a:srgbClr val="0F172A">
              <a:alpha val="80000"/>
            </a:srgbClr>
          </a:solidFill>
          <a:ln w="9144">
            <a:solidFill>
              <a:srgbClr val="0EA5E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07244" y="3175815"/>
            <a:ext cx="33432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EA5E9"/>
                </a:solidFill>
              </a:rPr>
              <a:t>파일 격리 (Storage)</a:t>
            </a:r>
            <a:endParaRPr lang="en-US" sz="683" dirty="0"/>
          </a:p>
        </p:txBody>
      </p:sp>
      <p:sp>
        <p:nvSpPr>
          <p:cNvPr id="17" name="Text 13"/>
          <p:cNvSpPr/>
          <p:nvPr/>
        </p:nvSpPr>
        <p:spPr>
          <a:xfrm>
            <a:off x="807244" y="3357981"/>
            <a:ext cx="274225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AWS S3 경로에 tenant_id를 포함하여 물리적 파일 접근 경로 분리</a:t>
            </a:r>
            <a:endParaRPr lang="en-US" sz="727" dirty="0"/>
          </a:p>
        </p:txBody>
      </p:sp>
      <p:sp>
        <p:nvSpPr>
          <p:cNvPr id="18" name="Shape 14"/>
          <p:cNvSpPr/>
          <p:nvPr/>
        </p:nvSpPr>
        <p:spPr>
          <a:xfrm>
            <a:off x="721519" y="3579437"/>
            <a:ext cx="3429000" cy="389334"/>
          </a:xfrm>
          <a:prstGeom prst="rect">
            <a:avLst/>
          </a:prstGeom>
          <a:solidFill>
            <a:srgbClr val="0F172A">
              <a:alpha val="80000"/>
            </a:srgbClr>
          </a:solidFill>
          <a:ln w="9144">
            <a:solidFill>
              <a:srgbClr val="0EA5E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07244" y="3636587"/>
            <a:ext cx="33432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EA5E9"/>
                </a:solidFill>
              </a:rPr>
              <a:t>보안 필터 (Security)</a:t>
            </a:r>
            <a:endParaRPr lang="en-US" sz="683" dirty="0"/>
          </a:p>
        </p:txBody>
      </p:sp>
      <p:sp>
        <p:nvSpPr>
          <p:cNvPr id="20" name="Text 16"/>
          <p:cNvSpPr/>
          <p:nvPr/>
        </p:nvSpPr>
        <p:spPr>
          <a:xfrm>
            <a:off x="807244" y="3818753"/>
            <a:ext cx="282716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Hibernate Filter를 활용하여 모든 쿼리에 tenant_id 조건 자동 추가</a:t>
            </a:r>
            <a:endParaRPr lang="en-US" sz="727" dirty="0"/>
          </a:p>
        </p:txBody>
      </p:sp>
      <p:sp>
        <p:nvSpPr>
          <p:cNvPr id="21" name="Shape 17"/>
          <p:cNvSpPr/>
          <p:nvPr/>
        </p:nvSpPr>
        <p:spPr>
          <a:xfrm>
            <a:off x="4700588" y="1404165"/>
            <a:ext cx="4014788" cy="3429000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1596154"/>
            <a:ext cx="196453" cy="15716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61359" y="1561328"/>
            <a:ext cx="1896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통합 기술 스택 (Tech Stack)</a:t>
            </a:r>
            <a:endParaRPr lang="en-US" sz="1090" dirty="0"/>
          </a:p>
        </p:txBody>
      </p:sp>
      <p:sp>
        <p:nvSpPr>
          <p:cNvPr id="24" name="Text 19"/>
          <p:cNvSpPr/>
          <p:nvPr/>
        </p:nvSpPr>
        <p:spPr>
          <a:xfrm>
            <a:off x="4857750" y="1945305"/>
            <a:ext cx="857250" cy="150019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Frontend</a:t>
            </a:r>
            <a:endParaRPr lang="en-US" sz="683" dirty="0"/>
          </a:p>
        </p:txBody>
      </p:sp>
      <p:sp>
        <p:nvSpPr>
          <p:cNvPr id="25" name="Text 20"/>
          <p:cNvSpPr/>
          <p:nvPr/>
        </p:nvSpPr>
        <p:spPr>
          <a:xfrm>
            <a:off x="5715000" y="1945305"/>
            <a:ext cx="28432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React 18, TypeScript, Vite, Shadcn/UI, Tailwind CSS, Zustand, TanStack Query</a:t>
            </a:r>
            <a:endParaRPr lang="en-US" sz="780" dirty="0"/>
          </a:p>
        </p:txBody>
      </p:sp>
      <p:sp>
        <p:nvSpPr>
          <p:cNvPr id="26" name="Text 21"/>
          <p:cNvSpPr/>
          <p:nvPr/>
        </p:nvSpPr>
        <p:spPr>
          <a:xfrm>
            <a:off x="4857750" y="2416792"/>
            <a:ext cx="857250" cy="150019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Backend</a:t>
            </a:r>
            <a:endParaRPr lang="en-US" sz="683" dirty="0"/>
          </a:p>
        </p:txBody>
      </p:sp>
      <p:sp>
        <p:nvSpPr>
          <p:cNvPr id="27" name="Text 22"/>
          <p:cNvSpPr/>
          <p:nvPr/>
        </p:nvSpPr>
        <p:spPr>
          <a:xfrm>
            <a:off x="5715000" y="2416792"/>
            <a:ext cx="28432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Java 17, Spring Boot 3.3, MariaDB, JPA/Hibernate, Spring Security (JWT)</a:t>
            </a:r>
            <a:endParaRPr lang="en-US" sz="780" dirty="0"/>
          </a:p>
        </p:txBody>
      </p:sp>
      <p:sp>
        <p:nvSpPr>
          <p:cNvPr id="28" name="Text 23"/>
          <p:cNvSpPr/>
          <p:nvPr/>
        </p:nvSpPr>
        <p:spPr>
          <a:xfrm>
            <a:off x="4857750" y="2888280"/>
            <a:ext cx="857250" cy="150019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Mobile</a:t>
            </a:r>
            <a:endParaRPr lang="en-US" sz="683" dirty="0"/>
          </a:p>
        </p:txBody>
      </p:sp>
      <p:sp>
        <p:nvSpPr>
          <p:cNvPr id="29" name="Text 24"/>
          <p:cNvSpPr/>
          <p:nvPr/>
        </p:nvSpPr>
        <p:spPr>
          <a:xfrm>
            <a:off x="5715000" y="2888280"/>
            <a:ext cx="28432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Capacitor 6.0 (Hybrid App), Camera/GPS/Push Native API 연동</a:t>
            </a:r>
            <a:endParaRPr lang="en-US" sz="780" dirty="0"/>
          </a:p>
        </p:txBody>
      </p:sp>
      <p:sp>
        <p:nvSpPr>
          <p:cNvPr id="30" name="Text 25"/>
          <p:cNvSpPr/>
          <p:nvPr/>
        </p:nvSpPr>
        <p:spPr>
          <a:xfrm>
            <a:off x="4857750" y="3359767"/>
            <a:ext cx="857250" cy="150019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Infra/External</a:t>
            </a:r>
            <a:endParaRPr lang="en-US" sz="683" dirty="0"/>
          </a:p>
        </p:txBody>
      </p:sp>
      <p:sp>
        <p:nvSpPr>
          <p:cNvPr id="31" name="Text 26"/>
          <p:cNvSpPr/>
          <p:nvPr/>
        </p:nvSpPr>
        <p:spPr>
          <a:xfrm>
            <a:off x="5715000" y="3359767"/>
            <a:ext cx="28432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Docker, AWS S3, Redis, FaceNet (AI), Kakao/Naver OAuth2, SMS Gateway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75478"/>
            <a:ext cx="8715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사용자 역할 및 권한 매트릭스 (RBAC)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36250"/>
            <a:ext cx="8715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5단계 계층적 역할 모델을 통한 정교한 접근 제어 및 데이터 격리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428625" y="1254147"/>
            <a:ext cx="1600200" cy="1100138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69" y="1339872"/>
            <a:ext cx="214313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4350" y="1682772"/>
            <a:ext cx="14287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슈퍼관리자</a:t>
            </a:r>
            <a:endParaRPr lang="en-US" sz="784" dirty="0"/>
          </a:p>
        </p:txBody>
      </p:sp>
      <p:sp>
        <p:nvSpPr>
          <p:cNvPr id="8" name="Text 4"/>
          <p:cNvSpPr/>
          <p:nvPr/>
        </p:nvSpPr>
        <p:spPr>
          <a:xfrm>
            <a:off x="514350" y="1904228"/>
            <a:ext cx="142875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시스템 전체 운영,</a:t>
            </a:r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테넌트 및 구독 승인</a:t>
            </a:r>
            <a:endParaRPr lang="en-US" sz="621" dirty="0"/>
          </a:p>
        </p:txBody>
      </p:sp>
      <p:sp>
        <p:nvSpPr>
          <p:cNvPr id="9" name="Shape 5"/>
          <p:cNvSpPr/>
          <p:nvPr/>
        </p:nvSpPr>
        <p:spPr>
          <a:xfrm>
            <a:off x="2100263" y="1254147"/>
            <a:ext cx="1600200" cy="1100138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069" y="1339872"/>
            <a:ext cx="128588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185988" y="1682772"/>
            <a:ext cx="14287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본사관리자</a:t>
            </a:r>
            <a:endParaRPr lang="en-US" sz="784" dirty="0"/>
          </a:p>
        </p:txBody>
      </p:sp>
      <p:sp>
        <p:nvSpPr>
          <p:cNvPr id="12" name="Text 7"/>
          <p:cNvSpPr/>
          <p:nvPr/>
        </p:nvSpPr>
        <p:spPr>
          <a:xfrm>
            <a:off x="2185988" y="1904228"/>
            <a:ext cx="142875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전사 현장 관리,</a:t>
            </a:r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정산 및 전사 통계</a:t>
            </a:r>
            <a:endParaRPr lang="en-US" sz="621" dirty="0"/>
          </a:p>
        </p:txBody>
      </p:sp>
      <p:sp>
        <p:nvSpPr>
          <p:cNvPr id="13" name="Shape 8"/>
          <p:cNvSpPr/>
          <p:nvPr/>
        </p:nvSpPr>
        <p:spPr>
          <a:xfrm>
            <a:off x="3771900" y="1254147"/>
            <a:ext cx="1600200" cy="1100138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559" y="1339872"/>
            <a:ext cx="192881" cy="171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857625" y="1682772"/>
            <a:ext cx="14287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현장관리자</a:t>
            </a:r>
            <a:endParaRPr lang="en-US" sz="784" dirty="0"/>
          </a:p>
        </p:txBody>
      </p:sp>
      <p:sp>
        <p:nvSpPr>
          <p:cNvPr id="16" name="Text 10"/>
          <p:cNvSpPr/>
          <p:nvPr/>
        </p:nvSpPr>
        <p:spPr>
          <a:xfrm>
            <a:off x="3857625" y="1904228"/>
            <a:ext cx="142875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현장 출역 승인,</a:t>
            </a:r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노무자 단가 관리</a:t>
            </a:r>
            <a:endParaRPr lang="en-US" sz="621" dirty="0"/>
          </a:p>
        </p:txBody>
      </p:sp>
      <p:sp>
        <p:nvSpPr>
          <p:cNvPr id="17" name="Shape 11"/>
          <p:cNvSpPr/>
          <p:nvPr/>
        </p:nvSpPr>
        <p:spPr>
          <a:xfrm>
            <a:off x="5443538" y="1254147"/>
            <a:ext cx="1600200" cy="1100138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6481" y="1339872"/>
            <a:ext cx="214313" cy="1714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529263" y="1682772"/>
            <a:ext cx="14287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노무팀장</a:t>
            </a:r>
            <a:endParaRPr lang="en-US" sz="784" dirty="0"/>
          </a:p>
        </p:txBody>
      </p:sp>
      <p:sp>
        <p:nvSpPr>
          <p:cNvPr id="20" name="Text 13"/>
          <p:cNvSpPr/>
          <p:nvPr/>
        </p:nvSpPr>
        <p:spPr>
          <a:xfrm>
            <a:off x="5529263" y="1904228"/>
            <a:ext cx="142875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팀원 관리,</a:t>
            </a:r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작업일보 작성</a:t>
            </a:r>
            <a:endParaRPr lang="en-US" sz="621" dirty="0"/>
          </a:p>
        </p:txBody>
      </p:sp>
      <p:sp>
        <p:nvSpPr>
          <p:cNvPr id="21" name="Shape 14"/>
          <p:cNvSpPr/>
          <p:nvPr/>
        </p:nvSpPr>
        <p:spPr>
          <a:xfrm>
            <a:off x="7115175" y="1254147"/>
            <a:ext cx="1600200" cy="1100138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0266" y="1339872"/>
            <a:ext cx="150019" cy="17145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200900" y="1682772"/>
            <a:ext cx="14287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일반노무자</a:t>
            </a:r>
            <a:endParaRPr lang="en-US" sz="784" dirty="0"/>
          </a:p>
        </p:txBody>
      </p:sp>
      <p:sp>
        <p:nvSpPr>
          <p:cNvPr id="24" name="Text 16"/>
          <p:cNvSpPr/>
          <p:nvPr/>
        </p:nvSpPr>
        <p:spPr>
          <a:xfrm>
            <a:off x="7200900" y="1904228"/>
            <a:ext cx="142875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안면 등록,</a:t>
            </a:r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전자계약 서명</a:t>
            </a:r>
            <a:endParaRPr lang="en-US" sz="621" dirty="0"/>
          </a:p>
        </p:txBody>
      </p:sp>
      <p:sp>
        <p:nvSpPr>
          <p:cNvPr id="25" name="Shape 17"/>
          <p:cNvSpPr/>
          <p:nvPr/>
        </p:nvSpPr>
        <p:spPr>
          <a:xfrm>
            <a:off x="428625" y="2454297"/>
            <a:ext cx="8286750" cy="1603772"/>
          </a:xfrm>
          <a:prstGeom prst="rect">
            <a:avLst/>
          </a:prstGeom>
          <a:solidFill>
            <a:srgbClr val="0F172A">
              <a:alpha val="80000"/>
            </a:srgbClr>
          </a:solidFill>
          <a:ln/>
        </p:spPr>
      </p:sp>
      <p:sp>
        <p:nvSpPr>
          <p:cNvPr id="26" name="Shape 18"/>
          <p:cNvSpPr/>
          <p:nvPr/>
        </p:nvSpPr>
        <p:spPr>
          <a:xfrm>
            <a:off x="432197" y="2457869"/>
            <a:ext cx="1528763" cy="266105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432197" y="2457869"/>
            <a:ext cx="1528763" cy="266105"/>
          </a:xfrm>
          <a:prstGeom prst="rect">
            <a:avLst/>
          </a:prstGeom>
          <a:noFill/>
          <a:ln/>
        </p:spPr>
        <p:txBody>
          <a:bodyPr wrap="square" lIns="102108" tIns="68072" rIns="8509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주요 기능 권한</a:t>
            </a:r>
            <a:endParaRPr lang="en-US" sz="683" dirty="0"/>
          </a:p>
        </p:txBody>
      </p:sp>
      <p:sp>
        <p:nvSpPr>
          <p:cNvPr id="28" name="Shape 20"/>
          <p:cNvSpPr/>
          <p:nvPr/>
        </p:nvSpPr>
        <p:spPr>
          <a:xfrm>
            <a:off x="1960959" y="2457869"/>
            <a:ext cx="1268016" cy="266105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1960959" y="2457869"/>
            <a:ext cx="1268016" cy="266105"/>
          </a:xfrm>
          <a:prstGeom prst="rect">
            <a:avLst/>
          </a:prstGeom>
          <a:noFill/>
          <a:ln/>
        </p:spPr>
        <p:txBody>
          <a:bodyPr wrap="square" lIns="102108" tIns="68072" rIns="8509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슈퍼</a:t>
            </a:r>
            <a:endParaRPr lang="en-US" sz="683" dirty="0"/>
          </a:p>
        </p:txBody>
      </p:sp>
      <p:sp>
        <p:nvSpPr>
          <p:cNvPr id="30" name="Shape 22"/>
          <p:cNvSpPr/>
          <p:nvPr/>
        </p:nvSpPr>
        <p:spPr>
          <a:xfrm>
            <a:off x="3215999" y="2457869"/>
            <a:ext cx="1271001" cy="266105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3215999" y="2457869"/>
            <a:ext cx="1271001" cy="266105"/>
          </a:xfrm>
          <a:prstGeom prst="rect">
            <a:avLst/>
          </a:prstGeom>
          <a:noFill/>
          <a:ln/>
        </p:spPr>
        <p:txBody>
          <a:bodyPr wrap="square" lIns="102108" tIns="68072" rIns="8509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본사</a:t>
            </a:r>
            <a:endParaRPr lang="en-US" sz="683" dirty="0"/>
          </a:p>
        </p:txBody>
      </p:sp>
      <p:sp>
        <p:nvSpPr>
          <p:cNvPr id="32" name="Shape 24"/>
          <p:cNvSpPr/>
          <p:nvPr/>
        </p:nvSpPr>
        <p:spPr>
          <a:xfrm>
            <a:off x="4466909" y="2457869"/>
            <a:ext cx="1277057" cy="266105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4466909" y="2457869"/>
            <a:ext cx="1277057" cy="266105"/>
          </a:xfrm>
          <a:prstGeom prst="rect">
            <a:avLst/>
          </a:prstGeom>
          <a:noFill/>
          <a:ln/>
        </p:spPr>
        <p:txBody>
          <a:bodyPr wrap="square" lIns="102108" tIns="68072" rIns="8509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현장</a:t>
            </a:r>
            <a:endParaRPr lang="en-US" sz="683" dirty="0"/>
          </a:p>
        </p:txBody>
      </p:sp>
      <p:sp>
        <p:nvSpPr>
          <p:cNvPr id="34" name="Shape 26"/>
          <p:cNvSpPr/>
          <p:nvPr/>
        </p:nvSpPr>
        <p:spPr>
          <a:xfrm>
            <a:off x="5729762" y="2457869"/>
            <a:ext cx="1283168" cy="266105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5729762" y="2457869"/>
            <a:ext cx="1283168" cy="266105"/>
          </a:xfrm>
          <a:prstGeom prst="rect">
            <a:avLst/>
          </a:prstGeom>
          <a:noFill/>
          <a:ln/>
        </p:spPr>
        <p:txBody>
          <a:bodyPr wrap="square" lIns="102108" tIns="68072" rIns="8509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팀장</a:t>
            </a:r>
            <a:endParaRPr lang="en-US" sz="683" dirty="0"/>
          </a:p>
        </p:txBody>
      </p:sp>
      <p:sp>
        <p:nvSpPr>
          <p:cNvPr id="36" name="Shape 28"/>
          <p:cNvSpPr/>
          <p:nvPr/>
        </p:nvSpPr>
        <p:spPr>
          <a:xfrm>
            <a:off x="7004810" y="2457869"/>
            <a:ext cx="1706993" cy="266105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7004810" y="2457869"/>
            <a:ext cx="1706993" cy="266105"/>
          </a:xfrm>
          <a:prstGeom prst="rect">
            <a:avLst/>
          </a:prstGeom>
          <a:noFill/>
          <a:ln/>
        </p:spPr>
        <p:txBody>
          <a:bodyPr wrap="square" lIns="102108" tIns="68072" rIns="8509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노무자</a:t>
            </a:r>
            <a:endParaRPr lang="en-US" sz="683" dirty="0"/>
          </a:p>
        </p:txBody>
      </p:sp>
      <p:sp>
        <p:nvSpPr>
          <p:cNvPr id="38" name="Text 30"/>
          <p:cNvSpPr/>
          <p:nvPr/>
        </p:nvSpPr>
        <p:spPr>
          <a:xfrm>
            <a:off x="432197" y="2716830"/>
            <a:ext cx="1528763" cy="266105"/>
          </a:xfrm>
          <a:prstGeom prst="rect">
            <a:avLst/>
          </a:prstGeom>
          <a:noFill/>
          <a:ln/>
        </p:spPr>
        <p:txBody>
          <a:bodyPr wrap="square" lIns="102108" tIns="68072" rIns="8509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</a:rPr>
              <a:t>테넌트(회사) 및 구독 관리</a:t>
            </a:r>
            <a:endParaRPr lang="en-US" sz="683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0256" y="2799876"/>
            <a:ext cx="100013" cy="100013"/>
          </a:xfrm>
          <a:prstGeom prst="rect">
            <a:avLst/>
          </a:prstGeom>
        </p:spPr>
      </p:pic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6291" y="2799876"/>
            <a:ext cx="100013" cy="100013"/>
          </a:xfrm>
          <a:prstGeom prst="rect">
            <a:avLst/>
          </a:prstGeom>
        </p:spPr>
      </p:pic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2325" y="2799876"/>
            <a:ext cx="89297" cy="100013"/>
          </a:xfrm>
          <a:prstGeom prst="rect">
            <a:avLst/>
          </a:prstGeom>
        </p:spPr>
      </p:pic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48359" y="2799876"/>
            <a:ext cx="89297" cy="100013"/>
          </a:xfrm>
          <a:prstGeom prst="rect">
            <a:avLst/>
          </a:prstGeom>
        </p:spPr>
      </p:pic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4394" y="2799876"/>
            <a:ext cx="89297" cy="100013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432197" y="2982934"/>
            <a:ext cx="1528763" cy="266105"/>
          </a:xfrm>
          <a:prstGeom prst="rect">
            <a:avLst/>
          </a:prstGeom>
          <a:noFill/>
          <a:ln/>
        </p:spPr>
        <p:txBody>
          <a:bodyPr wrap="square" lIns="102108" tIns="68072" rIns="8509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</a:rPr>
              <a:t>현장(프로젝트) 생성 및 배정</a:t>
            </a:r>
            <a:endParaRPr lang="en-US" sz="683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0256" y="3065980"/>
            <a:ext cx="100013" cy="100013"/>
          </a:xfrm>
          <a:prstGeom prst="rect">
            <a:avLst/>
          </a:prstGeom>
        </p:spPr>
      </p:pic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16291" y="3065980"/>
            <a:ext cx="100013" cy="100013"/>
          </a:xfrm>
          <a:prstGeom prst="rect">
            <a:avLst/>
          </a:prstGeom>
        </p:spPr>
      </p:pic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82325" y="3065980"/>
            <a:ext cx="89297" cy="100013"/>
          </a:xfrm>
          <a:prstGeom prst="rect">
            <a:avLst/>
          </a:prstGeom>
        </p:spPr>
      </p:pic>
      <p:pic>
        <p:nvPicPr>
          <p:cNvPr id="4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48359" y="3065980"/>
            <a:ext cx="89297" cy="100013"/>
          </a:xfrm>
          <a:prstGeom prst="rect">
            <a:avLst/>
          </a:prstGeom>
        </p:spPr>
      </p:pic>
      <p:pic>
        <p:nvPicPr>
          <p:cNvPr id="4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14394" y="3065980"/>
            <a:ext cx="89297" cy="100013"/>
          </a:xfrm>
          <a:prstGeom prst="rect">
            <a:avLst/>
          </a:prstGeom>
        </p:spPr>
      </p:pic>
      <p:sp>
        <p:nvSpPr>
          <p:cNvPr id="50" name="Text 32"/>
          <p:cNvSpPr/>
          <p:nvPr/>
        </p:nvSpPr>
        <p:spPr>
          <a:xfrm>
            <a:off x="432197" y="3249039"/>
            <a:ext cx="1528763" cy="266105"/>
          </a:xfrm>
          <a:prstGeom prst="rect">
            <a:avLst/>
          </a:prstGeom>
          <a:noFill/>
          <a:ln/>
        </p:spPr>
        <p:txBody>
          <a:bodyPr wrap="square" lIns="102108" tIns="68072" rIns="8509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</a:rPr>
              <a:t>출역 승인 및 단가 수정</a:t>
            </a:r>
            <a:endParaRPr lang="en-US" sz="683" dirty="0"/>
          </a:p>
        </p:txBody>
      </p:sp>
      <p:pic>
        <p:nvPicPr>
          <p:cNvPr id="5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50256" y="3332085"/>
            <a:ext cx="100013" cy="100013"/>
          </a:xfrm>
          <a:prstGeom prst="rect">
            <a:avLst/>
          </a:prstGeom>
        </p:spPr>
      </p:pic>
      <p:pic>
        <p:nvPicPr>
          <p:cNvPr id="5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16291" y="3332085"/>
            <a:ext cx="100013" cy="100013"/>
          </a:xfrm>
          <a:prstGeom prst="rect">
            <a:avLst/>
          </a:prstGeom>
        </p:spPr>
      </p:pic>
      <p:pic>
        <p:nvPicPr>
          <p:cNvPr id="5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82325" y="3332085"/>
            <a:ext cx="100013" cy="100013"/>
          </a:xfrm>
          <a:prstGeom prst="rect">
            <a:avLst/>
          </a:prstGeom>
        </p:spPr>
      </p:pic>
      <p:pic>
        <p:nvPicPr>
          <p:cNvPr id="54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48359" y="3332085"/>
            <a:ext cx="89297" cy="100013"/>
          </a:xfrm>
          <a:prstGeom prst="rect">
            <a:avLst/>
          </a:prstGeom>
        </p:spPr>
      </p:pic>
      <p:pic>
        <p:nvPicPr>
          <p:cNvPr id="55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14394" y="3332085"/>
            <a:ext cx="89297" cy="100013"/>
          </a:xfrm>
          <a:prstGeom prst="rect">
            <a:avLst/>
          </a:prstGeom>
        </p:spPr>
      </p:pic>
      <p:sp>
        <p:nvSpPr>
          <p:cNvPr id="56" name="Text 33"/>
          <p:cNvSpPr/>
          <p:nvPr/>
        </p:nvSpPr>
        <p:spPr>
          <a:xfrm>
            <a:off x="432197" y="3515144"/>
            <a:ext cx="1528763" cy="266105"/>
          </a:xfrm>
          <a:prstGeom prst="rect">
            <a:avLst/>
          </a:prstGeom>
          <a:noFill/>
          <a:ln/>
        </p:spPr>
        <p:txBody>
          <a:bodyPr wrap="square" lIns="102108" tIns="68072" rIns="8509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</a:rPr>
              <a:t>작업일보 작성 및 팀 관리</a:t>
            </a:r>
            <a:endParaRPr lang="en-US" sz="683" dirty="0"/>
          </a:p>
        </p:txBody>
      </p:sp>
      <p:pic>
        <p:nvPicPr>
          <p:cNvPr id="57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50256" y="3598190"/>
            <a:ext cx="100013" cy="100013"/>
          </a:xfrm>
          <a:prstGeom prst="rect">
            <a:avLst/>
          </a:prstGeom>
        </p:spPr>
      </p:pic>
      <p:pic>
        <p:nvPicPr>
          <p:cNvPr id="58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316291" y="3598190"/>
            <a:ext cx="89297" cy="100013"/>
          </a:xfrm>
          <a:prstGeom prst="rect">
            <a:avLst/>
          </a:prstGeom>
        </p:spPr>
      </p:pic>
      <p:pic>
        <p:nvPicPr>
          <p:cNvPr id="59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582325" y="3598190"/>
            <a:ext cx="100013" cy="100013"/>
          </a:xfrm>
          <a:prstGeom prst="rect">
            <a:avLst/>
          </a:prstGeom>
        </p:spPr>
      </p:pic>
      <p:pic>
        <p:nvPicPr>
          <p:cNvPr id="60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48359" y="3598190"/>
            <a:ext cx="100013" cy="100013"/>
          </a:xfrm>
          <a:prstGeom prst="rect">
            <a:avLst/>
          </a:prstGeom>
        </p:spPr>
      </p:pic>
      <p:pic>
        <p:nvPicPr>
          <p:cNvPr id="61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114394" y="3598190"/>
            <a:ext cx="89297" cy="100013"/>
          </a:xfrm>
          <a:prstGeom prst="rect">
            <a:avLst/>
          </a:prstGeom>
        </p:spPr>
      </p:pic>
      <p:sp>
        <p:nvSpPr>
          <p:cNvPr id="62" name="Text 34"/>
          <p:cNvSpPr/>
          <p:nvPr/>
        </p:nvSpPr>
        <p:spPr>
          <a:xfrm>
            <a:off x="432197" y="3781248"/>
            <a:ext cx="1528763" cy="266105"/>
          </a:xfrm>
          <a:prstGeom prst="rect">
            <a:avLst/>
          </a:prstGeom>
          <a:noFill/>
          <a:ln/>
        </p:spPr>
        <p:txBody>
          <a:bodyPr wrap="square" lIns="102108" tIns="68072" rIns="8509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</a:rPr>
              <a:t>안면 등록 및 계약 서명</a:t>
            </a:r>
            <a:endParaRPr lang="en-US" sz="683" dirty="0"/>
          </a:p>
        </p:txBody>
      </p:sp>
      <p:pic>
        <p:nvPicPr>
          <p:cNvPr id="63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050256" y="3864294"/>
            <a:ext cx="89297" cy="100013"/>
          </a:xfrm>
          <a:prstGeom prst="rect">
            <a:avLst/>
          </a:prstGeom>
        </p:spPr>
      </p:pic>
      <p:pic>
        <p:nvPicPr>
          <p:cNvPr id="64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316291" y="3864294"/>
            <a:ext cx="89297" cy="100013"/>
          </a:xfrm>
          <a:prstGeom prst="rect">
            <a:avLst/>
          </a:prstGeom>
        </p:spPr>
      </p:pic>
      <p:pic>
        <p:nvPicPr>
          <p:cNvPr id="65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582325" y="3864294"/>
            <a:ext cx="89297" cy="100013"/>
          </a:xfrm>
          <a:prstGeom prst="rect">
            <a:avLst/>
          </a:prstGeom>
        </p:spPr>
      </p:pic>
      <p:pic>
        <p:nvPicPr>
          <p:cNvPr id="66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848359" y="3864294"/>
            <a:ext cx="100013" cy="100013"/>
          </a:xfrm>
          <a:prstGeom prst="rect">
            <a:avLst/>
          </a:prstGeom>
        </p:spPr>
      </p:pic>
      <p:pic>
        <p:nvPicPr>
          <p:cNvPr id="67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114394" y="3864294"/>
            <a:ext cx="100013" cy="1000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532628"/>
            <a:ext cx="8715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통합 로그인 및 온보딩 프로세스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85775" y="993400"/>
            <a:ext cx="8715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사용자 유형별 맞춤형 인증 및 CI 기반 고유 식별 체계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485775" y="1382734"/>
            <a:ext cx="4886325" cy="464344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1500" y="1425597"/>
            <a:ext cx="171450" cy="17145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42559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8" name="Shape 5"/>
          <p:cNvSpPr/>
          <p:nvPr/>
        </p:nvSpPr>
        <p:spPr>
          <a:xfrm>
            <a:off x="814388" y="1425597"/>
            <a:ext cx="171450" cy="17145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9" name="Text 6"/>
          <p:cNvSpPr/>
          <p:nvPr/>
        </p:nvSpPr>
        <p:spPr>
          <a:xfrm>
            <a:off x="814388" y="142559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로그인 유형 선택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571500" y="1639909"/>
            <a:ext cx="4714875" cy="192881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개인사용자(소셜 로그인)와 관리자(사업자번호) 탭 분리 UI 제공. 초기값은 '개인사용자' 탭 활성화.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2873573" y="1779212"/>
            <a:ext cx="9644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</a:t>
            </a:r>
            <a:endParaRPr lang="en-US" sz="885" dirty="0"/>
          </a:p>
        </p:txBody>
      </p:sp>
      <p:sp>
        <p:nvSpPr>
          <p:cNvPr id="12" name="Shape 9"/>
          <p:cNvSpPr/>
          <p:nvPr/>
        </p:nvSpPr>
        <p:spPr>
          <a:xfrm>
            <a:off x="485775" y="1889940"/>
            <a:ext cx="4886325" cy="464344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1500" y="1932803"/>
            <a:ext cx="171450" cy="17145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193280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15" name="Shape 12"/>
          <p:cNvSpPr/>
          <p:nvPr/>
        </p:nvSpPr>
        <p:spPr>
          <a:xfrm>
            <a:off x="814388" y="1932803"/>
            <a:ext cx="171450" cy="17145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3"/>
          <p:cNvSpPr/>
          <p:nvPr/>
        </p:nvSpPr>
        <p:spPr>
          <a:xfrm>
            <a:off x="814388" y="193280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소셜 인증 및 CI 연계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571500" y="2147115"/>
            <a:ext cx="4714875" cy="192881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카카오/네이버 OAuth2 성공 후, 휴대폰 본인인증을 통해 고유 CI값을 생성하여 계정 정보와 매핑.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2873573" y="2286419"/>
            <a:ext cx="9644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</a:t>
            </a:r>
            <a:endParaRPr lang="en-US" sz="885" dirty="0"/>
          </a:p>
        </p:txBody>
      </p:sp>
      <p:sp>
        <p:nvSpPr>
          <p:cNvPr id="19" name="Shape 16"/>
          <p:cNvSpPr/>
          <p:nvPr/>
        </p:nvSpPr>
        <p:spPr>
          <a:xfrm>
            <a:off x="485775" y="2397147"/>
            <a:ext cx="4886325" cy="464344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71500" y="2440009"/>
            <a:ext cx="171450" cy="17145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1" name="Text 18"/>
          <p:cNvSpPr/>
          <p:nvPr/>
        </p:nvSpPr>
        <p:spPr>
          <a:xfrm>
            <a:off x="571500" y="244000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22" name="Shape 19"/>
          <p:cNvSpPr/>
          <p:nvPr/>
        </p:nvSpPr>
        <p:spPr>
          <a:xfrm>
            <a:off x="814388" y="2440009"/>
            <a:ext cx="171450" cy="17145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3" name="Text 20"/>
          <p:cNvSpPr/>
          <p:nvPr/>
        </p:nvSpPr>
        <p:spPr>
          <a:xfrm>
            <a:off x="814388" y="244000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역할 및 현장 선택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571500" y="2654322"/>
            <a:ext cx="4714875" cy="192881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사용자에게 부여된 다중 역할 및 소속 현장 목록을 조회하여 선택 인터페이스 노출.</a:t>
            </a:r>
            <a:endParaRPr lang="en-US" sz="727" dirty="0"/>
          </a:p>
        </p:txBody>
      </p:sp>
      <p:sp>
        <p:nvSpPr>
          <p:cNvPr id="25" name="Text 22"/>
          <p:cNvSpPr/>
          <p:nvPr/>
        </p:nvSpPr>
        <p:spPr>
          <a:xfrm>
            <a:off x="2873573" y="2793625"/>
            <a:ext cx="9644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</a:t>
            </a:r>
            <a:endParaRPr lang="en-US" sz="885" dirty="0"/>
          </a:p>
        </p:txBody>
      </p:sp>
      <p:sp>
        <p:nvSpPr>
          <p:cNvPr id="26" name="Shape 23"/>
          <p:cNvSpPr/>
          <p:nvPr/>
        </p:nvSpPr>
        <p:spPr>
          <a:xfrm>
            <a:off x="485775" y="2904353"/>
            <a:ext cx="4886325" cy="464344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71500" y="2947215"/>
            <a:ext cx="171450" cy="17145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8" name="Text 25"/>
          <p:cNvSpPr/>
          <p:nvPr/>
        </p:nvSpPr>
        <p:spPr>
          <a:xfrm>
            <a:off x="571500" y="294721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29" name="Shape 26"/>
          <p:cNvSpPr/>
          <p:nvPr/>
        </p:nvSpPr>
        <p:spPr>
          <a:xfrm>
            <a:off x="814388" y="2947215"/>
            <a:ext cx="171450" cy="17145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0" name="Text 27"/>
          <p:cNvSpPr/>
          <p:nvPr/>
        </p:nvSpPr>
        <p:spPr>
          <a:xfrm>
            <a:off x="814388" y="294721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대시보드 진입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571500" y="3161528"/>
            <a:ext cx="4714875" cy="192881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선택된 역할과 현장 ID를 전역 상태에 저장하고, 해당 권한에 맞춰 라우팅.</a:t>
            </a:r>
            <a:endParaRPr lang="en-US" sz="727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119" y="1318440"/>
            <a:ext cx="2229771" cy="155377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5514975" y="2554309"/>
            <a:ext cx="3257550" cy="1412872"/>
          </a:xfrm>
          <a:prstGeom prst="rect">
            <a:avLst/>
          </a:prstGeom>
          <a:solidFill>
            <a:srgbClr val="10B981">
              <a:alpha val="5000"/>
            </a:srgbClr>
          </a:solidFill>
          <a:ln w="9144">
            <a:solidFill>
              <a:srgbClr val="10B981"/>
            </a:solidFill>
            <a:prstDash val="dash"/>
          </a:ln>
        </p:spPr>
      </p:sp>
      <p:sp>
        <p:nvSpPr>
          <p:cNvPr id="34" name="Text 30"/>
          <p:cNvSpPr/>
          <p:nvPr/>
        </p:nvSpPr>
        <p:spPr>
          <a:xfrm>
            <a:off x="5629275" y="2763459"/>
            <a:ext cx="30289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개발자 구현 포인트</a:t>
            </a:r>
            <a:endParaRPr lang="en-US" sz="784" dirty="0"/>
          </a:p>
        </p:txBody>
      </p:sp>
      <p:sp>
        <p:nvSpPr>
          <p:cNvPr id="35" name="Text 31"/>
          <p:cNvSpPr/>
          <p:nvPr/>
        </p:nvSpPr>
        <p:spPr>
          <a:xfrm>
            <a:off x="6007112" y="3020634"/>
            <a:ext cx="47413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Auth Store</a:t>
            </a:r>
            <a:endParaRPr lang="en-US" sz="634" dirty="0"/>
          </a:p>
        </p:txBody>
      </p:sp>
      <p:sp>
        <p:nvSpPr>
          <p:cNvPr id="36" name="Text 32"/>
          <p:cNvSpPr/>
          <p:nvPr/>
        </p:nvSpPr>
        <p:spPr>
          <a:xfrm>
            <a:off x="6481251" y="3020634"/>
            <a:ext cx="2176974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: accessToken, role, tenantId, siteId를 Zustand로 관리</a:t>
            </a:r>
            <a:endParaRPr lang="en-US" sz="674" dirty="0"/>
          </a:p>
        </p:txBody>
      </p:sp>
      <p:sp>
        <p:nvSpPr>
          <p:cNvPr id="37" name="Text 33"/>
          <p:cNvSpPr/>
          <p:nvPr/>
        </p:nvSpPr>
        <p:spPr>
          <a:xfrm>
            <a:off x="6007112" y="3327815"/>
            <a:ext cx="29032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CI 인증</a:t>
            </a:r>
            <a:endParaRPr lang="en-US" sz="634" dirty="0"/>
          </a:p>
        </p:txBody>
      </p:sp>
      <p:sp>
        <p:nvSpPr>
          <p:cNvPr id="38" name="Text 34"/>
          <p:cNvSpPr/>
          <p:nvPr/>
        </p:nvSpPr>
        <p:spPr>
          <a:xfrm>
            <a:off x="6297439" y="3327815"/>
            <a:ext cx="21919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: 신규 사용자 여부(isNewUser) 판단 후 인증 모달 트리거</a:t>
            </a:r>
            <a:endParaRPr lang="en-US" sz="674" dirty="0"/>
          </a:p>
        </p:txBody>
      </p:sp>
      <p:sp>
        <p:nvSpPr>
          <p:cNvPr id="39" name="Text 35"/>
          <p:cNvSpPr/>
          <p:nvPr/>
        </p:nvSpPr>
        <p:spPr>
          <a:xfrm>
            <a:off x="6007112" y="3495694"/>
            <a:ext cx="58257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Route Guard</a:t>
            </a:r>
            <a:endParaRPr lang="en-US" sz="634" dirty="0"/>
          </a:p>
        </p:txBody>
      </p:sp>
      <p:sp>
        <p:nvSpPr>
          <p:cNvPr id="40" name="Text 36"/>
          <p:cNvSpPr/>
          <p:nvPr/>
        </p:nvSpPr>
        <p:spPr>
          <a:xfrm>
            <a:off x="6589691" y="3495694"/>
            <a:ext cx="156596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: 역할별 접근 가능 페이지를 HOC로 보호</a:t>
            </a:r>
            <a:endParaRPr lang="en-US" sz="674" dirty="0"/>
          </a:p>
        </p:txBody>
      </p:sp>
      <p:sp>
        <p:nvSpPr>
          <p:cNvPr id="41" name="Text 37"/>
          <p:cNvSpPr/>
          <p:nvPr/>
        </p:nvSpPr>
        <p:spPr>
          <a:xfrm>
            <a:off x="6007112" y="3663572"/>
            <a:ext cx="15853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API</a:t>
            </a:r>
            <a:endParaRPr lang="en-US" sz="634" dirty="0"/>
          </a:p>
        </p:txBody>
      </p:sp>
      <p:sp>
        <p:nvSpPr>
          <p:cNvPr id="42" name="Text 38"/>
          <p:cNvSpPr/>
          <p:nvPr/>
        </p:nvSpPr>
        <p:spPr>
          <a:xfrm>
            <a:off x="6165642" y="3663572"/>
            <a:ext cx="2261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: TanStack Query를 사용하여 현장 목록 캐싱 및 자동 갱신</a:t>
            </a:r>
            <a:endParaRPr lang="en-US" sz="67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68334"/>
            <a:ext cx="8715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[본사관리자] 프로젝트 및 현장 관리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29106"/>
            <a:ext cx="8715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전사 현장 개설 및 관리자 배정을 위한 핵심 비즈니스 로직 명세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428625" y="1247003"/>
            <a:ext cx="4857750" cy="3114675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377376"/>
            <a:ext cx="128588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2950" y="1347015"/>
            <a:ext cx="151991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EA5E9"/>
                </a:solidFill>
              </a:rPr>
              <a:t>신규 프로젝트 등록 프로세스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671513" y="1589903"/>
            <a:ext cx="37204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현장명, 공사기간(DateRange), 현장소장 정보를 입력받아 테넌트 하위 현장을 생성합니다.</a:t>
            </a:r>
            <a:endParaRPr lang="en-US" sz="727" dirty="0"/>
          </a:p>
        </p:txBody>
      </p:sp>
      <p:sp>
        <p:nvSpPr>
          <p:cNvPr id="9" name="Shape 5"/>
          <p:cNvSpPr/>
          <p:nvPr/>
        </p:nvSpPr>
        <p:spPr>
          <a:xfrm>
            <a:off x="671513" y="1796346"/>
            <a:ext cx="4500563" cy="191430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671513" y="1796346"/>
            <a:ext cx="21431" cy="19143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7"/>
          <p:cNvSpPr/>
          <p:nvPr/>
        </p:nvSpPr>
        <p:spPr>
          <a:xfrm>
            <a:off x="671513" y="1796346"/>
            <a:ext cx="4500563" cy="191430"/>
          </a:xfrm>
          <a:prstGeom prst="rect">
            <a:avLst/>
          </a:prstGeom>
          <a:noFill/>
          <a:ln/>
        </p:spPr>
        <p:txBody>
          <a:bodyPr wrap="none" lIns="68072" tIns="51054" rIns="68072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POST /api/v1/sites (Payload: siteName, startDate, endDate, managerId)</a:t>
            </a:r>
            <a:endParaRPr lang="en-US" sz="674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103862"/>
            <a:ext cx="160734" cy="1285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5097" y="2073501"/>
            <a:ext cx="155334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EA5E9"/>
                </a:solidFill>
              </a:rPr>
              <a:t>현장관리자 초대 및 권한 배정</a:t>
            </a:r>
            <a:endParaRPr lang="en-US" sz="885" dirty="0"/>
          </a:p>
        </p:txBody>
      </p:sp>
      <p:sp>
        <p:nvSpPr>
          <p:cNvPr id="14" name="Text 9"/>
          <p:cNvSpPr/>
          <p:nvPr/>
        </p:nvSpPr>
        <p:spPr>
          <a:xfrm>
            <a:off x="671513" y="2316389"/>
            <a:ext cx="419405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휴대폰 번호를 통해 초대 링크를 발송하며, 수락 시 해당 현장의 SITE_ADMIN 권한을 자동 부여합니다.</a:t>
            </a:r>
            <a:endParaRPr lang="en-US" sz="727" dirty="0"/>
          </a:p>
        </p:txBody>
      </p:sp>
      <p:sp>
        <p:nvSpPr>
          <p:cNvPr id="15" name="Shape 10"/>
          <p:cNvSpPr/>
          <p:nvPr/>
        </p:nvSpPr>
        <p:spPr>
          <a:xfrm>
            <a:off x="671513" y="2522832"/>
            <a:ext cx="4500563" cy="191430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671513" y="2522832"/>
            <a:ext cx="21431" cy="19143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2"/>
          <p:cNvSpPr/>
          <p:nvPr/>
        </p:nvSpPr>
        <p:spPr>
          <a:xfrm>
            <a:off x="671513" y="2522832"/>
            <a:ext cx="4500563" cy="191430"/>
          </a:xfrm>
          <a:prstGeom prst="rect">
            <a:avLst/>
          </a:prstGeom>
          <a:noFill/>
          <a:ln/>
        </p:spPr>
        <p:txBody>
          <a:bodyPr wrap="none" lIns="68072" tIns="51054" rIns="68072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POST /api/v1/invitations/site (Payload: phone, siteId, role: SITE_ADMIN)</a:t>
            </a:r>
            <a:endParaRPr lang="en-US" sz="674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830348"/>
            <a:ext cx="128588" cy="1285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2950" y="2799987"/>
            <a:ext cx="128330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EA5E9"/>
                </a:solidFill>
              </a:rPr>
              <a:t>전사 통합 대시보드 연동</a:t>
            </a:r>
            <a:endParaRPr lang="en-US" sz="885" dirty="0"/>
          </a:p>
        </p:txBody>
      </p:sp>
      <p:sp>
        <p:nvSpPr>
          <p:cNvPr id="20" name="Text 14"/>
          <p:cNvSpPr/>
          <p:nvPr/>
        </p:nvSpPr>
        <p:spPr>
          <a:xfrm>
            <a:off x="671513" y="3042875"/>
            <a:ext cx="35592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진행 중인 모든 현장의 실시간 출역 인원 및 미서명 계약 건수를 집계하여 시각화합니다.</a:t>
            </a:r>
            <a:endParaRPr lang="en-US" sz="727" dirty="0"/>
          </a:p>
        </p:txBody>
      </p:sp>
      <p:sp>
        <p:nvSpPr>
          <p:cNvPr id="21" name="Shape 15"/>
          <p:cNvSpPr/>
          <p:nvPr/>
        </p:nvSpPr>
        <p:spPr>
          <a:xfrm>
            <a:off x="671513" y="3249318"/>
            <a:ext cx="4500563" cy="191430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22" name="Shape 16"/>
          <p:cNvSpPr/>
          <p:nvPr/>
        </p:nvSpPr>
        <p:spPr>
          <a:xfrm>
            <a:off x="671513" y="3249318"/>
            <a:ext cx="21431" cy="19143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17"/>
          <p:cNvSpPr/>
          <p:nvPr/>
        </p:nvSpPr>
        <p:spPr>
          <a:xfrm>
            <a:off x="671513" y="3249318"/>
            <a:ext cx="4500563" cy="191430"/>
          </a:xfrm>
          <a:prstGeom prst="rect">
            <a:avLst/>
          </a:prstGeom>
          <a:noFill/>
          <a:ln/>
        </p:spPr>
        <p:txBody>
          <a:bodyPr wrap="none" lIns="68072" tIns="51054" rIns="68072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GET /api/v1/hq/dashboard/stats (Response: activeSites, totalWorkers, unsignedContracts)</a:t>
            </a:r>
            <a:endParaRPr lang="en-US" sz="674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4963" y="1247003"/>
            <a:ext cx="3300413" cy="1857375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414963" y="3175815"/>
            <a:ext cx="3300413" cy="1030681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514975" y="3384965"/>
            <a:ext cx="31003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구현 체크리스트</a:t>
            </a:r>
            <a:endParaRPr lang="en-US" sz="784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4975" y="3615351"/>
            <a:ext cx="92869" cy="92869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607844" y="3597492"/>
            <a:ext cx="153532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공사기간 유효성 검사 (시작일 &lt; 종료일)</a:t>
            </a:r>
            <a:endParaRPr lang="en-US" sz="674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4975" y="3754655"/>
            <a:ext cx="92869" cy="92869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607844" y="3736795"/>
            <a:ext cx="159177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현장명 중복 방지 로직 (테넌트 내 유일성)</a:t>
            </a:r>
            <a:endParaRPr lang="en-US" sz="674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4975" y="3893958"/>
            <a:ext cx="92869" cy="92869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607844" y="3876098"/>
            <a:ext cx="152714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초대 링크 만료 시간 설정 (기본 24시간)</a:t>
            </a:r>
            <a:endParaRPr lang="en-US" sz="674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4975" y="4033261"/>
            <a:ext cx="92869" cy="92869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607844" y="4015401"/>
            <a:ext cx="15470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대시보드 데이터 캐싱 (Redis 활용 권장)</a:t>
            </a:r>
            <a:endParaRPr lang="en-US" sz="67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475478"/>
            <a:ext cx="88011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[현장관리자] 신규 출역자 승인 및 단말기 연동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342900" y="936250"/>
            <a:ext cx="88011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노무자 승인 즉시 안면인식 단말기(FaceNet)와 실시간 데이터 동기화 수행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342900" y="1254147"/>
            <a:ext cx="4972050" cy="3379775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00594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1368447"/>
            <a:ext cx="133161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EA5E9"/>
                </a:solidFill>
              </a:rPr>
              <a:t>승인 및 연동 구현 로직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557213" y="1727615"/>
            <a:ext cx="464343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1. 승인 대기 리스트 조회</a:t>
            </a:r>
            <a:endParaRPr lang="en-US" sz="784" dirty="0"/>
          </a:p>
        </p:txBody>
      </p:sp>
      <p:sp>
        <p:nvSpPr>
          <p:cNvPr id="9" name="Text 5"/>
          <p:cNvSpPr/>
          <p:nvPr/>
        </p:nvSpPr>
        <p:spPr>
          <a:xfrm>
            <a:off x="557213" y="1991934"/>
            <a:ext cx="46434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GET /api/v1/sites/{siteId}/new-workers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 호출. 소속 팀, 공종, 연락처 정보를 테이블에 바인딩합니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다.</a:t>
            </a:r>
            <a:endParaRPr lang="en-US" sz="727" dirty="0"/>
          </a:p>
        </p:txBody>
      </p:sp>
      <p:sp>
        <p:nvSpPr>
          <p:cNvPr id="10" name="Text 6"/>
          <p:cNvSpPr/>
          <p:nvPr/>
        </p:nvSpPr>
        <p:spPr>
          <a:xfrm>
            <a:off x="557213" y="2443972"/>
            <a:ext cx="464343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2. 노무 단가 확정 및 수정</a:t>
            </a:r>
            <a:endParaRPr lang="en-US" sz="784" dirty="0"/>
          </a:p>
        </p:txBody>
      </p:sp>
      <p:sp>
        <p:nvSpPr>
          <p:cNvPr id="11" name="Text 7"/>
          <p:cNvSpPr/>
          <p:nvPr/>
        </p:nvSpPr>
        <p:spPr>
          <a:xfrm>
            <a:off x="557213" y="2708291"/>
            <a:ext cx="46434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Input(number) 필드를 통해 단가 수정 가능. 초기값은 공종별 표준 단가로 세팅하며, 수정 시 유효성 검사를 수행합니다.</a:t>
            </a:r>
            <a:endParaRPr lang="en-US" sz="727" dirty="0"/>
          </a:p>
        </p:txBody>
      </p:sp>
      <p:sp>
        <p:nvSpPr>
          <p:cNvPr id="12" name="Text 8"/>
          <p:cNvSpPr/>
          <p:nvPr/>
        </p:nvSpPr>
        <p:spPr>
          <a:xfrm>
            <a:off x="557213" y="3160328"/>
            <a:ext cx="464343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3. 승인 처리 및 단말기 Push</a:t>
            </a:r>
            <a:endParaRPr lang="en-US" sz="784" dirty="0"/>
          </a:p>
        </p:txBody>
      </p:sp>
      <p:sp>
        <p:nvSpPr>
          <p:cNvPr id="13" name="Text 9"/>
          <p:cNvSpPr/>
          <p:nvPr/>
        </p:nvSpPr>
        <p:spPr>
          <a:xfrm>
            <a:off x="557213" y="3424647"/>
            <a:ext cx="46434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PATCH /api/v1/attendance/approve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 호출. 성공 시 백엔드에서 FaceNet 단말기로 사용자 식별 정보를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자동 전송합니다.</a:t>
            </a:r>
            <a:endParaRPr lang="en-US" sz="727" dirty="0"/>
          </a:p>
        </p:txBody>
      </p:sp>
      <p:sp>
        <p:nvSpPr>
          <p:cNvPr id="14" name="Text 10"/>
          <p:cNvSpPr/>
          <p:nvPr/>
        </p:nvSpPr>
        <p:spPr>
          <a:xfrm>
            <a:off x="557213" y="3876684"/>
            <a:ext cx="464343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4. 실시간 동기화 확인</a:t>
            </a:r>
            <a:endParaRPr lang="en-US" sz="784" dirty="0"/>
          </a:p>
        </p:txBody>
      </p:sp>
      <p:sp>
        <p:nvSpPr>
          <p:cNvPr id="15" name="Text 11"/>
          <p:cNvSpPr/>
          <p:nvPr/>
        </p:nvSpPr>
        <p:spPr>
          <a:xfrm>
            <a:off x="557213" y="4141003"/>
            <a:ext cx="46434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단말기 수신 성공 응답 확인 후, 노무자에게 "현장 출입 가능" 알림톡(SMS)을 자동으로 발송합니다.</a:t>
            </a:r>
            <a:endParaRPr lang="en-US" sz="727" dirty="0"/>
          </a:p>
        </p:txBody>
      </p:sp>
      <p:sp>
        <p:nvSpPr>
          <p:cNvPr id="16" name="Text 12"/>
          <p:cNvSpPr/>
          <p:nvPr/>
        </p:nvSpPr>
        <p:spPr>
          <a:xfrm>
            <a:off x="457200" y="4405322"/>
            <a:ext cx="4743450" cy="2143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i="1" dirty="0">
                <a:solidFill>
                  <a:srgbClr val="10B981"/>
                </a:solidFill>
              </a:rPr>
              <a:t>* API 응답 성공 시 </a:t>
            </a:r>
            <a:pPr algn="l" indent="0" marL="0">
              <a:lnSpc>
                <a:spcPts val="900"/>
              </a:lnSpc>
              <a:buNone/>
            </a:pPr>
            <a:r>
              <a:rPr lang="en-US" sz="674" i="1" dirty="0">
                <a:solidFill>
                  <a:srgbClr val="10B981"/>
                </a:solidFill>
              </a:rPr>
              <a:t>invalidateQueries(['new-workers'])</a:t>
            </a:r>
            <a:pPr algn="l" indent="0" marL="0">
              <a:lnSpc>
                <a:spcPts val="900"/>
              </a:lnSpc>
              <a:buNone/>
            </a:pPr>
            <a:r>
              <a:rPr lang="en-US" sz="674" i="1" dirty="0">
                <a:solidFill>
                  <a:srgbClr val="10B981"/>
                </a:solidFill>
              </a:rPr>
              <a:t>를 호출하여 UI를 즉시 갱신해야 합니다.</a:t>
            </a:r>
            <a:endParaRPr lang="en-US" sz="674" dirty="0"/>
          </a:p>
        </p:txBody>
      </p:sp>
      <p:sp>
        <p:nvSpPr>
          <p:cNvPr id="17" name="Shape 13"/>
          <p:cNvSpPr/>
          <p:nvPr/>
        </p:nvSpPr>
        <p:spPr>
          <a:xfrm>
            <a:off x="5486400" y="1254147"/>
            <a:ext cx="3328988" cy="1443038"/>
          </a:xfrm>
          <a:prstGeom prst="rect">
            <a:avLst/>
          </a:prstGeom>
          <a:solidFill>
            <a:srgbClr val="1E293B"/>
          </a:solidFill>
          <a:ln w="9144">
            <a:solidFill>
              <a:srgbClr val="10B981">
                <a:alpha val="2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54147"/>
            <a:ext cx="3314700" cy="142875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486400" y="2797197"/>
            <a:ext cx="3328988" cy="1443038"/>
          </a:xfrm>
          <a:prstGeom prst="rect">
            <a:avLst/>
          </a:prstGeom>
          <a:solidFill>
            <a:srgbClr val="1E293B"/>
          </a:solidFill>
          <a:ln w="9144">
            <a:solidFill>
              <a:srgbClr val="10B981">
                <a:alpha val="20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797197"/>
            <a:ext cx="331470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532628"/>
            <a:ext cx="8715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[현장관리자] 실시간 출역 현황 및 수정 로직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85775" y="993400"/>
            <a:ext cx="8715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안면인식 로그 기반의 실시간 모니터링 및 데이터 무결성 보장을 위한 수정 프로세스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485775" y="1311297"/>
            <a:ext cx="4400550" cy="3469881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429169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7250" y="1397022"/>
            <a:ext cx="129447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EA5E9"/>
                </a:solidFill>
              </a:rPr>
              <a:t>출역 데이터 관리 명세</a:t>
            </a:r>
            <a:endParaRPr lang="en-US" sz="987" dirty="0"/>
          </a:p>
        </p:txBody>
      </p:sp>
      <p:sp>
        <p:nvSpPr>
          <p:cNvPr id="8" name="Shape 4"/>
          <p:cNvSpPr/>
          <p:nvPr/>
        </p:nvSpPr>
        <p:spPr>
          <a:xfrm>
            <a:off x="628650" y="1661340"/>
            <a:ext cx="4114800" cy="1048876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628650" y="1661340"/>
            <a:ext cx="21431" cy="10488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6"/>
          <p:cNvSpPr/>
          <p:nvPr/>
        </p:nvSpPr>
        <p:spPr>
          <a:xfrm>
            <a:off x="757238" y="1870490"/>
            <a:ext cx="38576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실시간 로그 조회 (Polling/SSE)</a:t>
            </a:r>
            <a:endParaRPr lang="en-US" sz="784" dirty="0"/>
          </a:p>
        </p:txBody>
      </p:sp>
      <p:sp>
        <p:nvSpPr>
          <p:cNvPr id="11" name="Text 7"/>
          <p:cNvSpPr/>
          <p:nvPr/>
        </p:nvSpPr>
        <p:spPr>
          <a:xfrm>
            <a:off x="757238" y="2134809"/>
            <a:ext cx="38576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현장별 실시간 태깅 데이터를 조회합니다. 상태값(정상/지각/결근)을 자동 판정하여 표시합니다.</a:t>
            </a:r>
            <a:endParaRPr lang="en-US" sz="727" dirty="0"/>
          </a:p>
        </p:txBody>
      </p:sp>
      <p:sp>
        <p:nvSpPr>
          <p:cNvPr id="12" name="Shape 8"/>
          <p:cNvSpPr/>
          <p:nvPr/>
        </p:nvSpPr>
        <p:spPr>
          <a:xfrm>
            <a:off x="757238" y="2554839"/>
            <a:ext cx="3857625" cy="155377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757238" y="2554839"/>
            <a:ext cx="3857625" cy="155377"/>
          </a:xfrm>
          <a:prstGeom prst="rect">
            <a:avLst/>
          </a:prstGeom>
          <a:noFill/>
          <a:ln/>
        </p:spPr>
        <p:txBody>
          <a:bodyPr wrap="none" lIns="68072" tIns="34036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GET /api/v1/sites/{siteId}/attendance/logs</a:t>
            </a:r>
            <a:endParaRPr lang="en-US" sz="674" dirty="0"/>
          </a:p>
        </p:txBody>
      </p:sp>
      <p:sp>
        <p:nvSpPr>
          <p:cNvPr id="14" name="Shape 10"/>
          <p:cNvSpPr/>
          <p:nvPr/>
        </p:nvSpPr>
        <p:spPr>
          <a:xfrm>
            <a:off x="628650" y="2767366"/>
            <a:ext cx="4114800" cy="1048876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28650" y="2767366"/>
            <a:ext cx="21431" cy="10488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2"/>
          <p:cNvSpPr/>
          <p:nvPr/>
        </p:nvSpPr>
        <p:spPr>
          <a:xfrm>
            <a:off x="757238" y="2976516"/>
            <a:ext cx="38576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수동 시간 수정 및 보정</a:t>
            </a:r>
            <a:endParaRPr lang="en-US" sz="784" dirty="0"/>
          </a:p>
        </p:txBody>
      </p:sp>
      <p:sp>
        <p:nvSpPr>
          <p:cNvPr id="17" name="Text 13"/>
          <p:cNvSpPr/>
          <p:nvPr/>
        </p:nvSpPr>
        <p:spPr>
          <a:xfrm>
            <a:off x="757238" y="3240835"/>
            <a:ext cx="38576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단말기 미인식 또는 특이사항 발생 시 관리자가 출퇴근 시간을 수동으로 수정합니다. TimePicker UI를 제공합니다.</a:t>
            </a:r>
            <a:endParaRPr lang="en-US" sz="727" dirty="0"/>
          </a:p>
        </p:txBody>
      </p:sp>
      <p:sp>
        <p:nvSpPr>
          <p:cNvPr id="18" name="Shape 14"/>
          <p:cNvSpPr/>
          <p:nvPr/>
        </p:nvSpPr>
        <p:spPr>
          <a:xfrm>
            <a:off x="757238" y="3660865"/>
            <a:ext cx="3857625" cy="155377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757238" y="3660865"/>
            <a:ext cx="3857625" cy="155377"/>
          </a:xfrm>
          <a:prstGeom prst="rect">
            <a:avLst/>
          </a:prstGeom>
          <a:noFill/>
          <a:ln/>
        </p:spPr>
        <p:txBody>
          <a:bodyPr wrap="none" lIns="68072" tIns="34036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PUT /api/v1/attendance/{id} (Payload: checkIn, checkOut, reason)</a:t>
            </a:r>
            <a:endParaRPr lang="en-US" sz="674" dirty="0"/>
          </a:p>
        </p:txBody>
      </p:sp>
      <p:sp>
        <p:nvSpPr>
          <p:cNvPr id="20" name="Shape 16"/>
          <p:cNvSpPr/>
          <p:nvPr/>
        </p:nvSpPr>
        <p:spPr>
          <a:xfrm>
            <a:off x="628650" y="3873391"/>
            <a:ext cx="4114800" cy="793486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628650" y="3873391"/>
            <a:ext cx="21431" cy="79348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18"/>
          <p:cNvSpPr/>
          <p:nvPr/>
        </p:nvSpPr>
        <p:spPr>
          <a:xfrm>
            <a:off x="757238" y="4082542"/>
            <a:ext cx="38576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수정 이력 관리 (Audit Trail)</a:t>
            </a:r>
            <a:endParaRPr lang="en-US" sz="784" dirty="0"/>
          </a:p>
        </p:txBody>
      </p:sp>
      <p:sp>
        <p:nvSpPr>
          <p:cNvPr id="23" name="Text 19"/>
          <p:cNvSpPr/>
          <p:nvPr/>
        </p:nvSpPr>
        <p:spPr>
          <a:xfrm>
            <a:off x="757238" y="4346860"/>
            <a:ext cx="38576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모든 수정 사항은 별도의 History 테이블에 기록되어야 하며, 수정 전/후 데이터와 수정자 정보를 보관합니다.</a:t>
            </a:r>
            <a:endParaRPr lang="en-US" sz="727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2075" y="1311297"/>
            <a:ext cx="3443288" cy="2014538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5172075" y="3397272"/>
            <a:ext cx="3600450" cy="1153464"/>
          </a:xfrm>
          <a:prstGeom prst="rect">
            <a:avLst/>
          </a:prstGeom>
          <a:solidFill>
            <a:srgbClr val="EF4444">
              <a:alpha val="5000"/>
            </a:srgbClr>
          </a:solidFill>
          <a:ln w="9144">
            <a:solidFill>
              <a:srgbClr val="EF4444">
                <a:alpha val="20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286375" y="3606422"/>
            <a:ext cx="33718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F4444"/>
                </a:solidFill>
              </a:rPr>
              <a:t>구현 시 유효성 검사 (Validation)</a:t>
            </a:r>
            <a:endParaRPr lang="en-US" sz="784" dirty="0"/>
          </a:p>
        </p:txBody>
      </p:sp>
      <p:sp>
        <p:nvSpPr>
          <p:cNvPr id="27" name="Text 22"/>
          <p:cNvSpPr/>
          <p:nvPr/>
        </p:nvSpPr>
        <p:spPr>
          <a:xfrm>
            <a:off x="5286375" y="3827878"/>
            <a:ext cx="33718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출근 시간은 현재 시간보다 미래일 수 없음</a:t>
            </a:r>
            <a:endParaRPr lang="en-US" sz="674" dirty="0"/>
          </a:p>
        </p:txBody>
      </p:sp>
      <p:sp>
        <p:nvSpPr>
          <p:cNvPr id="28" name="Text 23"/>
          <p:cNvSpPr/>
          <p:nvPr/>
        </p:nvSpPr>
        <p:spPr>
          <a:xfrm>
            <a:off x="5286375" y="3976446"/>
            <a:ext cx="33718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퇴근 시간은 출근 시간보다 빨라야 함</a:t>
            </a:r>
            <a:endParaRPr lang="en-US" sz="674" dirty="0"/>
          </a:p>
        </p:txBody>
      </p:sp>
      <p:sp>
        <p:nvSpPr>
          <p:cNvPr id="29" name="Text 24"/>
          <p:cNvSpPr/>
          <p:nvPr/>
        </p:nvSpPr>
        <p:spPr>
          <a:xfrm>
            <a:off x="5286375" y="4125013"/>
            <a:ext cx="33718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수정 시 '수정 사유' 입력은 필수(Required)</a:t>
            </a:r>
            <a:endParaRPr lang="en-US" sz="674" dirty="0"/>
          </a:p>
        </p:txBody>
      </p:sp>
      <p:sp>
        <p:nvSpPr>
          <p:cNvPr id="30" name="Text 25"/>
          <p:cNvSpPr/>
          <p:nvPr/>
        </p:nvSpPr>
        <p:spPr>
          <a:xfrm>
            <a:off x="5286375" y="4273581"/>
            <a:ext cx="33718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수정 권한은 해당 현장 관리자(SITE_ADMIN) 이상만 허용</a:t>
            </a:r>
            <a:endParaRPr lang="en-US" sz="67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75478"/>
            <a:ext cx="8715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[노무팀장] 팀 관리 및 작업일보 작성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36250"/>
            <a:ext cx="8715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팀원 배치 최적화 및 외부 API 연동을 통한 작업일보 작성 자동화 프로세스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171450" y="1254147"/>
            <a:ext cx="4329113" cy="3016979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372019"/>
            <a:ext cx="178594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5781" y="1339872"/>
            <a:ext cx="133161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EA5E9"/>
                </a:solidFill>
              </a:rPr>
              <a:t>팀원 배치 및 관리 로직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285750" y="1699040"/>
            <a:ext cx="410051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Drag &amp; Drop 팀원 배치 UI</a:t>
            </a:r>
            <a:endParaRPr lang="en-US" sz="784" dirty="0"/>
          </a:p>
        </p:txBody>
      </p:sp>
      <p:sp>
        <p:nvSpPr>
          <p:cNvPr id="9" name="Text 5"/>
          <p:cNvSpPr/>
          <p:nvPr/>
        </p:nvSpPr>
        <p:spPr>
          <a:xfrm>
            <a:off x="285750" y="1963359"/>
            <a:ext cx="4100513" cy="320018"/>
          </a:xfrm>
          <a:prstGeom prst="rect">
            <a:avLst/>
          </a:prstGeom>
          <a:noFill/>
          <a:ln/>
        </p:spPr>
        <p:txBody>
          <a:bodyPr wrap="square" lIns="68072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미배정 노무자 리스트에서 특정 팀으로 드래그하여 배치하는 인터페이스를 구현합니다. (React-beautiful-dnd 활용 권장)</a:t>
            </a:r>
            <a:endParaRPr lang="en-US" sz="727" dirty="0"/>
          </a:p>
        </p:txBody>
      </p:sp>
      <p:sp>
        <p:nvSpPr>
          <p:cNvPr id="10" name="Shape 6"/>
          <p:cNvSpPr/>
          <p:nvPr/>
        </p:nvSpPr>
        <p:spPr>
          <a:xfrm>
            <a:off x="285750" y="2426252"/>
            <a:ext cx="1746563" cy="158948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5750" y="2426252"/>
            <a:ext cx="1746563" cy="158948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PATCH /api/v1/teams/{teamId}/members</a:t>
            </a:r>
            <a:endParaRPr lang="en-US" sz="621" dirty="0"/>
          </a:p>
        </p:txBody>
      </p:sp>
      <p:sp>
        <p:nvSpPr>
          <p:cNvPr id="12" name="Text 8"/>
          <p:cNvSpPr/>
          <p:nvPr/>
        </p:nvSpPr>
        <p:spPr>
          <a:xfrm>
            <a:off x="285750" y="2722913"/>
            <a:ext cx="410051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팀원별 스킬 및 숙련도 매칭</a:t>
            </a:r>
            <a:endParaRPr lang="en-US" sz="784" dirty="0"/>
          </a:p>
        </p:txBody>
      </p:sp>
      <p:sp>
        <p:nvSpPr>
          <p:cNvPr id="13" name="Text 9"/>
          <p:cNvSpPr/>
          <p:nvPr/>
        </p:nvSpPr>
        <p:spPr>
          <a:xfrm>
            <a:off x="285750" y="2987232"/>
            <a:ext cx="4100513" cy="320018"/>
          </a:xfrm>
          <a:prstGeom prst="rect">
            <a:avLst/>
          </a:prstGeom>
          <a:noFill/>
          <a:ln/>
        </p:spPr>
        <p:txBody>
          <a:bodyPr wrap="square" lIns="68072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노무자의 공종 및 숙련도 데이터를 기반으로 해당 작업에 적합한 인원을 추천하는 필터링 로직을 적용합니다.</a:t>
            </a:r>
            <a:endParaRPr lang="en-US" sz="727" dirty="0"/>
          </a:p>
        </p:txBody>
      </p:sp>
      <p:sp>
        <p:nvSpPr>
          <p:cNvPr id="14" name="Text 10"/>
          <p:cNvSpPr/>
          <p:nvPr/>
        </p:nvSpPr>
        <p:spPr>
          <a:xfrm>
            <a:off x="285750" y="3459249"/>
            <a:ext cx="410051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실시간 투입 현황 모니터링</a:t>
            </a:r>
            <a:endParaRPr lang="en-US" sz="784" dirty="0"/>
          </a:p>
        </p:txBody>
      </p:sp>
      <p:sp>
        <p:nvSpPr>
          <p:cNvPr id="15" name="Text 11"/>
          <p:cNvSpPr/>
          <p:nvPr/>
        </p:nvSpPr>
        <p:spPr>
          <a:xfrm>
            <a:off x="285750" y="3723568"/>
            <a:ext cx="4100513" cy="320018"/>
          </a:xfrm>
          <a:prstGeom prst="rect">
            <a:avLst/>
          </a:prstGeom>
          <a:noFill/>
          <a:ln/>
        </p:spPr>
        <p:txBody>
          <a:bodyPr wrap="square" lIns="68072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팀별 현재 투입 인원과 목표 인원을 대비하여 시각화하고, 부족 인원 발생 시 즉시 알림을 생성합니다.</a:t>
            </a:r>
            <a:endParaRPr lang="en-US" sz="727" dirty="0"/>
          </a:p>
        </p:txBody>
      </p:sp>
      <p:sp>
        <p:nvSpPr>
          <p:cNvPr id="16" name="Shape 12"/>
          <p:cNvSpPr/>
          <p:nvPr/>
        </p:nvSpPr>
        <p:spPr>
          <a:xfrm>
            <a:off x="4643438" y="1254147"/>
            <a:ext cx="4329113" cy="3016979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738" y="1372019"/>
            <a:ext cx="160734" cy="1428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89909" y="1339872"/>
            <a:ext cx="12573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EA5E9"/>
                </a:solidFill>
              </a:rPr>
              <a:t>작업일보 자동화 명세</a:t>
            </a:r>
            <a:endParaRPr lang="en-US" sz="987" dirty="0"/>
          </a:p>
        </p:txBody>
      </p:sp>
      <p:sp>
        <p:nvSpPr>
          <p:cNvPr id="19" name="Text 14"/>
          <p:cNvSpPr/>
          <p:nvPr/>
        </p:nvSpPr>
        <p:spPr>
          <a:xfrm>
            <a:off x="4757738" y="1699040"/>
            <a:ext cx="410051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날씨 API 자동 연동</a:t>
            </a:r>
            <a:endParaRPr lang="en-US" sz="784" dirty="0"/>
          </a:p>
        </p:txBody>
      </p:sp>
      <p:sp>
        <p:nvSpPr>
          <p:cNvPr id="20" name="Text 15"/>
          <p:cNvSpPr/>
          <p:nvPr/>
        </p:nvSpPr>
        <p:spPr>
          <a:xfrm>
            <a:off x="4757738" y="1963359"/>
            <a:ext cx="4100513" cy="320018"/>
          </a:xfrm>
          <a:prstGeom prst="rect">
            <a:avLst/>
          </a:prstGeom>
          <a:noFill/>
          <a:ln/>
        </p:spPr>
        <p:txBody>
          <a:bodyPr wrap="square" lIns="68072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OpenWeatherMap API를 연동하여 현장 위치 기반의 기온, 습도, 강수 여부를 일보에 자동 기입합니다.</a:t>
            </a:r>
            <a:endParaRPr lang="en-US" sz="727" dirty="0"/>
          </a:p>
        </p:txBody>
      </p:sp>
      <p:sp>
        <p:nvSpPr>
          <p:cNvPr id="21" name="Shape 16"/>
          <p:cNvSpPr/>
          <p:nvPr/>
        </p:nvSpPr>
        <p:spPr>
          <a:xfrm>
            <a:off x="4757738" y="2426252"/>
            <a:ext cx="1734982" cy="158948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757738" y="2426252"/>
            <a:ext cx="1734982" cy="158948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/api/v1/external/weather?siteId={id}</a:t>
            </a:r>
            <a:endParaRPr lang="en-US" sz="621" dirty="0"/>
          </a:p>
        </p:txBody>
      </p:sp>
      <p:sp>
        <p:nvSpPr>
          <p:cNvPr id="23" name="Text 18"/>
          <p:cNvSpPr/>
          <p:nvPr/>
        </p:nvSpPr>
        <p:spPr>
          <a:xfrm>
            <a:off x="4757738" y="2722913"/>
            <a:ext cx="410051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공수 및 노무비 자동 집계</a:t>
            </a:r>
            <a:endParaRPr lang="en-US" sz="784" dirty="0"/>
          </a:p>
        </p:txBody>
      </p:sp>
      <p:sp>
        <p:nvSpPr>
          <p:cNvPr id="24" name="Text 19"/>
          <p:cNvSpPr/>
          <p:nvPr/>
        </p:nvSpPr>
        <p:spPr>
          <a:xfrm>
            <a:off x="4757738" y="2987232"/>
            <a:ext cx="4100513" cy="160009"/>
          </a:xfrm>
          <a:prstGeom prst="rect">
            <a:avLst/>
          </a:prstGeom>
          <a:noFill/>
          <a:ln/>
        </p:spPr>
        <p:txBody>
          <a:bodyPr wrap="none" lIns="68072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당일 출역한 팀원들의 공수를 합산하여 총 노무비를 자동 계산합니다. (기본공수 + 연장공수 반영)</a:t>
            </a:r>
            <a:endParaRPr lang="en-US" sz="727" dirty="0"/>
          </a:p>
        </p:txBody>
      </p:sp>
      <p:sp>
        <p:nvSpPr>
          <p:cNvPr id="25" name="Text 20"/>
          <p:cNvSpPr/>
          <p:nvPr/>
        </p:nvSpPr>
        <p:spPr>
          <a:xfrm>
            <a:off x="4757738" y="3299240"/>
            <a:ext cx="410051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제출 및 승인 워크플로우</a:t>
            </a:r>
            <a:endParaRPr lang="en-US" sz="784" dirty="0"/>
          </a:p>
        </p:txBody>
      </p:sp>
      <p:sp>
        <p:nvSpPr>
          <p:cNvPr id="26" name="Text 21"/>
          <p:cNvSpPr/>
          <p:nvPr/>
        </p:nvSpPr>
        <p:spPr>
          <a:xfrm>
            <a:off x="4757738" y="3563559"/>
            <a:ext cx="4100513" cy="320018"/>
          </a:xfrm>
          <a:prstGeom prst="rect">
            <a:avLst/>
          </a:prstGeom>
          <a:noFill/>
          <a:ln/>
        </p:spPr>
        <p:txBody>
          <a:bodyPr wrap="square" lIns="68072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일보 제출 시 현장관리자에게 푸시 알림을 발송하며, 승인 전까지는 수정 가능한 상태를 유지합니다.</a:t>
            </a:r>
            <a:endParaRPr lang="en-US" sz="727" dirty="0"/>
          </a:p>
        </p:txBody>
      </p:sp>
      <p:sp>
        <p:nvSpPr>
          <p:cNvPr id="27" name="Shape 22"/>
          <p:cNvSpPr/>
          <p:nvPr/>
        </p:nvSpPr>
        <p:spPr>
          <a:xfrm>
            <a:off x="4757738" y="4026452"/>
            <a:ext cx="1157455" cy="158948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757738" y="4026452"/>
            <a:ext cx="1157455" cy="158948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/api/v1/daily-reports</a:t>
            </a:r>
            <a:endParaRPr lang="en-US" sz="621" dirty="0"/>
          </a:p>
        </p:txBody>
      </p:sp>
      <p:sp>
        <p:nvSpPr>
          <p:cNvPr id="29" name="Shape 24"/>
          <p:cNvSpPr/>
          <p:nvPr/>
        </p:nvSpPr>
        <p:spPr>
          <a:xfrm>
            <a:off x="428625" y="4672013"/>
            <a:ext cx="8286750" cy="1857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0" name="Shape 25"/>
          <p:cNvSpPr/>
          <p:nvPr/>
        </p:nvSpPr>
        <p:spPr>
          <a:xfrm>
            <a:off x="428625" y="4672013"/>
            <a:ext cx="8286750" cy="7144"/>
          </a:xfrm>
          <a:prstGeom prst="rect">
            <a:avLst/>
          </a:prstGeom>
          <a:solidFill>
            <a:srgbClr val="DFE3EA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4743450"/>
            <a:ext cx="69652" cy="92869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69714" y="4722019"/>
            <a:ext cx="589021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개발 팁: 작업일보 작성 시 사진 첨부 기능은 AWS S3 Pre-signed URL을 사용하여 클라이언트에서 직접 업로드하도록 구현하여 서버 부하를 최소화합니다.</a:t>
            </a:r>
            <a:endParaRPr lang="en-US" sz="67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75478"/>
            <a:ext cx="8715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[일반노무자] 안면인식 데이터 등록 (FaceNet)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36250"/>
            <a:ext cx="8715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모바일 카메라 연동을 통한 고유 안면 특징점 추출 및 보안 저장 프로세스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428625" y="1282722"/>
            <a:ext cx="4000500" cy="3675459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57744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0100" y="1425597"/>
            <a:ext cx="172538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EA5E9"/>
                </a:solidFill>
              </a:rPr>
              <a:t>클라이언트 구현 (Frontend)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692944" y="1784765"/>
            <a:ext cx="359330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1. 카메라 스트림 연동</a:t>
            </a:r>
            <a:endParaRPr lang="en-US" sz="784" dirty="0"/>
          </a:p>
        </p:txBody>
      </p:sp>
      <p:sp>
        <p:nvSpPr>
          <p:cNvPr id="9" name="Text 5"/>
          <p:cNvSpPr/>
          <p:nvPr/>
        </p:nvSpPr>
        <p:spPr>
          <a:xfrm>
            <a:off x="692944" y="2049084"/>
            <a:ext cx="359330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navigator.mediaDevices.getUserMedia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를 사용하여 실시간 카메라 프리뷰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를 원형 마스크 UI에 노출합니다.</a:t>
            </a:r>
            <a:endParaRPr lang="en-US" sz="727" dirty="0"/>
          </a:p>
        </p:txBody>
      </p:sp>
      <p:sp>
        <p:nvSpPr>
          <p:cNvPr id="10" name="Text 6"/>
          <p:cNvSpPr/>
          <p:nvPr/>
        </p:nvSpPr>
        <p:spPr>
          <a:xfrm>
            <a:off x="692944" y="2501122"/>
            <a:ext cx="359330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2. 프레임 캡처 및 전처리</a:t>
            </a:r>
            <a:endParaRPr lang="en-US" sz="784" dirty="0"/>
          </a:p>
        </p:txBody>
      </p:sp>
      <p:sp>
        <p:nvSpPr>
          <p:cNvPr id="11" name="Text 7"/>
          <p:cNvSpPr/>
          <p:nvPr/>
        </p:nvSpPr>
        <p:spPr>
          <a:xfrm>
            <a:off x="692944" y="2765441"/>
            <a:ext cx="359330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Canvas API를 활용해 640x480 해상도로 캡처 후, 밝기 및 얼굴 위치를 클라이언트에서 1차 검증합니다.</a:t>
            </a:r>
            <a:endParaRPr lang="en-US" sz="727" dirty="0"/>
          </a:p>
        </p:txBody>
      </p:sp>
      <p:sp>
        <p:nvSpPr>
          <p:cNvPr id="12" name="Text 8"/>
          <p:cNvSpPr/>
          <p:nvPr/>
        </p:nvSpPr>
        <p:spPr>
          <a:xfrm>
            <a:off x="692944" y="3217478"/>
            <a:ext cx="359330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3. 서버 전송 (Multipart)</a:t>
            </a:r>
            <a:endParaRPr lang="en-US" sz="784" dirty="0"/>
          </a:p>
        </p:txBody>
      </p:sp>
      <p:sp>
        <p:nvSpPr>
          <p:cNvPr id="13" name="Text 9"/>
          <p:cNvSpPr/>
          <p:nvPr/>
        </p:nvSpPr>
        <p:spPr>
          <a:xfrm>
            <a:off x="692944" y="3481797"/>
            <a:ext cx="35933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캡처된 이미지를 Blob 형태로 변환하여 서버로 전송합니다.</a:t>
            </a:r>
            <a:endParaRPr lang="en-US" sz="727" dirty="0"/>
          </a:p>
        </p:txBody>
      </p:sp>
      <p:sp>
        <p:nvSpPr>
          <p:cNvPr id="14" name="Shape 10"/>
          <p:cNvSpPr/>
          <p:nvPr/>
        </p:nvSpPr>
        <p:spPr>
          <a:xfrm>
            <a:off x="692944" y="3731828"/>
            <a:ext cx="3593306" cy="360034"/>
          </a:xfrm>
          <a:prstGeom prst="rect">
            <a:avLst/>
          </a:prstGeom>
          <a:solidFill>
            <a:srgbClr val="0F172A">
              <a:alpha val="80000"/>
            </a:srgbClr>
          </a:solidFill>
          <a:ln w="9144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92944" y="3731828"/>
            <a:ext cx="3593306" cy="360034"/>
          </a:xfrm>
          <a:prstGeom prst="rect">
            <a:avLst/>
          </a:prstGeom>
          <a:noFill/>
          <a:ln/>
        </p:spPr>
        <p:txBody>
          <a:bodyPr wrap="square" lIns="102108" tIns="102108" rIns="102108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POST /api/v1/users/face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Content-Type: multipart/form-data</a:t>
            </a:r>
            <a:endParaRPr lang="en-US" sz="674" dirty="0"/>
          </a:p>
        </p:txBody>
      </p:sp>
      <p:sp>
        <p:nvSpPr>
          <p:cNvPr id="16" name="Shape 12"/>
          <p:cNvSpPr/>
          <p:nvPr/>
        </p:nvSpPr>
        <p:spPr>
          <a:xfrm>
            <a:off x="4714875" y="1282722"/>
            <a:ext cx="4000500" cy="3675459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1457744"/>
            <a:ext cx="142875" cy="1428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86350" y="1425597"/>
            <a:ext cx="194583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EA5E9"/>
                </a:solidFill>
              </a:rPr>
              <a:t>서버 로직 및 AI 연동 (Backend)</a:t>
            </a:r>
            <a:endParaRPr lang="en-US" sz="987" dirty="0"/>
          </a:p>
        </p:txBody>
      </p:sp>
      <p:sp>
        <p:nvSpPr>
          <p:cNvPr id="19" name="Text 14"/>
          <p:cNvSpPr/>
          <p:nvPr/>
        </p:nvSpPr>
        <p:spPr>
          <a:xfrm>
            <a:off x="4979194" y="1784765"/>
            <a:ext cx="359330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1. FaceNet 임베딩 추출</a:t>
            </a:r>
            <a:endParaRPr lang="en-US" sz="784" dirty="0"/>
          </a:p>
        </p:txBody>
      </p:sp>
      <p:sp>
        <p:nvSpPr>
          <p:cNvPr id="20" name="Text 15"/>
          <p:cNvSpPr/>
          <p:nvPr/>
        </p:nvSpPr>
        <p:spPr>
          <a:xfrm>
            <a:off x="4979194" y="2049084"/>
            <a:ext cx="359330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전송된 이미지에서 FaceNet 모델을 통해 512차원의 고유 벡터(Embedding)를 추출합니다.</a:t>
            </a:r>
            <a:endParaRPr lang="en-US" sz="727" dirty="0"/>
          </a:p>
        </p:txBody>
      </p:sp>
      <p:sp>
        <p:nvSpPr>
          <p:cNvPr id="21" name="Text 16"/>
          <p:cNvSpPr/>
          <p:nvPr/>
        </p:nvSpPr>
        <p:spPr>
          <a:xfrm>
            <a:off x="4979194" y="2501122"/>
            <a:ext cx="359330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2. 벡터 데이터 보안 저장</a:t>
            </a:r>
            <a:endParaRPr lang="en-US" sz="784" dirty="0"/>
          </a:p>
        </p:txBody>
      </p:sp>
      <p:sp>
        <p:nvSpPr>
          <p:cNvPr id="22" name="Text 17"/>
          <p:cNvSpPr/>
          <p:nvPr/>
        </p:nvSpPr>
        <p:spPr>
          <a:xfrm>
            <a:off x="4979194" y="2765441"/>
            <a:ext cx="359330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추출된 벡터는 DB의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face_embedding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 컬럼에 저장하며, 원본 이미지는 S3의 격리된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경로에 보관합니다.</a:t>
            </a:r>
            <a:endParaRPr lang="en-US" sz="727" dirty="0"/>
          </a:p>
        </p:txBody>
      </p:sp>
      <p:sp>
        <p:nvSpPr>
          <p:cNvPr id="23" name="Text 18"/>
          <p:cNvSpPr/>
          <p:nvPr/>
        </p:nvSpPr>
        <p:spPr>
          <a:xfrm>
            <a:off x="4979194" y="3217478"/>
            <a:ext cx="359330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3. 단말기 동기화 트리거</a:t>
            </a:r>
            <a:endParaRPr lang="en-US" sz="784" dirty="0"/>
          </a:p>
        </p:txBody>
      </p:sp>
      <p:sp>
        <p:nvSpPr>
          <p:cNvPr id="24" name="Text 19"/>
          <p:cNvSpPr/>
          <p:nvPr/>
        </p:nvSpPr>
        <p:spPr>
          <a:xfrm>
            <a:off x="4979194" y="3481797"/>
            <a:ext cx="359330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등록 완료 시, 해당 노무자가 소속된 현장의 모든 안면인식 단말기로 데이터를 즉시 동기화합니다.</a:t>
            </a:r>
            <a:endParaRPr lang="en-US" sz="727" dirty="0"/>
          </a:p>
        </p:txBody>
      </p:sp>
      <p:sp>
        <p:nvSpPr>
          <p:cNvPr id="25" name="Shape 20"/>
          <p:cNvSpPr/>
          <p:nvPr/>
        </p:nvSpPr>
        <p:spPr>
          <a:xfrm>
            <a:off x="4857750" y="3896134"/>
            <a:ext cx="3714750" cy="1047759"/>
          </a:xfrm>
          <a:prstGeom prst="rect">
            <a:avLst/>
          </a:prstGeom>
          <a:solidFill>
            <a:srgbClr val="10B981">
              <a:alpha val="5000"/>
            </a:srgbClr>
          </a:solidFill>
          <a:ln w="9144">
            <a:solidFill>
              <a:srgbClr val="10B981"/>
            </a:solidFill>
            <a:prstDash val="dash"/>
          </a:ln>
        </p:spPr>
      </p:sp>
      <p:sp>
        <p:nvSpPr>
          <p:cNvPr id="26" name="Text 21"/>
          <p:cNvSpPr/>
          <p:nvPr/>
        </p:nvSpPr>
        <p:spPr>
          <a:xfrm>
            <a:off x="4972050" y="4133859"/>
            <a:ext cx="34861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품질 검사 기준 (Quality Check)</a:t>
            </a:r>
            <a:endParaRPr lang="en-US" sz="784" dirty="0"/>
          </a:p>
        </p:txBody>
      </p:sp>
      <p:sp>
        <p:nvSpPr>
          <p:cNvPr id="27" name="Text 22"/>
          <p:cNvSpPr/>
          <p:nvPr/>
        </p:nvSpPr>
        <p:spPr>
          <a:xfrm>
            <a:off x="5257800" y="4391034"/>
            <a:ext cx="320040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얼굴 영역이 전체 이미지의 30% 이상 차지</a:t>
            </a:r>
            <a:endParaRPr lang="en-US" sz="674" dirty="0"/>
          </a:p>
        </p:txBody>
      </p:sp>
      <p:sp>
        <p:nvSpPr>
          <p:cNvPr id="28" name="Text 23"/>
          <p:cNvSpPr/>
          <p:nvPr/>
        </p:nvSpPr>
        <p:spPr>
          <a:xfrm>
            <a:off x="5257800" y="4539602"/>
            <a:ext cx="320040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정면 응시 및 눈/코/입 가려짐 없음 확인</a:t>
            </a:r>
            <a:endParaRPr lang="en-US" sz="674" dirty="0"/>
          </a:p>
        </p:txBody>
      </p:sp>
      <p:sp>
        <p:nvSpPr>
          <p:cNvPr id="29" name="Text 24"/>
          <p:cNvSpPr/>
          <p:nvPr/>
        </p:nvSpPr>
        <p:spPr>
          <a:xfrm>
            <a:off x="5257800" y="4688170"/>
            <a:ext cx="320040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적정 조도 확보 (너무 어둡거나 밝지 않음)</a:t>
            </a:r>
            <a:endParaRPr lang="en-US" sz="67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75478"/>
            <a:ext cx="8715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[일반노무자] 전자계약 및 서명 프로세스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36250"/>
            <a:ext cx="8715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Canvas 기반 서명 패드 구현 및 법적 효력 확보를 위한 PDF 합성 로직 명세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428625" y="1268434"/>
            <a:ext cx="4057650" cy="3000375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414881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1525" y="1382734"/>
            <a:ext cx="158549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EA5E9"/>
                </a:solidFill>
              </a:rPr>
              <a:t>프론트엔드 구현 (Canvas)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542925" y="1741903"/>
            <a:ext cx="38290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HTML5 Canvas 서명 패드</a:t>
            </a:r>
            <a:endParaRPr lang="en-US" sz="784" dirty="0"/>
          </a:p>
        </p:txBody>
      </p:sp>
      <p:sp>
        <p:nvSpPr>
          <p:cNvPr id="9" name="Text 5"/>
          <p:cNvSpPr/>
          <p:nvPr/>
        </p:nvSpPr>
        <p:spPr>
          <a:xfrm>
            <a:off x="542925" y="2006222"/>
            <a:ext cx="3829050" cy="320018"/>
          </a:xfrm>
          <a:prstGeom prst="rect">
            <a:avLst/>
          </a:prstGeom>
          <a:noFill/>
          <a:ln/>
        </p:spPr>
        <p:txBody>
          <a:bodyPr wrap="square" lIns="119126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터치 및 마우스 이벤트를 감지하여 실시간 서명 궤적을 렌더링합니다. (Signature Pad 라이브러리 활용 권장)</a:t>
            </a:r>
            <a:endParaRPr lang="en-US" sz="727" dirty="0"/>
          </a:p>
        </p:txBody>
      </p:sp>
      <p:sp>
        <p:nvSpPr>
          <p:cNvPr id="10" name="Text 6"/>
          <p:cNvSpPr/>
          <p:nvPr/>
        </p:nvSpPr>
        <p:spPr>
          <a:xfrm>
            <a:off x="542925" y="2478239"/>
            <a:ext cx="38290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이미지 추출 및 전송</a:t>
            </a:r>
            <a:endParaRPr lang="en-US" sz="784" dirty="0"/>
          </a:p>
        </p:txBody>
      </p:sp>
      <p:sp>
        <p:nvSpPr>
          <p:cNvPr id="11" name="Text 7"/>
          <p:cNvSpPr/>
          <p:nvPr/>
        </p:nvSpPr>
        <p:spPr>
          <a:xfrm>
            <a:off x="542925" y="2742558"/>
            <a:ext cx="3829050" cy="320018"/>
          </a:xfrm>
          <a:prstGeom prst="rect">
            <a:avLst/>
          </a:prstGeom>
          <a:noFill/>
          <a:ln/>
        </p:spPr>
        <p:txBody>
          <a:bodyPr wrap="square" lIns="119126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서명 완료 시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canvas.toDataURL('image/png')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를 통해 Base64 데이터를 추출하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여 서버로 전송합니다.</a:t>
            </a:r>
            <a:endParaRPr lang="en-US" sz="727" dirty="0"/>
          </a:p>
        </p:txBody>
      </p:sp>
      <p:sp>
        <p:nvSpPr>
          <p:cNvPr id="12" name="Shape 8"/>
          <p:cNvSpPr/>
          <p:nvPr/>
        </p:nvSpPr>
        <p:spPr>
          <a:xfrm>
            <a:off x="542925" y="3219738"/>
            <a:ext cx="1420127" cy="158948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2925" y="3219738"/>
            <a:ext cx="1420127" cy="158948"/>
          </a:xfrm>
          <a:prstGeom prst="rect">
            <a:avLst/>
          </a:prstGeom>
          <a:noFill/>
          <a:ln/>
        </p:spPr>
        <p:txBody>
          <a:bodyPr wrap="square" lIns="68072" tIns="34036" rIns="68072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/api/v1/contracts/{id}/sign</a:t>
            </a:r>
            <a:endParaRPr lang="en-US" sz="621" dirty="0"/>
          </a:p>
        </p:txBody>
      </p:sp>
      <p:sp>
        <p:nvSpPr>
          <p:cNvPr id="14" name="Text 10"/>
          <p:cNvSpPr/>
          <p:nvPr/>
        </p:nvSpPr>
        <p:spPr>
          <a:xfrm>
            <a:off x="542925" y="3523543"/>
            <a:ext cx="38290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서명 유효성 검사</a:t>
            </a:r>
            <a:endParaRPr lang="en-US" sz="784" dirty="0"/>
          </a:p>
        </p:txBody>
      </p:sp>
      <p:sp>
        <p:nvSpPr>
          <p:cNvPr id="15" name="Text 11"/>
          <p:cNvSpPr/>
          <p:nvPr/>
        </p:nvSpPr>
        <p:spPr>
          <a:xfrm>
            <a:off x="542925" y="3787862"/>
            <a:ext cx="3829050" cy="320018"/>
          </a:xfrm>
          <a:prstGeom prst="rect">
            <a:avLst/>
          </a:prstGeom>
          <a:noFill/>
          <a:ln/>
        </p:spPr>
        <p:txBody>
          <a:bodyPr wrap="square" lIns="119126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최소 픽셀 수 또는 획(Stroke) 수를 체크하여 빈 서명이 제출되지 않도록 클라이언트에서 1차 차단합니다.</a:t>
            </a:r>
            <a:endParaRPr lang="en-US" sz="727" dirty="0"/>
          </a:p>
        </p:txBody>
      </p:sp>
      <p:sp>
        <p:nvSpPr>
          <p:cNvPr id="16" name="Shape 12"/>
          <p:cNvSpPr/>
          <p:nvPr/>
        </p:nvSpPr>
        <p:spPr>
          <a:xfrm>
            <a:off x="4657725" y="1268434"/>
            <a:ext cx="4057650" cy="3000375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025" y="1414881"/>
            <a:ext cx="107156" cy="1428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64906" y="1382734"/>
            <a:ext cx="179394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EA5E9"/>
                </a:solidFill>
              </a:rPr>
              <a:t>백엔드 로직 (PDF Synthesis)</a:t>
            </a:r>
            <a:endParaRPr lang="en-US" sz="987" dirty="0"/>
          </a:p>
        </p:txBody>
      </p:sp>
      <p:sp>
        <p:nvSpPr>
          <p:cNvPr id="19" name="Text 14"/>
          <p:cNvSpPr/>
          <p:nvPr/>
        </p:nvSpPr>
        <p:spPr>
          <a:xfrm>
            <a:off x="4772025" y="1741903"/>
            <a:ext cx="38290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PDF 템플릿 매핑 및 합성</a:t>
            </a:r>
            <a:endParaRPr lang="en-US" sz="784" dirty="0"/>
          </a:p>
        </p:txBody>
      </p:sp>
      <p:sp>
        <p:nvSpPr>
          <p:cNvPr id="20" name="Text 15"/>
          <p:cNvSpPr/>
          <p:nvPr/>
        </p:nvSpPr>
        <p:spPr>
          <a:xfrm>
            <a:off x="4772025" y="2006222"/>
            <a:ext cx="3829050" cy="160009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기존 근로계약서 PDF 템플릿의 특정 좌표에 전송받은 서명 이미지를 오버레이 합성합니다.</a:t>
            </a:r>
            <a:endParaRPr lang="en-US" sz="727" dirty="0"/>
          </a:p>
        </p:txBody>
      </p:sp>
      <p:sp>
        <p:nvSpPr>
          <p:cNvPr id="21" name="Text 16"/>
          <p:cNvSpPr/>
          <p:nvPr/>
        </p:nvSpPr>
        <p:spPr>
          <a:xfrm>
            <a:off x="4772025" y="2318231"/>
            <a:ext cx="38290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위변조 방지 타임스탬프</a:t>
            </a:r>
            <a:endParaRPr lang="en-US" sz="784" dirty="0"/>
          </a:p>
        </p:txBody>
      </p:sp>
      <p:sp>
        <p:nvSpPr>
          <p:cNvPr id="22" name="Text 17"/>
          <p:cNvSpPr/>
          <p:nvPr/>
        </p:nvSpPr>
        <p:spPr>
          <a:xfrm>
            <a:off x="4772025" y="2582549"/>
            <a:ext cx="3829050" cy="320018"/>
          </a:xfrm>
          <a:prstGeom prst="rect">
            <a:avLst/>
          </a:prstGeom>
          <a:noFill/>
          <a:ln/>
        </p:spPr>
        <p:txBody>
          <a:bodyPr wrap="square" lIns="119126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합성된 PDF 파일의 메타데이터에 생성 일시 및 사용자 고유 식별자(CI)를 포함하여 무결성을 보장합니다.</a:t>
            </a:r>
            <a:endParaRPr lang="en-US" sz="727" dirty="0"/>
          </a:p>
        </p:txBody>
      </p:sp>
      <p:sp>
        <p:nvSpPr>
          <p:cNvPr id="23" name="Text 18"/>
          <p:cNvSpPr/>
          <p:nvPr/>
        </p:nvSpPr>
        <p:spPr>
          <a:xfrm>
            <a:off x="4772025" y="3054567"/>
            <a:ext cx="38290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S3 저장 및 접근 제어</a:t>
            </a:r>
            <a:endParaRPr lang="en-US" sz="784" dirty="0"/>
          </a:p>
        </p:txBody>
      </p:sp>
      <p:sp>
        <p:nvSpPr>
          <p:cNvPr id="24" name="Text 19"/>
          <p:cNvSpPr/>
          <p:nvPr/>
        </p:nvSpPr>
        <p:spPr>
          <a:xfrm>
            <a:off x="4772025" y="3318886"/>
            <a:ext cx="3829050" cy="320018"/>
          </a:xfrm>
          <a:prstGeom prst="rect">
            <a:avLst/>
          </a:prstGeom>
          <a:noFill/>
          <a:ln/>
        </p:spPr>
        <p:txBody>
          <a:bodyPr wrap="square" lIns="119126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완성된 계약서는 S3의 비공개 버킷에 저장하며, 조회 시에는 Pre-signed URL을 통해 한시적 접근 권한을 부여합니다.</a:t>
            </a:r>
            <a:endParaRPr lang="en-US" sz="727" dirty="0"/>
          </a:p>
        </p:txBody>
      </p:sp>
      <p:sp>
        <p:nvSpPr>
          <p:cNvPr id="25" name="Shape 20"/>
          <p:cNvSpPr/>
          <p:nvPr/>
        </p:nvSpPr>
        <p:spPr>
          <a:xfrm>
            <a:off x="428625" y="4743450"/>
            <a:ext cx="828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6" name="Shape 21"/>
          <p:cNvSpPr/>
          <p:nvPr/>
        </p:nvSpPr>
        <p:spPr>
          <a:xfrm>
            <a:off x="428625" y="4743450"/>
            <a:ext cx="8286750" cy="7144"/>
          </a:xfrm>
          <a:prstGeom prst="rect">
            <a:avLst/>
          </a:prstGeom>
          <a:solidFill>
            <a:srgbClr val="DFE3EA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4857750"/>
            <a:ext cx="92869" cy="9286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92931" y="4836319"/>
            <a:ext cx="613391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보안 유의사항: 서명 데이터는 민감 정보이므로 전송 시 반드시 HTTPS 암호화 채널을 사용하며, 서버 로그에 Base64 원본 데이터가 남지 않도록 처리해야 합니다.</a:t>
            </a:r>
            <a:endParaRPr lang="en-US" sz="67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00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475478"/>
            <a:ext cx="88011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데이터 보안 및 성능 최적화 가이드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342900" y="936250"/>
            <a:ext cx="88011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신뢰할 수 있는 시스템 운영을 위한 보안 아키텍처 및 프론트엔드 성능 전략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342900" y="1254147"/>
            <a:ext cx="4143375" cy="3128963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00594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1513" y="1368447"/>
            <a:ext cx="172594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EA5E9"/>
                </a:solidFill>
              </a:rPr>
              <a:t>데이터 보안 및 개인정보 보호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457200" y="1727615"/>
            <a:ext cx="39147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개인정보 암호화 (AES-256)</a:t>
            </a:r>
            <a:endParaRPr lang="en-US" sz="784" dirty="0"/>
          </a:p>
        </p:txBody>
      </p:sp>
      <p:sp>
        <p:nvSpPr>
          <p:cNvPr id="9" name="Text 5"/>
          <p:cNvSpPr/>
          <p:nvPr/>
        </p:nvSpPr>
        <p:spPr>
          <a:xfrm>
            <a:off x="457200" y="1991934"/>
            <a:ext cx="3914775" cy="320018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주민번호, 연락처 등 민감 정보는 DB 저장 시 AES-256 알고리즘으로 암호화하며, 암호화 키는 AWS KMS를 통해 관리합니다.</a:t>
            </a:r>
            <a:endParaRPr lang="en-US" sz="727" dirty="0"/>
          </a:p>
        </p:txBody>
      </p:sp>
      <p:sp>
        <p:nvSpPr>
          <p:cNvPr id="10" name="Text 6"/>
          <p:cNvSpPr/>
          <p:nvPr/>
        </p:nvSpPr>
        <p:spPr>
          <a:xfrm>
            <a:off x="457200" y="2463952"/>
            <a:ext cx="39147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UI 데이터 마스킹 처리</a:t>
            </a:r>
            <a:endParaRPr lang="en-US" sz="784" dirty="0"/>
          </a:p>
        </p:txBody>
      </p:sp>
      <p:sp>
        <p:nvSpPr>
          <p:cNvPr id="11" name="Text 7"/>
          <p:cNvSpPr/>
          <p:nvPr/>
        </p:nvSpPr>
        <p:spPr>
          <a:xfrm>
            <a:off x="457200" y="2728271"/>
            <a:ext cx="3914775" cy="320018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화면 노출 시 이름(홍*동), 연락처(010-****-1234) 등은 권한에 따라 마스킹 처리하여 노출합니다.</a:t>
            </a:r>
            <a:endParaRPr lang="en-US" sz="727" dirty="0"/>
          </a:p>
        </p:txBody>
      </p:sp>
      <p:sp>
        <p:nvSpPr>
          <p:cNvPr id="12" name="Text 8"/>
          <p:cNvSpPr/>
          <p:nvPr/>
        </p:nvSpPr>
        <p:spPr>
          <a:xfrm>
            <a:off x="457200" y="3200288"/>
            <a:ext cx="39147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XSS 및 CSRF 방어</a:t>
            </a:r>
            <a:endParaRPr lang="en-US" sz="784" dirty="0"/>
          </a:p>
        </p:txBody>
      </p:sp>
      <p:sp>
        <p:nvSpPr>
          <p:cNvPr id="13" name="Text 9"/>
          <p:cNvSpPr/>
          <p:nvPr/>
        </p:nvSpPr>
        <p:spPr>
          <a:xfrm>
            <a:off x="457200" y="3464607"/>
            <a:ext cx="3914775" cy="320018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Spring Security를 활용하여 모든 요청에 대한 CSRF 토큰 검증을 수행하고, 프론트엔드에서는 입력값에 대한 Sanitization을 적용합니다.</a:t>
            </a:r>
            <a:endParaRPr lang="en-US" sz="727" dirty="0"/>
          </a:p>
        </p:txBody>
      </p:sp>
      <p:sp>
        <p:nvSpPr>
          <p:cNvPr id="14" name="Shape 10"/>
          <p:cNvSpPr/>
          <p:nvPr/>
        </p:nvSpPr>
        <p:spPr>
          <a:xfrm>
            <a:off x="457200" y="3941787"/>
            <a:ext cx="1226381" cy="151805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3941787"/>
            <a:ext cx="1226381" cy="151805"/>
          </a:xfrm>
          <a:prstGeom prst="rect">
            <a:avLst/>
          </a:prstGeom>
          <a:noFill/>
          <a:ln/>
        </p:spPr>
        <p:txBody>
          <a:bodyPr wrap="none" lIns="51054" tIns="25527" rIns="51054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Spring Security / DOMPurify</a:t>
            </a:r>
            <a:endParaRPr lang="en-US" sz="621" dirty="0"/>
          </a:p>
        </p:txBody>
      </p:sp>
      <p:sp>
        <p:nvSpPr>
          <p:cNvPr id="16" name="Shape 12"/>
          <p:cNvSpPr/>
          <p:nvPr/>
        </p:nvSpPr>
        <p:spPr>
          <a:xfrm>
            <a:off x="4657725" y="1254147"/>
            <a:ext cx="4143375" cy="3128963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025" y="1400594"/>
            <a:ext cx="142875" cy="1428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86338" y="1368447"/>
            <a:ext cx="138876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EA5E9"/>
                </a:solidFill>
              </a:rPr>
              <a:t>프론트엔드 성능 최적화</a:t>
            </a:r>
            <a:endParaRPr lang="en-US" sz="987" dirty="0"/>
          </a:p>
        </p:txBody>
      </p:sp>
      <p:sp>
        <p:nvSpPr>
          <p:cNvPr id="19" name="Text 14"/>
          <p:cNvSpPr/>
          <p:nvPr/>
        </p:nvSpPr>
        <p:spPr>
          <a:xfrm>
            <a:off x="4772025" y="1727615"/>
            <a:ext cx="39147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TanStack Query 캐싱 전략</a:t>
            </a:r>
            <a:endParaRPr lang="en-US" sz="784" dirty="0"/>
          </a:p>
        </p:txBody>
      </p:sp>
      <p:sp>
        <p:nvSpPr>
          <p:cNvPr id="20" name="Text 15"/>
          <p:cNvSpPr/>
          <p:nvPr/>
        </p:nvSpPr>
        <p:spPr>
          <a:xfrm>
            <a:off x="4772025" y="1991934"/>
            <a:ext cx="3914775" cy="320018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서버 데이터에 대한 staleTime 및 cacheTime을 최적화하여 불필요한 API 호출을 최소화하고 사용자 경험을 개선합니다.</a:t>
            </a:r>
            <a:endParaRPr lang="en-US" sz="727" dirty="0"/>
          </a:p>
        </p:txBody>
      </p:sp>
      <p:sp>
        <p:nvSpPr>
          <p:cNvPr id="21" name="Text 16"/>
          <p:cNvSpPr/>
          <p:nvPr/>
        </p:nvSpPr>
        <p:spPr>
          <a:xfrm>
            <a:off x="4772025" y="2463952"/>
            <a:ext cx="39147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코드 분할 및 지연 로딩</a:t>
            </a:r>
            <a:endParaRPr lang="en-US" sz="784" dirty="0"/>
          </a:p>
        </p:txBody>
      </p:sp>
      <p:sp>
        <p:nvSpPr>
          <p:cNvPr id="22" name="Text 17"/>
          <p:cNvSpPr/>
          <p:nvPr/>
        </p:nvSpPr>
        <p:spPr>
          <a:xfrm>
            <a:off x="4772025" y="2728271"/>
            <a:ext cx="3914775" cy="320018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React.lazy와 Suspense를 사용하여 페이지별 번들을 분리하고, 초기 로딩 속도를 획기적으로 단축합니다.</a:t>
            </a:r>
            <a:endParaRPr lang="en-US" sz="727" dirty="0"/>
          </a:p>
        </p:txBody>
      </p:sp>
      <p:sp>
        <p:nvSpPr>
          <p:cNvPr id="23" name="Shape 18"/>
          <p:cNvSpPr/>
          <p:nvPr/>
        </p:nvSpPr>
        <p:spPr>
          <a:xfrm>
            <a:off x="4772025" y="3205451"/>
            <a:ext cx="728383" cy="151805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772025" y="3205451"/>
            <a:ext cx="728383" cy="151805"/>
          </a:xfrm>
          <a:prstGeom prst="rect">
            <a:avLst/>
          </a:prstGeom>
          <a:noFill/>
          <a:ln/>
        </p:spPr>
        <p:txBody>
          <a:bodyPr wrap="none" lIns="51054" tIns="25527" rIns="51054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Vite / React.lazy</a:t>
            </a:r>
            <a:endParaRPr lang="en-US" sz="621" dirty="0"/>
          </a:p>
        </p:txBody>
      </p:sp>
      <p:sp>
        <p:nvSpPr>
          <p:cNvPr id="25" name="Text 20"/>
          <p:cNvSpPr/>
          <p:nvPr/>
        </p:nvSpPr>
        <p:spPr>
          <a:xfrm>
            <a:off x="4772025" y="3502112"/>
            <a:ext cx="39147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이미지 및 에셋 최적화</a:t>
            </a:r>
            <a:endParaRPr lang="en-US" sz="784" dirty="0"/>
          </a:p>
        </p:txBody>
      </p:sp>
      <p:sp>
        <p:nvSpPr>
          <p:cNvPr id="26" name="Text 21"/>
          <p:cNvSpPr/>
          <p:nvPr/>
        </p:nvSpPr>
        <p:spPr>
          <a:xfrm>
            <a:off x="4772025" y="3766431"/>
            <a:ext cx="3914775" cy="320018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WebP 포맷 사용 및 이미지 지연 로딩(Lazy Loading)을 적용하며, 아이콘은 SVG Sprite 방식을 사용하여 HTTP 요청을 줄입니다.</a:t>
            </a:r>
            <a:endParaRPr lang="en-US" sz="727" dirty="0"/>
          </a:p>
        </p:txBody>
      </p:sp>
      <p:sp>
        <p:nvSpPr>
          <p:cNvPr id="27" name="Shape 22"/>
          <p:cNvSpPr/>
          <p:nvPr/>
        </p:nvSpPr>
        <p:spPr>
          <a:xfrm>
            <a:off x="342900" y="4614863"/>
            <a:ext cx="8458200" cy="2143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8" name="Shape 23"/>
          <p:cNvSpPr/>
          <p:nvPr/>
        </p:nvSpPr>
        <p:spPr>
          <a:xfrm>
            <a:off x="342900" y="4614863"/>
            <a:ext cx="8458200" cy="7144"/>
          </a:xfrm>
          <a:prstGeom prst="rect">
            <a:avLst/>
          </a:prstGeom>
          <a:solidFill>
            <a:srgbClr val="DFE3EA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4714875"/>
            <a:ext cx="92869" cy="92869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07206" y="4693444"/>
            <a:ext cx="58789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보안 가이드: 모든 API 응답에서 불필요한 필드는 제외(DTO 활용)하고, 에러 메시지에 시스템 내부 정보가 노출되지 않도록 전역 예외 처리를 구현하십시오.</a:t>
            </a:r>
            <a:endParaRPr lang="en-US" sz="67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75478"/>
            <a:ext cx="8715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개발 마일스톤 및 구현 체크리스트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36250"/>
            <a:ext cx="8715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4주 집중 개발 일정 및 성공적인 프로젝트 완료를 위한 최종 품질 검증 가이드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285750" y="1254147"/>
            <a:ext cx="4221956" cy="3063999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386306"/>
            <a:ext cx="125016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5078" y="1354159"/>
            <a:ext cx="137617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EA5E9"/>
                </a:solidFill>
              </a:rPr>
              <a:t>4주 집중 개발 마일스톤</a:t>
            </a:r>
            <a:endParaRPr lang="en-US" sz="987" dirty="0"/>
          </a:p>
        </p:txBody>
      </p:sp>
      <p:sp>
        <p:nvSpPr>
          <p:cNvPr id="8" name="Shape 4"/>
          <p:cNvSpPr/>
          <p:nvPr/>
        </p:nvSpPr>
        <p:spPr>
          <a:xfrm>
            <a:off x="400050" y="1713328"/>
            <a:ext cx="128588" cy="128588"/>
          </a:xfrm>
          <a:prstGeom prst="ellipse">
            <a:avLst/>
          </a:prstGeom>
          <a:solidFill>
            <a:srgbClr val="10B981"/>
          </a:solidFill>
          <a:ln w="18288">
            <a:solidFill>
              <a:srgbClr val="0F172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14363" y="1713328"/>
            <a:ext cx="375046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1주차: 인프라 및 인증 체계 구축</a:t>
            </a:r>
            <a:endParaRPr lang="en-US" sz="784" dirty="0"/>
          </a:p>
        </p:txBody>
      </p:sp>
      <p:sp>
        <p:nvSpPr>
          <p:cNvPr id="10" name="Text 6"/>
          <p:cNvSpPr/>
          <p:nvPr/>
        </p:nvSpPr>
        <p:spPr>
          <a:xfrm>
            <a:off x="614363" y="1977647"/>
            <a:ext cx="375046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멀티테넌트 DB 설계, OAuth2 소셜 로그인 및 CI 본인인증 연동 완료</a:t>
            </a:r>
            <a:endParaRPr lang="en-US" sz="727" dirty="0"/>
          </a:p>
        </p:txBody>
      </p:sp>
      <p:sp>
        <p:nvSpPr>
          <p:cNvPr id="11" name="Shape 7"/>
          <p:cNvSpPr/>
          <p:nvPr/>
        </p:nvSpPr>
        <p:spPr>
          <a:xfrm>
            <a:off x="400050" y="2269648"/>
            <a:ext cx="128588" cy="128588"/>
          </a:xfrm>
          <a:prstGeom prst="ellipse">
            <a:avLst/>
          </a:prstGeom>
          <a:solidFill>
            <a:srgbClr val="10B981"/>
          </a:solidFill>
          <a:ln w="18288">
            <a:solidFill>
              <a:srgbClr val="0F172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4363" y="2269648"/>
            <a:ext cx="375046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2주차: 핵심 비즈니스 도메인 구현</a:t>
            </a:r>
            <a:endParaRPr lang="en-US" sz="784" dirty="0"/>
          </a:p>
        </p:txBody>
      </p:sp>
      <p:sp>
        <p:nvSpPr>
          <p:cNvPr id="13" name="Text 9"/>
          <p:cNvSpPr/>
          <p:nvPr/>
        </p:nvSpPr>
        <p:spPr>
          <a:xfrm>
            <a:off x="614363" y="2533966"/>
            <a:ext cx="375046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테넌트/현장 관리, 노무자 등록 및 안면 데이터(FaceNet) 연동 로직 완성</a:t>
            </a:r>
            <a:endParaRPr lang="en-US" sz="727" dirty="0"/>
          </a:p>
        </p:txBody>
      </p:sp>
      <p:sp>
        <p:nvSpPr>
          <p:cNvPr id="14" name="Shape 10"/>
          <p:cNvSpPr/>
          <p:nvPr/>
        </p:nvSpPr>
        <p:spPr>
          <a:xfrm>
            <a:off x="400050" y="2825967"/>
            <a:ext cx="128588" cy="128588"/>
          </a:xfrm>
          <a:prstGeom prst="ellipse">
            <a:avLst/>
          </a:prstGeom>
          <a:solidFill>
            <a:srgbClr val="10B981"/>
          </a:solidFill>
          <a:ln w="18288">
            <a:solidFill>
              <a:srgbClr val="0F172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14363" y="2825967"/>
            <a:ext cx="375046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3주차: 모바일 기능 및 전자계약</a:t>
            </a:r>
            <a:endParaRPr lang="en-US" sz="784" dirty="0"/>
          </a:p>
        </p:txBody>
      </p:sp>
      <p:sp>
        <p:nvSpPr>
          <p:cNvPr id="16" name="Text 12"/>
          <p:cNvSpPr/>
          <p:nvPr/>
        </p:nvSpPr>
        <p:spPr>
          <a:xfrm>
            <a:off x="614363" y="3090286"/>
            <a:ext cx="375046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하이브리드 앱 카메라/GPS 연동, Canvas 기반 전자서명 및 PDF 합성 구현</a:t>
            </a:r>
            <a:endParaRPr lang="en-US" sz="727" dirty="0"/>
          </a:p>
        </p:txBody>
      </p:sp>
      <p:sp>
        <p:nvSpPr>
          <p:cNvPr id="17" name="Shape 13"/>
          <p:cNvSpPr/>
          <p:nvPr/>
        </p:nvSpPr>
        <p:spPr>
          <a:xfrm>
            <a:off x="400050" y="3382287"/>
            <a:ext cx="128588" cy="128588"/>
          </a:xfrm>
          <a:prstGeom prst="ellipse">
            <a:avLst/>
          </a:prstGeom>
          <a:solidFill>
            <a:srgbClr val="10B981"/>
          </a:solidFill>
          <a:ln w="18288">
            <a:solidFill>
              <a:srgbClr val="0F172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14363" y="3382287"/>
            <a:ext cx="375046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4주차: 통합 QA 및 안정화</a:t>
            </a:r>
            <a:endParaRPr lang="en-US" sz="784" dirty="0"/>
          </a:p>
        </p:txBody>
      </p:sp>
      <p:sp>
        <p:nvSpPr>
          <p:cNvPr id="19" name="Text 15"/>
          <p:cNvSpPr/>
          <p:nvPr/>
        </p:nvSpPr>
        <p:spPr>
          <a:xfrm>
            <a:off x="614363" y="3646605"/>
            <a:ext cx="375046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전체 시나리오 테스트, 성능 최적화(캐싱/지연로딩) 및 운영 환경 배포</a:t>
            </a:r>
            <a:endParaRPr lang="en-US" sz="727" dirty="0"/>
          </a:p>
        </p:txBody>
      </p:sp>
      <p:sp>
        <p:nvSpPr>
          <p:cNvPr id="20" name="Shape 16"/>
          <p:cNvSpPr/>
          <p:nvPr/>
        </p:nvSpPr>
        <p:spPr>
          <a:xfrm>
            <a:off x="4636294" y="1254147"/>
            <a:ext cx="4221956" cy="3063999"/>
          </a:xfrm>
          <a:prstGeom prst="rect">
            <a:avLst/>
          </a:prstGeom>
          <a:solidFill>
            <a:srgbClr val="10B981">
              <a:alpha val="5000"/>
            </a:srgbClr>
          </a:solidFill>
          <a:ln w="9144">
            <a:solidFill>
              <a:srgbClr val="10B981"/>
            </a:solidFill>
            <a:prstDash val="dash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169" y="1357731"/>
            <a:ext cx="107156" cy="14287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957763" y="1325584"/>
            <a:ext cx="12573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EA5E9"/>
                </a:solidFill>
              </a:rPr>
              <a:t>최종 구현 체크리스트</a:t>
            </a:r>
            <a:endParaRPr lang="en-US" sz="987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9169" y="1604190"/>
            <a:ext cx="100013" cy="14287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950619" y="1756190"/>
            <a:ext cx="358708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기능 무결성 (Functional Integrity)</a:t>
            </a:r>
            <a:endParaRPr lang="en-US" sz="784" dirty="0"/>
          </a:p>
        </p:txBody>
      </p:sp>
      <p:sp>
        <p:nvSpPr>
          <p:cNvPr id="25" name="Text 19"/>
          <p:cNvSpPr/>
          <p:nvPr/>
        </p:nvSpPr>
        <p:spPr>
          <a:xfrm>
            <a:off x="4950619" y="2013365"/>
            <a:ext cx="3587083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역할별(RBAC) 접근 권한이 정확히 분리되어 있으며, 핵심 워크플로우가 예외 없이 동작하는가?</a:t>
            </a:r>
            <a:endParaRPr lang="en-US" sz="674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9169" y="2279107"/>
            <a:ext cx="100013" cy="14287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50619" y="2431107"/>
            <a:ext cx="331841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데이터 보안 (Data Security)</a:t>
            </a:r>
            <a:endParaRPr lang="en-US" sz="784" dirty="0"/>
          </a:p>
        </p:txBody>
      </p:sp>
      <p:sp>
        <p:nvSpPr>
          <p:cNvPr id="28" name="Text 21"/>
          <p:cNvSpPr/>
          <p:nvPr/>
        </p:nvSpPr>
        <p:spPr>
          <a:xfrm>
            <a:off x="4950619" y="2688282"/>
            <a:ext cx="3318411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민감 정보(주민번호 등)가 암호화되어 저장되며, UI상에서 적절히 마스킹 처리되었는가?</a:t>
            </a:r>
            <a:endParaRPr lang="en-US" sz="674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9169" y="2954024"/>
            <a:ext cx="100013" cy="14287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950619" y="3106024"/>
            <a:ext cx="341379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성능 및 최적화 (Performance)</a:t>
            </a:r>
            <a:endParaRPr lang="en-US" sz="784" dirty="0"/>
          </a:p>
        </p:txBody>
      </p:sp>
      <p:sp>
        <p:nvSpPr>
          <p:cNvPr id="31" name="Text 23"/>
          <p:cNvSpPr/>
          <p:nvPr/>
        </p:nvSpPr>
        <p:spPr>
          <a:xfrm>
            <a:off x="4950619" y="3363199"/>
            <a:ext cx="3413792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Lighthouse 기준 성능 점수 80점 이상이며, API 응답 속도가 500ms 이내로 유지되는가?</a:t>
            </a:r>
            <a:endParaRPr lang="en-US" sz="674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9169" y="3628941"/>
            <a:ext cx="100013" cy="142875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950619" y="3780941"/>
            <a:ext cx="333417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사용자 경험 (UX/UI)</a:t>
            </a:r>
            <a:endParaRPr lang="en-US" sz="784" dirty="0"/>
          </a:p>
        </p:txBody>
      </p:sp>
      <p:sp>
        <p:nvSpPr>
          <p:cNvPr id="34" name="Text 25"/>
          <p:cNvSpPr/>
          <p:nvPr/>
        </p:nvSpPr>
        <p:spPr>
          <a:xfrm>
            <a:off x="4950619" y="4038116"/>
            <a:ext cx="333417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디자인 가이드를 준수하며, 모바일 환경에서 터치 인터페이스가 직관적으로 동작하는가?</a:t>
            </a:r>
            <a:endParaRPr lang="en-US" sz="674" dirty="0"/>
          </a:p>
        </p:txBody>
      </p:sp>
      <p:sp>
        <p:nvSpPr>
          <p:cNvPr id="35" name="Shape 26"/>
          <p:cNvSpPr/>
          <p:nvPr/>
        </p:nvSpPr>
        <p:spPr>
          <a:xfrm>
            <a:off x="428625" y="4763095"/>
            <a:ext cx="8286750" cy="2375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6" name="Shape 27"/>
          <p:cNvSpPr/>
          <p:nvPr/>
        </p:nvSpPr>
        <p:spPr>
          <a:xfrm>
            <a:off x="428625" y="4763095"/>
            <a:ext cx="8286750" cy="7144"/>
          </a:xfrm>
          <a:prstGeom prst="rect">
            <a:avLst/>
          </a:prstGeom>
          <a:solidFill>
            <a:srgbClr val="DFE3EA"/>
          </a:solidFill>
          <a:ln/>
        </p:spPr>
      </p:sp>
      <p:sp>
        <p:nvSpPr>
          <p:cNvPr id="37" name="Text 28"/>
          <p:cNvSpPr/>
          <p:nvPr/>
        </p:nvSpPr>
        <p:spPr>
          <a:xfrm>
            <a:off x="428625" y="4763095"/>
            <a:ext cx="8286750" cy="237530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"이 상세설계 가이드를 바탕으로 SmartCON Lite의 성공적인 구현과 안정적인 운영을 기대합니다."</a:t>
            </a:r>
            <a:endParaRPr lang="en-US" sz="68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2026-01-19T00:04:27Z</dcterms:created>
  <dcterms:modified xsi:type="dcterms:W3CDTF">2026-01-19T00:04:27Z</dcterms:modified>
</cp:coreProperties>
</file>