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1487212" cy="400050"/>
          </a:xfrm>
          <a:prstGeom prst="rect">
            <a:avLst/>
          </a:prstGeom>
          <a:solidFill>
            <a:srgbClr val="3B82F6">
              <a:alpha val="20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1500" y="428625"/>
            <a:ext cx="1487212" cy="40005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INTEGRATED DESIGN GUIDE V3.3</a:t>
            </a:r>
            <a:endParaRPr lang="en-US" sz="683" dirty="0"/>
          </a:p>
        </p:txBody>
      </p:sp>
      <p:sp>
        <p:nvSpPr>
          <p:cNvPr id="5" name="Shape 2"/>
          <p:cNvSpPr/>
          <p:nvPr/>
        </p:nvSpPr>
        <p:spPr>
          <a:xfrm>
            <a:off x="2135200" y="512564"/>
            <a:ext cx="569491" cy="36075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35200" y="512564"/>
            <a:ext cx="569491" cy="36075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React / Native</a:t>
            </a:r>
            <a:endParaRPr lang="en-US" sz="584" dirty="0"/>
          </a:p>
        </p:txBody>
      </p:sp>
      <p:sp>
        <p:nvSpPr>
          <p:cNvPr id="7" name="Shape 4"/>
          <p:cNvSpPr/>
          <p:nvPr/>
        </p:nvSpPr>
        <p:spPr>
          <a:xfrm>
            <a:off x="2804703" y="512564"/>
            <a:ext cx="509746" cy="36075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04703" y="512564"/>
            <a:ext cx="509746" cy="36075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Spring Boot</a:t>
            </a:r>
            <a:endParaRPr lang="en-US" sz="584" dirty="0"/>
          </a:p>
        </p:txBody>
      </p:sp>
      <p:sp>
        <p:nvSpPr>
          <p:cNvPr id="9" name="Shape 6"/>
          <p:cNvSpPr/>
          <p:nvPr/>
        </p:nvSpPr>
        <p:spPr>
          <a:xfrm>
            <a:off x="3417224" y="512564"/>
            <a:ext cx="518452" cy="36075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17224" y="512564"/>
            <a:ext cx="518452" cy="36075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JPA / MySQL</a:t>
            </a:r>
            <a:endParaRPr lang="en-US" sz="584" dirty="0"/>
          </a:p>
        </p:txBody>
      </p:sp>
      <p:sp>
        <p:nvSpPr>
          <p:cNvPr id="11" name="Shape 8"/>
          <p:cNvSpPr/>
          <p:nvPr/>
        </p:nvSpPr>
        <p:spPr>
          <a:xfrm>
            <a:off x="4041186" y="512564"/>
            <a:ext cx="387939" cy="36075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41186" y="512564"/>
            <a:ext cx="387939" cy="36075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AWS S3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571500" y="1320729"/>
            <a:ext cx="3857625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94A3B8"/>
                </a:solidFill>
              </a:rPr>
              <a:t>SmartCON Lite</a:t>
            </a:r>
            <a:endParaRPr lang="en-US" sz="3294" dirty="0"/>
          </a:p>
        </p:txBody>
      </p:sp>
      <p:sp>
        <p:nvSpPr>
          <p:cNvPr id="14" name="Text 11"/>
          <p:cNvSpPr/>
          <p:nvPr/>
        </p:nvSpPr>
        <p:spPr>
          <a:xfrm>
            <a:off x="571500" y="1895075"/>
            <a:ext cx="38576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B82F6"/>
                </a:solidFill>
              </a:rPr>
              <a:t>건설 현장 인력 관리의 디지털 혁신</a:t>
            </a:r>
            <a:endParaRPr lang="en-US" sz="1397" dirty="0"/>
          </a:p>
        </p:txBody>
      </p:sp>
      <p:sp>
        <p:nvSpPr>
          <p:cNvPr id="15" name="Shape 12"/>
          <p:cNvSpPr/>
          <p:nvPr/>
        </p:nvSpPr>
        <p:spPr>
          <a:xfrm>
            <a:off x="571500" y="2327272"/>
            <a:ext cx="300038" cy="3000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1" y="2405853"/>
            <a:ext cx="128588" cy="128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28688" y="2455859"/>
            <a:ext cx="202645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실시간 출역 관리</a:t>
            </a:r>
            <a:endParaRPr lang="en-US" sz="885" dirty="0"/>
          </a:p>
        </p:txBody>
      </p:sp>
      <p:sp>
        <p:nvSpPr>
          <p:cNvPr id="18" name="Text 14"/>
          <p:cNvSpPr/>
          <p:nvPr/>
        </p:nvSpPr>
        <p:spPr>
          <a:xfrm>
            <a:off x="928688" y="2666600"/>
            <a:ext cx="20264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GPS 및 안면인식 기술을 활용한 정확한 근태 관리</a:t>
            </a:r>
            <a:endParaRPr lang="en-US" sz="727" dirty="0"/>
          </a:p>
        </p:txBody>
      </p:sp>
      <p:sp>
        <p:nvSpPr>
          <p:cNvPr id="19" name="Shape 15"/>
          <p:cNvSpPr/>
          <p:nvPr/>
        </p:nvSpPr>
        <p:spPr>
          <a:xfrm>
            <a:off x="571500" y="2902344"/>
            <a:ext cx="300038" cy="3000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45" y="2980925"/>
            <a:ext cx="144661" cy="128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28688" y="3030931"/>
            <a:ext cx="193165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간편 전자계약</a:t>
            </a:r>
            <a:endParaRPr lang="en-US" sz="885" dirty="0"/>
          </a:p>
        </p:txBody>
      </p:sp>
      <p:sp>
        <p:nvSpPr>
          <p:cNvPr id="22" name="Text 17"/>
          <p:cNvSpPr/>
          <p:nvPr/>
        </p:nvSpPr>
        <p:spPr>
          <a:xfrm>
            <a:off x="928688" y="3241672"/>
            <a:ext cx="19316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모바일 서명으로 비대면 계약 및 PDF 자동 생성</a:t>
            </a:r>
            <a:endParaRPr lang="en-US" sz="727" dirty="0"/>
          </a:p>
        </p:txBody>
      </p:sp>
      <p:sp>
        <p:nvSpPr>
          <p:cNvPr id="23" name="Shape 18"/>
          <p:cNvSpPr/>
          <p:nvPr/>
        </p:nvSpPr>
        <p:spPr>
          <a:xfrm>
            <a:off x="571500" y="3477416"/>
            <a:ext cx="300038" cy="3000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81" y="3555997"/>
            <a:ext cx="128588" cy="1285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688" y="3606003"/>
            <a:ext cx="18382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투명한 노무비 정산</a:t>
            </a:r>
            <a:endParaRPr lang="en-US" sz="885" dirty="0"/>
          </a:p>
        </p:txBody>
      </p:sp>
      <p:sp>
        <p:nvSpPr>
          <p:cNvPr id="26" name="Text 20"/>
          <p:cNvSpPr/>
          <p:nvPr/>
        </p:nvSpPr>
        <p:spPr>
          <a:xfrm>
            <a:off x="928688" y="3816744"/>
            <a:ext cx="183823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일별 공수 자동 집계로 예상 급여 실시간 조회</a:t>
            </a:r>
            <a:endParaRPr lang="en-US" sz="727" dirty="0"/>
          </a:p>
        </p:txBody>
      </p:sp>
      <p:sp>
        <p:nvSpPr>
          <p:cNvPr id="27" name="Shape 21"/>
          <p:cNvSpPr/>
          <p:nvPr/>
        </p:nvSpPr>
        <p:spPr>
          <a:xfrm>
            <a:off x="4850606" y="1118974"/>
            <a:ext cx="3586163" cy="2157413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936" y="1120755"/>
            <a:ext cx="3606629" cy="218291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7272338" y="2666600"/>
            <a:ext cx="1443038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625" y="2680888"/>
            <a:ext cx="926427" cy="1553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952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[공통] 회원가입 프로세스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약관 동의부터 가입 완료까지의 4단계 절차 및 상세 구현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143000" y="1571625"/>
            <a:ext cx="428625" cy="428625"/>
          </a:xfrm>
          <a:prstGeom prst="ellipse">
            <a:avLst/>
          </a:prstGeom>
          <a:solidFill>
            <a:srgbClr val="0F172A"/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3000" y="1571625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1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132117" y="20645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BD5E1"/>
                </a:solidFill>
              </a:rPr>
              <a:t>약관 동의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3286125" y="1571625"/>
            <a:ext cx="428625" cy="428625"/>
          </a:xfrm>
          <a:prstGeom prst="ellipse">
            <a:avLst/>
          </a:prstGeom>
          <a:solidFill>
            <a:srgbClr val="0F172A"/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86125" y="1571625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2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3275242" y="20645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BD5E1"/>
                </a:solidFill>
              </a:rPr>
              <a:t>본인 인증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5429250" y="1571625"/>
            <a:ext cx="428625" cy="428625"/>
          </a:xfrm>
          <a:prstGeom prst="ellipse">
            <a:avLst/>
          </a:prstGeom>
          <a:solidFill>
            <a:srgbClr val="0F172A"/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29250" y="1571625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3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5418367" y="20645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BD5E1"/>
                </a:solidFill>
              </a:rPr>
              <a:t>정보 입력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7572375" y="1571625"/>
            <a:ext cx="428625" cy="428625"/>
          </a:xfrm>
          <a:prstGeom prst="ellipse">
            <a:avLst/>
          </a:prstGeom>
          <a:solidFill>
            <a:srgbClr val="0F172A"/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72375" y="1571625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4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7561492" y="20645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BD5E1"/>
                </a:solidFill>
              </a:rPr>
              <a:t>가입 완료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285750" y="2514600"/>
            <a:ext cx="2035969" cy="22002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687836"/>
            <a:ext cx="96441" cy="1285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96503" y="2657475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</a:rPr>
              <a:t>약관 동의</a:t>
            </a:r>
            <a:endParaRPr lang="en-US" sz="885" dirty="0"/>
          </a:p>
        </p:txBody>
      </p:sp>
      <p:sp>
        <p:nvSpPr>
          <p:cNvPr id="22" name="Text 18"/>
          <p:cNvSpPr/>
          <p:nvPr/>
        </p:nvSpPr>
        <p:spPr>
          <a:xfrm>
            <a:off x="428625" y="3032522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UI Elements</a:t>
            </a:r>
            <a:endParaRPr lang="en-US" sz="584" dirty="0"/>
          </a:p>
        </p:txBody>
      </p:sp>
      <p:sp>
        <p:nvSpPr>
          <p:cNvPr id="23" name="Text 19"/>
          <p:cNvSpPr/>
          <p:nvPr/>
        </p:nvSpPr>
        <p:spPr>
          <a:xfrm>
            <a:off x="428625" y="3177183"/>
            <a:ext cx="1750219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전체 동의 체크박스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서비스 이용약관 (필수)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개인정보 처리방침 (필수)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마케팅 수신 동의 (선택)</a:t>
            </a:r>
            <a:endParaRPr lang="en-US" sz="727" dirty="0"/>
          </a:p>
        </p:txBody>
      </p:sp>
      <p:sp>
        <p:nvSpPr>
          <p:cNvPr id="24" name="Text 20"/>
          <p:cNvSpPr/>
          <p:nvPr/>
        </p:nvSpPr>
        <p:spPr>
          <a:xfrm>
            <a:off x="428625" y="3822911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Logic</a:t>
            </a:r>
            <a:endParaRPr lang="en-US" sz="584" dirty="0"/>
          </a:p>
        </p:txBody>
      </p:sp>
      <p:sp>
        <p:nvSpPr>
          <p:cNvPr id="25" name="Text 21"/>
          <p:cNvSpPr/>
          <p:nvPr/>
        </p:nvSpPr>
        <p:spPr>
          <a:xfrm>
            <a:off x="428625" y="3967572"/>
            <a:ext cx="17502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'전체 동의' 클릭 시 하위 항목 일괄 토글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필수 항목 미체크 시 '다음' 버튼 비활성화</a:t>
            </a:r>
            <a:endParaRPr lang="en-US" sz="727" dirty="0"/>
          </a:p>
        </p:txBody>
      </p:sp>
      <p:sp>
        <p:nvSpPr>
          <p:cNvPr id="26" name="Shape 22"/>
          <p:cNvSpPr/>
          <p:nvPr/>
        </p:nvSpPr>
        <p:spPr>
          <a:xfrm>
            <a:off x="2464594" y="2514600"/>
            <a:ext cx="2035969" cy="22002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469" y="2687836"/>
            <a:ext cx="96441" cy="128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775347" y="2657475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</a:rPr>
              <a:t>본인 인증</a:t>
            </a:r>
            <a:endParaRPr lang="en-US" sz="885" dirty="0"/>
          </a:p>
        </p:txBody>
      </p:sp>
      <p:sp>
        <p:nvSpPr>
          <p:cNvPr id="29" name="Text 24"/>
          <p:cNvSpPr/>
          <p:nvPr/>
        </p:nvSpPr>
        <p:spPr>
          <a:xfrm>
            <a:off x="2607469" y="3032522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UI Elements</a:t>
            </a:r>
            <a:endParaRPr lang="en-US" sz="584" dirty="0"/>
          </a:p>
        </p:txBody>
      </p:sp>
      <p:sp>
        <p:nvSpPr>
          <p:cNvPr id="30" name="Text 25"/>
          <p:cNvSpPr/>
          <p:nvPr/>
        </p:nvSpPr>
        <p:spPr>
          <a:xfrm>
            <a:off x="2607469" y="3177183"/>
            <a:ext cx="1750219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통신사 선택 드롭다운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휴대폰 번호 입력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인증번호 요청/확인 버튼</a:t>
            </a:r>
            <a:endParaRPr lang="en-US" sz="727" dirty="0"/>
          </a:p>
        </p:txBody>
      </p:sp>
      <p:sp>
        <p:nvSpPr>
          <p:cNvPr id="31" name="Text 26"/>
          <p:cNvSpPr/>
          <p:nvPr/>
        </p:nvSpPr>
        <p:spPr>
          <a:xfrm>
            <a:off x="2607469" y="3682910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API</a:t>
            </a:r>
            <a:endParaRPr lang="en-US" sz="584" dirty="0"/>
          </a:p>
        </p:txBody>
      </p:sp>
      <p:sp>
        <p:nvSpPr>
          <p:cNvPr id="32" name="Shape 27"/>
          <p:cNvSpPr/>
          <p:nvPr/>
        </p:nvSpPr>
        <p:spPr>
          <a:xfrm>
            <a:off x="2607469" y="3863290"/>
            <a:ext cx="1092882" cy="178594"/>
          </a:xfrm>
          <a:prstGeom prst="rect">
            <a:avLst/>
          </a:prstGeom>
          <a:solidFill>
            <a:srgbClr val="0F172A"/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607469" y="3863290"/>
            <a:ext cx="1092882" cy="17859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POST /api/auth/verify-sms</a:t>
            </a:r>
            <a:endParaRPr lang="en-US" sz="568" dirty="0"/>
          </a:p>
        </p:txBody>
      </p:sp>
      <p:sp>
        <p:nvSpPr>
          <p:cNvPr id="34" name="Text 29"/>
          <p:cNvSpPr/>
          <p:nvPr/>
        </p:nvSpPr>
        <p:spPr>
          <a:xfrm>
            <a:off x="2607469" y="4113321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Logic</a:t>
            </a:r>
            <a:endParaRPr lang="en-US" sz="584" dirty="0"/>
          </a:p>
        </p:txBody>
      </p:sp>
      <p:sp>
        <p:nvSpPr>
          <p:cNvPr id="35" name="Text 30"/>
          <p:cNvSpPr/>
          <p:nvPr/>
        </p:nvSpPr>
        <p:spPr>
          <a:xfrm>
            <a:off x="2607469" y="4257982"/>
            <a:ext cx="17502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인증번호 유효시간(3분) 타이머 표시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3회 실패 시 재요청 제한</a:t>
            </a:r>
            <a:endParaRPr lang="en-US" sz="727" dirty="0"/>
          </a:p>
        </p:txBody>
      </p:sp>
      <p:sp>
        <p:nvSpPr>
          <p:cNvPr id="36" name="Shape 31"/>
          <p:cNvSpPr/>
          <p:nvPr/>
        </p:nvSpPr>
        <p:spPr>
          <a:xfrm>
            <a:off x="4643438" y="2514600"/>
            <a:ext cx="2035969" cy="22002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2687836"/>
            <a:ext cx="160734" cy="12858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018484" y="2657475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</a:rPr>
              <a:t>정보 입력</a:t>
            </a:r>
            <a:endParaRPr lang="en-US" sz="885" dirty="0"/>
          </a:p>
        </p:txBody>
      </p:sp>
      <p:sp>
        <p:nvSpPr>
          <p:cNvPr id="39" name="Text 33"/>
          <p:cNvSpPr/>
          <p:nvPr/>
        </p:nvSpPr>
        <p:spPr>
          <a:xfrm>
            <a:off x="4786313" y="3032522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UI Elements</a:t>
            </a:r>
            <a:endParaRPr lang="en-US" sz="584" dirty="0"/>
          </a:p>
        </p:txBody>
      </p:sp>
      <p:sp>
        <p:nvSpPr>
          <p:cNvPr id="40" name="Text 34"/>
          <p:cNvSpPr/>
          <p:nvPr/>
        </p:nvSpPr>
        <p:spPr>
          <a:xfrm>
            <a:off x="4786313" y="3177183"/>
            <a:ext cx="1750219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이메일 (ID)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비밀번호 (영문/숫자/특수문자 8자↑)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비밀번호 확인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이름 (실명)</a:t>
            </a:r>
            <a:endParaRPr lang="en-US" sz="727" dirty="0"/>
          </a:p>
        </p:txBody>
      </p:sp>
      <p:sp>
        <p:nvSpPr>
          <p:cNvPr id="41" name="Text 35"/>
          <p:cNvSpPr/>
          <p:nvPr/>
        </p:nvSpPr>
        <p:spPr>
          <a:xfrm>
            <a:off x="4786313" y="3822911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Validation</a:t>
            </a:r>
            <a:endParaRPr lang="en-US" sz="584" dirty="0"/>
          </a:p>
        </p:txBody>
      </p:sp>
      <p:sp>
        <p:nvSpPr>
          <p:cNvPr id="42" name="Text 36"/>
          <p:cNvSpPr/>
          <p:nvPr/>
        </p:nvSpPr>
        <p:spPr>
          <a:xfrm>
            <a:off x="4786313" y="3967572"/>
            <a:ext cx="17502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이메일 형식 정규식 검사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비밀번호 일치 여부 실시간 확인</a:t>
            </a:r>
            <a:endParaRPr lang="en-US" sz="727" dirty="0"/>
          </a:p>
        </p:txBody>
      </p:sp>
      <p:sp>
        <p:nvSpPr>
          <p:cNvPr id="43" name="Shape 37"/>
          <p:cNvSpPr/>
          <p:nvPr/>
        </p:nvSpPr>
        <p:spPr>
          <a:xfrm>
            <a:off x="6822281" y="2514600"/>
            <a:ext cx="2035969" cy="22002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5156" y="2687836"/>
            <a:ext cx="128588" cy="12858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7165181" y="2657475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</a:rPr>
              <a:t>가입 완료</a:t>
            </a:r>
            <a:endParaRPr lang="en-US" sz="885" dirty="0"/>
          </a:p>
        </p:txBody>
      </p:sp>
      <p:sp>
        <p:nvSpPr>
          <p:cNvPr id="46" name="Text 39"/>
          <p:cNvSpPr/>
          <p:nvPr/>
        </p:nvSpPr>
        <p:spPr>
          <a:xfrm>
            <a:off x="6965156" y="3032522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UI Elements</a:t>
            </a:r>
            <a:endParaRPr lang="en-US" sz="584" dirty="0"/>
          </a:p>
        </p:txBody>
      </p:sp>
      <p:sp>
        <p:nvSpPr>
          <p:cNvPr id="47" name="Text 40"/>
          <p:cNvSpPr/>
          <p:nvPr/>
        </p:nvSpPr>
        <p:spPr>
          <a:xfrm>
            <a:off x="6965156" y="3177183"/>
            <a:ext cx="17502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환영 메시지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'로그인하러 가기' 버튼</a:t>
            </a:r>
            <a:endParaRPr lang="en-US" sz="727" dirty="0"/>
          </a:p>
        </p:txBody>
      </p:sp>
      <p:sp>
        <p:nvSpPr>
          <p:cNvPr id="48" name="Text 41"/>
          <p:cNvSpPr/>
          <p:nvPr/>
        </p:nvSpPr>
        <p:spPr>
          <a:xfrm>
            <a:off x="6965156" y="3542909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API</a:t>
            </a:r>
            <a:endParaRPr lang="en-US" sz="584" dirty="0"/>
          </a:p>
        </p:txBody>
      </p:sp>
      <p:sp>
        <p:nvSpPr>
          <p:cNvPr id="49" name="Shape 42"/>
          <p:cNvSpPr/>
          <p:nvPr/>
        </p:nvSpPr>
        <p:spPr>
          <a:xfrm>
            <a:off x="6965156" y="3723289"/>
            <a:ext cx="1001325" cy="178594"/>
          </a:xfrm>
          <a:prstGeom prst="rect">
            <a:avLst/>
          </a:prstGeom>
          <a:solidFill>
            <a:srgbClr val="0F172A"/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6965156" y="3723289"/>
            <a:ext cx="1001325" cy="17859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POST /api/auth/register</a:t>
            </a:r>
            <a:endParaRPr lang="en-US" sz="568" dirty="0"/>
          </a:p>
        </p:txBody>
      </p:sp>
      <p:sp>
        <p:nvSpPr>
          <p:cNvPr id="51" name="Text 44"/>
          <p:cNvSpPr/>
          <p:nvPr/>
        </p:nvSpPr>
        <p:spPr>
          <a:xfrm>
            <a:off x="6965156" y="3973320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Logic</a:t>
            </a:r>
            <a:endParaRPr lang="en-US" sz="584" dirty="0"/>
          </a:p>
        </p:txBody>
      </p:sp>
      <p:sp>
        <p:nvSpPr>
          <p:cNvPr id="52" name="Text 45"/>
          <p:cNvSpPr/>
          <p:nvPr/>
        </p:nvSpPr>
        <p:spPr>
          <a:xfrm>
            <a:off x="6965156" y="4117981"/>
            <a:ext cx="17502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가입 성공 시 자동 로그인 처리 안 함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(보안 정책상 재로그인 유도)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[공통] 로그인 및 소셜 연동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이메일 로그인 및 OAuth 2.0 기반 소셜 로그인 구현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428750"/>
            <a:ext cx="4171950" cy="35004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1596628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1513" y="1557338"/>
            <a:ext cx="9910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</a:rPr>
              <a:t>이메일 로그인</a:t>
            </a:r>
            <a:endParaRPr lang="en-US" sz="1193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8" y="2018109"/>
            <a:ext cx="125016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6503" y="2000250"/>
            <a:ext cx="950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API Specification</a:t>
            </a:r>
            <a:endParaRPr lang="en-US" sz="683" dirty="0"/>
          </a:p>
        </p:txBody>
      </p:sp>
      <p:sp>
        <p:nvSpPr>
          <p:cNvPr id="12" name="Shape 7"/>
          <p:cNvSpPr/>
          <p:nvPr/>
        </p:nvSpPr>
        <p:spPr>
          <a:xfrm>
            <a:off x="414338" y="2193131"/>
            <a:ext cx="3914775" cy="754335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85775" y="2264569"/>
            <a:ext cx="1054205" cy="234293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485775" y="2264569"/>
            <a:ext cx="1054205" cy="234293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POST /api/auth/login</a:t>
            </a:r>
            <a:endParaRPr lang="en-US" sz="674" dirty="0"/>
          </a:p>
        </p:txBody>
      </p:sp>
      <p:sp>
        <p:nvSpPr>
          <p:cNvPr id="15" name="Text 10"/>
          <p:cNvSpPr/>
          <p:nvPr/>
        </p:nvSpPr>
        <p:spPr>
          <a:xfrm>
            <a:off x="485775" y="2541724"/>
            <a:ext cx="37719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Request: { email, password } • Response: { accessToken, refreshToken, userRole }</a:t>
            </a:r>
            <a:endParaRPr lang="en-US" sz="727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8" y="2876755"/>
            <a:ext cx="100013" cy="1000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1500" y="2858895"/>
            <a:ext cx="8108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Security Logic</a:t>
            </a:r>
            <a:endParaRPr lang="en-US" sz="683" dirty="0"/>
          </a:p>
        </p:txBody>
      </p:sp>
      <p:sp>
        <p:nvSpPr>
          <p:cNvPr id="18" name="Shape 12"/>
          <p:cNvSpPr/>
          <p:nvPr/>
        </p:nvSpPr>
        <p:spPr>
          <a:xfrm>
            <a:off x="414338" y="3051777"/>
            <a:ext cx="3914775" cy="47718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14338" y="3051777"/>
            <a:ext cx="3914775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비밀번호 암호화: SHA-256 + Salt · 로그인 실패 제한: 5회 후 10분 잠금 · 토큰 저장: Access (Memory), Refresh (HttpOnly Cookie)</a:t>
            </a:r>
            <a:endParaRPr lang="en-US" sz="727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38" y="3618254"/>
            <a:ext cx="100013" cy="10001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71500" y="3600394"/>
            <a:ext cx="10226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Account Recovery</a:t>
            </a:r>
            <a:endParaRPr lang="en-US" sz="683" dirty="0"/>
          </a:p>
        </p:txBody>
      </p:sp>
      <p:sp>
        <p:nvSpPr>
          <p:cNvPr id="22" name="Shape 15"/>
          <p:cNvSpPr/>
          <p:nvPr/>
        </p:nvSpPr>
        <p:spPr>
          <a:xfrm>
            <a:off x="414338" y="3793275"/>
            <a:ext cx="3914775" cy="47718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14338" y="3793275"/>
            <a:ext cx="3914775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아이디 찾기: 휴대폰 인증 후 이메일 마스킹 · 비밀번호 재설정: 임시 비밀번호 발송 또는 링크</a:t>
            </a:r>
            <a:endParaRPr lang="en-US" sz="727" dirty="0"/>
          </a:p>
        </p:txBody>
      </p:sp>
      <p:sp>
        <p:nvSpPr>
          <p:cNvPr id="24" name="Shape 17"/>
          <p:cNvSpPr/>
          <p:nvPr/>
        </p:nvSpPr>
        <p:spPr>
          <a:xfrm>
            <a:off x="4686300" y="1428750"/>
            <a:ext cx="4171950" cy="35004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888" y="1596628"/>
            <a:ext cx="150019" cy="1714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50631" y="1557338"/>
            <a:ext cx="183468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</a:rPr>
              <a:t>소셜 로그인 (OAuth 2.0)</a:t>
            </a:r>
            <a:endParaRPr lang="en-US" sz="1193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4888" y="2018109"/>
            <a:ext cx="100013" cy="100013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72050" y="2000250"/>
            <a:ext cx="11783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Supported Providers</a:t>
            </a:r>
            <a:endParaRPr lang="en-US" sz="683" dirty="0"/>
          </a:p>
        </p:txBody>
      </p:sp>
      <p:sp>
        <p:nvSpPr>
          <p:cNvPr id="29" name="Shape 20"/>
          <p:cNvSpPr/>
          <p:nvPr/>
        </p:nvSpPr>
        <p:spPr>
          <a:xfrm>
            <a:off x="4814888" y="2200275"/>
            <a:ext cx="631524" cy="314325"/>
          </a:xfrm>
          <a:prstGeom prst="rect">
            <a:avLst/>
          </a:prstGeom>
          <a:solidFill>
            <a:srgbClr val="FEE500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0613" y="2303859"/>
            <a:ext cx="107156" cy="10715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064919" y="2271713"/>
            <a:ext cx="2957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F172A"/>
                </a:solidFill>
              </a:rPr>
              <a:t>카카오</a:t>
            </a:r>
            <a:endParaRPr lang="en-US" sz="734" dirty="0"/>
          </a:p>
        </p:txBody>
      </p:sp>
      <p:sp>
        <p:nvSpPr>
          <p:cNvPr id="32" name="Shape 22"/>
          <p:cNvSpPr/>
          <p:nvPr/>
        </p:nvSpPr>
        <p:spPr>
          <a:xfrm>
            <a:off x="5532137" y="2200275"/>
            <a:ext cx="582188" cy="314325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3" name="Text 23"/>
          <p:cNvSpPr/>
          <p:nvPr/>
        </p:nvSpPr>
        <p:spPr>
          <a:xfrm>
            <a:off x="5532137" y="2200275"/>
            <a:ext cx="582188" cy="314325"/>
          </a:xfrm>
          <a:prstGeom prst="rect">
            <a:avLst/>
          </a:prstGeom>
          <a:noFill/>
          <a:ln/>
        </p:spPr>
        <p:txBody>
          <a:bodyPr wrap="square" lIns="102108" tIns="0" rIns="102108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N 네이버</a:t>
            </a:r>
            <a:endParaRPr lang="en-US" sz="734" dirty="0"/>
          </a:p>
        </p:txBody>
      </p:sp>
      <p:sp>
        <p:nvSpPr>
          <p:cNvPr id="34" name="Shape 24"/>
          <p:cNvSpPr/>
          <p:nvPr/>
        </p:nvSpPr>
        <p:spPr>
          <a:xfrm>
            <a:off x="6200049" y="2193131"/>
            <a:ext cx="541865" cy="32861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5774" y="2296716"/>
            <a:ext cx="101798" cy="10715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444723" y="2264569"/>
            <a:ext cx="19717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F172A"/>
                </a:solidFill>
              </a:rPr>
              <a:t>구글</a:t>
            </a:r>
            <a:endParaRPr lang="en-US" sz="734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4888" y="2611041"/>
            <a:ext cx="100013" cy="100013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4972050" y="2593181"/>
            <a:ext cx="5897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Auth Flow</a:t>
            </a:r>
            <a:endParaRPr lang="en-US" sz="683" dirty="0"/>
          </a:p>
        </p:txBody>
      </p:sp>
      <p:sp>
        <p:nvSpPr>
          <p:cNvPr id="39" name="Shape 27"/>
          <p:cNvSpPr/>
          <p:nvPr/>
        </p:nvSpPr>
        <p:spPr>
          <a:xfrm>
            <a:off x="4814888" y="2786063"/>
            <a:ext cx="3914775" cy="73145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4886325" y="2860346"/>
            <a:ext cx="142875" cy="142875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1" name="Text 29"/>
          <p:cNvSpPr/>
          <p:nvPr/>
        </p:nvSpPr>
        <p:spPr>
          <a:xfrm>
            <a:off x="4886325" y="286034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42" name="Text 30"/>
          <p:cNvSpPr/>
          <p:nvPr/>
        </p:nvSpPr>
        <p:spPr>
          <a:xfrm>
            <a:off x="5100638" y="2857500"/>
            <a:ext cx="13485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사용자 버튼 클릭 → Provider 인증</a:t>
            </a:r>
            <a:endParaRPr lang="en-US" sz="674" dirty="0"/>
          </a:p>
        </p:txBody>
      </p:sp>
      <p:sp>
        <p:nvSpPr>
          <p:cNvPr id="43" name="Shape 31"/>
          <p:cNvSpPr/>
          <p:nvPr/>
        </p:nvSpPr>
        <p:spPr>
          <a:xfrm>
            <a:off x="4886325" y="3051777"/>
            <a:ext cx="142875" cy="142875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4" name="Text 32"/>
          <p:cNvSpPr/>
          <p:nvPr/>
        </p:nvSpPr>
        <p:spPr>
          <a:xfrm>
            <a:off x="4886325" y="305177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45" name="Text 33"/>
          <p:cNvSpPr/>
          <p:nvPr/>
        </p:nvSpPr>
        <p:spPr>
          <a:xfrm>
            <a:off x="5100638" y="3048930"/>
            <a:ext cx="1651211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Auth Code 수신 및 서버로 전달, 토큰 교환</a:t>
            </a:r>
            <a:endParaRPr lang="en-US" sz="674" dirty="0"/>
          </a:p>
        </p:txBody>
      </p:sp>
      <p:sp>
        <p:nvSpPr>
          <p:cNvPr id="46" name="Shape 34"/>
          <p:cNvSpPr/>
          <p:nvPr/>
        </p:nvSpPr>
        <p:spPr>
          <a:xfrm>
            <a:off x="4886325" y="3243207"/>
            <a:ext cx="142875" cy="142875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7" name="Text 35"/>
          <p:cNvSpPr/>
          <p:nvPr/>
        </p:nvSpPr>
        <p:spPr>
          <a:xfrm>
            <a:off x="4886325" y="324320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48" name="Text 36"/>
          <p:cNvSpPr/>
          <p:nvPr/>
        </p:nvSpPr>
        <p:spPr>
          <a:xfrm>
            <a:off x="5100638" y="3240360"/>
            <a:ext cx="151190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회원 확인 후 로그인 또는 회원가입 처리</a:t>
            </a:r>
            <a:endParaRPr lang="en-US" sz="67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63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[공통] 권한 선택 및 대시보드 진입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사용자 역할(Role) 기반 라우팅 및 멀티 프로필 처리 로직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931283" y="1714500"/>
            <a:ext cx="2443163" cy="71635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52739" y="1973656"/>
            <a:ext cx="2000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</a:rPr>
              <a:t>1. 로그인 성공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1152739" y="2173681"/>
            <a:ext cx="2000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JWT Access Token 발급 완료</a:t>
            </a:r>
            <a:endParaRPr lang="en-US" sz="674" dirty="0"/>
          </a:p>
        </p:txBody>
      </p:sp>
      <p:sp>
        <p:nvSpPr>
          <p:cNvPr id="10" name="Shape 7"/>
          <p:cNvSpPr/>
          <p:nvPr/>
        </p:nvSpPr>
        <p:spPr>
          <a:xfrm>
            <a:off x="931283" y="2702319"/>
            <a:ext cx="2443163" cy="716356"/>
          </a:xfrm>
          <a:prstGeom prst="rect">
            <a:avLst/>
          </a:prstGeom>
          <a:solidFill>
            <a:srgbClr val="1E293B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2739" y="2961475"/>
            <a:ext cx="2000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</a:rPr>
              <a:t>2. 권한(Role) 확인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1152739" y="3161500"/>
            <a:ext cx="2000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Token Payload의 'roles' 배열 검사</a:t>
            </a:r>
            <a:endParaRPr lang="en-US" sz="674" dirty="0"/>
          </a:p>
        </p:txBody>
      </p:sp>
      <p:sp>
        <p:nvSpPr>
          <p:cNvPr id="13" name="Shape 10"/>
          <p:cNvSpPr/>
          <p:nvPr/>
        </p:nvSpPr>
        <p:spPr>
          <a:xfrm>
            <a:off x="285750" y="3690138"/>
            <a:ext cx="1867114" cy="644723"/>
          </a:xfrm>
          <a:prstGeom prst="rect">
            <a:avLst/>
          </a:prstGeom>
          <a:solidFill>
            <a:srgbClr val="0F172A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8710" y="3806223"/>
            <a:ext cx="3940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단일 권한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928548" y="3958028"/>
            <a:ext cx="5743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해당 대시보드로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928548" y="4093759"/>
            <a:ext cx="5743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즉시 리다이렉트</a:t>
            </a:r>
            <a:endParaRPr lang="en-US" sz="621" dirty="0"/>
          </a:p>
        </p:txBody>
      </p:sp>
      <p:sp>
        <p:nvSpPr>
          <p:cNvPr id="17" name="Shape 14"/>
          <p:cNvSpPr/>
          <p:nvPr/>
        </p:nvSpPr>
        <p:spPr>
          <a:xfrm>
            <a:off x="2145720" y="3690138"/>
            <a:ext cx="1874258" cy="644723"/>
          </a:xfrm>
          <a:prstGeom prst="rect">
            <a:avLst/>
          </a:prstGeom>
          <a:solidFill>
            <a:srgbClr val="0F172A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89396" y="3806223"/>
            <a:ext cx="3940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다중 권한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2737507" y="3958028"/>
            <a:ext cx="69782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권한 선택 팝업 표시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2836432" y="4093759"/>
            <a:ext cx="49995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(본사/현장 등)</a:t>
            </a:r>
            <a:endParaRPr lang="en-US" sz="621" dirty="0"/>
          </a:p>
        </p:txBody>
      </p:sp>
      <p:sp>
        <p:nvSpPr>
          <p:cNvPr id="21" name="Shape 18"/>
          <p:cNvSpPr/>
          <p:nvPr/>
        </p:nvSpPr>
        <p:spPr>
          <a:xfrm>
            <a:off x="4377165" y="1571625"/>
            <a:ext cx="4481057" cy="10144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20040" y="1672530"/>
            <a:ext cx="29094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ROLE_HQ_ADMIN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4520040" y="1824335"/>
            <a:ext cx="290943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본사 통합 대시보드</a:t>
            </a:r>
            <a:endParaRPr lang="en-US" sz="987" dirty="0"/>
          </a:p>
        </p:txBody>
      </p:sp>
      <p:sp>
        <p:nvSpPr>
          <p:cNvPr id="24" name="Shape 21"/>
          <p:cNvSpPr/>
          <p:nvPr/>
        </p:nvSpPr>
        <p:spPr>
          <a:xfrm>
            <a:off x="4520040" y="2088654"/>
            <a:ext cx="768009" cy="183952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4520040" y="2088654"/>
            <a:ext cx="768009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/hq/dashboard</a:t>
            </a:r>
            <a:endParaRPr lang="en-US" sz="674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040" y="2361009"/>
            <a:ext cx="105370" cy="92869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668273" y="2344043"/>
            <a:ext cx="91755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PC Web Environment</a:t>
            </a:r>
            <a:endParaRPr lang="en-US" sz="674" dirty="0"/>
          </a:p>
        </p:txBody>
      </p:sp>
      <p:sp>
        <p:nvSpPr>
          <p:cNvPr id="28" name="Shape 24"/>
          <p:cNvSpPr/>
          <p:nvPr/>
        </p:nvSpPr>
        <p:spPr>
          <a:xfrm>
            <a:off x="7572347" y="1571625"/>
            <a:ext cx="1285875" cy="1000125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560" y="1957388"/>
            <a:ext cx="171450" cy="22860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377165" y="2714625"/>
            <a:ext cx="4481057" cy="10144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520040" y="2815530"/>
            <a:ext cx="29094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ROLE_SITE_ADMIN</a:t>
            </a:r>
            <a:endParaRPr lang="en-US" sz="584" dirty="0"/>
          </a:p>
        </p:txBody>
      </p:sp>
      <p:sp>
        <p:nvSpPr>
          <p:cNvPr id="32" name="Text 27"/>
          <p:cNvSpPr/>
          <p:nvPr/>
        </p:nvSpPr>
        <p:spPr>
          <a:xfrm>
            <a:off x="4520040" y="2967335"/>
            <a:ext cx="290943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현장 관리 대시보드</a:t>
            </a:r>
            <a:endParaRPr lang="en-US" sz="987" dirty="0"/>
          </a:p>
        </p:txBody>
      </p:sp>
      <p:sp>
        <p:nvSpPr>
          <p:cNvPr id="33" name="Shape 28"/>
          <p:cNvSpPr/>
          <p:nvPr/>
        </p:nvSpPr>
        <p:spPr>
          <a:xfrm>
            <a:off x="4520040" y="3231654"/>
            <a:ext cx="807858" cy="183952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4520040" y="3231654"/>
            <a:ext cx="807858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/site/dashboard</a:t>
            </a:r>
            <a:endParaRPr lang="en-US" sz="674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040" y="3504009"/>
            <a:ext cx="69652" cy="92869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632554" y="3487043"/>
            <a:ext cx="1100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Mobile Web Environment</a:t>
            </a:r>
            <a:endParaRPr lang="en-US" sz="674" dirty="0"/>
          </a:p>
        </p:txBody>
      </p:sp>
      <p:sp>
        <p:nvSpPr>
          <p:cNvPr id="37" name="Shape 31"/>
          <p:cNvSpPr/>
          <p:nvPr/>
        </p:nvSpPr>
        <p:spPr>
          <a:xfrm>
            <a:off x="7572347" y="2714625"/>
            <a:ext cx="1285875" cy="1000125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697" y="3100388"/>
            <a:ext cx="257175" cy="22860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4377165" y="3857625"/>
            <a:ext cx="4481057" cy="10144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520040" y="3958530"/>
            <a:ext cx="29094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ROLE_TEAM_LEADER / ROLE_WORKER</a:t>
            </a:r>
            <a:endParaRPr lang="en-US" sz="584" dirty="0"/>
          </a:p>
        </p:txBody>
      </p:sp>
      <p:sp>
        <p:nvSpPr>
          <p:cNvPr id="41" name="Text 34"/>
          <p:cNvSpPr/>
          <p:nvPr/>
        </p:nvSpPr>
        <p:spPr>
          <a:xfrm>
            <a:off x="4520040" y="4110335"/>
            <a:ext cx="290943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노무자/팀장 앱 홈</a:t>
            </a:r>
            <a:endParaRPr lang="en-US" sz="987" dirty="0"/>
          </a:p>
        </p:txBody>
      </p:sp>
      <p:sp>
        <p:nvSpPr>
          <p:cNvPr id="42" name="Shape 35"/>
          <p:cNvSpPr/>
          <p:nvPr/>
        </p:nvSpPr>
        <p:spPr>
          <a:xfrm>
            <a:off x="4520040" y="4374654"/>
            <a:ext cx="602531" cy="183952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3" name="Text 36"/>
          <p:cNvSpPr/>
          <p:nvPr/>
        </p:nvSpPr>
        <p:spPr>
          <a:xfrm>
            <a:off x="4520040" y="4374654"/>
            <a:ext cx="602531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/app/home</a:t>
            </a:r>
            <a:endParaRPr lang="en-US" sz="674" dirty="0"/>
          </a:p>
        </p:txBody>
      </p:sp>
      <p:sp>
        <p:nvSpPr>
          <p:cNvPr id="44" name="Text 37"/>
          <p:cNvSpPr/>
          <p:nvPr/>
        </p:nvSpPr>
        <p:spPr>
          <a:xfrm>
            <a:off x="4562903" y="4630043"/>
            <a:ext cx="10619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Native App Environment</a:t>
            </a:r>
            <a:endParaRPr lang="en-US" sz="674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2347" y="3857625"/>
            <a:ext cx="1197639" cy="1553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2872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통합 대시보드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전사 현장 현황 및 실시간 출역 모니터링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371600"/>
            <a:ext cx="4972050" cy="22717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428750"/>
            <a:ext cx="858059" cy="15537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4338" y="1500188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6"/>
          <p:cNvSpPr/>
          <p:nvPr/>
        </p:nvSpPr>
        <p:spPr>
          <a:xfrm>
            <a:off x="414338" y="1500188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11" name="Shape 7"/>
          <p:cNvSpPr/>
          <p:nvPr/>
        </p:nvSpPr>
        <p:spPr>
          <a:xfrm>
            <a:off x="4729163" y="2300288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8"/>
          <p:cNvSpPr/>
          <p:nvPr/>
        </p:nvSpPr>
        <p:spPr>
          <a:xfrm>
            <a:off x="4729163" y="2300288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13" name="Shape 9"/>
          <p:cNvSpPr/>
          <p:nvPr/>
        </p:nvSpPr>
        <p:spPr>
          <a:xfrm>
            <a:off x="585788" y="3114675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85788" y="3114675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15" name="Shape 11"/>
          <p:cNvSpPr/>
          <p:nvPr/>
        </p:nvSpPr>
        <p:spPr>
          <a:xfrm>
            <a:off x="285750" y="3771900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2"/>
          <p:cNvSpPr/>
          <p:nvPr/>
        </p:nvSpPr>
        <p:spPr>
          <a:xfrm>
            <a:off x="285750" y="3771900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7" name="Text 13"/>
          <p:cNvSpPr/>
          <p:nvPr/>
        </p:nvSpPr>
        <p:spPr>
          <a:xfrm>
            <a:off x="514350" y="3785295"/>
            <a:ext cx="84642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핵심 지표 (KPI) 카드</a:t>
            </a:r>
            <a:endParaRPr lang="en-US" sz="727" dirty="0"/>
          </a:p>
        </p:txBody>
      </p:sp>
      <p:sp>
        <p:nvSpPr>
          <p:cNvPr id="18" name="Shape 14"/>
          <p:cNvSpPr/>
          <p:nvPr/>
        </p:nvSpPr>
        <p:spPr>
          <a:xfrm>
            <a:off x="2233566" y="3771900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5"/>
          <p:cNvSpPr/>
          <p:nvPr/>
        </p:nvSpPr>
        <p:spPr>
          <a:xfrm>
            <a:off x="2233566" y="3771900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20" name="Text 16"/>
          <p:cNvSpPr/>
          <p:nvPr/>
        </p:nvSpPr>
        <p:spPr>
          <a:xfrm>
            <a:off x="2462166" y="3785295"/>
            <a:ext cx="90614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실시간 출역 현황 차트</a:t>
            </a:r>
            <a:endParaRPr lang="en-US" sz="727" dirty="0"/>
          </a:p>
        </p:txBody>
      </p:sp>
      <p:sp>
        <p:nvSpPr>
          <p:cNvPr id="21" name="Shape 17"/>
          <p:cNvSpPr/>
          <p:nvPr/>
        </p:nvSpPr>
        <p:spPr>
          <a:xfrm>
            <a:off x="4241099" y="3771900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4241099" y="3771900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23" name="Text 19"/>
          <p:cNvSpPr/>
          <p:nvPr/>
        </p:nvSpPr>
        <p:spPr>
          <a:xfrm>
            <a:off x="4469699" y="3785295"/>
            <a:ext cx="78810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현장별 이슈 리스트</a:t>
            </a:r>
            <a:endParaRPr lang="en-US" sz="727" dirty="0"/>
          </a:p>
        </p:txBody>
      </p:sp>
      <p:sp>
        <p:nvSpPr>
          <p:cNvPr id="24" name="Shape 20"/>
          <p:cNvSpPr/>
          <p:nvPr/>
        </p:nvSpPr>
        <p:spPr>
          <a:xfrm>
            <a:off x="5543550" y="1371600"/>
            <a:ext cx="1614488" cy="130261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1"/>
          <p:cNvSpPr/>
          <p:nvPr/>
        </p:nvSpPr>
        <p:spPr>
          <a:xfrm>
            <a:off x="5543550" y="1371600"/>
            <a:ext cx="28575" cy="130261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2"/>
          <p:cNvSpPr/>
          <p:nvPr/>
        </p:nvSpPr>
        <p:spPr>
          <a:xfrm>
            <a:off x="5629275" y="1466255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3"/>
          <p:cNvSpPr/>
          <p:nvPr/>
        </p:nvSpPr>
        <p:spPr>
          <a:xfrm>
            <a:off x="5629275" y="146625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28" name="Text 24"/>
          <p:cNvSpPr/>
          <p:nvPr/>
        </p:nvSpPr>
        <p:spPr>
          <a:xfrm>
            <a:off x="5872163" y="1457325"/>
            <a:ext cx="84340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핵심 지표 (KPI)</a:t>
            </a:r>
            <a:endParaRPr lang="en-US" sz="885" dirty="0"/>
          </a:p>
        </p:txBody>
      </p:sp>
      <p:sp>
        <p:nvSpPr>
          <p:cNvPr id="29" name="Text 25"/>
          <p:cNvSpPr/>
          <p:nvPr/>
        </p:nvSpPr>
        <p:spPr>
          <a:xfrm>
            <a:off x="5629275" y="1703784"/>
            <a:ext cx="1443038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구성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총 현장 수, 금일 총 출역 인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원, 전일 대비 증감률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로직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매 60초마다 데이터 자동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갱신 (Polling)</a:t>
            </a:r>
            <a:endParaRPr lang="en-US" sz="727" dirty="0"/>
          </a:p>
        </p:txBody>
      </p:sp>
      <p:sp>
        <p:nvSpPr>
          <p:cNvPr id="30" name="Shape 26"/>
          <p:cNvSpPr/>
          <p:nvPr/>
        </p:nvSpPr>
        <p:spPr>
          <a:xfrm>
            <a:off x="5629275" y="2400970"/>
            <a:ext cx="1290870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629275" y="2400970"/>
            <a:ext cx="1290870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/api/hq/dashboard/stats</a:t>
            </a:r>
            <a:endParaRPr lang="en-US" sz="621" dirty="0"/>
          </a:p>
        </p:txBody>
      </p:sp>
      <p:sp>
        <p:nvSpPr>
          <p:cNvPr id="32" name="Shape 28"/>
          <p:cNvSpPr/>
          <p:nvPr/>
        </p:nvSpPr>
        <p:spPr>
          <a:xfrm>
            <a:off x="7243763" y="1371600"/>
            <a:ext cx="1614488" cy="130261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29"/>
          <p:cNvSpPr/>
          <p:nvPr/>
        </p:nvSpPr>
        <p:spPr>
          <a:xfrm>
            <a:off x="7243763" y="1371600"/>
            <a:ext cx="28575" cy="130261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Shape 30"/>
          <p:cNvSpPr/>
          <p:nvPr/>
        </p:nvSpPr>
        <p:spPr>
          <a:xfrm>
            <a:off x="7329488" y="1466255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1"/>
          <p:cNvSpPr/>
          <p:nvPr/>
        </p:nvSpPr>
        <p:spPr>
          <a:xfrm>
            <a:off x="7329488" y="146625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36" name="Text 32"/>
          <p:cNvSpPr/>
          <p:nvPr/>
        </p:nvSpPr>
        <p:spPr>
          <a:xfrm>
            <a:off x="7572375" y="1457325"/>
            <a:ext cx="89497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실시간 출역 현황</a:t>
            </a:r>
            <a:endParaRPr lang="en-US" sz="885" dirty="0"/>
          </a:p>
        </p:txBody>
      </p:sp>
      <p:sp>
        <p:nvSpPr>
          <p:cNvPr id="37" name="Text 33"/>
          <p:cNvSpPr/>
          <p:nvPr/>
        </p:nvSpPr>
        <p:spPr>
          <a:xfrm>
            <a:off x="7329488" y="1703784"/>
            <a:ext cx="1443038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시각화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시간대별 출근 인원 Bar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Chart (Chart.js)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데이터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안면인식 성공 및 관리자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승인 완료 건 집계</a:t>
            </a:r>
            <a:endParaRPr lang="en-US" sz="727" dirty="0"/>
          </a:p>
        </p:txBody>
      </p:sp>
      <p:sp>
        <p:nvSpPr>
          <p:cNvPr id="38" name="Shape 34"/>
          <p:cNvSpPr/>
          <p:nvPr/>
        </p:nvSpPr>
        <p:spPr>
          <a:xfrm>
            <a:off x="7329488" y="2400970"/>
            <a:ext cx="1327984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329488" y="2400970"/>
            <a:ext cx="1327984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/api/hq/attendance/chart</a:t>
            </a:r>
            <a:endParaRPr lang="en-US" sz="621" dirty="0"/>
          </a:p>
        </p:txBody>
      </p:sp>
      <p:sp>
        <p:nvSpPr>
          <p:cNvPr id="40" name="Shape 36"/>
          <p:cNvSpPr/>
          <p:nvPr/>
        </p:nvSpPr>
        <p:spPr>
          <a:xfrm>
            <a:off x="5543550" y="2749228"/>
            <a:ext cx="3314700" cy="982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7"/>
          <p:cNvSpPr/>
          <p:nvPr/>
        </p:nvSpPr>
        <p:spPr>
          <a:xfrm>
            <a:off x="5543550" y="2749228"/>
            <a:ext cx="28575" cy="982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Shape 38"/>
          <p:cNvSpPr/>
          <p:nvPr/>
        </p:nvSpPr>
        <p:spPr>
          <a:xfrm>
            <a:off x="5629275" y="2843882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3" name="Text 39"/>
          <p:cNvSpPr/>
          <p:nvPr/>
        </p:nvSpPr>
        <p:spPr>
          <a:xfrm>
            <a:off x="5629275" y="2843882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44" name="Text 40"/>
          <p:cNvSpPr/>
          <p:nvPr/>
        </p:nvSpPr>
        <p:spPr>
          <a:xfrm>
            <a:off x="5872163" y="2834953"/>
            <a:ext cx="11315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현장별 이슈 모니터링</a:t>
            </a:r>
            <a:endParaRPr lang="en-US" sz="885" dirty="0"/>
          </a:p>
        </p:txBody>
      </p:sp>
      <p:sp>
        <p:nvSpPr>
          <p:cNvPr id="45" name="Text 41"/>
          <p:cNvSpPr/>
          <p:nvPr/>
        </p:nvSpPr>
        <p:spPr>
          <a:xfrm>
            <a:off x="5629275" y="3081412"/>
            <a:ext cx="31432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알림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안전 사고 보고, 근로계약 미체결 인원 경고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액션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항목 클릭 시 해당 현장 상세 페이지로 이동</a:t>
            </a:r>
            <a:endParaRPr lang="en-US" sz="727" dirty="0"/>
          </a:p>
        </p:txBody>
      </p:sp>
      <p:sp>
        <p:nvSpPr>
          <p:cNvPr id="46" name="Shape 42"/>
          <p:cNvSpPr/>
          <p:nvPr/>
        </p:nvSpPr>
        <p:spPr>
          <a:xfrm>
            <a:off x="5629275" y="3458580"/>
            <a:ext cx="1166915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9275" y="3458580"/>
            <a:ext cx="1166915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/api/hq/issues/recent</a:t>
            </a:r>
            <a:endParaRPr lang="en-US" sz="621" dirty="0"/>
          </a:p>
        </p:txBody>
      </p:sp>
      <p:sp>
        <p:nvSpPr>
          <p:cNvPr id="48" name="Shape 44"/>
          <p:cNvSpPr/>
          <p:nvPr/>
        </p:nvSpPr>
        <p:spPr>
          <a:xfrm>
            <a:off x="5543550" y="3806837"/>
            <a:ext cx="3314700" cy="457200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/>
            </a:solidFill>
            <a:prstDash val="dash"/>
          </a:ln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275" y="3919351"/>
            <a:ext cx="92869" cy="92869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5746310" y="3901492"/>
            <a:ext cx="45340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3C5FD"/>
                </a:solidFill>
              </a:rPr>
              <a:t>Dev Note:</a:t>
            </a:r>
            <a:endParaRPr lang="en-US" sz="634" dirty="0"/>
          </a:p>
        </p:txBody>
      </p:sp>
      <p:sp>
        <p:nvSpPr>
          <p:cNvPr id="51" name="Text 46"/>
          <p:cNvSpPr/>
          <p:nvPr/>
        </p:nvSpPr>
        <p:spPr>
          <a:xfrm>
            <a:off x="6199715" y="3901492"/>
            <a:ext cx="25098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3C5FD"/>
                </a:solidFill>
              </a:rPr>
              <a:t>대시보드 데이터는 쿼리 부하를 줄이기 위해 Redis 캐싱(TTL 1분)</a:t>
            </a:r>
            <a:endParaRPr lang="en-US" sz="674" dirty="0"/>
          </a:p>
        </p:txBody>
      </p:sp>
      <p:sp>
        <p:nvSpPr>
          <p:cNvPr id="52" name="Text 47"/>
          <p:cNvSpPr/>
          <p:nvPr/>
        </p:nvSpPr>
        <p:spPr>
          <a:xfrm>
            <a:off x="5629275" y="4037223"/>
            <a:ext cx="28360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3C5FD"/>
                </a:solidFill>
              </a:rPr>
              <a:t>을 적용하며, WebSocket을 통해 긴급 공지사항을 실시간으로 수신합니다.</a:t>
            </a:r>
            <a:endParaRPr lang="en-US" sz="67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1850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프로젝트(현장) 목록 관리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등록된 현장 목록 조회, 검색, 필터링 및 신규 현장 등록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500188"/>
            <a:ext cx="5099521" cy="337542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2906" y="160734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392906" y="160734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5106665" y="160734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5106665" y="160734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2835511" y="257175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35511" y="25717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428625" y="1643063"/>
            <a:ext cx="2500675" cy="27324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715393"/>
            <a:ext cx="114300" cy="1143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50294" y="1709142"/>
            <a:ext cx="4200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전체 상태</a:t>
            </a:r>
            <a:endParaRPr lang="en-US" sz="727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352" y="1727002"/>
            <a:ext cx="87511" cy="100013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263256" y="1643063"/>
            <a:ext cx="979140" cy="25896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556" y="1722537"/>
            <a:ext cx="89297" cy="10001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24003" y="1700213"/>
            <a:ext cx="60409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신규 현장 등록</a:t>
            </a:r>
            <a:endParaRPr lang="en-US" sz="683" dirty="0"/>
          </a:p>
        </p:txBody>
      </p:sp>
      <p:sp>
        <p:nvSpPr>
          <p:cNvPr id="21" name="Shape 15"/>
          <p:cNvSpPr/>
          <p:nvPr/>
        </p:nvSpPr>
        <p:spPr>
          <a:xfrm>
            <a:off x="428625" y="2044898"/>
            <a:ext cx="555120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16"/>
          <p:cNvSpPr/>
          <p:nvPr/>
        </p:nvSpPr>
        <p:spPr>
          <a:xfrm>
            <a:off x="428625" y="2344936"/>
            <a:ext cx="55512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17"/>
          <p:cNvSpPr/>
          <p:nvPr/>
        </p:nvSpPr>
        <p:spPr>
          <a:xfrm>
            <a:off x="428625" y="2044898"/>
            <a:ext cx="55512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Image</a:t>
            </a:r>
            <a:endParaRPr lang="en-US" sz="634" dirty="0"/>
          </a:p>
        </p:txBody>
      </p:sp>
      <p:sp>
        <p:nvSpPr>
          <p:cNvPr id="24" name="Shape 18"/>
          <p:cNvSpPr/>
          <p:nvPr/>
        </p:nvSpPr>
        <p:spPr>
          <a:xfrm>
            <a:off x="983745" y="2044898"/>
            <a:ext cx="1494299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Shape 19"/>
          <p:cNvSpPr/>
          <p:nvPr/>
        </p:nvSpPr>
        <p:spPr>
          <a:xfrm>
            <a:off x="983745" y="2344936"/>
            <a:ext cx="1494299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0"/>
          <p:cNvSpPr/>
          <p:nvPr/>
        </p:nvSpPr>
        <p:spPr>
          <a:xfrm>
            <a:off x="983745" y="2044898"/>
            <a:ext cx="1494299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현장명</a:t>
            </a:r>
            <a:endParaRPr lang="en-US" sz="634" dirty="0"/>
          </a:p>
        </p:txBody>
      </p:sp>
      <p:sp>
        <p:nvSpPr>
          <p:cNvPr id="27" name="Shape 21"/>
          <p:cNvSpPr/>
          <p:nvPr/>
        </p:nvSpPr>
        <p:spPr>
          <a:xfrm>
            <a:off x="2478044" y="2044898"/>
            <a:ext cx="1439187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Shape 22"/>
          <p:cNvSpPr/>
          <p:nvPr/>
        </p:nvSpPr>
        <p:spPr>
          <a:xfrm>
            <a:off x="2478044" y="2344936"/>
            <a:ext cx="1439187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Text 23"/>
          <p:cNvSpPr/>
          <p:nvPr/>
        </p:nvSpPr>
        <p:spPr>
          <a:xfrm>
            <a:off x="2478044" y="2044898"/>
            <a:ext cx="1439187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공사 기간</a:t>
            </a:r>
            <a:endParaRPr lang="en-US" sz="634" dirty="0"/>
          </a:p>
        </p:txBody>
      </p:sp>
      <p:sp>
        <p:nvSpPr>
          <p:cNvPr id="30" name="Shape 24"/>
          <p:cNvSpPr/>
          <p:nvPr/>
        </p:nvSpPr>
        <p:spPr>
          <a:xfrm>
            <a:off x="3917231" y="2044898"/>
            <a:ext cx="733295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Shape 25"/>
          <p:cNvSpPr/>
          <p:nvPr/>
        </p:nvSpPr>
        <p:spPr>
          <a:xfrm>
            <a:off x="3917231" y="2344936"/>
            <a:ext cx="73329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Text 26"/>
          <p:cNvSpPr/>
          <p:nvPr/>
        </p:nvSpPr>
        <p:spPr>
          <a:xfrm>
            <a:off x="3917231" y="2044898"/>
            <a:ext cx="73329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 대리인</a:t>
            </a:r>
            <a:endParaRPr lang="en-US" sz="634" dirty="0"/>
          </a:p>
        </p:txBody>
      </p:sp>
      <p:sp>
        <p:nvSpPr>
          <p:cNvPr id="33" name="Shape 27"/>
          <p:cNvSpPr/>
          <p:nvPr/>
        </p:nvSpPr>
        <p:spPr>
          <a:xfrm>
            <a:off x="4650525" y="2044898"/>
            <a:ext cx="591871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Shape 28"/>
          <p:cNvSpPr/>
          <p:nvPr/>
        </p:nvSpPr>
        <p:spPr>
          <a:xfrm>
            <a:off x="4650525" y="2344936"/>
            <a:ext cx="591871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Text 29"/>
          <p:cNvSpPr/>
          <p:nvPr/>
        </p:nvSpPr>
        <p:spPr>
          <a:xfrm>
            <a:off x="4650525" y="2044898"/>
            <a:ext cx="591871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상태</a:t>
            </a:r>
            <a:endParaRPr lang="en-US" sz="634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2437805"/>
            <a:ext cx="300038" cy="30003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069470" y="2479774"/>
            <a:ext cx="101229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1F5F9"/>
                </a:solidFill>
              </a:rPr>
              <a:t>강남 더샵 팰리스 신축공사</a:t>
            </a:r>
            <a:endParaRPr lang="en-US" sz="634" dirty="0"/>
          </a:p>
        </p:txBody>
      </p:sp>
      <p:sp>
        <p:nvSpPr>
          <p:cNvPr id="38" name="Text 31"/>
          <p:cNvSpPr/>
          <p:nvPr/>
        </p:nvSpPr>
        <p:spPr>
          <a:xfrm>
            <a:off x="1069470" y="2620863"/>
            <a:ext cx="9620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서울시 강남구 역삼동 123-45</a:t>
            </a:r>
            <a:endParaRPr lang="en-US" sz="568" dirty="0"/>
          </a:p>
        </p:txBody>
      </p:sp>
      <p:sp>
        <p:nvSpPr>
          <p:cNvPr id="39" name="Text 32"/>
          <p:cNvSpPr/>
          <p:nvPr/>
        </p:nvSpPr>
        <p:spPr>
          <a:xfrm>
            <a:off x="2478044" y="2352080"/>
            <a:ext cx="1439187" cy="50363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2023.09.01 ~ 2025.12.31</a:t>
            </a:r>
            <a:endParaRPr lang="en-US" sz="674" dirty="0"/>
          </a:p>
        </p:txBody>
      </p:sp>
      <p:sp>
        <p:nvSpPr>
          <p:cNvPr id="40" name="Text 33"/>
          <p:cNvSpPr/>
          <p:nvPr/>
        </p:nvSpPr>
        <p:spPr>
          <a:xfrm>
            <a:off x="3917231" y="2352080"/>
            <a:ext cx="733295" cy="50363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김현장 소장</a:t>
            </a:r>
            <a:endParaRPr lang="en-US" sz="674" dirty="0"/>
          </a:p>
        </p:txBody>
      </p:sp>
      <p:sp>
        <p:nvSpPr>
          <p:cNvPr id="41" name="Shape 34"/>
          <p:cNvSpPr/>
          <p:nvPr/>
        </p:nvSpPr>
        <p:spPr>
          <a:xfrm>
            <a:off x="4736250" y="2524423"/>
            <a:ext cx="331208" cy="164306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2" name="Text 35"/>
          <p:cNvSpPr/>
          <p:nvPr/>
        </p:nvSpPr>
        <p:spPr>
          <a:xfrm>
            <a:off x="4736250" y="2524423"/>
            <a:ext cx="33120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진행중</a:t>
            </a:r>
            <a:endParaRPr lang="en-US" sz="534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2945011"/>
            <a:ext cx="300038" cy="30003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069470" y="2986980"/>
            <a:ext cx="9027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1F5F9"/>
                </a:solidFill>
              </a:rPr>
              <a:t>판교 테크노밸리 오피스</a:t>
            </a:r>
            <a:endParaRPr lang="en-US" sz="634" dirty="0"/>
          </a:p>
        </p:txBody>
      </p:sp>
      <p:sp>
        <p:nvSpPr>
          <p:cNvPr id="45" name="Text 37"/>
          <p:cNvSpPr/>
          <p:nvPr/>
        </p:nvSpPr>
        <p:spPr>
          <a:xfrm>
            <a:off x="1069470" y="3128070"/>
            <a:ext cx="10011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경기도 성남시 분당구 판교역로</a:t>
            </a:r>
            <a:endParaRPr lang="en-US" sz="568" dirty="0"/>
          </a:p>
        </p:txBody>
      </p:sp>
      <p:sp>
        <p:nvSpPr>
          <p:cNvPr id="46" name="Text 38"/>
          <p:cNvSpPr/>
          <p:nvPr/>
        </p:nvSpPr>
        <p:spPr>
          <a:xfrm>
            <a:off x="2478044" y="2855714"/>
            <a:ext cx="1439187" cy="50720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2024.01.15 ~ 2026.06.30</a:t>
            </a:r>
            <a:endParaRPr lang="en-US" sz="674" dirty="0"/>
          </a:p>
        </p:txBody>
      </p:sp>
      <p:sp>
        <p:nvSpPr>
          <p:cNvPr id="47" name="Text 39"/>
          <p:cNvSpPr/>
          <p:nvPr/>
        </p:nvSpPr>
        <p:spPr>
          <a:xfrm>
            <a:off x="3917231" y="2855714"/>
            <a:ext cx="733295" cy="50720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이판교 소장</a:t>
            </a:r>
            <a:endParaRPr lang="en-US" sz="674" dirty="0"/>
          </a:p>
        </p:txBody>
      </p:sp>
      <p:sp>
        <p:nvSpPr>
          <p:cNvPr id="48" name="Shape 40"/>
          <p:cNvSpPr/>
          <p:nvPr/>
        </p:nvSpPr>
        <p:spPr>
          <a:xfrm>
            <a:off x="4736250" y="3031629"/>
            <a:ext cx="331208" cy="164306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9" name="Text 41"/>
          <p:cNvSpPr/>
          <p:nvPr/>
        </p:nvSpPr>
        <p:spPr>
          <a:xfrm>
            <a:off x="4736250" y="3031629"/>
            <a:ext cx="33120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진행중</a:t>
            </a:r>
            <a:endParaRPr lang="en-US" sz="534" dirty="0"/>
          </a:p>
        </p:txBody>
      </p:sp>
      <p:sp>
        <p:nvSpPr>
          <p:cNvPr id="50" name="Text 42"/>
          <p:cNvSpPr/>
          <p:nvPr/>
        </p:nvSpPr>
        <p:spPr>
          <a:xfrm>
            <a:off x="1069470" y="3472755"/>
            <a:ext cx="109771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1F5F9"/>
                </a:solidFill>
              </a:rPr>
              <a:t>부산 해운대 리조트 리모델링</a:t>
            </a:r>
            <a:endParaRPr lang="en-US" sz="634" dirty="0"/>
          </a:p>
        </p:txBody>
      </p:sp>
      <p:sp>
        <p:nvSpPr>
          <p:cNvPr id="51" name="Text 43"/>
          <p:cNvSpPr/>
          <p:nvPr/>
        </p:nvSpPr>
        <p:spPr>
          <a:xfrm>
            <a:off x="1069470" y="3613845"/>
            <a:ext cx="6915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부산시 해운대구 중동</a:t>
            </a:r>
            <a:endParaRPr lang="en-US" sz="568" dirty="0"/>
          </a:p>
        </p:txBody>
      </p:sp>
      <p:sp>
        <p:nvSpPr>
          <p:cNvPr id="52" name="Text 44"/>
          <p:cNvSpPr/>
          <p:nvPr/>
        </p:nvSpPr>
        <p:spPr>
          <a:xfrm>
            <a:off x="2478044" y="3362920"/>
            <a:ext cx="1439187" cy="4643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2023.01.01 ~ 2023.12.31</a:t>
            </a:r>
            <a:endParaRPr lang="en-US" sz="674" dirty="0"/>
          </a:p>
        </p:txBody>
      </p:sp>
      <p:sp>
        <p:nvSpPr>
          <p:cNvPr id="53" name="Text 45"/>
          <p:cNvSpPr/>
          <p:nvPr/>
        </p:nvSpPr>
        <p:spPr>
          <a:xfrm>
            <a:off x="3917231" y="3362920"/>
            <a:ext cx="733295" cy="4643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박부산 소장</a:t>
            </a:r>
            <a:endParaRPr lang="en-US" sz="674" dirty="0"/>
          </a:p>
        </p:txBody>
      </p:sp>
      <p:sp>
        <p:nvSpPr>
          <p:cNvPr id="54" name="Shape 46"/>
          <p:cNvSpPr/>
          <p:nvPr/>
        </p:nvSpPr>
        <p:spPr>
          <a:xfrm>
            <a:off x="4736250" y="3517404"/>
            <a:ext cx="258905" cy="164306"/>
          </a:xfrm>
          <a:prstGeom prst="round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55" name="Text 47"/>
          <p:cNvSpPr/>
          <p:nvPr/>
        </p:nvSpPr>
        <p:spPr>
          <a:xfrm>
            <a:off x="4736250" y="3517404"/>
            <a:ext cx="258905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4A3B8"/>
                </a:solidFill>
              </a:rPr>
              <a:t>종료</a:t>
            </a:r>
            <a:endParaRPr lang="en-US" sz="534" dirty="0"/>
          </a:p>
        </p:txBody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3111" y="4577358"/>
            <a:ext cx="71438" cy="155377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2665986" y="4577358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1</a:t>
            </a:r>
            <a:endParaRPr lang="en-US" sz="834" dirty="0"/>
          </a:p>
        </p:txBody>
      </p:sp>
      <p:sp>
        <p:nvSpPr>
          <p:cNvPr id="58" name="Text 49"/>
          <p:cNvSpPr/>
          <p:nvPr/>
        </p:nvSpPr>
        <p:spPr>
          <a:xfrm>
            <a:off x="2802806" y="4577358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2</a:t>
            </a:r>
            <a:endParaRPr lang="en-US" sz="834" dirty="0"/>
          </a:p>
        </p:txBody>
      </p:sp>
      <p:sp>
        <p:nvSpPr>
          <p:cNvPr id="59" name="Text 50"/>
          <p:cNvSpPr/>
          <p:nvPr/>
        </p:nvSpPr>
        <p:spPr>
          <a:xfrm>
            <a:off x="2939625" y="4577358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3</a:t>
            </a:r>
            <a:endParaRPr lang="en-US" sz="834" dirty="0"/>
          </a:p>
        </p:txBody>
      </p:sp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6445" y="4577358"/>
            <a:ext cx="71438" cy="155377"/>
          </a:xfrm>
          <a:prstGeom prst="rect">
            <a:avLst/>
          </a:prstGeom>
        </p:spPr>
      </p:pic>
      <p:sp>
        <p:nvSpPr>
          <p:cNvPr id="61" name="Shape 51"/>
          <p:cNvSpPr/>
          <p:nvPr/>
        </p:nvSpPr>
        <p:spPr>
          <a:xfrm>
            <a:off x="5671021" y="1500188"/>
            <a:ext cx="3187229" cy="88225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5778178" y="161805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53"/>
          <p:cNvSpPr/>
          <p:nvPr/>
        </p:nvSpPr>
        <p:spPr>
          <a:xfrm>
            <a:off x="5778178" y="161805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64" name="Text 54"/>
          <p:cNvSpPr/>
          <p:nvPr/>
        </p:nvSpPr>
        <p:spPr>
          <a:xfrm>
            <a:off x="5992490" y="1607344"/>
            <a:ext cx="152214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검색 및 필터 (Search &amp; Filter)</a:t>
            </a:r>
            <a:endParaRPr lang="en-US" sz="784" dirty="0"/>
          </a:p>
        </p:txBody>
      </p:sp>
      <p:sp>
        <p:nvSpPr>
          <p:cNvPr id="65" name="Text 55"/>
          <p:cNvSpPr/>
          <p:nvPr/>
        </p:nvSpPr>
        <p:spPr>
          <a:xfrm>
            <a:off x="5778178" y="1843088"/>
            <a:ext cx="297291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검색 조건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현장명, 주소 (Like 검색)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상태 필터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전체 / 진행중 / 종료 / 중지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동작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엔터키 입력 또는 돋보기 아이콘 클릭 시 API 호출</a:t>
            </a:r>
            <a:endParaRPr lang="en-US" sz="674" dirty="0"/>
          </a:p>
        </p:txBody>
      </p:sp>
      <p:sp>
        <p:nvSpPr>
          <p:cNvPr id="66" name="Shape 56"/>
          <p:cNvSpPr/>
          <p:nvPr/>
        </p:nvSpPr>
        <p:spPr>
          <a:xfrm>
            <a:off x="5671021" y="2511028"/>
            <a:ext cx="3187229" cy="132516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>
            <a:off x="5778178" y="262890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8" name="Text 58"/>
          <p:cNvSpPr/>
          <p:nvPr/>
        </p:nvSpPr>
        <p:spPr>
          <a:xfrm>
            <a:off x="5778178" y="262890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69" name="Text 59"/>
          <p:cNvSpPr/>
          <p:nvPr/>
        </p:nvSpPr>
        <p:spPr>
          <a:xfrm>
            <a:off x="5992490" y="2618184"/>
            <a:ext cx="140637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프로젝트 목록 (Project List)</a:t>
            </a:r>
            <a:endParaRPr lang="en-US" sz="784" dirty="0"/>
          </a:p>
        </p:txBody>
      </p:sp>
      <p:sp>
        <p:nvSpPr>
          <p:cNvPr id="70" name="Text 60"/>
          <p:cNvSpPr/>
          <p:nvPr/>
        </p:nvSpPr>
        <p:spPr>
          <a:xfrm>
            <a:off x="5778178" y="2859286"/>
            <a:ext cx="590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</a:t>
            </a:r>
            <a:endParaRPr lang="en-US" sz="674" dirty="0"/>
          </a:p>
        </p:txBody>
      </p:sp>
      <p:sp>
        <p:nvSpPr>
          <p:cNvPr id="71" name="Text 61"/>
          <p:cNvSpPr/>
          <p:nvPr/>
        </p:nvSpPr>
        <p:spPr>
          <a:xfrm>
            <a:off x="5837253" y="2859286"/>
            <a:ext cx="45136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데이터 표시</a:t>
            </a:r>
            <a:endParaRPr lang="en-US" sz="634" dirty="0"/>
          </a:p>
        </p:txBody>
      </p:sp>
      <p:sp>
        <p:nvSpPr>
          <p:cNvPr id="72" name="Text 62"/>
          <p:cNvSpPr/>
          <p:nvPr/>
        </p:nvSpPr>
        <p:spPr>
          <a:xfrm>
            <a:off x="6288621" y="2859286"/>
            <a:ext cx="15758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썸네일, 현장명, 주소, 기간, 관리자, 상태</a:t>
            </a:r>
            <a:endParaRPr lang="en-US" sz="674" dirty="0"/>
          </a:p>
        </p:txBody>
      </p:sp>
      <p:sp>
        <p:nvSpPr>
          <p:cNvPr id="73" name="Text 63"/>
          <p:cNvSpPr/>
          <p:nvPr/>
        </p:nvSpPr>
        <p:spPr>
          <a:xfrm>
            <a:off x="5778178" y="2998589"/>
            <a:ext cx="590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</a:t>
            </a:r>
            <a:endParaRPr lang="en-US" sz="674" dirty="0"/>
          </a:p>
        </p:txBody>
      </p:sp>
      <p:sp>
        <p:nvSpPr>
          <p:cNvPr id="74" name="Text 64"/>
          <p:cNvSpPr/>
          <p:nvPr/>
        </p:nvSpPr>
        <p:spPr>
          <a:xfrm>
            <a:off x="5837253" y="2998589"/>
            <a:ext cx="51264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페이지네이션</a:t>
            </a:r>
            <a:endParaRPr lang="en-US" sz="634" dirty="0"/>
          </a:p>
        </p:txBody>
      </p:sp>
      <p:sp>
        <p:nvSpPr>
          <p:cNvPr id="75" name="Text 65"/>
          <p:cNvSpPr/>
          <p:nvPr/>
        </p:nvSpPr>
        <p:spPr>
          <a:xfrm>
            <a:off x="6349901" y="2998589"/>
            <a:ext cx="17776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기본 10개씩 조회 (Server-side Pagination)</a:t>
            </a:r>
            <a:endParaRPr lang="en-US" sz="674" dirty="0"/>
          </a:p>
        </p:txBody>
      </p:sp>
      <p:sp>
        <p:nvSpPr>
          <p:cNvPr id="76" name="Text 66"/>
          <p:cNvSpPr/>
          <p:nvPr/>
        </p:nvSpPr>
        <p:spPr>
          <a:xfrm>
            <a:off x="5778178" y="3137892"/>
            <a:ext cx="590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</a:t>
            </a:r>
            <a:endParaRPr lang="en-US" sz="674" dirty="0"/>
          </a:p>
        </p:txBody>
      </p:sp>
      <p:sp>
        <p:nvSpPr>
          <p:cNvPr id="77" name="Text 67"/>
          <p:cNvSpPr/>
          <p:nvPr/>
        </p:nvSpPr>
        <p:spPr>
          <a:xfrm>
            <a:off x="5837253" y="3137892"/>
            <a:ext cx="2563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이벤트</a:t>
            </a:r>
            <a:endParaRPr lang="en-US" sz="634" dirty="0"/>
          </a:p>
        </p:txBody>
      </p:sp>
      <p:sp>
        <p:nvSpPr>
          <p:cNvPr id="78" name="Text 68"/>
          <p:cNvSpPr/>
          <p:nvPr/>
        </p:nvSpPr>
        <p:spPr>
          <a:xfrm>
            <a:off x="6093591" y="3137892"/>
            <a:ext cx="184356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행(Row) 클릭 시 '프로젝트 상세' 화면으로 이동</a:t>
            </a:r>
            <a:endParaRPr lang="en-US" sz="674" dirty="0"/>
          </a:p>
        </p:txBody>
      </p:sp>
      <p:sp>
        <p:nvSpPr>
          <p:cNvPr id="79" name="Shape 69"/>
          <p:cNvSpPr/>
          <p:nvPr/>
        </p:nvSpPr>
        <p:spPr>
          <a:xfrm>
            <a:off x="5778178" y="3328988"/>
            <a:ext cx="2972916" cy="38576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0" name="Text 70"/>
          <p:cNvSpPr/>
          <p:nvPr/>
        </p:nvSpPr>
        <p:spPr>
          <a:xfrm>
            <a:off x="5778178" y="3328988"/>
            <a:ext cx="2972916" cy="3857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/api/hq/projects?page=0&amp;size=10&amp;keyword={text}&amp;status={status}</a:t>
            </a:r>
            <a:endParaRPr lang="en-US" sz="621" dirty="0"/>
          </a:p>
        </p:txBody>
      </p:sp>
      <p:sp>
        <p:nvSpPr>
          <p:cNvPr id="81" name="Shape 71"/>
          <p:cNvSpPr/>
          <p:nvPr/>
        </p:nvSpPr>
        <p:spPr>
          <a:xfrm>
            <a:off x="5671021" y="3950494"/>
            <a:ext cx="3187229" cy="88225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5778178" y="406836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3" name="Text 73"/>
          <p:cNvSpPr/>
          <p:nvPr/>
        </p:nvSpPr>
        <p:spPr>
          <a:xfrm>
            <a:off x="5778178" y="406836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84" name="Text 74"/>
          <p:cNvSpPr/>
          <p:nvPr/>
        </p:nvSpPr>
        <p:spPr>
          <a:xfrm>
            <a:off x="5992490" y="4057650"/>
            <a:ext cx="136635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신규 등록 (Create Project)</a:t>
            </a:r>
            <a:endParaRPr lang="en-US" sz="784" dirty="0"/>
          </a:p>
        </p:txBody>
      </p:sp>
      <p:sp>
        <p:nvSpPr>
          <p:cNvPr id="85" name="Text 75"/>
          <p:cNvSpPr/>
          <p:nvPr/>
        </p:nvSpPr>
        <p:spPr>
          <a:xfrm>
            <a:off x="5778178" y="4293394"/>
            <a:ext cx="297291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버튼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'신규 현장 등록' (Primary Color)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이벤트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클릭 시 프로젝트 생성 모달(Modal) 오픈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권한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슈퍼 관리자 및 본사 관리자만 접근 가능</a:t>
            </a:r>
            <a:endParaRPr lang="en-US" sz="67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57300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프로젝트 상세 정보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현장별 상세 계약 정보 및 관리자 배정 현황 조회/수정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343025"/>
            <a:ext cx="5066342" cy="313610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1503759"/>
            <a:ext cx="142875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8650" y="1471613"/>
            <a:ext cx="56293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기본 정보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414338" y="1828800"/>
            <a:ext cx="23617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프로젝트명</a:t>
            </a:r>
            <a:endParaRPr lang="en-US" sz="634" dirty="0"/>
          </a:p>
        </p:txBody>
      </p:sp>
      <p:sp>
        <p:nvSpPr>
          <p:cNvPr id="11" name="Shape 7"/>
          <p:cNvSpPr/>
          <p:nvPr/>
        </p:nvSpPr>
        <p:spPr>
          <a:xfrm>
            <a:off x="414338" y="2007394"/>
            <a:ext cx="2361707" cy="31253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4338" y="2007394"/>
            <a:ext cx="2361707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서울 강남구 역삼동 오피스텔 신축공사</a:t>
            </a:r>
            <a:endParaRPr lang="en-US" sz="780" dirty="0"/>
          </a:p>
        </p:txBody>
      </p:sp>
      <p:sp>
        <p:nvSpPr>
          <p:cNvPr id="13" name="Text 9"/>
          <p:cNvSpPr/>
          <p:nvPr/>
        </p:nvSpPr>
        <p:spPr>
          <a:xfrm>
            <a:off x="2861770" y="1828800"/>
            <a:ext cx="23617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 주소</a:t>
            </a:r>
            <a:endParaRPr lang="en-US" sz="634" dirty="0"/>
          </a:p>
        </p:txBody>
      </p:sp>
      <p:sp>
        <p:nvSpPr>
          <p:cNvPr id="14" name="Shape 10"/>
          <p:cNvSpPr/>
          <p:nvPr/>
        </p:nvSpPr>
        <p:spPr>
          <a:xfrm>
            <a:off x="2861770" y="2007394"/>
            <a:ext cx="2361735" cy="31253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861770" y="2007394"/>
            <a:ext cx="2361735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서울특별시 강남구 테헤란로 123</a:t>
            </a:r>
            <a:endParaRPr lang="en-US" sz="780" dirty="0"/>
          </a:p>
        </p:txBody>
      </p:sp>
      <p:sp>
        <p:nvSpPr>
          <p:cNvPr id="16" name="Text 12"/>
          <p:cNvSpPr/>
          <p:nvPr/>
        </p:nvSpPr>
        <p:spPr>
          <a:xfrm>
            <a:off x="414338" y="2391370"/>
            <a:ext cx="23617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공사 기간</a:t>
            </a:r>
            <a:endParaRPr lang="en-US" sz="634" dirty="0"/>
          </a:p>
        </p:txBody>
      </p:sp>
      <p:sp>
        <p:nvSpPr>
          <p:cNvPr id="17" name="Shape 13"/>
          <p:cNvSpPr/>
          <p:nvPr/>
        </p:nvSpPr>
        <p:spPr>
          <a:xfrm>
            <a:off x="414338" y="2569964"/>
            <a:ext cx="2361707" cy="30360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4338" y="2569964"/>
            <a:ext cx="2361707" cy="30360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2023.03.01 ~ 2024.02.28</a:t>
            </a:r>
            <a:endParaRPr lang="en-US" sz="780" dirty="0"/>
          </a:p>
        </p:txBody>
      </p:sp>
      <p:sp>
        <p:nvSpPr>
          <p:cNvPr id="19" name="Text 15"/>
          <p:cNvSpPr/>
          <p:nvPr/>
        </p:nvSpPr>
        <p:spPr>
          <a:xfrm>
            <a:off x="2861770" y="2391370"/>
            <a:ext cx="23617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계약 금액</a:t>
            </a:r>
            <a:endParaRPr lang="en-US" sz="634" dirty="0"/>
          </a:p>
        </p:txBody>
      </p:sp>
      <p:sp>
        <p:nvSpPr>
          <p:cNvPr id="20" name="Shape 16"/>
          <p:cNvSpPr/>
          <p:nvPr/>
        </p:nvSpPr>
        <p:spPr>
          <a:xfrm>
            <a:off x="2861770" y="2569964"/>
            <a:ext cx="2361735" cy="30360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861770" y="2569964"/>
            <a:ext cx="2361735" cy="30360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₩ 1,500,000,000</a:t>
            </a:r>
            <a:endParaRPr lang="en-US" sz="780" dirty="0"/>
          </a:p>
        </p:txBody>
      </p:sp>
      <p:sp>
        <p:nvSpPr>
          <p:cNvPr id="22" name="Text 18"/>
          <p:cNvSpPr/>
          <p:nvPr/>
        </p:nvSpPr>
        <p:spPr>
          <a:xfrm>
            <a:off x="414338" y="2945011"/>
            <a:ext cx="23617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발주처</a:t>
            </a:r>
            <a:endParaRPr lang="en-US" sz="634" dirty="0"/>
          </a:p>
        </p:txBody>
      </p:sp>
      <p:sp>
        <p:nvSpPr>
          <p:cNvPr id="23" name="Shape 19"/>
          <p:cNvSpPr/>
          <p:nvPr/>
        </p:nvSpPr>
        <p:spPr>
          <a:xfrm>
            <a:off x="414338" y="3123605"/>
            <a:ext cx="2361707" cy="31253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14338" y="3123605"/>
            <a:ext cx="2361707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(주)스마트건설</a:t>
            </a:r>
            <a:endParaRPr lang="en-US" sz="780" dirty="0"/>
          </a:p>
        </p:txBody>
      </p:sp>
      <p:sp>
        <p:nvSpPr>
          <p:cNvPr id="25" name="Text 21"/>
          <p:cNvSpPr/>
          <p:nvPr/>
        </p:nvSpPr>
        <p:spPr>
          <a:xfrm>
            <a:off x="2861770" y="2945011"/>
            <a:ext cx="23617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상태</a:t>
            </a:r>
            <a:endParaRPr lang="en-US" sz="634" dirty="0"/>
          </a:p>
        </p:txBody>
      </p:sp>
      <p:sp>
        <p:nvSpPr>
          <p:cNvPr id="26" name="Shape 22"/>
          <p:cNvSpPr/>
          <p:nvPr/>
        </p:nvSpPr>
        <p:spPr>
          <a:xfrm>
            <a:off x="2861770" y="3123605"/>
            <a:ext cx="2361735" cy="31253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861770" y="3123605"/>
            <a:ext cx="2361735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10B981"/>
                </a:solidFill>
              </a:rPr>
              <a:t>진행중 (D-120)</a:t>
            </a:r>
            <a:endParaRPr lang="en-US" sz="780" dirty="0"/>
          </a:p>
        </p:txBody>
      </p:sp>
      <p:sp>
        <p:nvSpPr>
          <p:cNvPr id="28" name="Shape 24"/>
          <p:cNvSpPr/>
          <p:nvPr/>
        </p:nvSpPr>
        <p:spPr>
          <a:xfrm>
            <a:off x="5480679" y="1343025"/>
            <a:ext cx="3377571" cy="313610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267" y="1503759"/>
            <a:ext cx="178594" cy="14287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859298" y="1471613"/>
            <a:ext cx="116300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관리자 및 계약 문서</a:t>
            </a:r>
            <a:endParaRPr lang="en-US" sz="987" dirty="0"/>
          </a:p>
        </p:txBody>
      </p:sp>
      <p:sp>
        <p:nvSpPr>
          <p:cNvPr id="31" name="Text 26"/>
          <p:cNvSpPr/>
          <p:nvPr/>
        </p:nvSpPr>
        <p:spPr>
          <a:xfrm>
            <a:off x="5609267" y="1828800"/>
            <a:ext cx="31203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배정된 현장 관리자</a:t>
            </a:r>
            <a:endParaRPr lang="en-US" sz="634" dirty="0"/>
          </a:p>
        </p:txBody>
      </p:sp>
      <p:sp>
        <p:nvSpPr>
          <p:cNvPr id="32" name="Shape 27"/>
          <p:cNvSpPr/>
          <p:nvPr/>
        </p:nvSpPr>
        <p:spPr>
          <a:xfrm>
            <a:off x="5609267" y="2021681"/>
            <a:ext cx="3120396" cy="389334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694992" y="2094905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4" name="Text 29"/>
          <p:cNvSpPr/>
          <p:nvPr/>
        </p:nvSpPr>
        <p:spPr>
          <a:xfrm>
            <a:off x="5694992" y="209490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K</a:t>
            </a:r>
            <a:endParaRPr lang="en-US" sz="683" dirty="0"/>
          </a:p>
        </p:txBody>
      </p:sp>
      <p:sp>
        <p:nvSpPr>
          <p:cNvPr id="35" name="Text 30"/>
          <p:cNvSpPr/>
          <p:nvPr/>
        </p:nvSpPr>
        <p:spPr>
          <a:xfrm>
            <a:off x="5995029" y="2078831"/>
            <a:ext cx="5946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김현장 소장</a:t>
            </a:r>
            <a:endParaRPr lang="en-US" sz="683" dirty="0"/>
          </a:p>
        </p:txBody>
      </p:sp>
      <p:sp>
        <p:nvSpPr>
          <p:cNvPr id="36" name="Text 31"/>
          <p:cNvSpPr/>
          <p:nvPr/>
        </p:nvSpPr>
        <p:spPr>
          <a:xfrm>
            <a:off x="5995029" y="2223492"/>
            <a:ext cx="5946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010-1234-5678</a:t>
            </a:r>
            <a:endParaRPr lang="en-US" sz="621" dirty="0"/>
          </a:p>
        </p:txBody>
      </p:sp>
      <p:sp>
        <p:nvSpPr>
          <p:cNvPr id="37" name="Text 32"/>
          <p:cNvSpPr/>
          <p:nvPr/>
        </p:nvSpPr>
        <p:spPr>
          <a:xfrm>
            <a:off x="8486189" y="2145804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총괄</a:t>
            </a:r>
            <a:endParaRPr lang="en-US" sz="621" dirty="0"/>
          </a:p>
        </p:txBody>
      </p:sp>
      <p:sp>
        <p:nvSpPr>
          <p:cNvPr id="38" name="Shape 33"/>
          <p:cNvSpPr/>
          <p:nvPr/>
        </p:nvSpPr>
        <p:spPr>
          <a:xfrm>
            <a:off x="5609267" y="2453878"/>
            <a:ext cx="3120396" cy="389334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5694992" y="2527102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0" name="Text 35"/>
          <p:cNvSpPr/>
          <p:nvPr/>
        </p:nvSpPr>
        <p:spPr>
          <a:xfrm>
            <a:off x="5694992" y="252710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L</a:t>
            </a:r>
            <a:endParaRPr lang="en-US" sz="683" dirty="0"/>
          </a:p>
        </p:txBody>
      </p:sp>
      <p:sp>
        <p:nvSpPr>
          <p:cNvPr id="41" name="Text 36"/>
          <p:cNvSpPr/>
          <p:nvPr/>
        </p:nvSpPr>
        <p:spPr>
          <a:xfrm>
            <a:off x="5995029" y="2511028"/>
            <a:ext cx="5946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이공무 대리</a:t>
            </a:r>
            <a:endParaRPr lang="en-US" sz="683" dirty="0"/>
          </a:p>
        </p:txBody>
      </p:sp>
      <p:sp>
        <p:nvSpPr>
          <p:cNvPr id="42" name="Text 37"/>
          <p:cNvSpPr/>
          <p:nvPr/>
        </p:nvSpPr>
        <p:spPr>
          <a:xfrm>
            <a:off x="5995029" y="2655689"/>
            <a:ext cx="5946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010-9876-5432</a:t>
            </a:r>
            <a:endParaRPr lang="en-US" sz="621" dirty="0"/>
          </a:p>
        </p:txBody>
      </p:sp>
      <p:sp>
        <p:nvSpPr>
          <p:cNvPr id="43" name="Text 38"/>
          <p:cNvSpPr/>
          <p:nvPr/>
        </p:nvSpPr>
        <p:spPr>
          <a:xfrm>
            <a:off x="8486189" y="2578001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관리</a:t>
            </a:r>
            <a:endParaRPr lang="en-US" sz="621" dirty="0"/>
          </a:p>
        </p:txBody>
      </p:sp>
      <p:sp>
        <p:nvSpPr>
          <p:cNvPr id="44" name="Text 39"/>
          <p:cNvSpPr/>
          <p:nvPr/>
        </p:nvSpPr>
        <p:spPr>
          <a:xfrm>
            <a:off x="5609267" y="2914650"/>
            <a:ext cx="31203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전자 계약 문서 (참조)</a:t>
            </a:r>
            <a:endParaRPr lang="en-US" sz="634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267" y="3193256"/>
            <a:ext cx="871538" cy="800100"/>
          </a:xfrm>
          <a:prstGeom prst="rect">
            <a:avLst/>
          </a:prstGeom>
        </p:spPr>
      </p:pic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6529" y="3193256"/>
            <a:ext cx="871538" cy="800100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378619" y="4672013"/>
            <a:ext cx="1146823" cy="221456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8" name="Text 41"/>
          <p:cNvSpPr/>
          <p:nvPr/>
        </p:nvSpPr>
        <p:spPr>
          <a:xfrm>
            <a:off x="378619" y="4672013"/>
            <a:ext cx="1146823" cy="221456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GET /api/projects/{id}</a:t>
            </a:r>
            <a:endParaRPr lang="en-US" sz="727" dirty="0"/>
          </a:p>
        </p:txBody>
      </p:sp>
      <p:sp>
        <p:nvSpPr>
          <p:cNvPr id="49" name="Shape 42"/>
          <p:cNvSpPr/>
          <p:nvPr/>
        </p:nvSpPr>
        <p:spPr>
          <a:xfrm>
            <a:off x="1611167" y="4672013"/>
            <a:ext cx="1152013" cy="221456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50" name="Text 43"/>
          <p:cNvSpPr/>
          <p:nvPr/>
        </p:nvSpPr>
        <p:spPr>
          <a:xfrm>
            <a:off x="1611167" y="4672013"/>
            <a:ext cx="1152013" cy="221456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B82F6"/>
                </a:solidFill>
              </a:rPr>
              <a:t>PUT /api/projects/{id}</a:t>
            </a:r>
            <a:endParaRPr lang="en-US" sz="727" dirty="0"/>
          </a:p>
        </p:txBody>
      </p:sp>
      <p:sp>
        <p:nvSpPr>
          <p:cNvPr id="51" name="Shape 44"/>
          <p:cNvSpPr/>
          <p:nvPr/>
        </p:nvSpPr>
        <p:spPr>
          <a:xfrm>
            <a:off x="7365206" y="4657725"/>
            <a:ext cx="428625" cy="250031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2" name="Text 45"/>
          <p:cNvSpPr/>
          <p:nvPr/>
        </p:nvSpPr>
        <p:spPr>
          <a:xfrm>
            <a:off x="7365206" y="4657725"/>
            <a:ext cx="428625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삭제</a:t>
            </a:r>
            <a:endParaRPr lang="en-US" sz="683" dirty="0"/>
          </a:p>
        </p:txBody>
      </p:sp>
      <p:sp>
        <p:nvSpPr>
          <p:cNvPr id="53" name="Shape 46"/>
          <p:cNvSpPr/>
          <p:nvPr/>
        </p:nvSpPr>
        <p:spPr>
          <a:xfrm>
            <a:off x="7850981" y="4657725"/>
            <a:ext cx="428625" cy="25003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47"/>
          <p:cNvSpPr/>
          <p:nvPr/>
        </p:nvSpPr>
        <p:spPr>
          <a:xfrm>
            <a:off x="7850981" y="4657725"/>
            <a:ext cx="428625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수정</a:t>
            </a:r>
            <a:endParaRPr lang="en-US" sz="683" dirty="0"/>
          </a:p>
        </p:txBody>
      </p:sp>
      <p:sp>
        <p:nvSpPr>
          <p:cNvPr id="55" name="Shape 48"/>
          <p:cNvSpPr/>
          <p:nvPr/>
        </p:nvSpPr>
        <p:spPr>
          <a:xfrm>
            <a:off x="8336756" y="4657725"/>
            <a:ext cx="428625" cy="250031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6" name="Text 49"/>
          <p:cNvSpPr/>
          <p:nvPr/>
        </p:nvSpPr>
        <p:spPr>
          <a:xfrm>
            <a:off x="8336756" y="4657725"/>
            <a:ext cx="428625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목록</a:t>
            </a:r>
            <a:endParaRPr lang="en-US" sz="6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7858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00150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신규 프로젝트 등록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현장명, 주소, 공사 기간 등 필수 정보를 입력하여 새로운 프로젝트를 생성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257300"/>
            <a:ext cx="3838119" cy="382905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1475" y="1343025"/>
            <a:ext cx="3666669" cy="239316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신규 현장 등록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371475" y="1653778"/>
            <a:ext cx="36666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현장명</a:t>
            </a:r>
            <a:endParaRPr lang="en-US" sz="634" dirty="0"/>
          </a:p>
        </p:txBody>
      </p:sp>
      <p:sp>
        <p:nvSpPr>
          <p:cNvPr id="10" name="Shape 7"/>
          <p:cNvSpPr/>
          <p:nvPr/>
        </p:nvSpPr>
        <p:spPr>
          <a:xfrm>
            <a:off x="371475" y="1818084"/>
            <a:ext cx="3666669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1475" y="1818084"/>
            <a:ext cx="3666669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예: 강남역 오피스텔 신축공사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371475" y="2118122"/>
            <a:ext cx="36666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 주소</a:t>
            </a:r>
            <a:endParaRPr lang="en-US" sz="634" dirty="0"/>
          </a:p>
        </p:txBody>
      </p:sp>
      <p:sp>
        <p:nvSpPr>
          <p:cNvPr id="13" name="Shape 10"/>
          <p:cNvSpPr/>
          <p:nvPr/>
        </p:nvSpPr>
        <p:spPr>
          <a:xfrm>
            <a:off x="371475" y="2282428"/>
            <a:ext cx="3055069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1475" y="2282428"/>
            <a:ext cx="3055069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우편번호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3469407" y="2282428"/>
            <a:ext cx="568737" cy="2428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3"/>
          <p:cNvSpPr/>
          <p:nvPr/>
        </p:nvSpPr>
        <p:spPr>
          <a:xfrm>
            <a:off x="3469407" y="2282428"/>
            <a:ext cx="568737" cy="242888"/>
          </a:xfrm>
          <a:prstGeom prst="rect">
            <a:avLst/>
          </a:prstGeom>
          <a:noFill/>
          <a:ln/>
        </p:spPr>
        <p:txBody>
          <a:bodyPr wrap="square" lIns="102108" tIns="0" rIns="102108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주소 검색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371475" y="2582466"/>
            <a:ext cx="3666669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1475" y="2582466"/>
            <a:ext cx="3666669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기본 주소 자동 입력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371475" y="2882503"/>
            <a:ext cx="3666669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1475" y="2882503"/>
            <a:ext cx="3666669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상세 주소 입력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371475" y="3182541"/>
            <a:ext cx="36666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공사 기간</a:t>
            </a:r>
            <a:endParaRPr lang="en-US" sz="634" dirty="0"/>
          </a:p>
        </p:txBody>
      </p:sp>
      <p:sp>
        <p:nvSpPr>
          <p:cNvPr id="22" name="Shape 19"/>
          <p:cNvSpPr/>
          <p:nvPr/>
        </p:nvSpPr>
        <p:spPr>
          <a:xfrm>
            <a:off x="371475" y="3346847"/>
            <a:ext cx="1757781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1475" y="3346847"/>
            <a:ext cx="1757781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YYYY-MM-DD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2164975" y="3397746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~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2273219" y="3346847"/>
            <a:ext cx="1764925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73219" y="3346847"/>
            <a:ext cx="1764925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YYYY-MM-DD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371475" y="3646884"/>
            <a:ext cx="36666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계약 금액 (VAT 별도)</a:t>
            </a:r>
            <a:endParaRPr lang="en-US" sz="634" dirty="0"/>
          </a:p>
        </p:txBody>
      </p:sp>
      <p:sp>
        <p:nvSpPr>
          <p:cNvPr id="28" name="Shape 25"/>
          <p:cNvSpPr/>
          <p:nvPr/>
        </p:nvSpPr>
        <p:spPr>
          <a:xfrm>
            <a:off x="371475" y="3811191"/>
            <a:ext cx="3666669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2913" y="3864769"/>
            <a:ext cx="572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0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3874675" y="3860304"/>
            <a:ext cx="9203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원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3023732" y="4757738"/>
            <a:ext cx="385763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취소</a:t>
            </a:r>
            <a:endParaRPr lang="en-US" sz="683" dirty="0"/>
          </a:p>
        </p:txBody>
      </p:sp>
      <p:sp>
        <p:nvSpPr>
          <p:cNvPr id="32" name="Shape 29"/>
          <p:cNvSpPr/>
          <p:nvPr/>
        </p:nvSpPr>
        <p:spPr>
          <a:xfrm>
            <a:off x="3466644" y="4757738"/>
            <a:ext cx="571500" cy="2428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0"/>
          <p:cNvSpPr/>
          <p:nvPr/>
        </p:nvSpPr>
        <p:spPr>
          <a:xfrm>
            <a:off x="3466644" y="4757738"/>
            <a:ext cx="571500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등록하기</a:t>
            </a:r>
            <a:endParaRPr lang="en-US" sz="683" dirty="0"/>
          </a:p>
        </p:txBody>
      </p:sp>
      <p:sp>
        <p:nvSpPr>
          <p:cNvPr id="34" name="Shape 31"/>
          <p:cNvSpPr/>
          <p:nvPr/>
        </p:nvSpPr>
        <p:spPr>
          <a:xfrm>
            <a:off x="4252457" y="1257300"/>
            <a:ext cx="4605793" cy="13573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894" y="1353741"/>
            <a:ext cx="114300" cy="11430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4495344" y="1328738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입력 필드 명세</a:t>
            </a:r>
            <a:endParaRPr lang="en-US" sz="784" dirty="0"/>
          </a:p>
        </p:txBody>
      </p:sp>
      <p:sp>
        <p:nvSpPr>
          <p:cNvPr id="37" name="Text 33"/>
          <p:cNvSpPr/>
          <p:nvPr/>
        </p:nvSpPr>
        <p:spPr>
          <a:xfrm>
            <a:off x="4323894" y="1535906"/>
            <a:ext cx="1115709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필드명</a:t>
            </a:r>
            <a:endParaRPr lang="en-US" sz="634" dirty="0"/>
          </a:p>
        </p:txBody>
      </p:sp>
      <p:sp>
        <p:nvSpPr>
          <p:cNvPr id="38" name="Text 34"/>
          <p:cNvSpPr/>
          <p:nvPr/>
        </p:nvSpPr>
        <p:spPr>
          <a:xfrm>
            <a:off x="5439603" y="1535906"/>
            <a:ext cx="892578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타입</a:t>
            </a:r>
            <a:endParaRPr lang="en-US" sz="634" dirty="0"/>
          </a:p>
        </p:txBody>
      </p:sp>
      <p:sp>
        <p:nvSpPr>
          <p:cNvPr id="39" name="Text 35"/>
          <p:cNvSpPr/>
          <p:nvPr/>
        </p:nvSpPr>
        <p:spPr>
          <a:xfrm>
            <a:off x="6332181" y="1535906"/>
            <a:ext cx="669420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필수</a:t>
            </a:r>
            <a:endParaRPr lang="en-US" sz="634" dirty="0"/>
          </a:p>
        </p:txBody>
      </p:sp>
      <p:sp>
        <p:nvSpPr>
          <p:cNvPr id="40" name="Text 36"/>
          <p:cNvSpPr/>
          <p:nvPr/>
        </p:nvSpPr>
        <p:spPr>
          <a:xfrm>
            <a:off x="7001601" y="1535906"/>
            <a:ext cx="1785212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유효성 검사 / 비고</a:t>
            </a:r>
            <a:endParaRPr lang="en-US" sz="634" dirty="0"/>
          </a:p>
        </p:txBody>
      </p:sp>
      <p:sp>
        <p:nvSpPr>
          <p:cNvPr id="41" name="Text 37"/>
          <p:cNvSpPr/>
          <p:nvPr/>
        </p:nvSpPr>
        <p:spPr>
          <a:xfrm>
            <a:off x="4323894" y="1732359"/>
            <a:ext cx="1115709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현장명</a:t>
            </a:r>
            <a:endParaRPr lang="en-US" sz="674" dirty="0"/>
          </a:p>
        </p:txBody>
      </p:sp>
      <p:sp>
        <p:nvSpPr>
          <p:cNvPr id="42" name="Text 38"/>
          <p:cNvSpPr/>
          <p:nvPr/>
        </p:nvSpPr>
        <p:spPr>
          <a:xfrm>
            <a:off x="5439603" y="1732359"/>
            <a:ext cx="892578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Text</a:t>
            </a:r>
            <a:endParaRPr lang="en-US" sz="674" dirty="0"/>
          </a:p>
        </p:txBody>
      </p:sp>
      <p:sp>
        <p:nvSpPr>
          <p:cNvPr id="43" name="Text 39"/>
          <p:cNvSpPr/>
          <p:nvPr/>
        </p:nvSpPr>
        <p:spPr>
          <a:xfrm>
            <a:off x="6332181" y="1732359"/>
            <a:ext cx="669420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Y</a:t>
            </a:r>
            <a:endParaRPr lang="en-US" sz="674" dirty="0"/>
          </a:p>
        </p:txBody>
      </p:sp>
      <p:sp>
        <p:nvSpPr>
          <p:cNvPr id="44" name="Text 40"/>
          <p:cNvSpPr/>
          <p:nvPr/>
        </p:nvSpPr>
        <p:spPr>
          <a:xfrm>
            <a:off x="7001601" y="1732359"/>
            <a:ext cx="1785212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최대 50자, 특수문자 제한</a:t>
            </a:r>
            <a:endParaRPr lang="en-US" sz="674" dirty="0"/>
          </a:p>
        </p:txBody>
      </p:sp>
      <p:sp>
        <p:nvSpPr>
          <p:cNvPr id="45" name="Text 41"/>
          <p:cNvSpPr/>
          <p:nvPr/>
        </p:nvSpPr>
        <p:spPr>
          <a:xfrm>
            <a:off x="4323894" y="1932384"/>
            <a:ext cx="1115709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현장 주소</a:t>
            </a:r>
            <a:endParaRPr lang="en-US" sz="674" dirty="0"/>
          </a:p>
        </p:txBody>
      </p:sp>
      <p:sp>
        <p:nvSpPr>
          <p:cNvPr id="46" name="Text 42"/>
          <p:cNvSpPr/>
          <p:nvPr/>
        </p:nvSpPr>
        <p:spPr>
          <a:xfrm>
            <a:off x="5439603" y="1932384"/>
            <a:ext cx="892578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Address</a:t>
            </a:r>
            <a:endParaRPr lang="en-US" sz="674" dirty="0"/>
          </a:p>
        </p:txBody>
      </p:sp>
      <p:sp>
        <p:nvSpPr>
          <p:cNvPr id="47" name="Text 43"/>
          <p:cNvSpPr/>
          <p:nvPr/>
        </p:nvSpPr>
        <p:spPr>
          <a:xfrm>
            <a:off x="6332181" y="1932384"/>
            <a:ext cx="669420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Y</a:t>
            </a:r>
            <a:endParaRPr lang="en-US" sz="674" dirty="0"/>
          </a:p>
        </p:txBody>
      </p:sp>
      <p:sp>
        <p:nvSpPr>
          <p:cNvPr id="48" name="Text 44"/>
          <p:cNvSpPr/>
          <p:nvPr/>
        </p:nvSpPr>
        <p:spPr>
          <a:xfrm>
            <a:off x="7001601" y="1932384"/>
            <a:ext cx="1785212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Daum 주소 API 연동 (Zonecode)</a:t>
            </a:r>
            <a:endParaRPr lang="en-US" sz="674" dirty="0"/>
          </a:p>
        </p:txBody>
      </p:sp>
      <p:sp>
        <p:nvSpPr>
          <p:cNvPr id="49" name="Text 45"/>
          <p:cNvSpPr/>
          <p:nvPr/>
        </p:nvSpPr>
        <p:spPr>
          <a:xfrm>
            <a:off x="4323894" y="2132409"/>
            <a:ext cx="1115709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공사 기간</a:t>
            </a:r>
            <a:endParaRPr lang="en-US" sz="674" dirty="0"/>
          </a:p>
        </p:txBody>
      </p:sp>
      <p:sp>
        <p:nvSpPr>
          <p:cNvPr id="50" name="Text 46"/>
          <p:cNvSpPr/>
          <p:nvPr/>
        </p:nvSpPr>
        <p:spPr>
          <a:xfrm>
            <a:off x="5439603" y="2132409"/>
            <a:ext cx="892578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DateRange</a:t>
            </a:r>
            <a:endParaRPr lang="en-US" sz="674" dirty="0"/>
          </a:p>
        </p:txBody>
      </p:sp>
      <p:sp>
        <p:nvSpPr>
          <p:cNvPr id="51" name="Text 47"/>
          <p:cNvSpPr/>
          <p:nvPr/>
        </p:nvSpPr>
        <p:spPr>
          <a:xfrm>
            <a:off x="6332181" y="2132409"/>
            <a:ext cx="669420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Y</a:t>
            </a:r>
            <a:endParaRPr lang="en-US" sz="674" dirty="0"/>
          </a:p>
        </p:txBody>
      </p:sp>
      <p:sp>
        <p:nvSpPr>
          <p:cNvPr id="52" name="Text 48"/>
          <p:cNvSpPr/>
          <p:nvPr/>
        </p:nvSpPr>
        <p:spPr>
          <a:xfrm>
            <a:off x="7001601" y="2132409"/>
            <a:ext cx="1785212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종료일 &gt;= 시작일 검증 필수</a:t>
            </a:r>
            <a:endParaRPr lang="en-US" sz="674" dirty="0"/>
          </a:p>
        </p:txBody>
      </p:sp>
      <p:sp>
        <p:nvSpPr>
          <p:cNvPr id="53" name="Text 49"/>
          <p:cNvSpPr/>
          <p:nvPr/>
        </p:nvSpPr>
        <p:spPr>
          <a:xfrm>
            <a:off x="4323894" y="2332434"/>
            <a:ext cx="1115709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계약 금액</a:t>
            </a:r>
            <a:endParaRPr lang="en-US" sz="674" dirty="0"/>
          </a:p>
        </p:txBody>
      </p:sp>
      <p:sp>
        <p:nvSpPr>
          <p:cNvPr id="54" name="Text 50"/>
          <p:cNvSpPr/>
          <p:nvPr/>
        </p:nvSpPr>
        <p:spPr>
          <a:xfrm>
            <a:off x="5439603" y="2332434"/>
            <a:ext cx="892578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Number</a:t>
            </a:r>
            <a:endParaRPr lang="en-US" sz="674" dirty="0"/>
          </a:p>
        </p:txBody>
      </p:sp>
      <p:sp>
        <p:nvSpPr>
          <p:cNvPr id="55" name="Text 51"/>
          <p:cNvSpPr/>
          <p:nvPr/>
        </p:nvSpPr>
        <p:spPr>
          <a:xfrm>
            <a:off x="6332181" y="2332434"/>
            <a:ext cx="669420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Y</a:t>
            </a:r>
            <a:endParaRPr lang="en-US" sz="674" dirty="0"/>
          </a:p>
        </p:txBody>
      </p:sp>
      <p:sp>
        <p:nvSpPr>
          <p:cNvPr id="56" name="Text 52"/>
          <p:cNvSpPr/>
          <p:nvPr/>
        </p:nvSpPr>
        <p:spPr>
          <a:xfrm>
            <a:off x="7001601" y="2332434"/>
            <a:ext cx="1785212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숫자만 입력, 3자리 콤마 자동 포맷팅</a:t>
            </a:r>
            <a:endParaRPr lang="en-US" sz="674" dirty="0"/>
          </a:p>
        </p:txBody>
      </p:sp>
      <p:sp>
        <p:nvSpPr>
          <p:cNvPr id="57" name="Shape 53"/>
          <p:cNvSpPr/>
          <p:nvPr/>
        </p:nvSpPr>
        <p:spPr>
          <a:xfrm>
            <a:off x="4252457" y="2657475"/>
            <a:ext cx="4605793" cy="205078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5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894" y="2753916"/>
            <a:ext cx="142875" cy="114300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4523919" y="2728913"/>
            <a:ext cx="81006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구현 로직 및 API</a:t>
            </a:r>
            <a:endParaRPr lang="en-US" sz="784" dirty="0"/>
          </a:p>
        </p:txBody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894" y="2964656"/>
            <a:ext cx="50006" cy="100013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4431050" y="2936081"/>
            <a:ext cx="337625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주소 검색: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Daum Postcode API 팝업 호출 → 선택 시 우편번호/주소 자동 바인딩</a:t>
            </a:r>
            <a:endParaRPr lang="en-US" sz="683" dirty="0"/>
          </a:p>
        </p:txBody>
      </p:sp>
      <p:pic>
        <p:nvPicPr>
          <p:cNvPr id="6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3894" y="3137892"/>
            <a:ext cx="50006" cy="100013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4431050" y="3109317"/>
            <a:ext cx="303949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금액 입력: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입력 시 실시간으로 천 단위 콤마(,) 적용 (UI 전용), 전송 시 제거</a:t>
            </a:r>
            <a:endParaRPr lang="en-US" sz="683" dirty="0"/>
          </a:p>
        </p:txBody>
      </p:sp>
      <p:sp>
        <p:nvSpPr>
          <p:cNvPr id="64" name="Shape 57"/>
          <p:cNvSpPr/>
          <p:nvPr/>
        </p:nvSpPr>
        <p:spPr>
          <a:xfrm>
            <a:off x="4323894" y="3296841"/>
            <a:ext cx="4462918" cy="1325696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5" name="Text 58"/>
          <p:cNvSpPr/>
          <p:nvPr/>
        </p:nvSpPr>
        <p:spPr>
          <a:xfrm>
            <a:off x="4323894" y="3296841"/>
            <a:ext cx="4462918" cy="1325696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/api/v1/projects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{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"projectName": "강남역 오피스텔 신축공사",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"zipCode": "06234",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"address": "서울 강남구 테헤란로 123",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"startDate": "2024-03-01",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"endDate": "2025-02-28",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"contractAmount": 1500000000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}</a:t>
            </a:r>
            <a:endParaRPr lang="en-US" sz="62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전사 출역 로그 조회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모든 현장의 출역 기록 실시간 조회 및 엑셀 다운로드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428750"/>
            <a:ext cx="5985486" cy="328612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7188" y="150018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357188" y="150018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10" name="Shape 7"/>
          <p:cNvSpPr/>
          <p:nvPr/>
        </p:nvSpPr>
        <p:spPr>
          <a:xfrm>
            <a:off x="6042636" y="150018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6042636" y="150018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12" name="Shape 9"/>
          <p:cNvSpPr/>
          <p:nvPr/>
        </p:nvSpPr>
        <p:spPr>
          <a:xfrm>
            <a:off x="3271335" y="207168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3271335" y="207168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14" name="Shape 11"/>
          <p:cNvSpPr/>
          <p:nvPr/>
        </p:nvSpPr>
        <p:spPr>
          <a:xfrm>
            <a:off x="371475" y="1514475"/>
            <a:ext cx="5799748" cy="485775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8625" y="1636812"/>
            <a:ext cx="902177" cy="226814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8625" y="1636812"/>
            <a:ext cx="902177" cy="226814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2024-01-25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1373665" y="1672530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~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1496197" y="1636812"/>
            <a:ext cx="902177" cy="226814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6197" y="1636812"/>
            <a:ext cx="902177" cy="226814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2024-01-25</a:t>
            </a:r>
            <a:endParaRPr lang="en-US" sz="674" dirty="0"/>
          </a:p>
        </p:txBody>
      </p:sp>
      <p:sp>
        <p:nvSpPr>
          <p:cNvPr id="20" name="Shape 17"/>
          <p:cNvSpPr/>
          <p:nvPr/>
        </p:nvSpPr>
        <p:spPr>
          <a:xfrm>
            <a:off x="2441237" y="1632347"/>
            <a:ext cx="1026356" cy="235744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12675" y="1682353"/>
            <a:ext cx="3659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전체 현장</a:t>
            </a:r>
            <a:endParaRPr lang="en-US" sz="674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715" y="1703784"/>
            <a:ext cx="82153" cy="92869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3510455" y="1632347"/>
            <a:ext cx="1274713" cy="235744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10455" y="1632347"/>
            <a:ext cx="1274713" cy="235744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근로자명 검색</a:t>
            </a:r>
            <a:endParaRPr lang="en-US" sz="674" dirty="0"/>
          </a:p>
        </p:txBody>
      </p:sp>
      <p:sp>
        <p:nvSpPr>
          <p:cNvPr id="25" name="Shape 21"/>
          <p:cNvSpPr/>
          <p:nvPr/>
        </p:nvSpPr>
        <p:spPr>
          <a:xfrm>
            <a:off x="4828031" y="1571625"/>
            <a:ext cx="421677" cy="35718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615" y="1641277"/>
            <a:ext cx="92869" cy="9286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030484" y="1623417"/>
            <a:ext cx="10961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조</a:t>
            </a:r>
            <a:endParaRPr lang="en-US" sz="674" dirty="0"/>
          </a:p>
        </p:txBody>
      </p:sp>
      <p:sp>
        <p:nvSpPr>
          <p:cNvPr id="28" name="Text 23"/>
          <p:cNvSpPr/>
          <p:nvPr/>
        </p:nvSpPr>
        <p:spPr>
          <a:xfrm>
            <a:off x="4996132" y="1759148"/>
            <a:ext cx="8544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회</a:t>
            </a:r>
            <a:endParaRPr lang="en-US" sz="674" dirty="0"/>
          </a:p>
        </p:txBody>
      </p:sp>
      <p:sp>
        <p:nvSpPr>
          <p:cNvPr id="29" name="Shape 24"/>
          <p:cNvSpPr/>
          <p:nvPr/>
        </p:nvSpPr>
        <p:spPr>
          <a:xfrm>
            <a:off x="5306885" y="1571625"/>
            <a:ext cx="735750" cy="35718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2610" y="1703784"/>
            <a:ext cx="69652" cy="92869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505124" y="1614488"/>
            <a:ext cx="45178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엑셀 다운로드</a:t>
            </a:r>
            <a:endParaRPr lang="en-US" sz="674" dirty="0"/>
          </a:p>
        </p:txBody>
      </p:sp>
      <p:sp>
        <p:nvSpPr>
          <p:cNvPr id="32" name="Shape 26"/>
          <p:cNvSpPr/>
          <p:nvPr/>
        </p:nvSpPr>
        <p:spPr>
          <a:xfrm>
            <a:off x="371475" y="2057400"/>
            <a:ext cx="1042150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Shape 27"/>
          <p:cNvSpPr/>
          <p:nvPr/>
        </p:nvSpPr>
        <p:spPr>
          <a:xfrm>
            <a:off x="371475" y="2300288"/>
            <a:ext cx="10421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28"/>
          <p:cNvSpPr/>
          <p:nvPr/>
        </p:nvSpPr>
        <p:spPr>
          <a:xfrm>
            <a:off x="371475" y="2057400"/>
            <a:ext cx="1042150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일자</a:t>
            </a:r>
            <a:endParaRPr lang="en-US" sz="634" dirty="0"/>
          </a:p>
        </p:txBody>
      </p:sp>
      <p:sp>
        <p:nvSpPr>
          <p:cNvPr id="35" name="Shape 29"/>
          <p:cNvSpPr/>
          <p:nvPr/>
        </p:nvSpPr>
        <p:spPr>
          <a:xfrm>
            <a:off x="1413625" y="2057400"/>
            <a:ext cx="1471836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Shape 30"/>
          <p:cNvSpPr/>
          <p:nvPr/>
        </p:nvSpPr>
        <p:spPr>
          <a:xfrm>
            <a:off x="1413625" y="2300288"/>
            <a:ext cx="1471836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Text 31"/>
          <p:cNvSpPr/>
          <p:nvPr/>
        </p:nvSpPr>
        <p:spPr>
          <a:xfrm>
            <a:off x="1413625" y="2057400"/>
            <a:ext cx="1471836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현장명</a:t>
            </a:r>
            <a:endParaRPr lang="en-US" sz="634" dirty="0"/>
          </a:p>
        </p:txBody>
      </p:sp>
      <p:sp>
        <p:nvSpPr>
          <p:cNvPr id="38" name="Shape 32"/>
          <p:cNvSpPr/>
          <p:nvPr/>
        </p:nvSpPr>
        <p:spPr>
          <a:xfrm>
            <a:off x="2885461" y="2057400"/>
            <a:ext cx="793375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9" name="Shape 33"/>
          <p:cNvSpPr/>
          <p:nvPr/>
        </p:nvSpPr>
        <p:spPr>
          <a:xfrm>
            <a:off x="2885461" y="2300288"/>
            <a:ext cx="793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Text 34"/>
          <p:cNvSpPr/>
          <p:nvPr/>
        </p:nvSpPr>
        <p:spPr>
          <a:xfrm>
            <a:off x="2885461" y="2057400"/>
            <a:ext cx="793375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근로자명</a:t>
            </a:r>
            <a:endParaRPr lang="en-US" sz="634" dirty="0"/>
          </a:p>
        </p:txBody>
      </p:sp>
      <p:sp>
        <p:nvSpPr>
          <p:cNvPr id="41" name="Shape 35"/>
          <p:cNvSpPr/>
          <p:nvPr/>
        </p:nvSpPr>
        <p:spPr>
          <a:xfrm>
            <a:off x="3678836" y="2057400"/>
            <a:ext cx="644723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2" name="Shape 36"/>
          <p:cNvSpPr/>
          <p:nvPr/>
        </p:nvSpPr>
        <p:spPr>
          <a:xfrm>
            <a:off x="3678836" y="2300288"/>
            <a:ext cx="644723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" name="Text 37"/>
          <p:cNvSpPr/>
          <p:nvPr/>
        </p:nvSpPr>
        <p:spPr>
          <a:xfrm>
            <a:off x="3678836" y="2057400"/>
            <a:ext cx="644723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직종</a:t>
            </a:r>
            <a:endParaRPr lang="en-US" sz="634" dirty="0"/>
          </a:p>
        </p:txBody>
      </p:sp>
      <p:sp>
        <p:nvSpPr>
          <p:cNvPr id="44" name="Shape 38"/>
          <p:cNvSpPr/>
          <p:nvPr/>
        </p:nvSpPr>
        <p:spPr>
          <a:xfrm>
            <a:off x="4323559" y="2057400"/>
            <a:ext cx="839865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5" name="Shape 39"/>
          <p:cNvSpPr/>
          <p:nvPr/>
        </p:nvSpPr>
        <p:spPr>
          <a:xfrm>
            <a:off x="4323559" y="2300288"/>
            <a:ext cx="83986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" name="Text 40"/>
          <p:cNvSpPr/>
          <p:nvPr/>
        </p:nvSpPr>
        <p:spPr>
          <a:xfrm>
            <a:off x="4323559" y="2057400"/>
            <a:ext cx="839865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출근 시간</a:t>
            </a:r>
            <a:endParaRPr lang="en-US" sz="634" dirty="0"/>
          </a:p>
        </p:txBody>
      </p:sp>
      <p:sp>
        <p:nvSpPr>
          <p:cNvPr id="47" name="Shape 41"/>
          <p:cNvSpPr/>
          <p:nvPr/>
        </p:nvSpPr>
        <p:spPr>
          <a:xfrm>
            <a:off x="5163424" y="2057400"/>
            <a:ext cx="936361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8" name="Shape 42"/>
          <p:cNvSpPr/>
          <p:nvPr/>
        </p:nvSpPr>
        <p:spPr>
          <a:xfrm>
            <a:off x="5163424" y="2300288"/>
            <a:ext cx="936361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9" name="Text 43"/>
          <p:cNvSpPr/>
          <p:nvPr/>
        </p:nvSpPr>
        <p:spPr>
          <a:xfrm>
            <a:off x="5163424" y="2057400"/>
            <a:ext cx="936361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상태</a:t>
            </a:r>
            <a:endParaRPr lang="en-US" sz="634" dirty="0"/>
          </a:p>
        </p:txBody>
      </p:sp>
      <p:sp>
        <p:nvSpPr>
          <p:cNvPr id="50" name="Text 44"/>
          <p:cNvSpPr/>
          <p:nvPr/>
        </p:nvSpPr>
        <p:spPr>
          <a:xfrm>
            <a:off x="371475" y="2307431"/>
            <a:ext cx="1042150" cy="2893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2024-01-25</a:t>
            </a:r>
            <a:endParaRPr lang="en-US" sz="674" dirty="0"/>
          </a:p>
        </p:txBody>
      </p:sp>
      <p:sp>
        <p:nvSpPr>
          <p:cNvPr id="51" name="Text 45"/>
          <p:cNvSpPr/>
          <p:nvPr/>
        </p:nvSpPr>
        <p:spPr>
          <a:xfrm>
            <a:off x="1413625" y="2307431"/>
            <a:ext cx="1471836" cy="2893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강남 더샵 팰리스</a:t>
            </a:r>
            <a:endParaRPr lang="en-US" sz="674" dirty="0"/>
          </a:p>
        </p:txBody>
      </p:sp>
      <p:sp>
        <p:nvSpPr>
          <p:cNvPr id="52" name="Text 46"/>
          <p:cNvSpPr/>
          <p:nvPr/>
        </p:nvSpPr>
        <p:spPr>
          <a:xfrm>
            <a:off x="2885461" y="2307431"/>
            <a:ext cx="793375" cy="2893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김철수</a:t>
            </a:r>
            <a:endParaRPr lang="en-US" sz="674" dirty="0"/>
          </a:p>
        </p:txBody>
      </p:sp>
      <p:sp>
        <p:nvSpPr>
          <p:cNvPr id="53" name="Text 47"/>
          <p:cNvSpPr/>
          <p:nvPr/>
        </p:nvSpPr>
        <p:spPr>
          <a:xfrm>
            <a:off x="3678836" y="2307431"/>
            <a:ext cx="644723" cy="2893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조적공</a:t>
            </a:r>
            <a:endParaRPr lang="en-US" sz="674" dirty="0"/>
          </a:p>
        </p:txBody>
      </p:sp>
      <p:sp>
        <p:nvSpPr>
          <p:cNvPr id="54" name="Text 48"/>
          <p:cNvSpPr/>
          <p:nvPr/>
        </p:nvSpPr>
        <p:spPr>
          <a:xfrm>
            <a:off x="4323559" y="2307431"/>
            <a:ext cx="839865" cy="2893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06:45:12</a:t>
            </a:r>
            <a:endParaRPr lang="en-US" sz="674" dirty="0"/>
          </a:p>
        </p:txBody>
      </p:sp>
      <p:sp>
        <p:nvSpPr>
          <p:cNvPr id="55" name="Shape 49"/>
          <p:cNvSpPr/>
          <p:nvPr/>
        </p:nvSpPr>
        <p:spPr>
          <a:xfrm>
            <a:off x="5220574" y="2364581"/>
            <a:ext cx="423937" cy="171450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6" name="Text 50"/>
          <p:cNvSpPr/>
          <p:nvPr/>
        </p:nvSpPr>
        <p:spPr>
          <a:xfrm>
            <a:off x="5220574" y="2364581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승인 완료</a:t>
            </a:r>
            <a:endParaRPr lang="en-US" sz="534" dirty="0"/>
          </a:p>
        </p:txBody>
      </p:sp>
      <p:sp>
        <p:nvSpPr>
          <p:cNvPr id="57" name="Text 51"/>
          <p:cNvSpPr/>
          <p:nvPr/>
        </p:nvSpPr>
        <p:spPr>
          <a:xfrm>
            <a:off x="371475" y="2596753"/>
            <a:ext cx="1042150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2024-01-25</a:t>
            </a:r>
            <a:endParaRPr lang="en-US" sz="674" dirty="0"/>
          </a:p>
        </p:txBody>
      </p:sp>
      <p:sp>
        <p:nvSpPr>
          <p:cNvPr id="58" name="Text 52"/>
          <p:cNvSpPr/>
          <p:nvPr/>
        </p:nvSpPr>
        <p:spPr>
          <a:xfrm>
            <a:off x="1413625" y="2596753"/>
            <a:ext cx="1471836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강남 더샵 팰리스</a:t>
            </a:r>
            <a:endParaRPr lang="en-US" sz="674" dirty="0"/>
          </a:p>
        </p:txBody>
      </p:sp>
      <p:sp>
        <p:nvSpPr>
          <p:cNvPr id="59" name="Text 53"/>
          <p:cNvSpPr/>
          <p:nvPr/>
        </p:nvSpPr>
        <p:spPr>
          <a:xfrm>
            <a:off x="2885461" y="2596753"/>
            <a:ext cx="79337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이영희</a:t>
            </a:r>
            <a:endParaRPr lang="en-US" sz="674" dirty="0"/>
          </a:p>
        </p:txBody>
      </p:sp>
      <p:sp>
        <p:nvSpPr>
          <p:cNvPr id="60" name="Text 54"/>
          <p:cNvSpPr/>
          <p:nvPr/>
        </p:nvSpPr>
        <p:spPr>
          <a:xfrm>
            <a:off x="3678836" y="2596753"/>
            <a:ext cx="644723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미장공</a:t>
            </a:r>
            <a:endParaRPr lang="en-US" sz="674" dirty="0"/>
          </a:p>
        </p:txBody>
      </p:sp>
      <p:sp>
        <p:nvSpPr>
          <p:cNvPr id="61" name="Text 55"/>
          <p:cNvSpPr/>
          <p:nvPr/>
        </p:nvSpPr>
        <p:spPr>
          <a:xfrm>
            <a:off x="4323559" y="2596753"/>
            <a:ext cx="83986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06:48:30</a:t>
            </a:r>
            <a:endParaRPr lang="en-US" sz="674" dirty="0"/>
          </a:p>
        </p:txBody>
      </p:sp>
      <p:sp>
        <p:nvSpPr>
          <p:cNvPr id="62" name="Shape 56"/>
          <p:cNvSpPr/>
          <p:nvPr/>
        </p:nvSpPr>
        <p:spPr>
          <a:xfrm>
            <a:off x="5220574" y="2657475"/>
            <a:ext cx="423937" cy="171450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63" name="Text 57"/>
          <p:cNvSpPr/>
          <p:nvPr/>
        </p:nvSpPr>
        <p:spPr>
          <a:xfrm>
            <a:off x="5220574" y="2657475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승인 완료</a:t>
            </a:r>
            <a:endParaRPr lang="en-US" sz="534" dirty="0"/>
          </a:p>
        </p:txBody>
      </p:sp>
      <p:sp>
        <p:nvSpPr>
          <p:cNvPr id="64" name="Text 58"/>
          <p:cNvSpPr/>
          <p:nvPr/>
        </p:nvSpPr>
        <p:spPr>
          <a:xfrm>
            <a:off x="371475" y="2889647"/>
            <a:ext cx="1042150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2024-01-25</a:t>
            </a:r>
            <a:endParaRPr lang="en-US" sz="674" dirty="0"/>
          </a:p>
        </p:txBody>
      </p:sp>
      <p:sp>
        <p:nvSpPr>
          <p:cNvPr id="65" name="Text 59"/>
          <p:cNvSpPr/>
          <p:nvPr/>
        </p:nvSpPr>
        <p:spPr>
          <a:xfrm>
            <a:off x="1413625" y="2889647"/>
            <a:ext cx="1471836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판교 테크노밸리</a:t>
            </a:r>
            <a:endParaRPr lang="en-US" sz="674" dirty="0"/>
          </a:p>
        </p:txBody>
      </p:sp>
      <p:sp>
        <p:nvSpPr>
          <p:cNvPr id="66" name="Text 60"/>
          <p:cNvSpPr/>
          <p:nvPr/>
        </p:nvSpPr>
        <p:spPr>
          <a:xfrm>
            <a:off x="2885461" y="2889647"/>
            <a:ext cx="79337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박민수</a:t>
            </a:r>
            <a:endParaRPr lang="en-US" sz="674" dirty="0"/>
          </a:p>
        </p:txBody>
      </p:sp>
      <p:sp>
        <p:nvSpPr>
          <p:cNvPr id="67" name="Text 61"/>
          <p:cNvSpPr/>
          <p:nvPr/>
        </p:nvSpPr>
        <p:spPr>
          <a:xfrm>
            <a:off x="3678836" y="2889647"/>
            <a:ext cx="644723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용접공</a:t>
            </a:r>
            <a:endParaRPr lang="en-US" sz="674" dirty="0"/>
          </a:p>
        </p:txBody>
      </p:sp>
      <p:sp>
        <p:nvSpPr>
          <p:cNvPr id="68" name="Text 62"/>
          <p:cNvSpPr/>
          <p:nvPr/>
        </p:nvSpPr>
        <p:spPr>
          <a:xfrm>
            <a:off x="4323559" y="2889647"/>
            <a:ext cx="83986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06:55:10</a:t>
            </a:r>
            <a:endParaRPr lang="en-US" sz="674" dirty="0"/>
          </a:p>
        </p:txBody>
      </p:sp>
      <p:sp>
        <p:nvSpPr>
          <p:cNvPr id="69" name="Shape 63"/>
          <p:cNvSpPr/>
          <p:nvPr/>
        </p:nvSpPr>
        <p:spPr>
          <a:xfrm>
            <a:off x="5220574" y="2950369"/>
            <a:ext cx="423937" cy="171450"/>
          </a:xfrm>
          <a:prstGeom prst="round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70" name="Text 64"/>
          <p:cNvSpPr/>
          <p:nvPr/>
        </p:nvSpPr>
        <p:spPr>
          <a:xfrm>
            <a:off x="5220574" y="2950369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59E0B"/>
                </a:solidFill>
              </a:rPr>
              <a:t>승인 대기</a:t>
            </a:r>
            <a:endParaRPr lang="en-US" sz="534" dirty="0"/>
          </a:p>
        </p:txBody>
      </p:sp>
      <p:sp>
        <p:nvSpPr>
          <p:cNvPr id="71" name="Text 65"/>
          <p:cNvSpPr/>
          <p:nvPr/>
        </p:nvSpPr>
        <p:spPr>
          <a:xfrm>
            <a:off x="371475" y="3182541"/>
            <a:ext cx="1042150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2024-01-25</a:t>
            </a:r>
            <a:endParaRPr lang="en-US" sz="674" dirty="0"/>
          </a:p>
        </p:txBody>
      </p:sp>
      <p:sp>
        <p:nvSpPr>
          <p:cNvPr id="72" name="Text 66"/>
          <p:cNvSpPr/>
          <p:nvPr/>
        </p:nvSpPr>
        <p:spPr>
          <a:xfrm>
            <a:off x="1413625" y="3182541"/>
            <a:ext cx="1471836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판교 테크노밸리</a:t>
            </a:r>
            <a:endParaRPr lang="en-US" sz="674" dirty="0"/>
          </a:p>
        </p:txBody>
      </p:sp>
      <p:sp>
        <p:nvSpPr>
          <p:cNvPr id="73" name="Text 67"/>
          <p:cNvSpPr/>
          <p:nvPr/>
        </p:nvSpPr>
        <p:spPr>
          <a:xfrm>
            <a:off x="2885461" y="3182541"/>
            <a:ext cx="79337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최지훈</a:t>
            </a:r>
            <a:endParaRPr lang="en-US" sz="674" dirty="0"/>
          </a:p>
        </p:txBody>
      </p:sp>
      <p:sp>
        <p:nvSpPr>
          <p:cNvPr id="74" name="Text 68"/>
          <p:cNvSpPr/>
          <p:nvPr/>
        </p:nvSpPr>
        <p:spPr>
          <a:xfrm>
            <a:off x="3678836" y="3182541"/>
            <a:ext cx="644723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일반공</a:t>
            </a:r>
            <a:endParaRPr lang="en-US" sz="674" dirty="0"/>
          </a:p>
        </p:txBody>
      </p:sp>
      <p:sp>
        <p:nvSpPr>
          <p:cNvPr id="75" name="Text 69"/>
          <p:cNvSpPr/>
          <p:nvPr/>
        </p:nvSpPr>
        <p:spPr>
          <a:xfrm>
            <a:off x="4323559" y="3182541"/>
            <a:ext cx="83986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07:01:22</a:t>
            </a:r>
            <a:endParaRPr lang="en-US" sz="674" dirty="0"/>
          </a:p>
        </p:txBody>
      </p:sp>
      <p:sp>
        <p:nvSpPr>
          <p:cNvPr id="76" name="Shape 70"/>
          <p:cNvSpPr/>
          <p:nvPr/>
        </p:nvSpPr>
        <p:spPr>
          <a:xfrm>
            <a:off x="5220574" y="3243263"/>
            <a:ext cx="423937" cy="171450"/>
          </a:xfrm>
          <a:prstGeom prst="round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77" name="Text 71"/>
          <p:cNvSpPr/>
          <p:nvPr/>
        </p:nvSpPr>
        <p:spPr>
          <a:xfrm>
            <a:off x="5220574" y="3243263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59E0B"/>
                </a:solidFill>
              </a:rPr>
              <a:t>승인 대기</a:t>
            </a:r>
            <a:endParaRPr lang="en-US" sz="534" dirty="0"/>
          </a:p>
        </p:txBody>
      </p:sp>
      <p:sp>
        <p:nvSpPr>
          <p:cNvPr id="78" name="Text 72"/>
          <p:cNvSpPr/>
          <p:nvPr/>
        </p:nvSpPr>
        <p:spPr>
          <a:xfrm>
            <a:off x="371475" y="3475434"/>
            <a:ext cx="1042150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2024-01-25</a:t>
            </a:r>
            <a:endParaRPr lang="en-US" sz="674" dirty="0"/>
          </a:p>
        </p:txBody>
      </p:sp>
      <p:sp>
        <p:nvSpPr>
          <p:cNvPr id="79" name="Text 73"/>
          <p:cNvSpPr/>
          <p:nvPr/>
        </p:nvSpPr>
        <p:spPr>
          <a:xfrm>
            <a:off x="1413625" y="3475434"/>
            <a:ext cx="1471836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부산 해운대 리조트</a:t>
            </a:r>
            <a:endParaRPr lang="en-US" sz="674" dirty="0"/>
          </a:p>
        </p:txBody>
      </p:sp>
      <p:sp>
        <p:nvSpPr>
          <p:cNvPr id="80" name="Text 74"/>
          <p:cNvSpPr/>
          <p:nvPr/>
        </p:nvSpPr>
        <p:spPr>
          <a:xfrm>
            <a:off x="2885461" y="3475434"/>
            <a:ext cx="79337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정우성</a:t>
            </a:r>
            <a:endParaRPr lang="en-US" sz="674" dirty="0"/>
          </a:p>
        </p:txBody>
      </p:sp>
      <p:sp>
        <p:nvSpPr>
          <p:cNvPr id="81" name="Text 75"/>
          <p:cNvSpPr/>
          <p:nvPr/>
        </p:nvSpPr>
        <p:spPr>
          <a:xfrm>
            <a:off x="3678836" y="3475434"/>
            <a:ext cx="644723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목수</a:t>
            </a:r>
            <a:endParaRPr lang="en-US" sz="674" dirty="0"/>
          </a:p>
        </p:txBody>
      </p:sp>
      <p:sp>
        <p:nvSpPr>
          <p:cNvPr id="82" name="Text 76"/>
          <p:cNvSpPr/>
          <p:nvPr/>
        </p:nvSpPr>
        <p:spPr>
          <a:xfrm>
            <a:off x="4323559" y="3475434"/>
            <a:ext cx="83986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06:30:05</a:t>
            </a:r>
            <a:endParaRPr lang="en-US" sz="674" dirty="0"/>
          </a:p>
        </p:txBody>
      </p:sp>
      <p:sp>
        <p:nvSpPr>
          <p:cNvPr id="83" name="Shape 77"/>
          <p:cNvSpPr/>
          <p:nvPr/>
        </p:nvSpPr>
        <p:spPr>
          <a:xfrm>
            <a:off x="5220574" y="3536156"/>
            <a:ext cx="423937" cy="171450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84" name="Text 78"/>
          <p:cNvSpPr/>
          <p:nvPr/>
        </p:nvSpPr>
        <p:spPr>
          <a:xfrm>
            <a:off x="5220574" y="3536156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승인 완료</a:t>
            </a:r>
            <a:endParaRPr lang="en-US" sz="534" dirty="0"/>
          </a:p>
        </p:txBody>
      </p:sp>
      <p:sp>
        <p:nvSpPr>
          <p:cNvPr id="85" name="Text 79"/>
          <p:cNvSpPr/>
          <p:nvPr/>
        </p:nvSpPr>
        <p:spPr>
          <a:xfrm>
            <a:off x="2835343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&lt;</a:t>
            </a:r>
            <a:endParaRPr lang="en-US" sz="674" dirty="0"/>
          </a:p>
        </p:txBody>
      </p:sp>
      <p:sp>
        <p:nvSpPr>
          <p:cNvPr id="86" name="Text 80"/>
          <p:cNvSpPr/>
          <p:nvPr/>
        </p:nvSpPr>
        <p:spPr>
          <a:xfrm>
            <a:off x="2959912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1</a:t>
            </a:r>
            <a:endParaRPr lang="en-US" sz="634" dirty="0"/>
          </a:p>
        </p:txBody>
      </p:sp>
      <p:sp>
        <p:nvSpPr>
          <p:cNvPr id="87" name="Text 81"/>
          <p:cNvSpPr/>
          <p:nvPr/>
        </p:nvSpPr>
        <p:spPr>
          <a:xfrm>
            <a:off x="3084481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2</a:t>
            </a:r>
            <a:endParaRPr lang="en-US" sz="674" dirty="0"/>
          </a:p>
        </p:txBody>
      </p:sp>
      <p:sp>
        <p:nvSpPr>
          <p:cNvPr id="88" name="Text 82"/>
          <p:cNvSpPr/>
          <p:nvPr/>
        </p:nvSpPr>
        <p:spPr>
          <a:xfrm>
            <a:off x="3209051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3</a:t>
            </a:r>
            <a:endParaRPr lang="en-US" sz="674" dirty="0"/>
          </a:p>
        </p:txBody>
      </p:sp>
      <p:sp>
        <p:nvSpPr>
          <p:cNvPr id="89" name="Text 83"/>
          <p:cNvSpPr/>
          <p:nvPr/>
        </p:nvSpPr>
        <p:spPr>
          <a:xfrm>
            <a:off x="3333620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4</a:t>
            </a:r>
            <a:endParaRPr lang="en-US" sz="674" dirty="0"/>
          </a:p>
        </p:txBody>
      </p:sp>
      <p:sp>
        <p:nvSpPr>
          <p:cNvPr id="90" name="Text 84"/>
          <p:cNvSpPr/>
          <p:nvPr/>
        </p:nvSpPr>
        <p:spPr>
          <a:xfrm>
            <a:off x="3458189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5</a:t>
            </a:r>
            <a:endParaRPr lang="en-US" sz="674" dirty="0"/>
          </a:p>
        </p:txBody>
      </p:sp>
      <p:sp>
        <p:nvSpPr>
          <p:cNvPr id="91" name="Text 85"/>
          <p:cNvSpPr/>
          <p:nvPr/>
        </p:nvSpPr>
        <p:spPr>
          <a:xfrm>
            <a:off x="3582758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&gt;</a:t>
            </a:r>
            <a:endParaRPr lang="en-US" sz="674" dirty="0"/>
          </a:p>
        </p:txBody>
      </p:sp>
      <p:sp>
        <p:nvSpPr>
          <p:cNvPr id="92" name="Shape 86"/>
          <p:cNvSpPr/>
          <p:nvPr/>
        </p:nvSpPr>
        <p:spPr>
          <a:xfrm>
            <a:off x="6356961" y="1428750"/>
            <a:ext cx="2501289" cy="68719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93" name="Shape 87"/>
          <p:cNvSpPr/>
          <p:nvPr/>
        </p:nvSpPr>
        <p:spPr>
          <a:xfrm>
            <a:off x="6442686" y="1518047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4" name="Text 88"/>
          <p:cNvSpPr/>
          <p:nvPr/>
        </p:nvSpPr>
        <p:spPr>
          <a:xfrm>
            <a:off x="6442686" y="1518047"/>
            <a:ext cx="157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95" name="Text 89"/>
          <p:cNvSpPr/>
          <p:nvPr/>
        </p:nvSpPr>
        <p:spPr>
          <a:xfrm>
            <a:off x="6656998" y="1514475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검색 및 필터링</a:t>
            </a:r>
            <a:endParaRPr lang="en-US" sz="784" dirty="0"/>
          </a:p>
        </p:txBody>
      </p:sp>
      <p:sp>
        <p:nvSpPr>
          <p:cNvPr id="96" name="Text 90"/>
          <p:cNvSpPr/>
          <p:nvPr/>
        </p:nvSpPr>
        <p:spPr>
          <a:xfrm>
            <a:off x="6442686" y="1735931"/>
            <a:ext cx="232983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기간 조회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시작일 ~ 종료일 (최대 3개월)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현장 필터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본사 관리자는 전체 현장 조회 가능</a:t>
            </a:r>
            <a:endParaRPr lang="en-US" sz="727" dirty="0"/>
          </a:p>
        </p:txBody>
      </p:sp>
      <p:sp>
        <p:nvSpPr>
          <p:cNvPr id="97" name="Shape 91"/>
          <p:cNvSpPr/>
          <p:nvPr/>
        </p:nvSpPr>
        <p:spPr>
          <a:xfrm>
            <a:off x="6356961" y="2187383"/>
            <a:ext cx="2501289" cy="109863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98" name="Shape 92"/>
          <p:cNvSpPr/>
          <p:nvPr/>
        </p:nvSpPr>
        <p:spPr>
          <a:xfrm>
            <a:off x="6442686" y="2276680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9" name="Text 93"/>
          <p:cNvSpPr/>
          <p:nvPr/>
        </p:nvSpPr>
        <p:spPr>
          <a:xfrm>
            <a:off x="6442686" y="2276680"/>
            <a:ext cx="157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00" name="Text 94"/>
          <p:cNvSpPr/>
          <p:nvPr/>
        </p:nvSpPr>
        <p:spPr>
          <a:xfrm>
            <a:off x="6656998" y="2273108"/>
            <a:ext cx="90069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로그 데이터 그리드</a:t>
            </a:r>
            <a:endParaRPr lang="en-US" sz="784" dirty="0"/>
          </a:p>
        </p:txBody>
      </p:sp>
      <p:sp>
        <p:nvSpPr>
          <p:cNvPr id="101" name="Text 95"/>
          <p:cNvSpPr/>
          <p:nvPr/>
        </p:nvSpPr>
        <p:spPr>
          <a:xfrm>
            <a:off x="6442686" y="2496350"/>
            <a:ext cx="636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</a:t>
            </a:r>
            <a:endParaRPr lang="en-US" sz="727" dirty="0"/>
          </a:p>
        </p:txBody>
      </p:sp>
      <p:sp>
        <p:nvSpPr>
          <p:cNvPr id="102" name="Text 96"/>
          <p:cNvSpPr/>
          <p:nvPr/>
        </p:nvSpPr>
        <p:spPr>
          <a:xfrm>
            <a:off x="6506310" y="2496350"/>
            <a:ext cx="1840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정렬</a:t>
            </a:r>
            <a:endParaRPr lang="en-US" sz="683" dirty="0"/>
          </a:p>
        </p:txBody>
      </p:sp>
      <p:sp>
        <p:nvSpPr>
          <p:cNvPr id="103" name="Text 97"/>
          <p:cNvSpPr/>
          <p:nvPr/>
        </p:nvSpPr>
        <p:spPr>
          <a:xfrm>
            <a:off x="6690345" y="2496350"/>
            <a:ext cx="12029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최신순 (출근 시간 내림차순)</a:t>
            </a:r>
            <a:endParaRPr lang="en-US" sz="727" dirty="0"/>
          </a:p>
        </p:txBody>
      </p:sp>
      <p:sp>
        <p:nvSpPr>
          <p:cNvPr id="104" name="Text 98"/>
          <p:cNvSpPr/>
          <p:nvPr/>
        </p:nvSpPr>
        <p:spPr>
          <a:xfrm>
            <a:off x="6442686" y="2636351"/>
            <a:ext cx="636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</a:t>
            </a:r>
            <a:endParaRPr lang="en-US" sz="727" dirty="0"/>
          </a:p>
        </p:txBody>
      </p:sp>
      <p:sp>
        <p:nvSpPr>
          <p:cNvPr id="105" name="Text 99"/>
          <p:cNvSpPr/>
          <p:nvPr/>
        </p:nvSpPr>
        <p:spPr>
          <a:xfrm>
            <a:off x="6506310" y="2636351"/>
            <a:ext cx="3940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상태 표시</a:t>
            </a:r>
            <a:endParaRPr lang="en-US" sz="683" dirty="0"/>
          </a:p>
        </p:txBody>
      </p:sp>
      <p:sp>
        <p:nvSpPr>
          <p:cNvPr id="106" name="Text 100"/>
          <p:cNvSpPr/>
          <p:nvPr/>
        </p:nvSpPr>
        <p:spPr>
          <a:xfrm>
            <a:off x="6900360" y="2636351"/>
            <a:ext cx="6792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승인/대기/반려</a:t>
            </a:r>
            <a:endParaRPr lang="en-US" sz="727" dirty="0"/>
          </a:p>
        </p:txBody>
      </p:sp>
      <p:sp>
        <p:nvSpPr>
          <p:cNvPr id="107" name="Shape 101"/>
          <p:cNvSpPr/>
          <p:nvPr/>
        </p:nvSpPr>
        <p:spPr>
          <a:xfrm>
            <a:off x="6442686" y="2817428"/>
            <a:ext cx="2329839" cy="36857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08" name="Text 102"/>
          <p:cNvSpPr/>
          <p:nvPr/>
        </p:nvSpPr>
        <p:spPr>
          <a:xfrm>
            <a:off x="6442686" y="2817428"/>
            <a:ext cx="2329839" cy="3685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/api/hq/attendance/logs?startDate={dt}&amp;endDate={dt}&amp;siteId={id}</a:t>
            </a:r>
            <a:endParaRPr lang="en-US" sz="621" dirty="0"/>
          </a:p>
        </p:txBody>
      </p:sp>
      <p:sp>
        <p:nvSpPr>
          <p:cNvPr id="109" name="Shape 103"/>
          <p:cNvSpPr/>
          <p:nvPr/>
        </p:nvSpPr>
        <p:spPr>
          <a:xfrm>
            <a:off x="6356961" y="3343163"/>
            <a:ext cx="2501289" cy="68719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10" name="Shape 104"/>
          <p:cNvSpPr/>
          <p:nvPr/>
        </p:nvSpPr>
        <p:spPr>
          <a:xfrm>
            <a:off x="6442686" y="3432460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1" name="Text 105"/>
          <p:cNvSpPr/>
          <p:nvPr/>
        </p:nvSpPr>
        <p:spPr>
          <a:xfrm>
            <a:off x="6442686" y="3432460"/>
            <a:ext cx="157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12" name="Text 106"/>
          <p:cNvSpPr/>
          <p:nvPr/>
        </p:nvSpPr>
        <p:spPr>
          <a:xfrm>
            <a:off x="6656998" y="3428888"/>
            <a:ext cx="66065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엑셀 다운로드</a:t>
            </a:r>
            <a:endParaRPr lang="en-US" sz="784" dirty="0"/>
          </a:p>
        </p:txBody>
      </p:sp>
      <p:sp>
        <p:nvSpPr>
          <p:cNvPr id="113" name="Text 107"/>
          <p:cNvSpPr/>
          <p:nvPr/>
        </p:nvSpPr>
        <p:spPr>
          <a:xfrm>
            <a:off x="6442686" y="3650345"/>
            <a:ext cx="232983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기능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필터된 전체 데이터를 .xlsx로 생성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파일명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출역로그_{YYYYMMDD}.xlsx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7858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00150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근로계약 체결 현황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현장별 체결률 모니터링 및 미체결 인원 일괄 서명 요청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285875"/>
            <a:ext cx="2800350" cy="69830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1475" y="1378744"/>
            <a:ext cx="6067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금일 출력 대상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371475" y="1559123"/>
            <a:ext cx="606716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</a:rPr>
              <a:t>150명</a:t>
            </a:r>
            <a:endParaRPr lang="en-US" sz="1602" dirty="0"/>
          </a:p>
        </p:txBody>
      </p:sp>
      <p:sp>
        <p:nvSpPr>
          <p:cNvPr id="10" name="Shape 7"/>
          <p:cNvSpPr/>
          <p:nvPr/>
        </p:nvSpPr>
        <p:spPr>
          <a:xfrm>
            <a:off x="2643188" y="1456432"/>
            <a:ext cx="357188" cy="357188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5" y="1549301"/>
            <a:ext cx="214313" cy="1714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171825" y="1285875"/>
            <a:ext cx="2800350" cy="69830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57550" y="1378744"/>
            <a:ext cx="6067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계약 체결 완료</a:t>
            </a:r>
            <a:endParaRPr lang="en-US" sz="683" dirty="0"/>
          </a:p>
        </p:txBody>
      </p:sp>
      <p:sp>
        <p:nvSpPr>
          <p:cNvPr id="14" name="Text 10"/>
          <p:cNvSpPr/>
          <p:nvPr/>
        </p:nvSpPr>
        <p:spPr>
          <a:xfrm>
            <a:off x="3257550" y="1559123"/>
            <a:ext cx="606716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135명</a:t>
            </a:r>
            <a:endParaRPr lang="en-US" sz="1602" dirty="0"/>
          </a:p>
        </p:txBody>
      </p:sp>
      <p:sp>
        <p:nvSpPr>
          <p:cNvPr id="15" name="Shape 11"/>
          <p:cNvSpPr/>
          <p:nvPr/>
        </p:nvSpPr>
        <p:spPr>
          <a:xfrm>
            <a:off x="5529263" y="1456432"/>
            <a:ext cx="357188" cy="357188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416" y="1549301"/>
            <a:ext cx="192881" cy="17145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057900" y="1285875"/>
            <a:ext cx="2800350" cy="698302"/>
          </a:xfrm>
          <a:prstGeom prst="rect">
            <a:avLst/>
          </a:prstGeom>
          <a:solidFill>
            <a:srgbClr val="1E293B"/>
          </a:solidFill>
          <a:ln w="9144">
            <a:solidFill>
              <a:srgbClr val="EF4444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143625" y="1371600"/>
            <a:ext cx="76092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F4444"/>
                </a:solidFill>
              </a:rPr>
              <a:t>미체결 (서명 필요)</a:t>
            </a:r>
            <a:endParaRPr lang="en-US" sz="683" dirty="0"/>
          </a:p>
        </p:txBody>
      </p:sp>
      <p:sp>
        <p:nvSpPr>
          <p:cNvPr id="19" name="Text 14"/>
          <p:cNvSpPr/>
          <p:nvPr/>
        </p:nvSpPr>
        <p:spPr>
          <a:xfrm>
            <a:off x="6143625" y="1551980"/>
            <a:ext cx="76092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F4444"/>
                </a:solidFill>
              </a:rPr>
              <a:t>15명</a:t>
            </a:r>
            <a:endParaRPr lang="en-US" sz="1602" dirty="0"/>
          </a:p>
        </p:txBody>
      </p:sp>
      <p:sp>
        <p:nvSpPr>
          <p:cNvPr id="20" name="Shape 15"/>
          <p:cNvSpPr/>
          <p:nvPr/>
        </p:nvSpPr>
        <p:spPr>
          <a:xfrm>
            <a:off x="8415338" y="1449288"/>
            <a:ext cx="357188" cy="357188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206" y="1542157"/>
            <a:ext cx="171450" cy="17145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85750" y="2055614"/>
            <a:ext cx="3838119" cy="239851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" y="2171700"/>
            <a:ext cx="128588" cy="128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71500" y="2141339"/>
            <a:ext cx="74325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현장별 체결률</a:t>
            </a:r>
            <a:endParaRPr lang="en-US" sz="885" dirty="0"/>
          </a:p>
        </p:txBody>
      </p:sp>
      <p:sp>
        <p:nvSpPr>
          <p:cNvPr id="25" name="Text 18"/>
          <p:cNvSpPr/>
          <p:nvPr/>
        </p:nvSpPr>
        <p:spPr>
          <a:xfrm>
            <a:off x="371475" y="2452092"/>
            <a:ext cx="69609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강남 더샵 팰리스</a:t>
            </a:r>
            <a:endParaRPr lang="en-US" sz="727" dirty="0"/>
          </a:p>
        </p:txBody>
      </p:sp>
      <p:sp>
        <p:nvSpPr>
          <p:cNvPr id="26" name="Text 19"/>
          <p:cNvSpPr/>
          <p:nvPr/>
        </p:nvSpPr>
        <p:spPr>
          <a:xfrm>
            <a:off x="3840603" y="2452092"/>
            <a:ext cx="19754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98%</a:t>
            </a:r>
            <a:endParaRPr lang="en-US" sz="727" dirty="0"/>
          </a:p>
        </p:txBody>
      </p:sp>
      <p:sp>
        <p:nvSpPr>
          <p:cNvPr id="27" name="Shape 20"/>
          <p:cNvSpPr/>
          <p:nvPr/>
        </p:nvSpPr>
        <p:spPr>
          <a:xfrm>
            <a:off x="371475" y="2653903"/>
            <a:ext cx="3666669" cy="71438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28" name="Text 21"/>
          <p:cNvSpPr/>
          <p:nvPr/>
        </p:nvSpPr>
        <p:spPr>
          <a:xfrm>
            <a:off x="371475" y="2782491"/>
            <a:ext cx="67008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판교 테크노밸리</a:t>
            </a:r>
            <a:endParaRPr lang="en-US" sz="727" dirty="0"/>
          </a:p>
        </p:txBody>
      </p:sp>
      <p:sp>
        <p:nvSpPr>
          <p:cNvPr id="29" name="Text 22"/>
          <p:cNvSpPr/>
          <p:nvPr/>
        </p:nvSpPr>
        <p:spPr>
          <a:xfrm>
            <a:off x="3840603" y="2782491"/>
            <a:ext cx="19754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59E0B"/>
                </a:solidFill>
              </a:rPr>
              <a:t>85%</a:t>
            </a:r>
            <a:endParaRPr lang="en-US" sz="727" dirty="0"/>
          </a:p>
        </p:txBody>
      </p:sp>
      <p:sp>
        <p:nvSpPr>
          <p:cNvPr id="30" name="Shape 23"/>
          <p:cNvSpPr/>
          <p:nvPr/>
        </p:nvSpPr>
        <p:spPr>
          <a:xfrm>
            <a:off x="371475" y="2984302"/>
            <a:ext cx="3666669" cy="71438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31" name="Text 24"/>
          <p:cNvSpPr/>
          <p:nvPr/>
        </p:nvSpPr>
        <p:spPr>
          <a:xfrm>
            <a:off x="371475" y="3112889"/>
            <a:ext cx="78810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부산 해운대 리조트</a:t>
            </a:r>
            <a:endParaRPr lang="en-US" sz="727" dirty="0"/>
          </a:p>
        </p:txBody>
      </p:sp>
      <p:sp>
        <p:nvSpPr>
          <p:cNvPr id="32" name="Text 25"/>
          <p:cNvSpPr/>
          <p:nvPr/>
        </p:nvSpPr>
        <p:spPr>
          <a:xfrm>
            <a:off x="3840603" y="3112889"/>
            <a:ext cx="19754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F4444"/>
                </a:solidFill>
              </a:rPr>
              <a:t>60%</a:t>
            </a:r>
            <a:endParaRPr lang="en-US" sz="727" dirty="0"/>
          </a:p>
        </p:txBody>
      </p:sp>
      <p:sp>
        <p:nvSpPr>
          <p:cNvPr id="33" name="Shape 26"/>
          <p:cNvSpPr/>
          <p:nvPr/>
        </p:nvSpPr>
        <p:spPr>
          <a:xfrm>
            <a:off x="371475" y="3314700"/>
            <a:ext cx="3666669" cy="71438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34" name="Shape 27"/>
          <p:cNvSpPr/>
          <p:nvPr/>
        </p:nvSpPr>
        <p:spPr>
          <a:xfrm>
            <a:off x="4252457" y="2055614"/>
            <a:ext cx="4605793" cy="239851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182" y="2183309"/>
            <a:ext cx="160734" cy="12858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570354" y="2152948"/>
            <a:ext cx="89497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미체결 인원 관리</a:t>
            </a:r>
            <a:endParaRPr lang="en-US" sz="885" dirty="0"/>
          </a:p>
        </p:txBody>
      </p:sp>
      <p:sp>
        <p:nvSpPr>
          <p:cNvPr id="37" name="Shape 29"/>
          <p:cNvSpPr/>
          <p:nvPr/>
        </p:nvSpPr>
        <p:spPr>
          <a:xfrm>
            <a:off x="7975271" y="2141339"/>
            <a:ext cx="797254" cy="212527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0996" y="2209205"/>
            <a:ext cx="85725" cy="8572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146721" y="2194917"/>
            <a:ext cx="5400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0000"/>
                </a:solidFill>
              </a:rPr>
              <a:t>전체 서명 요청</a:t>
            </a:r>
            <a:endParaRPr lang="en-US" sz="584" dirty="0"/>
          </a:p>
        </p:txBody>
      </p:sp>
      <p:sp>
        <p:nvSpPr>
          <p:cNvPr id="40" name="Text 31"/>
          <p:cNvSpPr/>
          <p:nvPr/>
        </p:nvSpPr>
        <p:spPr>
          <a:xfrm>
            <a:off x="4338182" y="2475309"/>
            <a:ext cx="607442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이름</a:t>
            </a:r>
            <a:endParaRPr lang="en-US" sz="634" dirty="0"/>
          </a:p>
        </p:txBody>
      </p:sp>
      <p:sp>
        <p:nvSpPr>
          <p:cNvPr id="41" name="Text 32"/>
          <p:cNvSpPr/>
          <p:nvPr/>
        </p:nvSpPr>
        <p:spPr>
          <a:xfrm>
            <a:off x="4945624" y="2475309"/>
            <a:ext cx="1185667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연락처</a:t>
            </a:r>
            <a:endParaRPr lang="en-US" sz="634" dirty="0"/>
          </a:p>
        </p:txBody>
      </p:sp>
      <p:sp>
        <p:nvSpPr>
          <p:cNvPr id="42" name="Text 33"/>
          <p:cNvSpPr/>
          <p:nvPr/>
        </p:nvSpPr>
        <p:spPr>
          <a:xfrm>
            <a:off x="6131291" y="2475309"/>
            <a:ext cx="1164180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소속 현장</a:t>
            </a:r>
            <a:endParaRPr lang="en-US" sz="634" dirty="0"/>
          </a:p>
        </p:txBody>
      </p:sp>
      <p:sp>
        <p:nvSpPr>
          <p:cNvPr id="43" name="Text 34"/>
          <p:cNvSpPr/>
          <p:nvPr/>
        </p:nvSpPr>
        <p:spPr>
          <a:xfrm>
            <a:off x="7295471" y="2475309"/>
            <a:ext cx="607442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상태</a:t>
            </a:r>
            <a:endParaRPr lang="en-US" sz="634" dirty="0"/>
          </a:p>
        </p:txBody>
      </p:sp>
      <p:sp>
        <p:nvSpPr>
          <p:cNvPr id="44" name="Text 35"/>
          <p:cNvSpPr/>
          <p:nvPr/>
        </p:nvSpPr>
        <p:spPr>
          <a:xfrm>
            <a:off x="7902913" y="2475309"/>
            <a:ext cx="869612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관리</a:t>
            </a:r>
            <a:endParaRPr lang="en-US" sz="634" dirty="0"/>
          </a:p>
        </p:txBody>
      </p:sp>
      <p:sp>
        <p:nvSpPr>
          <p:cNvPr id="45" name="Text 36"/>
          <p:cNvSpPr/>
          <p:nvPr/>
        </p:nvSpPr>
        <p:spPr>
          <a:xfrm>
            <a:off x="4338182" y="2757488"/>
            <a:ext cx="607442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김철수</a:t>
            </a:r>
            <a:endParaRPr lang="en-US" sz="674" dirty="0"/>
          </a:p>
        </p:txBody>
      </p:sp>
      <p:sp>
        <p:nvSpPr>
          <p:cNvPr id="46" name="Text 37"/>
          <p:cNvSpPr/>
          <p:nvPr/>
        </p:nvSpPr>
        <p:spPr>
          <a:xfrm>
            <a:off x="4945624" y="2757488"/>
            <a:ext cx="1185667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010-1234-****</a:t>
            </a:r>
            <a:endParaRPr lang="en-US" sz="674" dirty="0"/>
          </a:p>
        </p:txBody>
      </p:sp>
      <p:sp>
        <p:nvSpPr>
          <p:cNvPr id="47" name="Text 38"/>
          <p:cNvSpPr/>
          <p:nvPr/>
        </p:nvSpPr>
        <p:spPr>
          <a:xfrm>
            <a:off x="6131291" y="2757488"/>
            <a:ext cx="1164180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판교 테크노밸리</a:t>
            </a:r>
            <a:endParaRPr lang="en-US" sz="674" dirty="0"/>
          </a:p>
        </p:txBody>
      </p:sp>
      <p:sp>
        <p:nvSpPr>
          <p:cNvPr id="48" name="Text 39"/>
          <p:cNvSpPr/>
          <p:nvPr/>
        </p:nvSpPr>
        <p:spPr>
          <a:xfrm>
            <a:off x="7295471" y="2757488"/>
            <a:ext cx="607442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F4444"/>
                </a:solidFill>
              </a:rPr>
              <a:t>미서명</a:t>
            </a:r>
            <a:endParaRPr lang="en-US" sz="674" dirty="0"/>
          </a:p>
        </p:txBody>
      </p:sp>
      <p:sp>
        <p:nvSpPr>
          <p:cNvPr id="49" name="Shape 40"/>
          <p:cNvSpPr/>
          <p:nvPr/>
        </p:nvSpPr>
        <p:spPr>
          <a:xfrm>
            <a:off x="7974350" y="2832497"/>
            <a:ext cx="428625" cy="2000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1"/>
          <p:cNvSpPr/>
          <p:nvPr/>
        </p:nvSpPr>
        <p:spPr>
          <a:xfrm>
            <a:off x="7974350" y="2832497"/>
            <a:ext cx="428625" cy="20002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재발송</a:t>
            </a:r>
            <a:endParaRPr lang="en-US" sz="621" dirty="0"/>
          </a:p>
        </p:txBody>
      </p:sp>
      <p:sp>
        <p:nvSpPr>
          <p:cNvPr id="51" name="Text 42"/>
          <p:cNvSpPr/>
          <p:nvPr/>
        </p:nvSpPr>
        <p:spPr>
          <a:xfrm>
            <a:off x="4338182" y="3107531"/>
            <a:ext cx="607442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이영희</a:t>
            </a:r>
            <a:endParaRPr lang="en-US" sz="674" dirty="0"/>
          </a:p>
        </p:txBody>
      </p:sp>
      <p:sp>
        <p:nvSpPr>
          <p:cNvPr id="52" name="Text 43"/>
          <p:cNvSpPr/>
          <p:nvPr/>
        </p:nvSpPr>
        <p:spPr>
          <a:xfrm>
            <a:off x="4945624" y="3107531"/>
            <a:ext cx="1185667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010-5678-****</a:t>
            </a:r>
            <a:endParaRPr lang="en-US" sz="674" dirty="0"/>
          </a:p>
        </p:txBody>
      </p:sp>
      <p:sp>
        <p:nvSpPr>
          <p:cNvPr id="53" name="Text 44"/>
          <p:cNvSpPr/>
          <p:nvPr/>
        </p:nvSpPr>
        <p:spPr>
          <a:xfrm>
            <a:off x="6131291" y="3107531"/>
            <a:ext cx="1164180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부산 해운대</a:t>
            </a:r>
            <a:endParaRPr lang="en-US" sz="674" dirty="0"/>
          </a:p>
        </p:txBody>
      </p:sp>
      <p:sp>
        <p:nvSpPr>
          <p:cNvPr id="54" name="Text 45"/>
          <p:cNvSpPr/>
          <p:nvPr/>
        </p:nvSpPr>
        <p:spPr>
          <a:xfrm>
            <a:off x="7295471" y="3107531"/>
            <a:ext cx="607442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F4444"/>
                </a:solidFill>
              </a:rPr>
              <a:t>미서명</a:t>
            </a:r>
            <a:endParaRPr lang="en-US" sz="674" dirty="0"/>
          </a:p>
        </p:txBody>
      </p:sp>
      <p:sp>
        <p:nvSpPr>
          <p:cNvPr id="55" name="Shape 46"/>
          <p:cNvSpPr/>
          <p:nvPr/>
        </p:nvSpPr>
        <p:spPr>
          <a:xfrm>
            <a:off x="7974350" y="3182541"/>
            <a:ext cx="428625" cy="2000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6" name="Text 47"/>
          <p:cNvSpPr/>
          <p:nvPr/>
        </p:nvSpPr>
        <p:spPr>
          <a:xfrm>
            <a:off x="7974350" y="3182541"/>
            <a:ext cx="428625" cy="20002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재발송</a:t>
            </a:r>
            <a:endParaRPr lang="en-US" sz="621" dirty="0"/>
          </a:p>
        </p:txBody>
      </p:sp>
      <p:sp>
        <p:nvSpPr>
          <p:cNvPr id="57" name="Text 48"/>
          <p:cNvSpPr/>
          <p:nvPr/>
        </p:nvSpPr>
        <p:spPr>
          <a:xfrm>
            <a:off x="4338182" y="3457575"/>
            <a:ext cx="607442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박민수</a:t>
            </a:r>
            <a:endParaRPr lang="en-US" sz="674" dirty="0"/>
          </a:p>
        </p:txBody>
      </p:sp>
      <p:sp>
        <p:nvSpPr>
          <p:cNvPr id="58" name="Text 49"/>
          <p:cNvSpPr/>
          <p:nvPr/>
        </p:nvSpPr>
        <p:spPr>
          <a:xfrm>
            <a:off x="4945624" y="3457575"/>
            <a:ext cx="1185667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010-9999-****</a:t>
            </a:r>
            <a:endParaRPr lang="en-US" sz="674" dirty="0"/>
          </a:p>
        </p:txBody>
      </p:sp>
      <p:sp>
        <p:nvSpPr>
          <p:cNvPr id="59" name="Text 50"/>
          <p:cNvSpPr/>
          <p:nvPr/>
        </p:nvSpPr>
        <p:spPr>
          <a:xfrm>
            <a:off x="6131291" y="3457575"/>
            <a:ext cx="1164180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부산 해운대</a:t>
            </a:r>
            <a:endParaRPr lang="en-US" sz="674" dirty="0"/>
          </a:p>
        </p:txBody>
      </p:sp>
      <p:sp>
        <p:nvSpPr>
          <p:cNvPr id="60" name="Text 51"/>
          <p:cNvSpPr/>
          <p:nvPr/>
        </p:nvSpPr>
        <p:spPr>
          <a:xfrm>
            <a:off x="7295471" y="3457575"/>
            <a:ext cx="607442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59E0B"/>
                </a:solidFill>
              </a:rPr>
              <a:t>요청됨</a:t>
            </a:r>
            <a:endParaRPr lang="en-US" sz="674" dirty="0"/>
          </a:p>
        </p:txBody>
      </p:sp>
      <p:sp>
        <p:nvSpPr>
          <p:cNvPr id="61" name="Text 52"/>
          <p:cNvSpPr/>
          <p:nvPr/>
        </p:nvSpPr>
        <p:spPr>
          <a:xfrm>
            <a:off x="7974350" y="3546872"/>
            <a:ext cx="2366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대기중</a:t>
            </a:r>
            <a:endParaRPr lang="en-US" sz="621" dirty="0"/>
          </a:p>
        </p:txBody>
      </p:sp>
      <p:sp>
        <p:nvSpPr>
          <p:cNvPr id="62" name="Shape 53"/>
          <p:cNvSpPr/>
          <p:nvPr/>
        </p:nvSpPr>
        <p:spPr>
          <a:xfrm>
            <a:off x="350044" y="4575572"/>
            <a:ext cx="1228809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3" name="Text 54"/>
          <p:cNvSpPr/>
          <p:nvPr/>
        </p:nvSpPr>
        <p:spPr>
          <a:xfrm>
            <a:off x="350044" y="4575572"/>
            <a:ext cx="1228809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/api/hq/contracts/stats</a:t>
            </a:r>
            <a:endParaRPr lang="en-US" sz="621" dirty="0"/>
          </a:p>
        </p:txBody>
      </p:sp>
      <p:sp>
        <p:nvSpPr>
          <p:cNvPr id="64" name="Text 55"/>
          <p:cNvSpPr/>
          <p:nvPr/>
        </p:nvSpPr>
        <p:spPr>
          <a:xfrm>
            <a:off x="1650290" y="4608612"/>
            <a:ext cx="25997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통계 조회: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현장별 전체/체결/미체결 카운트 집계 (Group By SiteId)</a:t>
            </a:r>
            <a:endParaRPr lang="en-US" sz="634" dirty="0"/>
          </a:p>
        </p:txBody>
      </p:sp>
      <p:sp>
        <p:nvSpPr>
          <p:cNvPr id="65" name="Shape 56"/>
          <p:cNvSpPr/>
          <p:nvPr/>
        </p:nvSpPr>
        <p:spPr>
          <a:xfrm>
            <a:off x="350044" y="4820245"/>
            <a:ext cx="1262993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6" name="Text 57"/>
          <p:cNvSpPr/>
          <p:nvPr/>
        </p:nvSpPr>
        <p:spPr>
          <a:xfrm>
            <a:off x="350044" y="4820245"/>
            <a:ext cx="126299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/api/contracts/request</a:t>
            </a:r>
            <a:endParaRPr lang="en-US" sz="621" dirty="0"/>
          </a:p>
        </p:txBody>
      </p:sp>
      <p:sp>
        <p:nvSpPr>
          <p:cNvPr id="67" name="Text 58"/>
          <p:cNvSpPr/>
          <p:nvPr/>
        </p:nvSpPr>
        <p:spPr>
          <a:xfrm>
            <a:off x="1684474" y="4853285"/>
            <a:ext cx="37898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서명 요청: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선택된 근로자에게 카카오톡 알림톡으로 전자계약 서명 링크 발송 (외부 메시징 API 연동)</a:t>
            </a:r>
            <a:endParaRPr lang="en-US" sz="6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01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관리자 계정 및 권한 관리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본사 및 현장 관리자 계정 생성 및 권한(RBAC) 부여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357313"/>
            <a:ext cx="5187451" cy="358284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8625" y="1500188"/>
            <a:ext cx="2328863" cy="258961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564481"/>
            <a:ext cx="114300" cy="13037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33478" y="1500188"/>
            <a:ext cx="896848" cy="25896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778" y="1579662"/>
            <a:ext cx="125016" cy="100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29944" y="1557338"/>
            <a:ext cx="48608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관리자 등록</a:t>
            </a:r>
            <a:endParaRPr lang="en-US" sz="683" dirty="0"/>
          </a:p>
        </p:txBody>
      </p:sp>
      <p:sp>
        <p:nvSpPr>
          <p:cNvPr id="13" name="Shape 8"/>
          <p:cNvSpPr/>
          <p:nvPr/>
        </p:nvSpPr>
        <p:spPr>
          <a:xfrm>
            <a:off x="428625" y="1902023"/>
            <a:ext cx="763265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Shape 9"/>
          <p:cNvSpPr/>
          <p:nvPr/>
        </p:nvSpPr>
        <p:spPr>
          <a:xfrm>
            <a:off x="428625" y="2202061"/>
            <a:ext cx="76326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0"/>
          <p:cNvSpPr/>
          <p:nvPr/>
        </p:nvSpPr>
        <p:spPr>
          <a:xfrm>
            <a:off x="428625" y="1902023"/>
            <a:ext cx="76326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이름</a:t>
            </a:r>
            <a:endParaRPr lang="en-US" sz="634" dirty="0"/>
          </a:p>
        </p:txBody>
      </p:sp>
      <p:sp>
        <p:nvSpPr>
          <p:cNvPr id="16" name="Shape 11"/>
          <p:cNvSpPr/>
          <p:nvPr/>
        </p:nvSpPr>
        <p:spPr>
          <a:xfrm>
            <a:off x="1191890" y="1902023"/>
            <a:ext cx="1623836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Shape 12"/>
          <p:cNvSpPr/>
          <p:nvPr/>
        </p:nvSpPr>
        <p:spPr>
          <a:xfrm>
            <a:off x="1191890" y="2202061"/>
            <a:ext cx="1623836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3"/>
          <p:cNvSpPr/>
          <p:nvPr/>
        </p:nvSpPr>
        <p:spPr>
          <a:xfrm>
            <a:off x="1191890" y="1902023"/>
            <a:ext cx="162383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이메일</a:t>
            </a:r>
            <a:endParaRPr lang="en-US" sz="634" dirty="0"/>
          </a:p>
        </p:txBody>
      </p:sp>
      <p:sp>
        <p:nvSpPr>
          <p:cNvPr id="19" name="Shape 14"/>
          <p:cNvSpPr/>
          <p:nvPr/>
        </p:nvSpPr>
        <p:spPr>
          <a:xfrm>
            <a:off x="2815726" y="1902023"/>
            <a:ext cx="956844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5"/>
          <p:cNvSpPr/>
          <p:nvPr/>
        </p:nvSpPr>
        <p:spPr>
          <a:xfrm>
            <a:off x="2815726" y="2202061"/>
            <a:ext cx="956844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6"/>
          <p:cNvSpPr/>
          <p:nvPr/>
        </p:nvSpPr>
        <p:spPr>
          <a:xfrm>
            <a:off x="2815726" y="1902023"/>
            <a:ext cx="956844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권한 (Role)</a:t>
            </a:r>
            <a:endParaRPr lang="en-US" sz="634" dirty="0"/>
          </a:p>
        </p:txBody>
      </p:sp>
      <p:sp>
        <p:nvSpPr>
          <p:cNvPr id="22" name="Shape 17"/>
          <p:cNvSpPr/>
          <p:nvPr/>
        </p:nvSpPr>
        <p:spPr>
          <a:xfrm>
            <a:off x="3772570" y="1902023"/>
            <a:ext cx="902987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18"/>
          <p:cNvSpPr/>
          <p:nvPr/>
        </p:nvSpPr>
        <p:spPr>
          <a:xfrm>
            <a:off x="3772570" y="2202061"/>
            <a:ext cx="902987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19"/>
          <p:cNvSpPr/>
          <p:nvPr/>
        </p:nvSpPr>
        <p:spPr>
          <a:xfrm>
            <a:off x="3772570" y="1902023"/>
            <a:ext cx="902987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담당 현장</a:t>
            </a:r>
            <a:endParaRPr lang="en-US" sz="634" dirty="0"/>
          </a:p>
        </p:txBody>
      </p:sp>
      <p:sp>
        <p:nvSpPr>
          <p:cNvPr id="25" name="Shape 20"/>
          <p:cNvSpPr/>
          <p:nvPr/>
        </p:nvSpPr>
        <p:spPr>
          <a:xfrm>
            <a:off x="4675556" y="1902023"/>
            <a:ext cx="654769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Shape 21"/>
          <p:cNvSpPr/>
          <p:nvPr/>
        </p:nvSpPr>
        <p:spPr>
          <a:xfrm>
            <a:off x="4675556" y="2202061"/>
            <a:ext cx="654769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2"/>
          <p:cNvSpPr/>
          <p:nvPr/>
        </p:nvSpPr>
        <p:spPr>
          <a:xfrm>
            <a:off x="4675556" y="1902023"/>
            <a:ext cx="654769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관리</a:t>
            </a:r>
            <a:endParaRPr lang="en-US" sz="634" dirty="0"/>
          </a:p>
        </p:txBody>
      </p:sp>
      <p:sp>
        <p:nvSpPr>
          <p:cNvPr id="28" name="Text 23"/>
          <p:cNvSpPr/>
          <p:nvPr/>
        </p:nvSpPr>
        <p:spPr>
          <a:xfrm>
            <a:off x="514350" y="2303859"/>
            <a:ext cx="42720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1F5F9"/>
                </a:solidFill>
              </a:rPr>
              <a:t>최고관리자</a:t>
            </a:r>
            <a:endParaRPr lang="en-US" sz="634" dirty="0"/>
          </a:p>
        </p:txBody>
      </p:sp>
      <p:sp>
        <p:nvSpPr>
          <p:cNvPr id="29" name="Text 24"/>
          <p:cNvSpPr/>
          <p:nvPr/>
        </p:nvSpPr>
        <p:spPr>
          <a:xfrm>
            <a:off x="1191890" y="2209205"/>
            <a:ext cx="1623836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admin@smartcon.com</a:t>
            </a:r>
            <a:endParaRPr lang="en-US" sz="674" dirty="0"/>
          </a:p>
        </p:txBody>
      </p:sp>
      <p:sp>
        <p:nvSpPr>
          <p:cNvPr id="30" name="Shape 25"/>
          <p:cNvSpPr/>
          <p:nvPr/>
        </p:nvSpPr>
        <p:spPr>
          <a:xfrm>
            <a:off x="2901451" y="2285107"/>
            <a:ext cx="362238" cy="164306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2901451" y="2285107"/>
            <a:ext cx="36223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F4444"/>
                </a:solidFill>
              </a:rPr>
              <a:t>Super</a:t>
            </a:r>
            <a:endParaRPr lang="en-US" sz="534" dirty="0"/>
          </a:p>
        </p:txBody>
      </p:sp>
      <p:sp>
        <p:nvSpPr>
          <p:cNvPr id="32" name="Text 27"/>
          <p:cNvSpPr/>
          <p:nvPr/>
        </p:nvSpPr>
        <p:spPr>
          <a:xfrm>
            <a:off x="3772570" y="2209205"/>
            <a:ext cx="902987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-</a:t>
            </a:r>
            <a:endParaRPr lang="en-US" sz="674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281" y="2317254"/>
            <a:ext cx="92869" cy="92869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28625" y="2519958"/>
            <a:ext cx="76326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김본사</a:t>
            </a:r>
            <a:endParaRPr lang="en-US" sz="674" dirty="0"/>
          </a:p>
        </p:txBody>
      </p:sp>
      <p:sp>
        <p:nvSpPr>
          <p:cNvPr id="35" name="Text 29"/>
          <p:cNvSpPr/>
          <p:nvPr/>
        </p:nvSpPr>
        <p:spPr>
          <a:xfrm>
            <a:off x="1191890" y="2519958"/>
            <a:ext cx="162383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hq_kim@smartcon.com</a:t>
            </a:r>
            <a:endParaRPr lang="en-US" sz="674" dirty="0"/>
          </a:p>
        </p:txBody>
      </p:sp>
      <p:sp>
        <p:nvSpPr>
          <p:cNvPr id="36" name="Shape 30"/>
          <p:cNvSpPr/>
          <p:nvPr/>
        </p:nvSpPr>
        <p:spPr>
          <a:xfrm>
            <a:off x="2901451" y="2599432"/>
            <a:ext cx="538349" cy="164306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2901451" y="2599432"/>
            <a:ext cx="538349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B82F6"/>
                </a:solidFill>
              </a:rPr>
              <a:t>HQ Admin</a:t>
            </a:r>
            <a:endParaRPr lang="en-US" sz="534" dirty="0"/>
          </a:p>
        </p:txBody>
      </p:sp>
      <p:sp>
        <p:nvSpPr>
          <p:cNvPr id="38" name="Text 32"/>
          <p:cNvSpPr/>
          <p:nvPr/>
        </p:nvSpPr>
        <p:spPr>
          <a:xfrm>
            <a:off x="3772570" y="2519958"/>
            <a:ext cx="902987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-</a:t>
            </a:r>
            <a:endParaRPr lang="en-US" sz="674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1281" y="2631579"/>
            <a:ext cx="92869" cy="92869"/>
          </a:xfrm>
          <a:prstGeom prst="rect">
            <a:avLst/>
          </a:prstGeom>
        </p:spPr>
      </p:pic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9754" y="2631579"/>
            <a:ext cx="82153" cy="92869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428625" y="2834283"/>
            <a:ext cx="76326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이현장</a:t>
            </a:r>
            <a:endParaRPr lang="en-US" sz="674" dirty="0"/>
          </a:p>
        </p:txBody>
      </p:sp>
      <p:sp>
        <p:nvSpPr>
          <p:cNvPr id="42" name="Text 34"/>
          <p:cNvSpPr/>
          <p:nvPr/>
        </p:nvSpPr>
        <p:spPr>
          <a:xfrm>
            <a:off x="1191890" y="2834283"/>
            <a:ext cx="162383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site_lee@smartcon.com</a:t>
            </a:r>
            <a:endParaRPr lang="en-US" sz="674" dirty="0"/>
          </a:p>
        </p:txBody>
      </p:sp>
      <p:sp>
        <p:nvSpPr>
          <p:cNvPr id="43" name="Shape 35"/>
          <p:cNvSpPr/>
          <p:nvPr/>
        </p:nvSpPr>
        <p:spPr>
          <a:xfrm>
            <a:off x="2901451" y="2913757"/>
            <a:ext cx="579034" cy="164306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4" name="Text 36"/>
          <p:cNvSpPr/>
          <p:nvPr/>
        </p:nvSpPr>
        <p:spPr>
          <a:xfrm>
            <a:off x="2901451" y="2913757"/>
            <a:ext cx="579034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Site Admin</a:t>
            </a:r>
            <a:endParaRPr lang="en-US" sz="534" dirty="0"/>
          </a:p>
        </p:txBody>
      </p:sp>
      <p:sp>
        <p:nvSpPr>
          <p:cNvPr id="45" name="Text 37"/>
          <p:cNvSpPr/>
          <p:nvPr/>
        </p:nvSpPr>
        <p:spPr>
          <a:xfrm>
            <a:off x="3772570" y="2834283"/>
            <a:ext cx="902987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강남 오피스텔</a:t>
            </a:r>
            <a:endParaRPr lang="en-US" sz="674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1281" y="2945904"/>
            <a:ext cx="92869" cy="92869"/>
          </a:xfrm>
          <a:prstGeom prst="rect">
            <a:avLst/>
          </a:prstGeom>
        </p:spPr>
      </p:pic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9754" y="2945904"/>
            <a:ext cx="82153" cy="92869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428625" y="3148608"/>
            <a:ext cx="76326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박공무</a:t>
            </a:r>
            <a:endParaRPr lang="en-US" sz="674" dirty="0"/>
          </a:p>
        </p:txBody>
      </p:sp>
      <p:sp>
        <p:nvSpPr>
          <p:cNvPr id="49" name="Text 39"/>
          <p:cNvSpPr/>
          <p:nvPr/>
        </p:nvSpPr>
        <p:spPr>
          <a:xfrm>
            <a:off x="1191890" y="3148608"/>
            <a:ext cx="162383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site_park@smartcon.com</a:t>
            </a:r>
            <a:endParaRPr lang="en-US" sz="674" dirty="0"/>
          </a:p>
        </p:txBody>
      </p:sp>
      <p:sp>
        <p:nvSpPr>
          <p:cNvPr id="50" name="Shape 40"/>
          <p:cNvSpPr/>
          <p:nvPr/>
        </p:nvSpPr>
        <p:spPr>
          <a:xfrm>
            <a:off x="2901451" y="3228082"/>
            <a:ext cx="579034" cy="164306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1" name="Text 41"/>
          <p:cNvSpPr/>
          <p:nvPr/>
        </p:nvSpPr>
        <p:spPr>
          <a:xfrm>
            <a:off x="2901451" y="3228082"/>
            <a:ext cx="579034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Site Admin</a:t>
            </a:r>
            <a:endParaRPr lang="en-US" sz="534" dirty="0"/>
          </a:p>
        </p:txBody>
      </p:sp>
      <p:sp>
        <p:nvSpPr>
          <p:cNvPr id="52" name="Text 42"/>
          <p:cNvSpPr/>
          <p:nvPr/>
        </p:nvSpPr>
        <p:spPr>
          <a:xfrm>
            <a:off x="3772570" y="3148608"/>
            <a:ext cx="902987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판교 테크노</a:t>
            </a:r>
            <a:endParaRPr lang="en-US" sz="674" dirty="0"/>
          </a:p>
        </p:txBody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1281" y="3260229"/>
            <a:ext cx="92869" cy="92869"/>
          </a:xfrm>
          <a:prstGeom prst="rect">
            <a:avLst/>
          </a:prstGeom>
        </p:spPr>
      </p:pic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9754" y="3260229"/>
            <a:ext cx="82153" cy="92869"/>
          </a:xfrm>
          <a:prstGeom prst="rect">
            <a:avLst/>
          </a:prstGeom>
        </p:spPr>
      </p:pic>
      <p:sp>
        <p:nvSpPr>
          <p:cNvPr id="55" name="Shape 43"/>
          <p:cNvSpPr/>
          <p:nvPr/>
        </p:nvSpPr>
        <p:spPr>
          <a:xfrm>
            <a:off x="1329268" y="1744973"/>
            <a:ext cx="3100388" cy="2807494"/>
          </a:xfrm>
          <a:prstGeom prst="rect">
            <a:avLst/>
          </a:prstGeom>
          <a:solidFill>
            <a:srgbClr val="0F172A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1450711" y="1866416"/>
            <a:ext cx="2857500" cy="24288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</a:rPr>
              <a:t>관리자 계정 등록</a:t>
            </a:r>
            <a:endParaRPr lang="en-US" sz="784" dirty="0"/>
          </a:p>
        </p:txBody>
      </p:sp>
      <p:sp>
        <p:nvSpPr>
          <p:cNvPr id="57" name="Text 45"/>
          <p:cNvSpPr/>
          <p:nvPr/>
        </p:nvSpPr>
        <p:spPr>
          <a:xfrm>
            <a:off x="1450711" y="2216460"/>
            <a:ext cx="2857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이름</a:t>
            </a:r>
            <a:endParaRPr lang="en-US" sz="621" dirty="0"/>
          </a:p>
        </p:txBody>
      </p:sp>
      <p:sp>
        <p:nvSpPr>
          <p:cNvPr id="58" name="Text 46"/>
          <p:cNvSpPr/>
          <p:nvPr/>
        </p:nvSpPr>
        <p:spPr>
          <a:xfrm>
            <a:off x="1450711" y="2693305"/>
            <a:ext cx="2857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이메일 (ID)</a:t>
            </a:r>
            <a:endParaRPr lang="en-US" sz="621" dirty="0"/>
          </a:p>
        </p:txBody>
      </p:sp>
      <p:sp>
        <p:nvSpPr>
          <p:cNvPr id="59" name="Text 47"/>
          <p:cNvSpPr/>
          <p:nvPr/>
        </p:nvSpPr>
        <p:spPr>
          <a:xfrm>
            <a:off x="1450711" y="3170151"/>
            <a:ext cx="2857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권한 선택</a:t>
            </a:r>
            <a:endParaRPr lang="en-US" sz="621" dirty="0"/>
          </a:p>
        </p:txBody>
      </p:sp>
      <p:sp>
        <p:nvSpPr>
          <p:cNvPr id="60" name="Shape 48"/>
          <p:cNvSpPr/>
          <p:nvPr/>
        </p:nvSpPr>
        <p:spPr>
          <a:xfrm>
            <a:off x="1450711" y="3325527"/>
            <a:ext cx="2857500" cy="246459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61" name="Text 49"/>
          <p:cNvSpPr/>
          <p:nvPr/>
        </p:nvSpPr>
        <p:spPr>
          <a:xfrm>
            <a:off x="1450711" y="3650568"/>
            <a:ext cx="2857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담당 현장 배정</a:t>
            </a:r>
            <a:endParaRPr lang="en-US" sz="621" dirty="0"/>
          </a:p>
        </p:txBody>
      </p:sp>
      <p:sp>
        <p:nvSpPr>
          <p:cNvPr id="62" name="Shape 50"/>
          <p:cNvSpPr/>
          <p:nvPr/>
        </p:nvSpPr>
        <p:spPr>
          <a:xfrm>
            <a:off x="1450711" y="3805944"/>
            <a:ext cx="2857500" cy="246459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63" name="Text 51"/>
          <p:cNvSpPr/>
          <p:nvPr/>
        </p:nvSpPr>
        <p:spPr>
          <a:xfrm>
            <a:off x="3500968" y="4188135"/>
            <a:ext cx="375047" cy="22860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91" dirty="0">
                <a:solidFill>
                  <a:srgbClr val="94A3B8"/>
                </a:solidFill>
              </a:rPr>
              <a:t>취소</a:t>
            </a:r>
            <a:endParaRPr lang="en-US" sz="691" dirty="0"/>
          </a:p>
        </p:txBody>
      </p:sp>
      <p:sp>
        <p:nvSpPr>
          <p:cNvPr id="64" name="Shape 52"/>
          <p:cNvSpPr/>
          <p:nvPr/>
        </p:nvSpPr>
        <p:spPr>
          <a:xfrm>
            <a:off x="3947452" y="4188135"/>
            <a:ext cx="360759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5" name="Text 53"/>
          <p:cNvSpPr/>
          <p:nvPr/>
        </p:nvSpPr>
        <p:spPr>
          <a:xfrm>
            <a:off x="3947452" y="4188135"/>
            <a:ext cx="360759" cy="22860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91" dirty="0">
                <a:solidFill>
                  <a:srgbClr val="FFFFFF"/>
                </a:solidFill>
              </a:rPr>
              <a:t>등록</a:t>
            </a:r>
            <a:endParaRPr lang="en-US" sz="691" dirty="0"/>
          </a:p>
        </p:txBody>
      </p:sp>
      <p:sp>
        <p:nvSpPr>
          <p:cNvPr id="66" name="Shape 54"/>
          <p:cNvSpPr/>
          <p:nvPr/>
        </p:nvSpPr>
        <p:spPr>
          <a:xfrm>
            <a:off x="5616076" y="1357313"/>
            <a:ext cx="3242174" cy="139158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3232" y="1489472"/>
            <a:ext cx="114300" cy="114300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5908970" y="1464469"/>
            <a:ext cx="10695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권한 매트릭스 (RBAC)</a:t>
            </a:r>
            <a:endParaRPr lang="en-US" sz="784" dirty="0"/>
          </a:p>
        </p:txBody>
      </p:sp>
      <p:sp>
        <p:nvSpPr>
          <p:cNvPr id="69" name="Shape 56"/>
          <p:cNvSpPr/>
          <p:nvPr/>
        </p:nvSpPr>
        <p:spPr>
          <a:xfrm>
            <a:off x="5726804" y="1703784"/>
            <a:ext cx="610930" cy="23002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0" name="Text 57"/>
          <p:cNvSpPr/>
          <p:nvPr/>
        </p:nvSpPr>
        <p:spPr>
          <a:xfrm>
            <a:off x="5726804" y="1703784"/>
            <a:ext cx="610930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Role</a:t>
            </a:r>
            <a:endParaRPr lang="en-US" sz="584" dirty="0"/>
          </a:p>
        </p:txBody>
      </p:sp>
      <p:sp>
        <p:nvSpPr>
          <p:cNvPr id="71" name="Shape 58"/>
          <p:cNvSpPr/>
          <p:nvPr/>
        </p:nvSpPr>
        <p:spPr>
          <a:xfrm>
            <a:off x="6337734" y="1703784"/>
            <a:ext cx="740159" cy="23002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2" name="Text 59"/>
          <p:cNvSpPr/>
          <p:nvPr/>
        </p:nvSpPr>
        <p:spPr>
          <a:xfrm>
            <a:off x="6337734" y="1703784"/>
            <a:ext cx="740159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Scope</a:t>
            </a:r>
            <a:endParaRPr lang="en-US" sz="584" dirty="0"/>
          </a:p>
        </p:txBody>
      </p:sp>
      <p:sp>
        <p:nvSpPr>
          <p:cNvPr id="73" name="Shape 60"/>
          <p:cNvSpPr/>
          <p:nvPr/>
        </p:nvSpPr>
        <p:spPr>
          <a:xfrm>
            <a:off x="7077894" y="1703784"/>
            <a:ext cx="1669628" cy="23002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4" name="Text 61"/>
          <p:cNvSpPr/>
          <p:nvPr/>
        </p:nvSpPr>
        <p:spPr>
          <a:xfrm>
            <a:off x="7077894" y="1703784"/>
            <a:ext cx="1669628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주요 권한</a:t>
            </a:r>
            <a:endParaRPr lang="en-US" sz="584" dirty="0"/>
          </a:p>
        </p:txBody>
      </p:sp>
      <p:sp>
        <p:nvSpPr>
          <p:cNvPr id="75" name="Text 62"/>
          <p:cNvSpPr/>
          <p:nvPr/>
        </p:nvSpPr>
        <p:spPr>
          <a:xfrm>
            <a:off x="5726804" y="1926664"/>
            <a:ext cx="610930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F4444"/>
                </a:solidFill>
              </a:rPr>
              <a:t>SUPER</a:t>
            </a:r>
            <a:endParaRPr lang="en-US" sz="621" dirty="0"/>
          </a:p>
        </p:txBody>
      </p:sp>
      <p:sp>
        <p:nvSpPr>
          <p:cNvPr id="76" name="Text 63"/>
          <p:cNvSpPr/>
          <p:nvPr/>
        </p:nvSpPr>
        <p:spPr>
          <a:xfrm>
            <a:off x="6337734" y="1926664"/>
            <a:ext cx="740159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전체</a:t>
            </a:r>
            <a:endParaRPr lang="en-US" sz="621" dirty="0"/>
          </a:p>
        </p:txBody>
      </p:sp>
      <p:sp>
        <p:nvSpPr>
          <p:cNvPr id="77" name="Text 64"/>
          <p:cNvSpPr/>
          <p:nvPr/>
        </p:nvSpPr>
        <p:spPr>
          <a:xfrm>
            <a:off x="7077894" y="1926664"/>
            <a:ext cx="1669628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관리자 생성, 시스템 설정</a:t>
            </a:r>
            <a:endParaRPr lang="en-US" sz="621" dirty="0"/>
          </a:p>
        </p:txBody>
      </p:sp>
      <p:sp>
        <p:nvSpPr>
          <p:cNvPr id="78" name="Text 65"/>
          <p:cNvSpPr/>
          <p:nvPr/>
        </p:nvSpPr>
        <p:spPr>
          <a:xfrm>
            <a:off x="5726804" y="2156687"/>
            <a:ext cx="610930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HQ</a:t>
            </a:r>
            <a:endParaRPr lang="en-US" sz="621" dirty="0"/>
          </a:p>
        </p:txBody>
      </p:sp>
      <p:sp>
        <p:nvSpPr>
          <p:cNvPr id="79" name="Text 66"/>
          <p:cNvSpPr/>
          <p:nvPr/>
        </p:nvSpPr>
        <p:spPr>
          <a:xfrm>
            <a:off x="6337734" y="2156687"/>
            <a:ext cx="740159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전사</a:t>
            </a:r>
            <a:endParaRPr lang="en-US" sz="621" dirty="0"/>
          </a:p>
        </p:txBody>
      </p:sp>
      <p:sp>
        <p:nvSpPr>
          <p:cNvPr id="80" name="Text 67"/>
          <p:cNvSpPr/>
          <p:nvPr/>
        </p:nvSpPr>
        <p:spPr>
          <a:xfrm>
            <a:off x="7077894" y="2156687"/>
            <a:ext cx="1669628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현장 생성, 정산 승인</a:t>
            </a:r>
            <a:endParaRPr lang="en-US" sz="621" dirty="0"/>
          </a:p>
        </p:txBody>
      </p:sp>
      <p:sp>
        <p:nvSpPr>
          <p:cNvPr id="81" name="Text 68"/>
          <p:cNvSpPr/>
          <p:nvPr/>
        </p:nvSpPr>
        <p:spPr>
          <a:xfrm>
            <a:off x="5726804" y="2386710"/>
            <a:ext cx="610930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SITE</a:t>
            </a:r>
            <a:endParaRPr lang="en-US" sz="621" dirty="0"/>
          </a:p>
        </p:txBody>
      </p:sp>
      <p:sp>
        <p:nvSpPr>
          <p:cNvPr id="82" name="Text 69"/>
          <p:cNvSpPr/>
          <p:nvPr/>
        </p:nvSpPr>
        <p:spPr>
          <a:xfrm>
            <a:off x="6337734" y="2386710"/>
            <a:ext cx="740159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배정 현장</a:t>
            </a:r>
            <a:endParaRPr lang="en-US" sz="621" dirty="0"/>
          </a:p>
        </p:txBody>
      </p:sp>
      <p:sp>
        <p:nvSpPr>
          <p:cNvPr id="83" name="Text 70"/>
          <p:cNvSpPr/>
          <p:nvPr/>
        </p:nvSpPr>
        <p:spPr>
          <a:xfrm>
            <a:off x="7077894" y="2386710"/>
            <a:ext cx="1669628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출역 관리, 노무자 계약</a:t>
            </a:r>
            <a:endParaRPr lang="en-US" sz="621" dirty="0"/>
          </a:p>
        </p:txBody>
      </p:sp>
      <p:sp>
        <p:nvSpPr>
          <p:cNvPr id="84" name="Shape 71"/>
          <p:cNvSpPr/>
          <p:nvPr/>
        </p:nvSpPr>
        <p:spPr>
          <a:xfrm>
            <a:off x="5616076" y="2870336"/>
            <a:ext cx="3242174" cy="91004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23232" y="3002496"/>
            <a:ext cx="142875" cy="114300"/>
          </a:xfrm>
          <a:prstGeom prst="rect">
            <a:avLst/>
          </a:prstGeom>
        </p:spPr>
      </p:pic>
      <p:sp>
        <p:nvSpPr>
          <p:cNvPr id="86" name="Text 72"/>
          <p:cNvSpPr/>
          <p:nvPr/>
        </p:nvSpPr>
        <p:spPr>
          <a:xfrm>
            <a:off x="5937545" y="2977493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계정 생성 로직</a:t>
            </a:r>
            <a:endParaRPr lang="en-US" sz="784" dirty="0"/>
          </a:p>
        </p:txBody>
      </p:sp>
      <p:sp>
        <p:nvSpPr>
          <p:cNvPr id="87" name="Text 73"/>
          <p:cNvSpPr/>
          <p:nvPr/>
        </p:nvSpPr>
        <p:spPr>
          <a:xfrm>
            <a:off x="5723232" y="3213236"/>
            <a:ext cx="3027862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이메일 중복 체크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가입된 이메일 여부 확인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비밀번호 초기화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생성 시 임시 비밀번호 발급 및 이메일 발송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현장 매핑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Site Admin은 반드시 1개 이상의 현장과 매핑되어야 함</a:t>
            </a:r>
            <a:endParaRPr lang="en-US" sz="674" dirty="0"/>
          </a:p>
        </p:txBody>
      </p:sp>
      <p:sp>
        <p:nvSpPr>
          <p:cNvPr id="88" name="Shape 74"/>
          <p:cNvSpPr/>
          <p:nvPr/>
        </p:nvSpPr>
        <p:spPr>
          <a:xfrm>
            <a:off x="5616076" y="3908971"/>
            <a:ext cx="3242174" cy="99546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23232" y="4036665"/>
            <a:ext cx="142875" cy="114300"/>
          </a:xfrm>
          <a:prstGeom prst="rect">
            <a:avLst/>
          </a:prstGeom>
        </p:spPr>
      </p:pic>
      <p:sp>
        <p:nvSpPr>
          <p:cNvPr id="90" name="Text 75"/>
          <p:cNvSpPr/>
          <p:nvPr/>
        </p:nvSpPr>
        <p:spPr>
          <a:xfrm>
            <a:off x="5937545" y="4016127"/>
            <a:ext cx="95851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API Specification</a:t>
            </a:r>
            <a:endParaRPr lang="en-US" sz="784" dirty="0"/>
          </a:p>
        </p:txBody>
      </p:sp>
      <p:sp>
        <p:nvSpPr>
          <p:cNvPr id="91" name="Shape 76"/>
          <p:cNvSpPr/>
          <p:nvPr/>
        </p:nvSpPr>
        <p:spPr>
          <a:xfrm>
            <a:off x="5723232" y="4242941"/>
            <a:ext cx="3027862" cy="540051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92" name="Text 77"/>
          <p:cNvSpPr/>
          <p:nvPr/>
        </p:nvSpPr>
        <p:spPr>
          <a:xfrm>
            <a:off x="5723232" y="4242941"/>
            <a:ext cx="3027862" cy="54005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/api/admin/users { "email": "user@domain.com", "name": "홍길동", "role": "ROLE_SITE_ADMIN", "siteId": 101 }</a:t>
            </a:r>
            <a:endParaRPr lang="en-US" sz="62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63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현장 대시보드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 관리자용 모바일 메인 화면: 날씨, 출역 현황, 공지사항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11988" y="1357313"/>
            <a:ext cx="2400300" cy="3671888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40813" y="192881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40813" y="192881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40813" y="250031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40813" y="250031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40813" y="35004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40813" y="35004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69138" y="1357313"/>
            <a:ext cx="2286000" cy="35575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69138" y="1357313"/>
            <a:ext cx="2286000" cy="37861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976294" y="1464469"/>
            <a:ext cx="79555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강남 더샵 팰리스</a:t>
            </a:r>
            <a:endParaRPr lang="en-US" sz="784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969" y="1489472"/>
            <a:ext cx="100013" cy="1143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54863" y="1821656"/>
            <a:ext cx="2114550" cy="53220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8" y="2002036"/>
            <a:ext cx="171450" cy="171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3475" y="1907381"/>
            <a:ext cx="55232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4155"/>
                </a:solidFill>
              </a:rPr>
              <a:t>24°C</a:t>
            </a:r>
            <a:endParaRPr lang="en-US" sz="1193" dirty="0"/>
          </a:p>
        </p:txBody>
      </p:sp>
      <p:sp>
        <p:nvSpPr>
          <p:cNvPr id="21" name="Text 16"/>
          <p:cNvSpPr/>
          <p:nvPr/>
        </p:nvSpPr>
        <p:spPr>
          <a:xfrm>
            <a:off x="1283475" y="2141339"/>
            <a:ext cx="55232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맑음, 습도 45%</a:t>
            </a:r>
            <a:endParaRPr lang="en-US" sz="621" dirty="0"/>
          </a:p>
        </p:txBody>
      </p:sp>
      <p:sp>
        <p:nvSpPr>
          <p:cNvPr id="22" name="Text 17"/>
          <p:cNvSpPr/>
          <p:nvPr/>
        </p:nvSpPr>
        <p:spPr>
          <a:xfrm>
            <a:off x="2601776" y="1973461"/>
            <a:ext cx="3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서울 강남구</a:t>
            </a:r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
</a:t>
            </a:r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10:30 기준</a:t>
            </a:r>
            <a:endParaRPr lang="en-US" sz="568" dirty="0"/>
          </a:p>
        </p:txBody>
      </p:sp>
      <p:sp>
        <p:nvSpPr>
          <p:cNvPr id="23" name="Shape 18"/>
          <p:cNvSpPr/>
          <p:nvPr/>
        </p:nvSpPr>
        <p:spPr>
          <a:xfrm>
            <a:off x="954863" y="2439591"/>
            <a:ext cx="1028700" cy="5411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9"/>
          <p:cNvSpPr/>
          <p:nvPr/>
        </p:nvSpPr>
        <p:spPr>
          <a:xfrm>
            <a:off x="1040588" y="2525316"/>
            <a:ext cx="857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총 출역</a:t>
            </a:r>
            <a:endParaRPr lang="en-US" sz="621" dirty="0"/>
          </a:p>
        </p:txBody>
      </p:sp>
      <p:sp>
        <p:nvSpPr>
          <p:cNvPr id="25" name="Text 20"/>
          <p:cNvSpPr/>
          <p:nvPr/>
        </p:nvSpPr>
        <p:spPr>
          <a:xfrm>
            <a:off x="1040588" y="2687836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45명</a:t>
            </a:r>
            <a:endParaRPr lang="en-US" sz="987" dirty="0"/>
          </a:p>
        </p:txBody>
      </p:sp>
      <p:sp>
        <p:nvSpPr>
          <p:cNvPr id="26" name="Shape 21"/>
          <p:cNvSpPr/>
          <p:nvPr/>
        </p:nvSpPr>
        <p:spPr>
          <a:xfrm>
            <a:off x="2040713" y="2439591"/>
            <a:ext cx="1028700" cy="5411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2"/>
          <p:cNvSpPr/>
          <p:nvPr/>
        </p:nvSpPr>
        <p:spPr>
          <a:xfrm>
            <a:off x="2126438" y="2525316"/>
            <a:ext cx="857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승인 대기</a:t>
            </a:r>
            <a:endParaRPr lang="en-US" sz="621" dirty="0"/>
          </a:p>
        </p:txBody>
      </p:sp>
      <p:sp>
        <p:nvSpPr>
          <p:cNvPr id="28" name="Text 23"/>
          <p:cNvSpPr/>
          <p:nvPr/>
        </p:nvSpPr>
        <p:spPr>
          <a:xfrm>
            <a:off x="2126438" y="2687836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F4444"/>
                </a:solidFill>
              </a:rPr>
              <a:t>5명</a:t>
            </a:r>
            <a:endParaRPr lang="en-US" sz="987" dirty="0"/>
          </a:p>
        </p:txBody>
      </p:sp>
      <p:sp>
        <p:nvSpPr>
          <p:cNvPr id="29" name="Shape 24"/>
          <p:cNvSpPr/>
          <p:nvPr/>
        </p:nvSpPr>
        <p:spPr>
          <a:xfrm>
            <a:off x="954863" y="3066455"/>
            <a:ext cx="2114550" cy="1762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5"/>
          <p:cNvSpPr/>
          <p:nvPr/>
        </p:nvSpPr>
        <p:spPr>
          <a:xfrm>
            <a:off x="1026300" y="3137892"/>
            <a:ext cx="57808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현장 공지사항</a:t>
            </a:r>
            <a:endParaRPr lang="en-US" sz="683" dirty="0"/>
          </a:p>
        </p:txBody>
      </p:sp>
      <p:sp>
        <p:nvSpPr>
          <p:cNvPr id="31" name="Text 26"/>
          <p:cNvSpPr/>
          <p:nvPr/>
        </p:nvSpPr>
        <p:spPr>
          <a:xfrm>
            <a:off x="2715685" y="3137892"/>
            <a:ext cx="282290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더보기 &gt;</a:t>
            </a:r>
            <a:endParaRPr lang="en-US" sz="534" dirty="0"/>
          </a:p>
        </p:txBody>
      </p:sp>
      <p:sp>
        <p:nvSpPr>
          <p:cNvPr id="32" name="Shape 27"/>
          <p:cNvSpPr/>
          <p:nvPr/>
        </p:nvSpPr>
        <p:spPr>
          <a:xfrm>
            <a:off x="1026300" y="3396853"/>
            <a:ext cx="217187" cy="132159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28"/>
          <p:cNvSpPr/>
          <p:nvPr/>
        </p:nvSpPr>
        <p:spPr>
          <a:xfrm>
            <a:off x="1026300" y="3396853"/>
            <a:ext cx="217187" cy="132159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필독</a:t>
            </a:r>
            <a:endParaRPr lang="en-US" sz="516" dirty="0"/>
          </a:p>
        </p:txBody>
      </p:sp>
      <p:sp>
        <p:nvSpPr>
          <p:cNvPr id="34" name="Text 29"/>
          <p:cNvSpPr/>
          <p:nvPr/>
        </p:nvSpPr>
        <p:spPr>
          <a:xfrm>
            <a:off x="1300637" y="3396853"/>
            <a:ext cx="117084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E293B"/>
                </a:solidFill>
              </a:rPr>
              <a:t>[안전] 동절기 콘크리트 타설 주의</a:t>
            </a:r>
            <a:endParaRPr lang="en-US" sz="621" dirty="0"/>
          </a:p>
        </p:txBody>
      </p:sp>
      <p:sp>
        <p:nvSpPr>
          <p:cNvPr id="35" name="Shape 30"/>
          <p:cNvSpPr/>
          <p:nvPr/>
        </p:nvSpPr>
        <p:spPr>
          <a:xfrm>
            <a:off x="1026300" y="3650456"/>
            <a:ext cx="217187" cy="132159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1"/>
          <p:cNvSpPr/>
          <p:nvPr/>
        </p:nvSpPr>
        <p:spPr>
          <a:xfrm>
            <a:off x="1026300" y="3650456"/>
            <a:ext cx="217187" cy="132159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공지</a:t>
            </a:r>
            <a:endParaRPr lang="en-US" sz="516" dirty="0"/>
          </a:p>
        </p:txBody>
      </p:sp>
      <p:sp>
        <p:nvSpPr>
          <p:cNvPr id="37" name="Text 32"/>
          <p:cNvSpPr/>
          <p:nvPr/>
        </p:nvSpPr>
        <p:spPr>
          <a:xfrm>
            <a:off x="1300637" y="3650456"/>
            <a:ext cx="97900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E293B"/>
                </a:solidFill>
              </a:rPr>
              <a:t>설 연휴 기간 작업 일정 안내</a:t>
            </a:r>
            <a:endParaRPr lang="en-US" sz="621" dirty="0"/>
          </a:p>
        </p:txBody>
      </p:sp>
      <p:sp>
        <p:nvSpPr>
          <p:cNvPr id="38" name="Shape 33"/>
          <p:cNvSpPr/>
          <p:nvPr/>
        </p:nvSpPr>
        <p:spPr>
          <a:xfrm>
            <a:off x="4024303" y="1357313"/>
            <a:ext cx="4833919" cy="10111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124316" y="148054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35"/>
          <p:cNvSpPr/>
          <p:nvPr/>
        </p:nvSpPr>
        <p:spPr>
          <a:xfrm>
            <a:off x="4124316" y="1480542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41" name="Text 36"/>
          <p:cNvSpPr/>
          <p:nvPr/>
        </p:nvSpPr>
        <p:spPr>
          <a:xfrm>
            <a:off x="4395778" y="1457325"/>
            <a:ext cx="166895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날씨 정보 (Weather Widget)</a:t>
            </a:r>
            <a:endParaRPr lang="en-US" sz="885" dirty="0"/>
          </a:p>
        </p:txBody>
      </p:sp>
      <p:sp>
        <p:nvSpPr>
          <p:cNvPr id="42" name="Text 37"/>
          <p:cNvSpPr/>
          <p:nvPr/>
        </p:nvSpPr>
        <p:spPr>
          <a:xfrm>
            <a:off x="4124316" y="1703784"/>
            <a:ext cx="46338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데이터 소스: 기상청 또는 OpenWeatherMap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갱신: 30분 캐싱 (Redis)</a:t>
            </a:r>
            <a:endParaRPr lang="en-US" sz="727" dirty="0"/>
          </a:p>
        </p:txBody>
      </p:sp>
      <p:sp>
        <p:nvSpPr>
          <p:cNvPr id="43" name="Shape 38"/>
          <p:cNvSpPr/>
          <p:nvPr/>
        </p:nvSpPr>
        <p:spPr>
          <a:xfrm>
            <a:off x="4124316" y="2080952"/>
            <a:ext cx="1987162" cy="173236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4" name="Text 39"/>
          <p:cNvSpPr/>
          <p:nvPr/>
        </p:nvSpPr>
        <p:spPr>
          <a:xfrm>
            <a:off x="4124316" y="2080952"/>
            <a:ext cx="1987162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/api/common/weather?lat={lat}&amp;lon={lon}</a:t>
            </a:r>
            <a:endParaRPr lang="en-US" sz="621" dirty="0"/>
          </a:p>
        </p:txBody>
      </p:sp>
      <p:sp>
        <p:nvSpPr>
          <p:cNvPr id="45" name="Shape 40"/>
          <p:cNvSpPr/>
          <p:nvPr/>
        </p:nvSpPr>
        <p:spPr>
          <a:xfrm>
            <a:off x="4024303" y="2439925"/>
            <a:ext cx="4833919" cy="10111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4124316" y="256315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Text 42"/>
          <p:cNvSpPr/>
          <p:nvPr/>
        </p:nvSpPr>
        <p:spPr>
          <a:xfrm>
            <a:off x="4124316" y="2563155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48" name="Text 43"/>
          <p:cNvSpPr/>
          <p:nvPr/>
        </p:nvSpPr>
        <p:spPr>
          <a:xfrm>
            <a:off x="4395778" y="2539938"/>
            <a:ext cx="173143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금일 출역 현황 (Today's Stats)</a:t>
            </a:r>
            <a:endParaRPr lang="en-US" sz="885" dirty="0"/>
          </a:p>
        </p:txBody>
      </p:sp>
      <p:sp>
        <p:nvSpPr>
          <p:cNvPr id="49" name="Text 44"/>
          <p:cNvSpPr/>
          <p:nvPr/>
        </p:nvSpPr>
        <p:spPr>
          <a:xfrm>
            <a:off x="4124316" y="2786397"/>
            <a:ext cx="46338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집계: 당일 00:00~현재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승인 대기: 팀장 요청 중 미승인 건수</a:t>
            </a:r>
            <a:endParaRPr lang="en-US" sz="727" dirty="0"/>
          </a:p>
        </p:txBody>
      </p:sp>
      <p:sp>
        <p:nvSpPr>
          <p:cNvPr id="50" name="Shape 45"/>
          <p:cNvSpPr/>
          <p:nvPr/>
        </p:nvSpPr>
        <p:spPr>
          <a:xfrm>
            <a:off x="4124316" y="3163565"/>
            <a:ext cx="1313362" cy="173236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51" name="Text 46"/>
          <p:cNvSpPr/>
          <p:nvPr/>
        </p:nvSpPr>
        <p:spPr>
          <a:xfrm>
            <a:off x="4124316" y="3163565"/>
            <a:ext cx="1313362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/api/site/dashboard/stats</a:t>
            </a:r>
            <a:endParaRPr lang="en-US" sz="621" dirty="0"/>
          </a:p>
        </p:txBody>
      </p:sp>
      <p:sp>
        <p:nvSpPr>
          <p:cNvPr id="52" name="Shape 47"/>
          <p:cNvSpPr/>
          <p:nvPr/>
        </p:nvSpPr>
        <p:spPr>
          <a:xfrm>
            <a:off x="4024303" y="3522538"/>
            <a:ext cx="4833919" cy="10111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4124316" y="364576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4" name="Text 49"/>
          <p:cNvSpPr/>
          <p:nvPr/>
        </p:nvSpPr>
        <p:spPr>
          <a:xfrm>
            <a:off x="4124316" y="364576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55" name="Text 50"/>
          <p:cNvSpPr/>
          <p:nvPr/>
        </p:nvSpPr>
        <p:spPr>
          <a:xfrm>
            <a:off x="4395778" y="3622551"/>
            <a:ext cx="107898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공지사항 (Notices)</a:t>
            </a:r>
            <a:endParaRPr lang="en-US" sz="885" dirty="0"/>
          </a:p>
        </p:txBody>
      </p:sp>
      <p:sp>
        <p:nvSpPr>
          <p:cNvPr id="56" name="Text 51"/>
          <p:cNvSpPr/>
          <p:nvPr/>
        </p:nvSpPr>
        <p:spPr>
          <a:xfrm>
            <a:off x="4124316" y="3869010"/>
            <a:ext cx="46338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필터: 본사 전체 + 해당 현장 공지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UI: 최근 3건 노출(클릭 시 상세 팝업)</a:t>
            </a:r>
            <a:endParaRPr lang="en-US" sz="727" dirty="0"/>
          </a:p>
        </p:txBody>
      </p:sp>
      <p:sp>
        <p:nvSpPr>
          <p:cNvPr id="57" name="Shape 52"/>
          <p:cNvSpPr/>
          <p:nvPr/>
        </p:nvSpPr>
        <p:spPr>
          <a:xfrm>
            <a:off x="4124316" y="4246178"/>
            <a:ext cx="1256602" cy="173236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58" name="Text 53"/>
          <p:cNvSpPr/>
          <p:nvPr/>
        </p:nvSpPr>
        <p:spPr>
          <a:xfrm>
            <a:off x="4124316" y="4246178"/>
            <a:ext cx="1256602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/api/site/notices?limit=3</a:t>
            </a:r>
            <a:endParaRPr lang="en-US" sz="62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14438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실시간 출역 모니터링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GPS 및 안면인식 기반 실시간 출근/퇴근 현황 확인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0078" y="1300163"/>
            <a:ext cx="2371725" cy="3371850"/>
          </a:xfrm>
          <a:prstGeom prst="rect">
            <a:avLst/>
          </a:prstGeom>
          <a:solidFill>
            <a:srgbClr val="000000"/>
          </a:solidFill>
          <a:ln w="45720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78903" y="20859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78903" y="20859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78903" y="26574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78903" y="26574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78903" y="32289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78903" y="32289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92941" y="1300163"/>
            <a:ext cx="2286000" cy="32861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92941" y="1300163"/>
            <a:ext cx="2286000" cy="30718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78" y="1396603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31007" y="1371600"/>
            <a:ext cx="79555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실시간 출역 현황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175" y="1396603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92941" y="1607344"/>
            <a:ext cx="2286000" cy="2803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92941" y="1880592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6"/>
          <p:cNvSpPr/>
          <p:nvPr/>
        </p:nvSpPr>
        <p:spPr>
          <a:xfrm>
            <a:off x="892941" y="1607344"/>
            <a:ext cx="762009" cy="273248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출근 (45)</a:t>
            </a:r>
            <a:endParaRPr lang="en-US" sz="683" dirty="0"/>
          </a:p>
        </p:txBody>
      </p:sp>
      <p:sp>
        <p:nvSpPr>
          <p:cNvPr id="22" name="Text 17"/>
          <p:cNvSpPr/>
          <p:nvPr/>
        </p:nvSpPr>
        <p:spPr>
          <a:xfrm>
            <a:off x="1654950" y="1607344"/>
            <a:ext cx="762009" cy="273248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퇴근 (0)</a:t>
            </a:r>
            <a:endParaRPr lang="en-US" sz="727" dirty="0"/>
          </a:p>
        </p:txBody>
      </p:sp>
      <p:sp>
        <p:nvSpPr>
          <p:cNvPr id="23" name="Text 18"/>
          <p:cNvSpPr/>
          <p:nvPr/>
        </p:nvSpPr>
        <p:spPr>
          <a:xfrm>
            <a:off x="2416959" y="1607344"/>
            <a:ext cx="762009" cy="273248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미출근 (5)</a:t>
            </a:r>
            <a:endParaRPr lang="en-US" sz="727" dirty="0"/>
          </a:p>
        </p:txBody>
      </p:sp>
      <p:sp>
        <p:nvSpPr>
          <p:cNvPr id="24" name="Shape 19"/>
          <p:cNvSpPr/>
          <p:nvPr/>
        </p:nvSpPr>
        <p:spPr>
          <a:xfrm>
            <a:off x="935803" y="1923455"/>
            <a:ext cx="2200275" cy="4054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992953" y="1997571"/>
            <a:ext cx="257175" cy="257175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535" y="2069009"/>
            <a:ext cx="100013" cy="1143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21566" y="1990427"/>
            <a:ext cx="119275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김철수</a:t>
            </a:r>
            <a:endParaRPr lang="en-US" sz="683" dirty="0"/>
          </a:p>
        </p:txBody>
      </p:sp>
      <p:sp>
        <p:nvSpPr>
          <p:cNvPr id="28" name="Text 22"/>
          <p:cNvSpPr/>
          <p:nvPr/>
        </p:nvSpPr>
        <p:spPr>
          <a:xfrm>
            <a:off x="1321566" y="2135088"/>
            <a:ext cx="11927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조적공 | A팀</a:t>
            </a:r>
            <a:endParaRPr lang="en-US" sz="621" dirty="0"/>
          </a:p>
        </p:txBody>
      </p:sp>
      <p:sp>
        <p:nvSpPr>
          <p:cNvPr id="29" name="Text 23"/>
          <p:cNvSpPr/>
          <p:nvPr/>
        </p:nvSpPr>
        <p:spPr>
          <a:xfrm>
            <a:off x="2585758" y="1980605"/>
            <a:ext cx="4931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06:45</a:t>
            </a:r>
            <a:endParaRPr lang="en-US" sz="683" dirty="0"/>
          </a:p>
        </p:txBody>
      </p:sp>
      <p:sp>
        <p:nvSpPr>
          <p:cNvPr id="30" name="Shape 24"/>
          <p:cNvSpPr/>
          <p:nvPr/>
        </p:nvSpPr>
        <p:spPr>
          <a:xfrm>
            <a:off x="2585758" y="2144911"/>
            <a:ext cx="221121" cy="12680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1" name="Text 25"/>
          <p:cNvSpPr/>
          <p:nvPr/>
        </p:nvSpPr>
        <p:spPr>
          <a:xfrm>
            <a:off x="2585758" y="2144911"/>
            <a:ext cx="221121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66534"/>
                </a:solidFill>
              </a:rPr>
              <a:t>GPS</a:t>
            </a:r>
            <a:endParaRPr lang="en-US" sz="485" dirty="0"/>
          </a:p>
        </p:txBody>
      </p:sp>
      <p:sp>
        <p:nvSpPr>
          <p:cNvPr id="32" name="Shape 26"/>
          <p:cNvSpPr/>
          <p:nvPr/>
        </p:nvSpPr>
        <p:spPr>
          <a:xfrm>
            <a:off x="2835455" y="2144911"/>
            <a:ext cx="243474" cy="12680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3" name="Text 27"/>
          <p:cNvSpPr/>
          <p:nvPr/>
        </p:nvSpPr>
        <p:spPr>
          <a:xfrm>
            <a:off x="2835455" y="2144911"/>
            <a:ext cx="243474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66534"/>
                </a:solidFill>
              </a:rPr>
              <a:t>Face</a:t>
            </a:r>
            <a:endParaRPr lang="en-US" sz="485" dirty="0"/>
          </a:p>
        </p:txBody>
      </p:sp>
      <p:sp>
        <p:nvSpPr>
          <p:cNvPr id="34" name="Shape 28"/>
          <p:cNvSpPr/>
          <p:nvPr/>
        </p:nvSpPr>
        <p:spPr>
          <a:xfrm>
            <a:off x="935803" y="2386013"/>
            <a:ext cx="2200275" cy="4054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9"/>
          <p:cNvSpPr/>
          <p:nvPr/>
        </p:nvSpPr>
        <p:spPr>
          <a:xfrm>
            <a:off x="992953" y="2460129"/>
            <a:ext cx="257175" cy="257175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35" y="2531566"/>
            <a:ext cx="100013" cy="1143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321566" y="2452985"/>
            <a:ext cx="115982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이영희</a:t>
            </a:r>
            <a:endParaRPr lang="en-US" sz="683" dirty="0"/>
          </a:p>
        </p:txBody>
      </p:sp>
      <p:sp>
        <p:nvSpPr>
          <p:cNvPr id="38" name="Text 31"/>
          <p:cNvSpPr/>
          <p:nvPr/>
        </p:nvSpPr>
        <p:spPr>
          <a:xfrm>
            <a:off x="1321566" y="2597646"/>
            <a:ext cx="115982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미장공 | B팀</a:t>
            </a:r>
            <a:endParaRPr lang="en-US" sz="621" dirty="0"/>
          </a:p>
        </p:txBody>
      </p:sp>
      <p:sp>
        <p:nvSpPr>
          <p:cNvPr id="39" name="Text 32"/>
          <p:cNvSpPr/>
          <p:nvPr/>
        </p:nvSpPr>
        <p:spPr>
          <a:xfrm>
            <a:off x="2552830" y="2443163"/>
            <a:ext cx="5260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06:52</a:t>
            </a:r>
            <a:endParaRPr lang="en-US" sz="683" dirty="0"/>
          </a:p>
        </p:txBody>
      </p:sp>
      <p:sp>
        <p:nvSpPr>
          <p:cNvPr id="40" name="Shape 33"/>
          <p:cNvSpPr/>
          <p:nvPr/>
        </p:nvSpPr>
        <p:spPr>
          <a:xfrm>
            <a:off x="2552830" y="2607469"/>
            <a:ext cx="254050" cy="12680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1" name="Text 34"/>
          <p:cNvSpPr/>
          <p:nvPr/>
        </p:nvSpPr>
        <p:spPr>
          <a:xfrm>
            <a:off x="2552830" y="2607469"/>
            <a:ext cx="254050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92400E"/>
                </a:solidFill>
              </a:rPr>
              <a:t>GPS?</a:t>
            </a:r>
            <a:endParaRPr lang="en-US" sz="485" dirty="0"/>
          </a:p>
        </p:txBody>
      </p:sp>
      <p:sp>
        <p:nvSpPr>
          <p:cNvPr id="42" name="Shape 35"/>
          <p:cNvSpPr/>
          <p:nvPr/>
        </p:nvSpPr>
        <p:spPr>
          <a:xfrm>
            <a:off x="2835455" y="2607469"/>
            <a:ext cx="243474" cy="12680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36"/>
          <p:cNvSpPr/>
          <p:nvPr/>
        </p:nvSpPr>
        <p:spPr>
          <a:xfrm>
            <a:off x="2835455" y="2607469"/>
            <a:ext cx="243474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66534"/>
                </a:solidFill>
              </a:rPr>
              <a:t>Face</a:t>
            </a:r>
            <a:endParaRPr lang="en-US" sz="485" dirty="0"/>
          </a:p>
        </p:txBody>
      </p:sp>
      <p:sp>
        <p:nvSpPr>
          <p:cNvPr id="44" name="Shape 37"/>
          <p:cNvSpPr/>
          <p:nvPr/>
        </p:nvSpPr>
        <p:spPr>
          <a:xfrm>
            <a:off x="935803" y="2848570"/>
            <a:ext cx="2200275" cy="4054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8"/>
          <p:cNvSpPr/>
          <p:nvPr/>
        </p:nvSpPr>
        <p:spPr>
          <a:xfrm>
            <a:off x="992953" y="2922687"/>
            <a:ext cx="257175" cy="257175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535" y="2994124"/>
            <a:ext cx="100013" cy="11430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321566" y="2915543"/>
            <a:ext cx="115982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박민수</a:t>
            </a:r>
            <a:endParaRPr lang="en-US" sz="683" dirty="0"/>
          </a:p>
        </p:txBody>
      </p:sp>
      <p:sp>
        <p:nvSpPr>
          <p:cNvPr id="48" name="Text 40"/>
          <p:cNvSpPr/>
          <p:nvPr/>
        </p:nvSpPr>
        <p:spPr>
          <a:xfrm>
            <a:off x="1321566" y="3060204"/>
            <a:ext cx="115982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용접공 | A팀</a:t>
            </a:r>
            <a:endParaRPr lang="en-US" sz="621" dirty="0"/>
          </a:p>
        </p:txBody>
      </p:sp>
      <p:sp>
        <p:nvSpPr>
          <p:cNvPr id="49" name="Text 41"/>
          <p:cNvSpPr/>
          <p:nvPr/>
        </p:nvSpPr>
        <p:spPr>
          <a:xfrm>
            <a:off x="2552830" y="2905720"/>
            <a:ext cx="5260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07:01</a:t>
            </a:r>
            <a:endParaRPr lang="en-US" sz="683" dirty="0"/>
          </a:p>
        </p:txBody>
      </p:sp>
      <p:sp>
        <p:nvSpPr>
          <p:cNvPr id="50" name="Shape 42"/>
          <p:cNvSpPr/>
          <p:nvPr/>
        </p:nvSpPr>
        <p:spPr>
          <a:xfrm>
            <a:off x="2552830" y="3070027"/>
            <a:ext cx="221121" cy="12680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1" name="Text 43"/>
          <p:cNvSpPr/>
          <p:nvPr/>
        </p:nvSpPr>
        <p:spPr>
          <a:xfrm>
            <a:off x="2552830" y="3070027"/>
            <a:ext cx="221121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66534"/>
                </a:solidFill>
              </a:rPr>
              <a:t>GPS</a:t>
            </a:r>
            <a:endParaRPr lang="en-US" sz="485" dirty="0"/>
          </a:p>
        </p:txBody>
      </p:sp>
      <p:sp>
        <p:nvSpPr>
          <p:cNvPr id="52" name="Shape 44"/>
          <p:cNvSpPr/>
          <p:nvPr/>
        </p:nvSpPr>
        <p:spPr>
          <a:xfrm>
            <a:off x="2802527" y="3070027"/>
            <a:ext cx="276402" cy="12680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3" name="Text 45"/>
          <p:cNvSpPr/>
          <p:nvPr/>
        </p:nvSpPr>
        <p:spPr>
          <a:xfrm>
            <a:off x="2802527" y="3070027"/>
            <a:ext cx="276402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991B1B"/>
                </a:solidFill>
              </a:rPr>
              <a:t>Face?</a:t>
            </a:r>
            <a:endParaRPr lang="en-US" sz="485" dirty="0"/>
          </a:p>
        </p:txBody>
      </p:sp>
      <p:sp>
        <p:nvSpPr>
          <p:cNvPr id="54" name="Shape 46"/>
          <p:cNvSpPr/>
          <p:nvPr/>
        </p:nvSpPr>
        <p:spPr>
          <a:xfrm>
            <a:off x="3957610" y="1300163"/>
            <a:ext cx="4900613" cy="82259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4043335" y="139481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6" name="Text 48"/>
          <p:cNvSpPr/>
          <p:nvPr/>
        </p:nvSpPr>
        <p:spPr>
          <a:xfrm>
            <a:off x="4043335" y="1394817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57" name="Text 49"/>
          <p:cNvSpPr/>
          <p:nvPr/>
        </p:nvSpPr>
        <p:spPr>
          <a:xfrm>
            <a:off x="4357660" y="1385888"/>
            <a:ext cx="174533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실시간 리스트 (Real-time List)</a:t>
            </a:r>
            <a:endParaRPr lang="en-US" sz="885" dirty="0"/>
          </a:p>
        </p:txBody>
      </p:sp>
      <p:sp>
        <p:nvSpPr>
          <p:cNvPr id="58" name="Text 50"/>
          <p:cNvSpPr/>
          <p:nvPr/>
        </p:nvSpPr>
        <p:spPr>
          <a:xfrm>
            <a:off x="4043335" y="1632347"/>
            <a:ext cx="472916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갱신: 15초 Polling 또는 WebSocket • 정렬: 최근 출근 시간 순 • 탭: 출근/퇴근/미출근 (지각)</a:t>
            </a:r>
            <a:endParaRPr lang="en-US" sz="727" dirty="0"/>
          </a:p>
        </p:txBody>
      </p:sp>
      <p:sp>
        <p:nvSpPr>
          <p:cNvPr id="59" name="Shape 51"/>
          <p:cNvSpPr/>
          <p:nvPr/>
        </p:nvSpPr>
        <p:spPr>
          <a:xfrm>
            <a:off x="4043335" y="1835218"/>
            <a:ext cx="1851152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4043335" y="1835218"/>
            <a:ext cx="1851152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/api/site/attendance/live?date={today}</a:t>
            </a:r>
            <a:endParaRPr lang="en-US" sz="621" dirty="0"/>
          </a:p>
        </p:txBody>
      </p:sp>
      <p:sp>
        <p:nvSpPr>
          <p:cNvPr id="61" name="Shape 53"/>
          <p:cNvSpPr/>
          <p:nvPr/>
        </p:nvSpPr>
        <p:spPr>
          <a:xfrm>
            <a:off x="3957610" y="2179904"/>
            <a:ext cx="4900613" cy="75221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4043335" y="227455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55"/>
          <p:cNvSpPr/>
          <p:nvPr/>
        </p:nvSpPr>
        <p:spPr>
          <a:xfrm>
            <a:off x="4043335" y="227455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64" name="Text 56"/>
          <p:cNvSpPr/>
          <p:nvPr/>
        </p:nvSpPr>
        <p:spPr>
          <a:xfrm>
            <a:off x="4357660" y="2265629"/>
            <a:ext cx="16708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유효성 검증 로직 (Validation)</a:t>
            </a:r>
            <a:endParaRPr lang="en-US" sz="885" dirty="0"/>
          </a:p>
        </p:txBody>
      </p:sp>
      <p:sp>
        <p:nvSpPr>
          <p:cNvPr id="65" name="Text 57"/>
          <p:cNvSpPr/>
          <p:nvPr/>
        </p:nvSpPr>
        <p:spPr>
          <a:xfrm>
            <a:off x="4043335" y="2512089"/>
            <a:ext cx="47291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GPS: 현장 반경(Geofence) 500m 이내 (오차 허용) • Face: 유사도 0.85 이상 • 기준 미달 시 주황/빨강 배지로 표시</a:t>
            </a:r>
            <a:endParaRPr lang="en-US" sz="727" dirty="0"/>
          </a:p>
        </p:txBody>
      </p:sp>
      <p:sp>
        <p:nvSpPr>
          <p:cNvPr id="66" name="Shape 58"/>
          <p:cNvSpPr/>
          <p:nvPr/>
        </p:nvSpPr>
        <p:spPr>
          <a:xfrm>
            <a:off x="3957610" y="3003556"/>
            <a:ext cx="4900613" cy="98260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4043335" y="309821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8" name="Text 60"/>
          <p:cNvSpPr/>
          <p:nvPr/>
        </p:nvSpPr>
        <p:spPr>
          <a:xfrm>
            <a:off x="4043335" y="309821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9" name="Text 61"/>
          <p:cNvSpPr/>
          <p:nvPr/>
        </p:nvSpPr>
        <p:spPr>
          <a:xfrm>
            <a:off x="4357660" y="3089281"/>
            <a:ext cx="11984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예외 처리 및 수동 승인</a:t>
            </a:r>
            <a:endParaRPr lang="en-US" sz="885" dirty="0"/>
          </a:p>
        </p:txBody>
      </p:sp>
      <p:sp>
        <p:nvSpPr>
          <p:cNvPr id="70" name="Text 62"/>
          <p:cNvSpPr/>
          <p:nvPr/>
        </p:nvSpPr>
        <p:spPr>
          <a:xfrm>
            <a:off x="4043335" y="3335741"/>
            <a:ext cx="47291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카드 클릭 시 상세 팝업(지도, 사진) • 관리자가 GPS/Face 오류 건 수동 승인 가능 • 본인 아님/위치 이탈 시 반려 처리</a:t>
            </a:r>
            <a:endParaRPr lang="en-US" sz="727" dirty="0"/>
          </a:p>
        </p:txBody>
      </p:sp>
      <p:sp>
        <p:nvSpPr>
          <p:cNvPr id="71" name="Shape 63"/>
          <p:cNvSpPr/>
          <p:nvPr/>
        </p:nvSpPr>
        <p:spPr>
          <a:xfrm>
            <a:off x="4043335" y="3698621"/>
            <a:ext cx="1713133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2" name="Text 64"/>
          <p:cNvSpPr/>
          <p:nvPr/>
        </p:nvSpPr>
        <p:spPr>
          <a:xfrm>
            <a:off x="4043335" y="3698621"/>
            <a:ext cx="171313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/api/site/attendance/{id}/approve</a:t>
            </a:r>
            <a:endParaRPr lang="en-US" sz="62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출역 승인 및 반려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팀장 요청 건 검토 및 일괄 승인/반려 처리 프로세스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11988" y="1514475"/>
            <a:ext cx="2400300" cy="3471863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40813" y="22145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40813" y="22145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40813" y="27860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40813" y="27860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40813" y="43005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40813" y="43005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69138" y="1571625"/>
            <a:ext cx="2286000" cy="335756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69138" y="1571625"/>
            <a:ext cx="2286000" cy="3357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863" y="1682353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59806" y="1657350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출역 승인 관리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113" y="1682353"/>
            <a:ext cx="114300" cy="1143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0575" y="1978819"/>
            <a:ext cx="88233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A팀 (조적) - 3명 대기</a:t>
            </a:r>
            <a:endParaRPr lang="en-US" sz="683" dirty="0"/>
          </a:p>
        </p:txBody>
      </p:sp>
      <p:sp>
        <p:nvSpPr>
          <p:cNvPr id="20" name="Text 15"/>
          <p:cNvSpPr/>
          <p:nvPr/>
        </p:nvSpPr>
        <p:spPr>
          <a:xfrm>
            <a:off x="2745935" y="1987748"/>
            <a:ext cx="3377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전체 선택</a:t>
            </a:r>
            <a:endParaRPr lang="en-US" sz="584" dirty="0"/>
          </a:p>
        </p:txBody>
      </p:sp>
      <p:sp>
        <p:nvSpPr>
          <p:cNvPr id="21" name="Shape 16"/>
          <p:cNvSpPr/>
          <p:nvPr/>
        </p:nvSpPr>
        <p:spPr>
          <a:xfrm>
            <a:off x="940575" y="2180630"/>
            <a:ext cx="2143125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12013" y="2302073"/>
            <a:ext cx="171450" cy="171450"/>
          </a:xfrm>
          <a:prstGeom prst="rect">
            <a:avLst/>
          </a:prstGeom>
          <a:solidFill>
            <a:srgbClr val="3B82F6"/>
          </a:solidFill>
          <a:ln w="18288">
            <a:solidFill>
              <a:srgbClr val="3B82F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588" y="2344936"/>
            <a:ext cx="85725" cy="857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26325" y="2252067"/>
            <a:ext cx="147610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김철수</a:t>
            </a:r>
            <a:endParaRPr lang="en-US" sz="683" dirty="0"/>
          </a:p>
        </p:txBody>
      </p:sp>
      <p:sp>
        <p:nvSpPr>
          <p:cNvPr id="25" name="Text 19"/>
          <p:cNvSpPr/>
          <p:nvPr/>
        </p:nvSpPr>
        <p:spPr>
          <a:xfrm>
            <a:off x="1226325" y="2396728"/>
            <a:ext cx="147610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조적공 | 1.0공수</a:t>
            </a:r>
            <a:endParaRPr lang="en-US" sz="621" dirty="0"/>
          </a:p>
        </p:txBody>
      </p:sp>
      <p:sp>
        <p:nvSpPr>
          <p:cNvPr id="26" name="Text 20"/>
          <p:cNvSpPr/>
          <p:nvPr/>
        </p:nvSpPr>
        <p:spPr>
          <a:xfrm>
            <a:off x="2773868" y="2324398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06:45</a:t>
            </a:r>
            <a:endParaRPr lang="en-US" sz="634" dirty="0"/>
          </a:p>
        </p:txBody>
      </p:sp>
      <p:sp>
        <p:nvSpPr>
          <p:cNvPr id="27" name="Shape 21"/>
          <p:cNvSpPr/>
          <p:nvPr/>
        </p:nvSpPr>
        <p:spPr>
          <a:xfrm>
            <a:off x="940575" y="2637830"/>
            <a:ext cx="2143125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012013" y="2759273"/>
            <a:ext cx="171450" cy="171450"/>
          </a:xfrm>
          <a:prstGeom prst="rect">
            <a:avLst/>
          </a:prstGeom>
          <a:solidFill>
            <a:srgbClr val="3B82F6"/>
          </a:solidFill>
          <a:ln w="18288">
            <a:solidFill>
              <a:srgbClr val="3B82F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88" y="2802136"/>
            <a:ext cx="85725" cy="8572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26325" y="2709267"/>
            <a:ext cx="147610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이영희</a:t>
            </a:r>
            <a:endParaRPr lang="en-US" sz="683" dirty="0"/>
          </a:p>
        </p:txBody>
      </p:sp>
      <p:sp>
        <p:nvSpPr>
          <p:cNvPr id="31" name="Text 24"/>
          <p:cNvSpPr/>
          <p:nvPr/>
        </p:nvSpPr>
        <p:spPr>
          <a:xfrm>
            <a:off x="1226325" y="2853928"/>
            <a:ext cx="147610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미장공 | 1.0공수</a:t>
            </a:r>
            <a:endParaRPr lang="en-US" sz="621" dirty="0"/>
          </a:p>
        </p:txBody>
      </p:sp>
      <p:sp>
        <p:nvSpPr>
          <p:cNvPr id="32" name="Text 25"/>
          <p:cNvSpPr/>
          <p:nvPr/>
        </p:nvSpPr>
        <p:spPr>
          <a:xfrm>
            <a:off x="2773868" y="2781598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06:48</a:t>
            </a:r>
            <a:endParaRPr lang="en-US" sz="634" dirty="0"/>
          </a:p>
        </p:txBody>
      </p:sp>
      <p:sp>
        <p:nvSpPr>
          <p:cNvPr id="33" name="Shape 26"/>
          <p:cNvSpPr/>
          <p:nvPr/>
        </p:nvSpPr>
        <p:spPr>
          <a:xfrm>
            <a:off x="940575" y="3095030"/>
            <a:ext cx="2143125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1254900" y="3166467"/>
            <a:ext cx="14475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박민수</a:t>
            </a:r>
            <a:endParaRPr lang="en-US" sz="683" dirty="0"/>
          </a:p>
        </p:txBody>
      </p:sp>
      <p:sp>
        <p:nvSpPr>
          <p:cNvPr id="35" name="Text 28"/>
          <p:cNvSpPr/>
          <p:nvPr/>
        </p:nvSpPr>
        <p:spPr>
          <a:xfrm>
            <a:off x="1254900" y="3311128"/>
            <a:ext cx="144753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조공 | 0.5공수</a:t>
            </a:r>
            <a:endParaRPr lang="en-US" sz="621" dirty="0"/>
          </a:p>
        </p:txBody>
      </p:sp>
      <p:sp>
        <p:nvSpPr>
          <p:cNvPr id="36" name="Text 29"/>
          <p:cNvSpPr/>
          <p:nvPr/>
        </p:nvSpPr>
        <p:spPr>
          <a:xfrm>
            <a:off x="2773868" y="3238798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07:10</a:t>
            </a:r>
            <a:endParaRPr lang="en-US" sz="634" dirty="0"/>
          </a:p>
        </p:txBody>
      </p:sp>
      <p:sp>
        <p:nvSpPr>
          <p:cNvPr id="37" name="Shape 30"/>
          <p:cNvSpPr/>
          <p:nvPr/>
        </p:nvSpPr>
        <p:spPr>
          <a:xfrm>
            <a:off x="869138" y="4500563"/>
            <a:ext cx="2286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1"/>
          <p:cNvSpPr/>
          <p:nvPr/>
        </p:nvSpPr>
        <p:spPr>
          <a:xfrm>
            <a:off x="869138" y="4500563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Shape 32"/>
          <p:cNvSpPr/>
          <p:nvPr/>
        </p:nvSpPr>
        <p:spPr>
          <a:xfrm>
            <a:off x="940575" y="4579144"/>
            <a:ext cx="742950" cy="27860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3"/>
          <p:cNvSpPr/>
          <p:nvPr/>
        </p:nvSpPr>
        <p:spPr>
          <a:xfrm>
            <a:off x="940575" y="4579144"/>
            <a:ext cx="742950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</a:rPr>
              <a:t>반려</a:t>
            </a:r>
            <a:endParaRPr lang="en-US" sz="683" dirty="0"/>
          </a:p>
        </p:txBody>
      </p:sp>
      <p:sp>
        <p:nvSpPr>
          <p:cNvPr id="41" name="Shape 34"/>
          <p:cNvSpPr/>
          <p:nvPr/>
        </p:nvSpPr>
        <p:spPr>
          <a:xfrm>
            <a:off x="1740675" y="4579144"/>
            <a:ext cx="1343025" cy="27860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Text 35"/>
          <p:cNvSpPr/>
          <p:nvPr/>
        </p:nvSpPr>
        <p:spPr>
          <a:xfrm>
            <a:off x="1740675" y="4579144"/>
            <a:ext cx="1343025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선택 승인 (2)</a:t>
            </a:r>
            <a:endParaRPr lang="en-US" sz="683" dirty="0"/>
          </a:p>
        </p:txBody>
      </p:sp>
      <p:sp>
        <p:nvSpPr>
          <p:cNvPr id="43" name="Shape 36"/>
          <p:cNvSpPr/>
          <p:nvPr/>
        </p:nvSpPr>
        <p:spPr>
          <a:xfrm>
            <a:off x="4024303" y="1523098"/>
            <a:ext cx="4833919" cy="91222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4110028" y="162489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38"/>
          <p:cNvSpPr/>
          <p:nvPr/>
        </p:nvSpPr>
        <p:spPr>
          <a:xfrm>
            <a:off x="4110028" y="162489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46" name="Text 39"/>
          <p:cNvSpPr/>
          <p:nvPr/>
        </p:nvSpPr>
        <p:spPr>
          <a:xfrm>
            <a:off x="4424353" y="1615966"/>
            <a:ext cx="134503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팀별 그룹핑 (Grouping)</a:t>
            </a:r>
            <a:endParaRPr lang="en-US" sz="885" dirty="0"/>
          </a:p>
        </p:txBody>
      </p:sp>
      <p:sp>
        <p:nvSpPr>
          <p:cNvPr id="47" name="Text 40"/>
          <p:cNvSpPr/>
          <p:nvPr/>
        </p:nvSpPr>
        <p:spPr>
          <a:xfrm>
            <a:off x="4110028" y="1862426"/>
            <a:ext cx="46624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정렬 기준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팀별 &gt; 요청 시간순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표시 정보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팀명, 직종, 대기 인원 수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 단위 '전체 선택' 토글 제공</a:t>
            </a:r>
            <a:endParaRPr lang="en-US" sz="727" dirty="0"/>
          </a:p>
        </p:txBody>
      </p:sp>
      <p:sp>
        <p:nvSpPr>
          <p:cNvPr id="48" name="Shape 41"/>
          <p:cNvSpPr/>
          <p:nvPr/>
        </p:nvSpPr>
        <p:spPr>
          <a:xfrm>
            <a:off x="4024303" y="2542477"/>
            <a:ext cx="4833919" cy="115689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110028" y="264427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43"/>
          <p:cNvSpPr/>
          <p:nvPr/>
        </p:nvSpPr>
        <p:spPr>
          <a:xfrm>
            <a:off x="4110028" y="264427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1" name="Text 44"/>
          <p:cNvSpPr/>
          <p:nvPr/>
        </p:nvSpPr>
        <p:spPr>
          <a:xfrm>
            <a:off x="4424353" y="2635346"/>
            <a:ext cx="180834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승인 대기 리스트 (Pending List)</a:t>
            </a:r>
            <a:endParaRPr lang="en-US" sz="885" dirty="0"/>
          </a:p>
        </p:txBody>
      </p:sp>
      <p:sp>
        <p:nvSpPr>
          <p:cNvPr id="52" name="Text 45"/>
          <p:cNvSpPr/>
          <p:nvPr/>
        </p:nvSpPr>
        <p:spPr>
          <a:xfrm>
            <a:off x="4110028" y="2881805"/>
            <a:ext cx="46624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팀장이 '작업일보' 제출 시 '승인 대기' 상태로 진입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데이터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공수(1.0/0.5), 출근 시간, 직종 자동 표시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체크박스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개별 선택/해제 가능</a:t>
            </a:r>
            <a:endParaRPr lang="en-US" sz="727" dirty="0"/>
          </a:p>
        </p:txBody>
      </p:sp>
      <p:sp>
        <p:nvSpPr>
          <p:cNvPr id="53" name="Shape 46"/>
          <p:cNvSpPr/>
          <p:nvPr/>
        </p:nvSpPr>
        <p:spPr>
          <a:xfrm>
            <a:off x="4110028" y="3418982"/>
            <a:ext cx="1490783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4110028" y="3418982"/>
            <a:ext cx="149078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/api/site/attendance/pending</a:t>
            </a:r>
            <a:endParaRPr lang="en-US" sz="621" dirty="0"/>
          </a:p>
        </p:txBody>
      </p:sp>
      <p:sp>
        <p:nvSpPr>
          <p:cNvPr id="55" name="Shape 48"/>
          <p:cNvSpPr/>
          <p:nvPr/>
        </p:nvSpPr>
        <p:spPr>
          <a:xfrm>
            <a:off x="4024303" y="3799387"/>
            <a:ext cx="4833919" cy="115689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4110028" y="390118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7" name="Text 50"/>
          <p:cNvSpPr/>
          <p:nvPr/>
        </p:nvSpPr>
        <p:spPr>
          <a:xfrm>
            <a:off x="4110028" y="390118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58" name="Text 51"/>
          <p:cNvSpPr/>
          <p:nvPr/>
        </p:nvSpPr>
        <p:spPr>
          <a:xfrm>
            <a:off x="4424353" y="3892255"/>
            <a:ext cx="169839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일괄 처리 액션 (Bulk Actions)</a:t>
            </a:r>
            <a:endParaRPr lang="en-US" sz="885" dirty="0"/>
          </a:p>
        </p:txBody>
      </p:sp>
      <p:sp>
        <p:nvSpPr>
          <p:cNvPr id="59" name="Text 52"/>
          <p:cNvSpPr/>
          <p:nvPr/>
        </p:nvSpPr>
        <p:spPr>
          <a:xfrm>
            <a:off x="4110028" y="4138715"/>
            <a:ext cx="46624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승인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선택된 항목 일괄 '승인 완료' 처리 (정산 데이터 생성)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반려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클릭 시 '반려 사유' 입력 팝업 호출 (필수 입력)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알림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처리 결과 팀장에게 Push 알림 발송</a:t>
            </a:r>
            <a:endParaRPr lang="en-US" sz="727" dirty="0"/>
          </a:p>
        </p:txBody>
      </p:sp>
      <p:sp>
        <p:nvSpPr>
          <p:cNvPr id="60" name="Shape 53"/>
          <p:cNvSpPr/>
          <p:nvPr/>
        </p:nvSpPr>
        <p:spPr>
          <a:xfrm>
            <a:off x="4110028" y="4675891"/>
            <a:ext cx="1775389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4110028" y="4675891"/>
            <a:ext cx="1775389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/api/site/attendance/batch-process</a:t>
            </a:r>
            <a:endParaRPr lang="en-US" sz="62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2872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팀 편성 및 작업 배정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드래그 앤 드롭으로 간편한 일용직 근로자 팀 배정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35791" y="1371600"/>
            <a:ext cx="2400300" cy="3114675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93191" y="19145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93191" y="19145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93191" y="26574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93191" y="26574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93191" y="35147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93191" y="35147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92941" y="1371600"/>
            <a:ext cx="2286000" cy="300037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92941" y="1371600"/>
            <a:ext cx="2286000" cy="3357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66" y="1482328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55815" y="1457325"/>
            <a:ext cx="58522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팀 편성 관리</a:t>
            </a:r>
            <a:endParaRPr lang="en-US" sz="784" dirty="0"/>
          </a:p>
        </p:txBody>
      </p:sp>
      <p:sp>
        <p:nvSpPr>
          <p:cNvPr id="18" name="Text 14"/>
          <p:cNvSpPr/>
          <p:nvPr/>
        </p:nvSpPr>
        <p:spPr>
          <a:xfrm>
            <a:off x="2818181" y="1468041"/>
            <a:ext cx="275034" cy="142875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b="1" dirty="0">
                <a:solidFill>
                  <a:srgbClr val="FFFFFF"/>
                </a:solidFill>
              </a:rPr>
              <a:t>저장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892941" y="1707356"/>
            <a:ext cx="2286000" cy="79117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6"/>
          <p:cNvSpPr/>
          <p:nvPr/>
        </p:nvSpPr>
        <p:spPr>
          <a:xfrm>
            <a:off x="892941" y="2491383"/>
            <a:ext cx="2286000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7"/>
          <p:cNvSpPr/>
          <p:nvPr/>
        </p:nvSpPr>
        <p:spPr>
          <a:xfrm>
            <a:off x="978666" y="1793081"/>
            <a:ext cx="5460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미배정 인원 (3)</a:t>
            </a:r>
            <a:endParaRPr lang="en-US" sz="584" dirty="0"/>
          </a:p>
        </p:txBody>
      </p:sp>
      <p:sp>
        <p:nvSpPr>
          <p:cNvPr id="22" name="Text 18"/>
          <p:cNvSpPr/>
          <p:nvPr/>
        </p:nvSpPr>
        <p:spPr>
          <a:xfrm>
            <a:off x="2777747" y="1793081"/>
            <a:ext cx="315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전체보기</a:t>
            </a:r>
            <a:endParaRPr lang="en-US" sz="584" dirty="0"/>
          </a:p>
        </p:txBody>
      </p:sp>
      <p:sp>
        <p:nvSpPr>
          <p:cNvPr id="23" name="Shape 19"/>
          <p:cNvSpPr/>
          <p:nvPr/>
        </p:nvSpPr>
        <p:spPr>
          <a:xfrm>
            <a:off x="978666" y="1977033"/>
            <a:ext cx="657225" cy="392906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50103" y="2034183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이영희</a:t>
            </a:r>
            <a:endParaRPr lang="en-US" sz="634" dirty="0"/>
          </a:p>
        </p:txBody>
      </p:sp>
      <p:sp>
        <p:nvSpPr>
          <p:cNvPr id="25" name="Text 21"/>
          <p:cNvSpPr/>
          <p:nvPr/>
        </p:nvSpPr>
        <p:spPr>
          <a:xfrm>
            <a:off x="1050103" y="2184202"/>
            <a:ext cx="5000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미장</a:t>
            </a:r>
            <a:endParaRPr lang="en-US" sz="568" dirty="0"/>
          </a:p>
        </p:txBody>
      </p:sp>
      <p:sp>
        <p:nvSpPr>
          <p:cNvPr id="26" name="Shape 22"/>
          <p:cNvSpPr/>
          <p:nvPr/>
        </p:nvSpPr>
        <p:spPr>
          <a:xfrm>
            <a:off x="1678753" y="1977033"/>
            <a:ext cx="657225" cy="392906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750191" y="2034183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박민수</a:t>
            </a:r>
            <a:endParaRPr lang="en-US" sz="634" dirty="0"/>
          </a:p>
        </p:txBody>
      </p:sp>
      <p:sp>
        <p:nvSpPr>
          <p:cNvPr id="28" name="Text 24"/>
          <p:cNvSpPr/>
          <p:nvPr/>
        </p:nvSpPr>
        <p:spPr>
          <a:xfrm>
            <a:off x="1750191" y="2184202"/>
            <a:ext cx="5000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용접</a:t>
            </a:r>
            <a:endParaRPr lang="en-US" sz="568" dirty="0"/>
          </a:p>
        </p:txBody>
      </p:sp>
      <p:sp>
        <p:nvSpPr>
          <p:cNvPr id="29" name="Shape 25"/>
          <p:cNvSpPr/>
          <p:nvPr/>
        </p:nvSpPr>
        <p:spPr>
          <a:xfrm>
            <a:off x="2378841" y="1977033"/>
            <a:ext cx="657225" cy="392906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CBD5E1">
                <a:alpha val="5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450278" y="2034183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김철수</a:t>
            </a:r>
            <a:endParaRPr lang="en-US" sz="634" dirty="0"/>
          </a:p>
        </p:txBody>
      </p:sp>
      <p:sp>
        <p:nvSpPr>
          <p:cNvPr id="31" name="Text 27"/>
          <p:cNvSpPr/>
          <p:nvPr/>
        </p:nvSpPr>
        <p:spPr>
          <a:xfrm>
            <a:off x="2450278" y="2184202"/>
            <a:ext cx="5000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조적</a:t>
            </a:r>
            <a:endParaRPr lang="en-US" sz="568" dirty="0"/>
          </a:p>
        </p:txBody>
      </p:sp>
      <p:sp>
        <p:nvSpPr>
          <p:cNvPr id="32" name="Shape 28"/>
          <p:cNvSpPr/>
          <p:nvPr/>
        </p:nvSpPr>
        <p:spPr>
          <a:xfrm rot="300000">
            <a:off x="1550166" y="2443163"/>
            <a:ext cx="500063" cy="264319"/>
          </a:xfrm>
          <a:prstGeom prst="rect">
            <a:avLst/>
          </a:prstGeom>
          <a:solidFill>
            <a:srgbClr val="FFFFFF"/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 rot="300000">
            <a:off x="1529261" y="2422524"/>
            <a:ext cx="525066" cy="1425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김철수</a:t>
            </a:r>
            <a:endParaRPr lang="en-US" sz="634" dirty="0"/>
          </a:p>
        </p:txBody>
      </p:sp>
      <p:sp>
        <p:nvSpPr>
          <p:cNvPr id="34" name="Text 30"/>
          <p:cNvSpPr/>
          <p:nvPr/>
        </p:nvSpPr>
        <p:spPr>
          <a:xfrm rot="300000">
            <a:off x="1516512" y="2579487"/>
            <a:ext cx="525065" cy="120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조적</a:t>
            </a:r>
            <a:endParaRPr lang="en-US" sz="568" dirty="0"/>
          </a:p>
        </p:txBody>
      </p:sp>
      <p:sp>
        <p:nvSpPr>
          <p:cNvPr id="35" name="Shape 31"/>
          <p:cNvSpPr/>
          <p:nvPr/>
        </p:nvSpPr>
        <p:spPr>
          <a:xfrm>
            <a:off x="964378" y="2548533"/>
            <a:ext cx="2143125" cy="666155"/>
          </a:xfrm>
          <a:prstGeom prst="rect">
            <a:avLst/>
          </a:prstGeom>
          <a:solidFill>
            <a:srgbClr val="EFF6FF"/>
          </a:solidFill>
          <a:ln w="18288">
            <a:solidFill>
              <a:srgbClr val="3B82F6"/>
            </a:solidFill>
            <a:prstDash val="dash"/>
          </a:ln>
        </p:spPr>
      </p:sp>
      <p:sp>
        <p:nvSpPr>
          <p:cNvPr id="36" name="Text 32"/>
          <p:cNvSpPr/>
          <p:nvPr/>
        </p:nvSpPr>
        <p:spPr>
          <a:xfrm>
            <a:off x="1035816" y="2619970"/>
            <a:ext cx="62290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A팀 (골조공사)</a:t>
            </a:r>
            <a:endParaRPr lang="en-US" sz="683" dirty="0"/>
          </a:p>
        </p:txBody>
      </p:sp>
      <p:sp>
        <p:nvSpPr>
          <p:cNvPr id="37" name="Text 33"/>
          <p:cNvSpPr/>
          <p:nvPr/>
        </p:nvSpPr>
        <p:spPr>
          <a:xfrm>
            <a:off x="2780426" y="2628900"/>
            <a:ext cx="25564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5 / 8명</a:t>
            </a:r>
            <a:endParaRPr lang="en-US" sz="584" dirty="0"/>
          </a:p>
        </p:txBody>
      </p:sp>
      <p:sp>
        <p:nvSpPr>
          <p:cNvPr id="38" name="Shape 34"/>
          <p:cNvSpPr/>
          <p:nvPr/>
        </p:nvSpPr>
        <p:spPr>
          <a:xfrm>
            <a:off x="1035816" y="2871788"/>
            <a:ext cx="331208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5"/>
          <p:cNvSpPr/>
          <p:nvPr/>
        </p:nvSpPr>
        <p:spPr>
          <a:xfrm>
            <a:off x="1035816" y="2871788"/>
            <a:ext cx="331208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최반장</a:t>
            </a:r>
            <a:endParaRPr lang="en-US" sz="568" dirty="0"/>
          </a:p>
        </p:txBody>
      </p:sp>
      <p:sp>
        <p:nvSpPr>
          <p:cNvPr id="40" name="Shape 36"/>
          <p:cNvSpPr/>
          <p:nvPr/>
        </p:nvSpPr>
        <p:spPr>
          <a:xfrm>
            <a:off x="1409886" y="2871788"/>
            <a:ext cx="331208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7"/>
          <p:cNvSpPr/>
          <p:nvPr/>
        </p:nvSpPr>
        <p:spPr>
          <a:xfrm>
            <a:off x="1409886" y="2871788"/>
            <a:ext cx="331208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정우성</a:t>
            </a:r>
            <a:endParaRPr lang="en-US" sz="568" dirty="0"/>
          </a:p>
        </p:txBody>
      </p:sp>
      <p:sp>
        <p:nvSpPr>
          <p:cNvPr id="42" name="Shape 38"/>
          <p:cNvSpPr/>
          <p:nvPr/>
        </p:nvSpPr>
        <p:spPr>
          <a:xfrm>
            <a:off x="1783956" y="2871788"/>
            <a:ext cx="331208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39"/>
          <p:cNvSpPr/>
          <p:nvPr/>
        </p:nvSpPr>
        <p:spPr>
          <a:xfrm>
            <a:off x="1783956" y="2871788"/>
            <a:ext cx="331208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강동원</a:t>
            </a:r>
            <a:endParaRPr lang="en-US" sz="568" dirty="0"/>
          </a:p>
        </p:txBody>
      </p:sp>
      <p:sp>
        <p:nvSpPr>
          <p:cNvPr id="44" name="Shape 40"/>
          <p:cNvSpPr/>
          <p:nvPr/>
        </p:nvSpPr>
        <p:spPr>
          <a:xfrm>
            <a:off x="2158026" y="2871788"/>
            <a:ext cx="177505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1"/>
          <p:cNvSpPr/>
          <p:nvPr/>
        </p:nvSpPr>
        <p:spPr>
          <a:xfrm>
            <a:off x="2158026" y="2871788"/>
            <a:ext cx="177505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...</a:t>
            </a:r>
            <a:endParaRPr lang="en-US" sz="568" dirty="0"/>
          </a:p>
        </p:txBody>
      </p:sp>
      <p:sp>
        <p:nvSpPr>
          <p:cNvPr id="46" name="Shape 42"/>
          <p:cNvSpPr/>
          <p:nvPr/>
        </p:nvSpPr>
        <p:spPr>
          <a:xfrm>
            <a:off x="964378" y="3243263"/>
            <a:ext cx="2143125" cy="651867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1035816" y="3314700"/>
            <a:ext cx="6210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B팀 (마감공사)</a:t>
            </a:r>
            <a:endParaRPr lang="en-US" sz="683" dirty="0"/>
          </a:p>
        </p:txBody>
      </p:sp>
      <p:sp>
        <p:nvSpPr>
          <p:cNvPr id="48" name="Text 44"/>
          <p:cNvSpPr/>
          <p:nvPr/>
        </p:nvSpPr>
        <p:spPr>
          <a:xfrm>
            <a:off x="2780426" y="3323630"/>
            <a:ext cx="25564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2 / 5명</a:t>
            </a:r>
            <a:endParaRPr lang="en-US" sz="584" dirty="0"/>
          </a:p>
        </p:txBody>
      </p:sp>
      <p:sp>
        <p:nvSpPr>
          <p:cNvPr id="49" name="Shape 45"/>
          <p:cNvSpPr/>
          <p:nvPr/>
        </p:nvSpPr>
        <p:spPr>
          <a:xfrm>
            <a:off x="1035816" y="3566517"/>
            <a:ext cx="331208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Text 46"/>
          <p:cNvSpPr/>
          <p:nvPr/>
        </p:nvSpPr>
        <p:spPr>
          <a:xfrm>
            <a:off x="1035816" y="3566517"/>
            <a:ext cx="331208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박반장</a:t>
            </a:r>
            <a:endParaRPr lang="en-US" sz="568" dirty="0"/>
          </a:p>
        </p:txBody>
      </p:sp>
      <p:sp>
        <p:nvSpPr>
          <p:cNvPr id="51" name="Shape 47"/>
          <p:cNvSpPr/>
          <p:nvPr/>
        </p:nvSpPr>
        <p:spPr>
          <a:xfrm>
            <a:off x="1409886" y="3566517"/>
            <a:ext cx="331208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Text 48"/>
          <p:cNvSpPr/>
          <p:nvPr/>
        </p:nvSpPr>
        <p:spPr>
          <a:xfrm>
            <a:off x="1409886" y="3566517"/>
            <a:ext cx="331208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조인성</a:t>
            </a:r>
            <a:endParaRPr lang="en-US" sz="568" dirty="0"/>
          </a:p>
        </p:txBody>
      </p:sp>
      <p:sp>
        <p:nvSpPr>
          <p:cNvPr id="53" name="Shape 49"/>
          <p:cNvSpPr/>
          <p:nvPr/>
        </p:nvSpPr>
        <p:spPr>
          <a:xfrm>
            <a:off x="3957610" y="1371600"/>
            <a:ext cx="4900613" cy="86718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043335" y="146625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5" name="Text 51"/>
          <p:cNvSpPr/>
          <p:nvPr/>
        </p:nvSpPr>
        <p:spPr>
          <a:xfrm>
            <a:off x="4043335" y="146625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56" name="Text 52"/>
          <p:cNvSpPr/>
          <p:nvPr/>
        </p:nvSpPr>
        <p:spPr>
          <a:xfrm>
            <a:off x="4343372" y="1457325"/>
            <a:ext cx="188357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미배정 인원 리스트 (Unassigned)</a:t>
            </a:r>
            <a:endParaRPr lang="en-US" sz="885" dirty="0"/>
          </a:p>
        </p:txBody>
      </p:sp>
      <p:sp>
        <p:nvSpPr>
          <p:cNvPr id="57" name="Text 53"/>
          <p:cNvSpPr/>
          <p:nvPr/>
        </p:nvSpPr>
        <p:spPr>
          <a:xfrm>
            <a:off x="4043335" y="1703784"/>
            <a:ext cx="4729163" cy="434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대상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금일 출역 승인되었으나 팀이 없는 근로자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필터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직종별(조적, 미장, 용접 등) 필터링 제공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UI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가로 스크롤 칩 형태, 드래그 가능 표시</a:t>
            </a:r>
            <a:endParaRPr lang="en-US" sz="727" dirty="0"/>
          </a:p>
        </p:txBody>
      </p:sp>
      <p:sp>
        <p:nvSpPr>
          <p:cNvPr id="58" name="Shape 54"/>
          <p:cNvSpPr/>
          <p:nvPr/>
        </p:nvSpPr>
        <p:spPr>
          <a:xfrm>
            <a:off x="3957610" y="2310222"/>
            <a:ext cx="4900613" cy="86718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4043335" y="240487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0" name="Text 56"/>
          <p:cNvSpPr/>
          <p:nvPr/>
        </p:nvSpPr>
        <p:spPr>
          <a:xfrm>
            <a:off x="4043335" y="240487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61" name="Text 57"/>
          <p:cNvSpPr/>
          <p:nvPr/>
        </p:nvSpPr>
        <p:spPr>
          <a:xfrm>
            <a:off x="4343372" y="2395947"/>
            <a:ext cx="162227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드래그 앤 드롭 (Interaction)</a:t>
            </a:r>
            <a:endParaRPr lang="en-US" sz="885" dirty="0"/>
          </a:p>
        </p:txBody>
      </p:sp>
      <p:sp>
        <p:nvSpPr>
          <p:cNvPr id="62" name="Text 58"/>
          <p:cNvSpPr/>
          <p:nvPr/>
        </p:nvSpPr>
        <p:spPr>
          <a:xfrm>
            <a:off x="4043335" y="2642406"/>
            <a:ext cx="4729163" cy="434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동작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롱프레스(0.5초) 후 드래그 시작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피드백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드롭 가능한 팀 영역 진입 시 점선 테두리 및 배경색 변경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제약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 정원 초과 시 드롭 불가 (Toast 메시지 노출)</a:t>
            </a:r>
            <a:endParaRPr lang="en-US" sz="727" dirty="0"/>
          </a:p>
        </p:txBody>
      </p:sp>
      <p:sp>
        <p:nvSpPr>
          <p:cNvPr id="63" name="Shape 59"/>
          <p:cNvSpPr/>
          <p:nvPr/>
        </p:nvSpPr>
        <p:spPr>
          <a:xfrm>
            <a:off x="3957610" y="3248844"/>
            <a:ext cx="4900613" cy="96686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4043335" y="334349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5" name="Text 61"/>
          <p:cNvSpPr/>
          <p:nvPr/>
        </p:nvSpPr>
        <p:spPr>
          <a:xfrm>
            <a:off x="4043335" y="334349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6" name="Text 62"/>
          <p:cNvSpPr/>
          <p:nvPr/>
        </p:nvSpPr>
        <p:spPr>
          <a:xfrm>
            <a:off x="4343372" y="3334569"/>
            <a:ext cx="92840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배정 저장 및 알림</a:t>
            </a:r>
            <a:endParaRPr lang="en-US" sz="885" dirty="0"/>
          </a:p>
        </p:txBody>
      </p:sp>
      <p:sp>
        <p:nvSpPr>
          <p:cNvPr id="67" name="Text 63"/>
          <p:cNvSpPr/>
          <p:nvPr/>
        </p:nvSpPr>
        <p:spPr>
          <a:xfrm>
            <a:off x="4043335" y="3581028"/>
            <a:ext cx="4729163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저장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우측 상단 '저장' 버튼 클릭 시 일괄 반영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알림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배정된 팀장에게 "새로운 팀원이 배정되었습니다" 푸시 발송</a:t>
            </a:r>
            <a:endParaRPr lang="en-US" sz="727" dirty="0"/>
          </a:p>
        </p:txBody>
      </p:sp>
      <p:sp>
        <p:nvSpPr>
          <p:cNvPr id="68" name="Shape 64"/>
          <p:cNvSpPr/>
          <p:nvPr/>
        </p:nvSpPr>
        <p:spPr>
          <a:xfrm>
            <a:off x="4043335" y="3928170"/>
            <a:ext cx="1264025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4043335" y="3928170"/>
            <a:ext cx="1264025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/api/site/teams/assign</a:t>
            </a:r>
            <a:endParaRPr lang="en-US" sz="62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근로계약 관리 및 서명 요청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 소속 근로자의 계약 상태 확인 및 카카오톡 서명 요청 발송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23903" y="1557338"/>
            <a:ext cx="2400300" cy="3400425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2728" y="21859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52728" y="218598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52728" y="30432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52728" y="30432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52728" y="41576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52728" y="41576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81053" y="1614488"/>
            <a:ext cx="2286000" cy="32861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81053" y="1614488"/>
            <a:ext cx="2286000" cy="30718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1" y="1710928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86567" y="1685925"/>
            <a:ext cx="66065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근로계약 관리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288" y="1710928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81053" y="1921669"/>
            <a:ext cx="2286000" cy="4250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81053" y="2339578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6"/>
          <p:cNvSpPr/>
          <p:nvPr/>
        </p:nvSpPr>
        <p:spPr>
          <a:xfrm>
            <a:off x="1187621" y="1978819"/>
            <a:ext cx="14865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45</a:t>
            </a:r>
            <a:endParaRPr lang="en-US" sz="885" dirty="0"/>
          </a:p>
        </p:txBody>
      </p:sp>
      <p:sp>
        <p:nvSpPr>
          <p:cNvPr id="22" name="Text 17"/>
          <p:cNvSpPr/>
          <p:nvPr/>
        </p:nvSpPr>
        <p:spPr>
          <a:xfrm>
            <a:off x="1187621" y="2168128"/>
            <a:ext cx="14865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전체</a:t>
            </a:r>
            <a:endParaRPr lang="en-US" sz="568" dirty="0"/>
          </a:p>
        </p:txBody>
      </p:sp>
      <p:sp>
        <p:nvSpPr>
          <p:cNvPr id="23" name="Text 18"/>
          <p:cNvSpPr/>
          <p:nvPr/>
        </p:nvSpPr>
        <p:spPr>
          <a:xfrm>
            <a:off x="1835107" y="1978819"/>
            <a:ext cx="3096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40</a:t>
            </a:r>
            <a:endParaRPr lang="en-US" sz="885" dirty="0"/>
          </a:p>
        </p:txBody>
      </p:sp>
      <p:sp>
        <p:nvSpPr>
          <p:cNvPr id="24" name="Text 19"/>
          <p:cNvSpPr/>
          <p:nvPr/>
        </p:nvSpPr>
        <p:spPr>
          <a:xfrm>
            <a:off x="1835107" y="2168128"/>
            <a:ext cx="30963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체결 완료</a:t>
            </a:r>
            <a:endParaRPr lang="en-US" sz="568" dirty="0"/>
          </a:p>
        </p:txBody>
      </p:sp>
      <p:sp>
        <p:nvSpPr>
          <p:cNvPr id="25" name="Text 20"/>
          <p:cNvSpPr/>
          <p:nvPr/>
        </p:nvSpPr>
        <p:spPr>
          <a:xfrm>
            <a:off x="2643578" y="1978819"/>
            <a:ext cx="2169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F4444"/>
                </a:solidFill>
              </a:rPr>
              <a:t>5</a:t>
            </a:r>
            <a:endParaRPr lang="en-US" sz="885" dirty="0"/>
          </a:p>
        </p:txBody>
      </p:sp>
      <p:sp>
        <p:nvSpPr>
          <p:cNvPr id="26" name="Text 21"/>
          <p:cNvSpPr/>
          <p:nvPr/>
        </p:nvSpPr>
        <p:spPr>
          <a:xfrm>
            <a:off x="2643578" y="2168128"/>
            <a:ext cx="21690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미체결</a:t>
            </a:r>
            <a:endParaRPr lang="en-US" sz="568" dirty="0"/>
          </a:p>
        </p:txBody>
      </p:sp>
      <p:sp>
        <p:nvSpPr>
          <p:cNvPr id="27" name="Shape 22"/>
          <p:cNvSpPr/>
          <p:nvPr/>
        </p:nvSpPr>
        <p:spPr>
          <a:xfrm>
            <a:off x="952491" y="2411016"/>
            <a:ext cx="2143125" cy="60007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23928" y="2489597"/>
            <a:ext cx="63163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김철수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 | 조적공</a:t>
            </a:r>
            <a:endParaRPr lang="en-US" sz="734" dirty="0"/>
          </a:p>
        </p:txBody>
      </p:sp>
      <p:sp>
        <p:nvSpPr>
          <p:cNvPr id="29" name="Shape 24"/>
          <p:cNvSpPr/>
          <p:nvPr/>
        </p:nvSpPr>
        <p:spPr>
          <a:xfrm>
            <a:off x="2692971" y="2482453"/>
            <a:ext cx="331208" cy="17145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0" name="Text 25"/>
          <p:cNvSpPr/>
          <p:nvPr/>
        </p:nvSpPr>
        <p:spPr>
          <a:xfrm>
            <a:off x="2692971" y="2482453"/>
            <a:ext cx="331208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1B1B"/>
                </a:solidFill>
              </a:rPr>
              <a:t>미체결</a:t>
            </a:r>
            <a:endParaRPr lang="en-US" sz="534" dirty="0"/>
          </a:p>
        </p:txBody>
      </p:sp>
      <p:sp>
        <p:nvSpPr>
          <p:cNvPr id="31" name="Shape 26"/>
          <p:cNvSpPr/>
          <p:nvPr/>
        </p:nvSpPr>
        <p:spPr>
          <a:xfrm>
            <a:off x="1023928" y="2696766"/>
            <a:ext cx="200025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27"/>
          <p:cNvSpPr/>
          <p:nvPr/>
        </p:nvSpPr>
        <p:spPr>
          <a:xfrm>
            <a:off x="1023928" y="2696766"/>
            <a:ext cx="2000250" cy="22860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서명 요청 (알림톡)</a:t>
            </a:r>
            <a:endParaRPr lang="en-US" sz="584" dirty="0"/>
          </a:p>
        </p:txBody>
      </p:sp>
      <p:sp>
        <p:nvSpPr>
          <p:cNvPr id="33" name="Shape 28"/>
          <p:cNvSpPr/>
          <p:nvPr/>
        </p:nvSpPr>
        <p:spPr>
          <a:xfrm>
            <a:off x="952491" y="3053953"/>
            <a:ext cx="2143125" cy="61436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1023928" y="3132534"/>
            <a:ext cx="63163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이영희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 | 미장공</a:t>
            </a:r>
            <a:endParaRPr lang="en-US" sz="734" dirty="0"/>
          </a:p>
        </p:txBody>
      </p:sp>
      <p:sp>
        <p:nvSpPr>
          <p:cNvPr id="35" name="Shape 30"/>
          <p:cNvSpPr/>
          <p:nvPr/>
        </p:nvSpPr>
        <p:spPr>
          <a:xfrm>
            <a:off x="2600241" y="3125391"/>
            <a:ext cx="423937" cy="17145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1"/>
          <p:cNvSpPr/>
          <p:nvPr/>
        </p:nvSpPr>
        <p:spPr>
          <a:xfrm>
            <a:off x="2600241" y="3125391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66534"/>
                </a:solidFill>
              </a:rPr>
              <a:t>체결 완료</a:t>
            </a:r>
            <a:endParaRPr lang="en-US" sz="534" dirty="0"/>
          </a:p>
        </p:txBody>
      </p:sp>
      <p:sp>
        <p:nvSpPr>
          <p:cNvPr id="37" name="Shape 32"/>
          <p:cNvSpPr/>
          <p:nvPr/>
        </p:nvSpPr>
        <p:spPr>
          <a:xfrm>
            <a:off x="1023928" y="3339703"/>
            <a:ext cx="2000250" cy="242888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1023928" y="3339703"/>
            <a:ext cx="2000250" cy="2428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계약서 보기</a:t>
            </a:r>
            <a:endParaRPr lang="en-US" sz="584" dirty="0"/>
          </a:p>
        </p:txBody>
      </p:sp>
      <p:sp>
        <p:nvSpPr>
          <p:cNvPr id="39" name="Shape 34"/>
          <p:cNvSpPr/>
          <p:nvPr/>
        </p:nvSpPr>
        <p:spPr>
          <a:xfrm>
            <a:off x="952491" y="3696891"/>
            <a:ext cx="2143125" cy="61436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1023928" y="3775472"/>
            <a:ext cx="63163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박민수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 | 용접공</a:t>
            </a:r>
            <a:endParaRPr lang="en-US" sz="734" dirty="0"/>
          </a:p>
        </p:txBody>
      </p:sp>
      <p:sp>
        <p:nvSpPr>
          <p:cNvPr id="41" name="Shape 36"/>
          <p:cNvSpPr/>
          <p:nvPr/>
        </p:nvSpPr>
        <p:spPr>
          <a:xfrm>
            <a:off x="2692971" y="3768328"/>
            <a:ext cx="331208" cy="17145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2" name="Text 37"/>
          <p:cNvSpPr/>
          <p:nvPr/>
        </p:nvSpPr>
        <p:spPr>
          <a:xfrm>
            <a:off x="2692971" y="3768328"/>
            <a:ext cx="331208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2400E"/>
                </a:solidFill>
              </a:rPr>
              <a:t>요청중</a:t>
            </a:r>
            <a:endParaRPr lang="en-US" sz="534" dirty="0"/>
          </a:p>
        </p:txBody>
      </p:sp>
      <p:sp>
        <p:nvSpPr>
          <p:cNvPr id="43" name="Shape 38"/>
          <p:cNvSpPr/>
          <p:nvPr/>
        </p:nvSpPr>
        <p:spPr>
          <a:xfrm>
            <a:off x="1023928" y="3982641"/>
            <a:ext cx="2000250" cy="242888"/>
          </a:xfrm>
          <a:prstGeom prst="rect">
            <a:avLst/>
          </a:prstGeom>
          <a:solidFill>
            <a:srgbClr val="FFF7ED"/>
          </a:solidFill>
          <a:ln w="9144">
            <a:solidFill>
              <a:srgbClr val="FFEDD5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1023928" y="3982641"/>
            <a:ext cx="2000250" cy="2428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2410C"/>
                </a:solidFill>
              </a:rPr>
              <a:t>재발송</a:t>
            </a:r>
            <a:endParaRPr lang="en-US" sz="584" dirty="0"/>
          </a:p>
        </p:txBody>
      </p:sp>
      <p:sp>
        <p:nvSpPr>
          <p:cNvPr id="45" name="Shape 40"/>
          <p:cNvSpPr/>
          <p:nvPr/>
        </p:nvSpPr>
        <p:spPr>
          <a:xfrm>
            <a:off x="881053" y="4529138"/>
            <a:ext cx="2286000" cy="371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1"/>
          <p:cNvSpPr/>
          <p:nvPr/>
        </p:nvSpPr>
        <p:spPr>
          <a:xfrm>
            <a:off x="881053" y="4529138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2"/>
          <p:cNvSpPr/>
          <p:nvPr/>
        </p:nvSpPr>
        <p:spPr>
          <a:xfrm>
            <a:off x="938203" y="4593431"/>
            <a:ext cx="2171700" cy="250031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8" name="Text 43"/>
          <p:cNvSpPr/>
          <p:nvPr/>
        </p:nvSpPr>
        <p:spPr>
          <a:xfrm>
            <a:off x="938203" y="4593431"/>
            <a:ext cx="2171700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미체결 인원 일괄 요청 (5명)</a:t>
            </a:r>
            <a:endParaRPr lang="en-US" sz="683" dirty="0"/>
          </a:p>
        </p:txBody>
      </p:sp>
      <p:sp>
        <p:nvSpPr>
          <p:cNvPr id="49" name="Shape 44"/>
          <p:cNvSpPr/>
          <p:nvPr/>
        </p:nvSpPr>
        <p:spPr>
          <a:xfrm>
            <a:off x="3990956" y="1766878"/>
            <a:ext cx="4867294" cy="86936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4062394" y="185438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1" name="Text 46"/>
          <p:cNvSpPr/>
          <p:nvPr/>
        </p:nvSpPr>
        <p:spPr>
          <a:xfrm>
            <a:off x="4062394" y="185438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52" name="Text 47"/>
          <p:cNvSpPr/>
          <p:nvPr/>
        </p:nvSpPr>
        <p:spPr>
          <a:xfrm>
            <a:off x="4376719" y="1845459"/>
            <a:ext cx="227294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계약 현황 대시보드 (Status Dashboard)</a:t>
            </a:r>
            <a:endParaRPr lang="en-US" sz="885" dirty="0"/>
          </a:p>
        </p:txBody>
      </p:sp>
      <p:sp>
        <p:nvSpPr>
          <p:cNvPr id="53" name="Text 48"/>
          <p:cNvSpPr/>
          <p:nvPr/>
        </p:nvSpPr>
        <p:spPr>
          <a:xfrm>
            <a:off x="4062394" y="2077631"/>
            <a:ext cx="47244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집계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해당 현장 소속 근로자의 계약 상태 실시간 카운트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필터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미체결/요청중/체결완료 상태별 필터링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정렬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미체결 인원 우선 노출 (Action 필요 항목 상단 배치)</a:t>
            </a:r>
            <a:endParaRPr lang="en-US" sz="727" dirty="0"/>
          </a:p>
        </p:txBody>
      </p:sp>
      <p:sp>
        <p:nvSpPr>
          <p:cNvPr id="54" name="Shape 49"/>
          <p:cNvSpPr/>
          <p:nvPr/>
        </p:nvSpPr>
        <p:spPr>
          <a:xfrm>
            <a:off x="3990956" y="2700533"/>
            <a:ext cx="4867294" cy="109974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4062394" y="278804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6" name="Text 51"/>
          <p:cNvSpPr/>
          <p:nvPr/>
        </p:nvSpPr>
        <p:spPr>
          <a:xfrm>
            <a:off x="4062394" y="2788044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7" name="Text 52"/>
          <p:cNvSpPr/>
          <p:nvPr/>
        </p:nvSpPr>
        <p:spPr>
          <a:xfrm>
            <a:off x="4376719" y="2779114"/>
            <a:ext cx="217583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서명 요청 프로세스 (Request Process)</a:t>
            </a:r>
            <a:endParaRPr lang="en-US" sz="885" dirty="0"/>
          </a:p>
        </p:txBody>
      </p:sp>
      <p:sp>
        <p:nvSpPr>
          <p:cNvPr id="58" name="Text 53"/>
          <p:cNvSpPr/>
          <p:nvPr/>
        </p:nvSpPr>
        <p:spPr>
          <a:xfrm>
            <a:off x="4062394" y="3011286"/>
            <a:ext cx="47244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채널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카카오톡 알림톡 (비즈니스 채널) 발송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내용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"근로계약서 서명 요청" 메시지 및 고유 링크(Deep Link) 포함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유효기간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링크 유효기간 24시간 설정 (보안 강화)</a:t>
            </a:r>
            <a:endParaRPr lang="en-US" sz="727" dirty="0"/>
          </a:p>
        </p:txBody>
      </p:sp>
      <p:sp>
        <p:nvSpPr>
          <p:cNvPr id="59" name="Shape 54"/>
          <p:cNvSpPr/>
          <p:nvPr/>
        </p:nvSpPr>
        <p:spPr>
          <a:xfrm>
            <a:off x="4062394" y="3534175"/>
            <a:ext cx="1437373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4062394" y="3534175"/>
            <a:ext cx="143737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/api/site/contracts/request</a:t>
            </a:r>
            <a:endParaRPr lang="en-US" sz="621" dirty="0"/>
          </a:p>
        </p:txBody>
      </p:sp>
      <p:sp>
        <p:nvSpPr>
          <p:cNvPr id="61" name="Shape 56"/>
          <p:cNvSpPr/>
          <p:nvPr/>
        </p:nvSpPr>
        <p:spPr>
          <a:xfrm>
            <a:off x="3990956" y="3857430"/>
            <a:ext cx="4867294" cy="86936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4062394" y="394494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58"/>
          <p:cNvSpPr/>
          <p:nvPr/>
        </p:nvSpPr>
        <p:spPr>
          <a:xfrm>
            <a:off x="4062394" y="394494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4" name="Text 59"/>
          <p:cNvSpPr/>
          <p:nvPr/>
        </p:nvSpPr>
        <p:spPr>
          <a:xfrm>
            <a:off x="4376719" y="3936011"/>
            <a:ext cx="136445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일괄 처리 (Bulk Action)</a:t>
            </a:r>
            <a:endParaRPr lang="en-US" sz="885" dirty="0"/>
          </a:p>
        </p:txBody>
      </p:sp>
      <p:sp>
        <p:nvSpPr>
          <p:cNvPr id="65" name="Text 60"/>
          <p:cNvSpPr/>
          <p:nvPr/>
        </p:nvSpPr>
        <p:spPr>
          <a:xfrm>
            <a:off x="4062394" y="4168183"/>
            <a:ext cx="47244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대상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'미체결' 상태인 모든 근로자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제한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1일 최대 3회 발송 제한 (스팸 방지)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피드백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발송 성공/실패 건수 Toast 메시지 표시</a:t>
            </a:r>
            <a:endParaRPr lang="en-US" sz="727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2872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노무비 명세서 조회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근로자별 월간 예상 노무비 조회 및 명세서 발송 관리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17931" y="1357313"/>
            <a:ext cx="2400300" cy="3543300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46756" y="233600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46756" y="233600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46756" y="290750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46756" y="290750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46756" y="347900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46756" y="347900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75081" y="1407319"/>
            <a:ext cx="2286000" cy="3429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75081" y="1407319"/>
            <a:ext cx="2286000" cy="378619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38" y="1539478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33169" y="1514475"/>
            <a:ext cx="5555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노무비 관리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597" y="1539478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75081" y="1785938"/>
            <a:ext cx="2286000" cy="3679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75081" y="2146697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513" y="1902023"/>
            <a:ext cx="80367" cy="128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9180" y="1871663"/>
            <a:ext cx="63780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2024년 1월</a:t>
            </a:r>
            <a:endParaRPr lang="en-US" sz="885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283" y="1902023"/>
            <a:ext cx="80367" cy="12858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75081" y="2146697"/>
            <a:ext cx="2286000" cy="478631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Shape 18"/>
          <p:cNvSpPr/>
          <p:nvPr/>
        </p:nvSpPr>
        <p:spPr>
          <a:xfrm>
            <a:off x="875081" y="2618184"/>
            <a:ext cx="2286000" cy="714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6" name="Text 19"/>
          <p:cNvSpPr/>
          <p:nvPr/>
        </p:nvSpPr>
        <p:spPr>
          <a:xfrm>
            <a:off x="960806" y="2232422"/>
            <a:ext cx="4755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총 지급 대상</a:t>
            </a:r>
            <a:endParaRPr lang="en-US" sz="674" dirty="0"/>
          </a:p>
        </p:txBody>
      </p:sp>
      <p:sp>
        <p:nvSpPr>
          <p:cNvPr id="27" name="Text 20"/>
          <p:cNvSpPr/>
          <p:nvPr/>
        </p:nvSpPr>
        <p:spPr>
          <a:xfrm>
            <a:off x="960806" y="2368153"/>
            <a:ext cx="4755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45명</a:t>
            </a:r>
            <a:endParaRPr lang="en-US" sz="784" dirty="0"/>
          </a:p>
        </p:txBody>
      </p:sp>
      <p:sp>
        <p:nvSpPr>
          <p:cNvPr id="28" name="Text 21"/>
          <p:cNvSpPr/>
          <p:nvPr/>
        </p:nvSpPr>
        <p:spPr>
          <a:xfrm>
            <a:off x="2307934" y="2232422"/>
            <a:ext cx="7674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예상 지급 총액</a:t>
            </a:r>
            <a:endParaRPr lang="en-US" sz="674" dirty="0"/>
          </a:p>
        </p:txBody>
      </p:sp>
      <p:sp>
        <p:nvSpPr>
          <p:cNvPr id="29" name="Text 22"/>
          <p:cNvSpPr/>
          <p:nvPr/>
        </p:nvSpPr>
        <p:spPr>
          <a:xfrm>
            <a:off x="2307934" y="2368153"/>
            <a:ext cx="76742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125,400,000원</a:t>
            </a:r>
            <a:endParaRPr lang="en-US" sz="784" dirty="0"/>
          </a:p>
        </p:txBody>
      </p:sp>
      <p:sp>
        <p:nvSpPr>
          <p:cNvPr id="30" name="Shape 23"/>
          <p:cNvSpPr/>
          <p:nvPr/>
        </p:nvSpPr>
        <p:spPr>
          <a:xfrm>
            <a:off x="917944" y="2661047"/>
            <a:ext cx="2200275" cy="7715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003669" y="2769096"/>
            <a:ext cx="2957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김철수</a:t>
            </a:r>
            <a:endParaRPr lang="en-US" sz="734" dirty="0"/>
          </a:p>
        </p:txBody>
      </p:sp>
      <p:sp>
        <p:nvSpPr>
          <p:cNvPr id="32" name="Shape 25"/>
          <p:cNvSpPr/>
          <p:nvPr/>
        </p:nvSpPr>
        <p:spPr>
          <a:xfrm>
            <a:off x="1356587" y="2769096"/>
            <a:ext cx="322334" cy="15537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26"/>
          <p:cNvSpPr/>
          <p:nvPr/>
        </p:nvSpPr>
        <p:spPr>
          <a:xfrm>
            <a:off x="1356587" y="2769096"/>
            <a:ext cx="322334" cy="155377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조적공</a:t>
            </a:r>
            <a:endParaRPr lang="en-US" sz="621" dirty="0"/>
          </a:p>
        </p:txBody>
      </p:sp>
      <p:sp>
        <p:nvSpPr>
          <p:cNvPr id="34" name="Shape 27"/>
          <p:cNvSpPr/>
          <p:nvPr/>
        </p:nvSpPr>
        <p:spPr>
          <a:xfrm>
            <a:off x="2408588" y="2746772"/>
            <a:ext cx="623906" cy="2000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28"/>
          <p:cNvSpPr/>
          <p:nvPr/>
        </p:nvSpPr>
        <p:spPr>
          <a:xfrm>
            <a:off x="2408588" y="2746772"/>
            <a:ext cx="623906" cy="20002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명세서 발송</a:t>
            </a:r>
            <a:endParaRPr lang="en-US" sz="584" dirty="0"/>
          </a:p>
        </p:txBody>
      </p:sp>
      <p:sp>
        <p:nvSpPr>
          <p:cNvPr id="36" name="Text 29"/>
          <p:cNvSpPr/>
          <p:nvPr/>
        </p:nvSpPr>
        <p:spPr>
          <a:xfrm>
            <a:off x="1003669" y="2989659"/>
            <a:ext cx="9978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</a:rPr>
              <a:t>25.0 공수 (단가 250,000)</a:t>
            </a:r>
            <a:endParaRPr lang="en-US" sz="674" dirty="0"/>
          </a:p>
        </p:txBody>
      </p:sp>
      <p:sp>
        <p:nvSpPr>
          <p:cNvPr id="37" name="Text 30"/>
          <p:cNvSpPr/>
          <p:nvPr/>
        </p:nvSpPr>
        <p:spPr>
          <a:xfrm>
            <a:off x="1003669" y="3182541"/>
            <a:ext cx="3417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</a:rPr>
              <a:t>실지급액</a:t>
            </a:r>
            <a:endParaRPr lang="en-US" sz="674" dirty="0"/>
          </a:p>
        </p:txBody>
      </p:sp>
      <p:sp>
        <p:nvSpPr>
          <p:cNvPr id="38" name="Text 31"/>
          <p:cNvSpPr/>
          <p:nvPr/>
        </p:nvSpPr>
        <p:spPr>
          <a:xfrm>
            <a:off x="2397203" y="3168253"/>
            <a:ext cx="63529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6,052,100원</a:t>
            </a:r>
            <a:endParaRPr lang="en-US" sz="784" dirty="0"/>
          </a:p>
        </p:txBody>
      </p:sp>
      <p:sp>
        <p:nvSpPr>
          <p:cNvPr id="39" name="Shape 32"/>
          <p:cNvSpPr/>
          <p:nvPr/>
        </p:nvSpPr>
        <p:spPr>
          <a:xfrm>
            <a:off x="917944" y="3475434"/>
            <a:ext cx="2200275" cy="7429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1003669" y="3569196"/>
            <a:ext cx="2957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이영희</a:t>
            </a:r>
            <a:endParaRPr lang="en-US" sz="734" dirty="0"/>
          </a:p>
        </p:txBody>
      </p:sp>
      <p:sp>
        <p:nvSpPr>
          <p:cNvPr id="41" name="Shape 34"/>
          <p:cNvSpPr/>
          <p:nvPr/>
        </p:nvSpPr>
        <p:spPr>
          <a:xfrm>
            <a:off x="1356587" y="3569196"/>
            <a:ext cx="322334" cy="15537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35"/>
          <p:cNvSpPr/>
          <p:nvPr/>
        </p:nvSpPr>
        <p:spPr>
          <a:xfrm>
            <a:off x="1356587" y="3569196"/>
            <a:ext cx="322334" cy="155377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미장공</a:t>
            </a:r>
            <a:endParaRPr lang="en-US" sz="621" dirty="0"/>
          </a:p>
        </p:txBody>
      </p:sp>
      <p:sp>
        <p:nvSpPr>
          <p:cNvPr id="43" name="Shape 36"/>
          <p:cNvSpPr/>
          <p:nvPr/>
        </p:nvSpPr>
        <p:spPr>
          <a:xfrm>
            <a:off x="2594130" y="3561159"/>
            <a:ext cx="438364" cy="171450"/>
          </a:xfrm>
          <a:prstGeom prst="rect">
            <a:avLst/>
          </a:prstGeom>
          <a:solidFill>
            <a:srgbClr val="DCFCE7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280" y="3607594"/>
            <a:ext cx="78581" cy="78581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2758436" y="3589734"/>
            <a:ext cx="21690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66534"/>
                </a:solidFill>
              </a:rPr>
              <a:t>발송됨</a:t>
            </a:r>
            <a:endParaRPr lang="en-US" sz="534" dirty="0"/>
          </a:p>
        </p:txBody>
      </p:sp>
      <p:sp>
        <p:nvSpPr>
          <p:cNvPr id="46" name="Text 38"/>
          <p:cNvSpPr/>
          <p:nvPr/>
        </p:nvSpPr>
        <p:spPr>
          <a:xfrm>
            <a:off x="1003669" y="3775472"/>
            <a:ext cx="9978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</a:rPr>
              <a:t>22.5 공수 (단가 230,000)</a:t>
            </a:r>
            <a:endParaRPr lang="en-US" sz="674" dirty="0"/>
          </a:p>
        </p:txBody>
      </p:sp>
      <p:sp>
        <p:nvSpPr>
          <p:cNvPr id="47" name="Text 39"/>
          <p:cNvSpPr/>
          <p:nvPr/>
        </p:nvSpPr>
        <p:spPr>
          <a:xfrm>
            <a:off x="1003669" y="3968353"/>
            <a:ext cx="3417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</a:rPr>
              <a:t>실지급액</a:t>
            </a:r>
            <a:endParaRPr lang="en-US" sz="674" dirty="0"/>
          </a:p>
        </p:txBody>
      </p:sp>
      <p:sp>
        <p:nvSpPr>
          <p:cNvPr id="48" name="Text 40"/>
          <p:cNvSpPr/>
          <p:nvPr/>
        </p:nvSpPr>
        <p:spPr>
          <a:xfrm>
            <a:off x="2397203" y="3954066"/>
            <a:ext cx="63529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4,980,500원</a:t>
            </a:r>
            <a:endParaRPr lang="en-US" sz="784" dirty="0"/>
          </a:p>
        </p:txBody>
      </p:sp>
      <p:sp>
        <p:nvSpPr>
          <p:cNvPr id="49" name="Shape 41"/>
          <p:cNvSpPr/>
          <p:nvPr/>
        </p:nvSpPr>
        <p:spPr>
          <a:xfrm>
            <a:off x="4007616" y="1437373"/>
            <a:ext cx="4850606" cy="114260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4093341" y="153917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1" name="Text 43"/>
          <p:cNvSpPr/>
          <p:nvPr/>
        </p:nvSpPr>
        <p:spPr>
          <a:xfrm>
            <a:off x="4093341" y="153917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52" name="Text 44"/>
          <p:cNvSpPr/>
          <p:nvPr/>
        </p:nvSpPr>
        <p:spPr>
          <a:xfrm>
            <a:off x="4407666" y="1530241"/>
            <a:ext cx="238852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월간 집계 데이터 (Monthly Aggregation)</a:t>
            </a:r>
            <a:endParaRPr lang="en-US" sz="885" dirty="0"/>
          </a:p>
        </p:txBody>
      </p:sp>
      <p:sp>
        <p:nvSpPr>
          <p:cNvPr id="53" name="Text 45"/>
          <p:cNvSpPr/>
          <p:nvPr/>
        </p:nvSpPr>
        <p:spPr>
          <a:xfrm>
            <a:off x="4093341" y="1776701"/>
            <a:ext cx="467915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집계 기준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해당 월 1일 ~ 말일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포함 대상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'출역 승인' 완료된 건만 합산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데이터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총 인원, 총 공수, 총 예상 지급액 (세전/세후)</a:t>
            </a:r>
            <a:endParaRPr lang="en-US" sz="727" dirty="0"/>
          </a:p>
        </p:txBody>
      </p:sp>
      <p:sp>
        <p:nvSpPr>
          <p:cNvPr id="54" name="Shape 46"/>
          <p:cNvSpPr/>
          <p:nvPr/>
        </p:nvSpPr>
        <p:spPr>
          <a:xfrm>
            <a:off x="4093341" y="2299590"/>
            <a:ext cx="2232394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4093341" y="2299590"/>
            <a:ext cx="2232394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/api/site/wages/monthly?year=2024&amp;month=01</a:t>
            </a:r>
            <a:endParaRPr lang="en-US" sz="621" dirty="0"/>
          </a:p>
        </p:txBody>
      </p:sp>
      <p:sp>
        <p:nvSpPr>
          <p:cNvPr id="56" name="Shape 48"/>
          <p:cNvSpPr/>
          <p:nvPr/>
        </p:nvSpPr>
        <p:spPr>
          <a:xfrm>
            <a:off x="4007616" y="2651420"/>
            <a:ext cx="4850606" cy="91222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4093341" y="275321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8" name="Text 50"/>
          <p:cNvSpPr/>
          <p:nvPr/>
        </p:nvSpPr>
        <p:spPr>
          <a:xfrm>
            <a:off x="4093341" y="275321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9" name="Text 51"/>
          <p:cNvSpPr/>
          <p:nvPr/>
        </p:nvSpPr>
        <p:spPr>
          <a:xfrm>
            <a:off x="4407666" y="2744288"/>
            <a:ext cx="162266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급여 계산 로직 (Calculation)</a:t>
            </a:r>
            <a:endParaRPr lang="en-US" sz="885" dirty="0"/>
          </a:p>
        </p:txBody>
      </p:sp>
      <p:sp>
        <p:nvSpPr>
          <p:cNvPr id="60" name="Text 52"/>
          <p:cNvSpPr/>
          <p:nvPr/>
        </p:nvSpPr>
        <p:spPr>
          <a:xfrm>
            <a:off x="4093341" y="2990748"/>
            <a:ext cx="467915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총 급여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= (총 공수 × 일 단가)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공제액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= 소득세(3.3%) + 고용보험(0.9%) 등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실지급액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= 총 급여 - 공제액 합계 (원 단위 절사)</a:t>
            </a:r>
            <a:endParaRPr lang="en-US" sz="727" dirty="0"/>
          </a:p>
        </p:txBody>
      </p:sp>
      <p:sp>
        <p:nvSpPr>
          <p:cNvPr id="61" name="Shape 53"/>
          <p:cNvSpPr/>
          <p:nvPr/>
        </p:nvSpPr>
        <p:spPr>
          <a:xfrm>
            <a:off x="4007616" y="3642224"/>
            <a:ext cx="4850606" cy="114260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4093341" y="374402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55"/>
          <p:cNvSpPr/>
          <p:nvPr/>
        </p:nvSpPr>
        <p:spPr>
          <a:xfrm>
            <a:off x="4093341" y="374402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4" name="Text 56"/>
          <p:cNvSpPr/>
          <p:nvPr/>
        </p:nvSpPr>
        <p:spPr>
          <a:xfrm>
            <a:off x="4407666" y="3735093"/>
            <a:ext cx="126338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명세서 발송 (Sending)</a:t>
            </a:r>
            <a:endParaRPr lang="en-US" sz="885" dirty="0"/>
          </a:p>
        </p:txBody>
      </p:sp>
      <p:sp>
        <p:nvSpPr>
          <p:cNvPr id="65" name="Text 57"/>
          <p:cNvSpPr/>
          <p:nvPr/>
        </p:nvSpPr>
        <p:spPr>
          <a:xfrm>
            <a:off x="4093341" y="3981552"/>
            <a:ext cx="467915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채널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카카오톡 알림톡 또는 SMS (LMS)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내용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상세 내역 조회 링크 포함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상태 변경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미발송 → 발송 중 → 발송 완료 (타임스탬프 기록)</a:t>
            </a:r>
            <a:endParaRPr lang="en-US" sz="727" dirty="0"/>
          </a:p>
        </p:txBody>
      </p:sp>
      <p:sp>
        <p:nvSpPr>
          <p:cNvPr id="66" name="Shape 58"/>
          <p:cNvSpPr/>
          <p:nvPr/>
        </p:nvSpPr>
        <p:spPr>
          <a:xfrm>
            <a:off x="4093341" y="4504441"/>
            <a:ext cx="1381981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7" name="Text 59"/>
          <p:cNvSpPr/>
          <p:nvPr/>
        </p:nvSpPr>
        <p:spPr>
          <a:xfrm>
            <a:off x="4093341" y="4504441"/>
            <a:ext cx="1381981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/api/site/wages/{id}/send</a:t>
            </a:r>
            <a:endParaRPr lang="en-US" sz="62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63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[팀장] 팀 관리 대시보드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팀원 출석율 및 작업 진행 현황 실시간 모니터링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82213" y="1500188"/>
            <a:ext cx="2400300" cy="3364706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11038" y="23574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11038" y="23574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11038" y="307181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11038" y="307181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11038" y="407908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11038" y="407908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39363" y="1500188"/>
            <a:ext cx="2286000" cy="325040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39363" y="1500188"/>
            <a:ext cx="2286000" cy="36075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946519" y="1585913"/>
            <a:ext cx="80085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A팀 (골조공사)</a:t>
            </a:r>
            <a:endParaRPr lang="en-US" sz="885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692" y="1616273"/>
            <a:ext cx="112514" cy="128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25088" y="1946672"/>
            <a:ext cx="21145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2024년 1월 25일 (목)</a:t>
            </a:r>
            <a:endParaRPr lang="en-US" sz="727" dirty="0"/>
          </a:p>
        </p:txBody>
      </p:sp>
      <p:sp>
        <p:nvSpPr>
          <p:cNvPr id="19" name="Shape 15"/>
          <p:cNvSpPr/>
          <p:nvPr/>
        </p:nvSpPr>
        <p:spPr>
          <a:xfrm>
            <a:off x="925088" y="2191345"/>
            <a:ext cx="666741" cy="532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982238" y="2262783"/>
            <a:ext cx="5524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총원</a:t>
            </a:r>
            <a:endParaRPr lang="en-US" sz="621" dirty="0"/>
          </a:p>
        </p:txBody>
      </p:sp>
      <p:sp>
        <p:nvSpPr>
          <p:cNvPr id="21" name="Text 17"/>
          <p:cNvSpPr/>
          <p:nvPr/>
        </p:nvSpPr>
        <p:spPr>
          <a:xfrm>
            <a:off x="982238" y="2418159"/>
            <a:ext cx="5524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</a:rPr>
              <a:t>10</a:t>
            </a:r>
            <a:endParaRPr lang="en-US" sz="1193" dirty="0"/>
          </a:p>
        </p:txBody>
      </p:sp>
      <p:sp>
        <p:nvSpPr>
          <p:cNvPr id="22" name="Shape 18"/>
          <p:cNvSpPr/>
          <p:nvPr/>
        </p:nvSpPr>
        <p:spPr>
          <a:xfrm>
            <a:off x="1648978" y="2191345"/>
            <a:ext cx="666741" cy="532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1706128" y="2262783"/>
            <a:ext cx="5524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출근</a:t>
            </a:r>
            <a:endParaRPr lang="en-US" sz="621" dirty="0"/>
          </a:p>
        </p:txBody>
      </p:sp>
      <p:sp>
        <p:nvSpPr>
          <p:cNvPr id="24" name="Text 20"/>
          <p:cNvSpPr/>
          <p:nvPr/>
        </p:nvSpPr>
        <p:spPr>
          <a:xfrm>
            <a:off x="1706128" y="2418159"/>
            <a:ext cx="5524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8</a:t>
            </a:r>
            <a:endParaRPr lang="en-US" sz="1193" dirty="0"/>
          </a:p>
        </p:txBody>
      </p:sp>
      <p:sp>
        <p:nvSpPr>
          <p:cNvPr id="25" name="Shape 21"/>
          <p:cNvSpPr/>
          <p:nvPr/>
        </p:nvSpPr>
        <p:spPr>
          <a:xfrm>
            <a:off x="2372869" y="2191345"/>
            <a:ext cx="666741" cy="532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2"/>
          <p:cNvSpPr/>
          <p:nvPr/>
        </p:nvSpPr>
        <p:spPr>
          <a:xfrm>
            <a:off x="2430019" y="2262783"/>
            <a:ext cx="5524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결근</a:t>
            </a:r>
            <a:endParaRPr lang="en-US" sz="621" dirty="0"/>
          </a:p>
        </p:txBody>
      </p:sp>
      <p:sp>
        <p:nvSpPr>
          <p:cNvPr id="27" name="Text 23"/>
          <p:cNvSpPr/>
          <p:nvPr/>
        </p:nvSpPr>
        <p:spPr>
          <a:xfrm>
            <a:off x="2430019" y="2418159"/>
            <a:ext cx="5524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F4444"/>
                </a:solidFill>
              </a:rPr>
              <a:t>2</a:t>
            </a:r>
            <a:endParaRPr lang="en-US" sz="1193" dirty="0"/>
          </a:p>
        </p:txBody>
      </p:sp>
      <p:sp>
        <p:nvSpPr>
          <p:cNvPr id="28" name="Shape 24"/>
          <p:cNvSpPr/>
          <p:nvPr/>
        </p:nvSpPr>
        <p:spPr>
          <a:xfrm>
            <a:off x="925088" y="2794992"/>
            <a:ext cx="2114550" cy="6000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5"/>
          <p:cNvSpPr/>
          <p:nvPr/>
        </p:nvSpPr>
        <p:spPr>
          <a:xfrm>
            <a:off x="1010813" y="2880717"/>
            <a:ext cx="19431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금일 작업 진행률</a:t>
            </a:r>
            <a:endParaRPr lang="en-US" sz="683" dirty="0"/>
          </a:p>
        </p:txBody>
      </p:sp>
      <p:sp>
        <p:nvSpPr>
          <p:cNvPr id="30" name="Shape 26"/>
          <p:cNvSpPr/>
          <p:nvPr/>
        </p:nvSpPr>
        <p:spPr>
          <a:xfrm>
            <a:off x="1010813" y="3082528"/>
            <a:ext cx="1943100" cy="5715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31" name="Text 27"/>
          <p:cNvSpPr/>
          <p:nvPr/>
        </p:nvSpPr>
        <p:spPr>
          <a:xfrm>
            <a:off x="1010813" y="3182541"/>
            <a:ext cx="19431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목표 대비 80% 달성</a:t>
            </a:r>
            <a:endParaRPr lang="en-US" sz="621" dirty="0"/>
          </a:p>
        </p:txBody>
      </p:sp>
      <p:sp>
        <p:nvSpPr>
          <p:cNvPr id="32" name="Shape 28"/>
          <p:cNvSpPr/>
          <p:nvPr/>
        </p:nvSpPr>
        <p:spPr>
          <a:xfrm>
            <a:off x="925088" y="3523655"/>
            <a:ext cx="1028700" cy="630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1310850" y="3609380"/>
            <a:ext cx="257175" cy="257175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288" y="3680817"/>
            <a:ext cx="114300" cy="1143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150395" y="3923705"/>
            <a:ext cx="57808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작업일보 작성</a:t>
            </a:r>
            <a:endParaRPr lang="en-US" sz="683" dirty="0"/>
          </a:p>
        </p:txBody>
      </p:sp>
      <p:sp>
        <p:nvSpPr>
          <p:cNvPr id="36" name="Shape 31"/>
          <p:cNvSpPr/>
          <p:nvPr/>
        </p:nvSpPr>
        <p:spPr>
          <a:xfrm>
            <a:off x="2010938" y="3523655"/>
            <a:ext cx="1028700" cy="630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2"/>
          <p:cNvSpPr/>
          <p:nvPr/>
        </p:nvSpPr>
        <p:spPr>
          <a:xfrm>
            <a:off x="2396700" y="3609380"/>
            <a:ext cx="257175" cy="257175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138" y="3680817"/>
            <a:ext cx="114300" cy="1143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2236245" y="3923705"/>
            <a:ext cx="57808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팀원 출역확인</a:t>
            </a:r>
            <a:endParaRPr lang="en-US" sz="683" dirty="0"/>
          </a:p>
        </p:txBody>
      </p:sp>
      <p:sp>
        <p:nvSpPr>
          <p:cNvPr id="40" name="Shape 34"/>
          <p:cNvSpPr/>
          <p:nvPr/>
        </p:nvSpPr>
        <p:spPr>
          <a:xfrm>
            <a:off x="925088" y="4211241"/>
            <a:ext cx="1028700" cy="630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5"/>
          <p:cNvSpPr/>
          <p:nvPr/>
        </p:nvSpPr>
        <p:spPr>
          <a:xfrm>
            <a:off x="1310850" y="4296966"/>
            <a:ext cx="257175" cy="257175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8000" y="4368403"/>
            <a:ext cx="142875" cy="1143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242399" y="4611291"/>
            <a:ext cx="394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팀원 관리</a:t>
            </a:r>
            <a:endParaRPr lang="en-US" sz="683" dirty="0"/>
          </a:p>
        </p:txBody>
      </p:sp>
      <p:sp>
        <p:nvSpPr>
          <p:cNvPr id="44" name="Shape 37"/>
          <p:cNvSpPr/>
          <p:nvPr/>
        </p:nvSpPr>
        <p:spPr>
          <a:xfrm>
            <a:off x="2010938" y="4211241"/>
            <a:ext cx="1028700" cy="630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8"/>
          <p:cNvSpPr/>
          <p:nvPr/>
        </p:nvSpPr>
        <p:spPr>
          <a:xfrm>
            <a:off x="2396700" y="4296966"/>
            <a:ext cx="257175" cy="257175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138" y="4368403"/>
            <a:ext cx="114300" cy="11430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2341252" y="4611291"/>
            <a:ext cx="36807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공지사항</a:t>
            </a:r>
            <a:endParaRPr lang="en-US" sz="683" dirty="0"/>
          </a:p>
        </p:txBody>
      </p:sp>
      <p:sp>
        <p:nvSpPr>
          <p:cNvPr id="48" name="Shape 40"/>
          <p:cNvSpPr/>
          <p:nvPr/>
        </p:nvSpPr>
        <p:spPr>
          <a:xfrm>
            <a:off x="4107628" y="1500188"/>
            <a:ext cx="4750594" cy="112692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4193353" y="1594842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42"/>
          <p:cNvSpPr/>
          <p:nvPr/>
        </p:nvSpPr>
        <p:spPr>
          <a:xfrm>
            <a:off x="4193353" y="1594842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51" name="Text 43"/>
          <p:cNvSpPr/>
          <p:nvPr/>
        </p:nvSpPr>
        <p:spPr>
          <a:xfrm>
            <a:off x="4507678" y="1585913"/>
            <a:ext cx="176358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팀 현황 요약 (Team Overview)</a:t>
            </a:r>
            <a:endParaRPr lang="en-US" sz="885" dirty="0"/>
          </a:p>
        </p:txBody>
      </p:sp>
      <p:sp>
        <p:nvSpPr>
          <p:cNvPr id="52" name="Text 44"/>
          <p:cNvSpPr/>
          <p:nvPr/>
        </p:nvSpPr>
        <p:spPr>
          <a:xfrm>
            <a:off x="4193353" y="1832372"/>
            <a:ext cx="4579144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데이터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본인 소속 팀(A팀)의 금일 배정 인원 기준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출근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현장 출역 승인 완료된 인원 수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결근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미출근 또는 반려된 인원 수</a:t>
            </a:r>
            <a:endParaRPr lang="en-US" sz="727" dirty="0"/>
          </a:p>
        </p:txBody>
      </p:sp>
      <p:sp>
        <p:nvSpPr>
          <p:cNvPr id="53" name="Shape 45"/>
          <p:cNvSpPr/>
          <p:nvPr/>
        </p:nvSpPr>
        <p:spPr>
          <a:xfrm>
            <a:off x="4193353" y="2339578"/>
            <a:ext cx="1392696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4193353" y="2339578"/>
            <a:ext cx="1392696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/api/team/dashboard/stats</a:t>
            </a:r>
            <a:endParaRPr lang="en-US" sz="621" dirty="0"/>
          </a:p>
        </p:txBody>
      </p:sp>
      <p:sp>
        <p:nvSpPr>
          <p:cNvPr id="55" name="Shape 47"/>
          <p:cNvSpPr/>
          <p:nvPr/>
        </p:nvSpPr>
        <p:spPr>
          <a:xfrm>
            <a:off x="4107628" y="2684264"/>
            <a:ext cx="4750594" cy="73223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4193353" y="277891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7" name="Text 49"/>
          <p:cNvSpPr/>
          <p:nvPr/>
        </p:nvSpPr>
        <p:spPr>
          <a:xfrm>
            <a:off x="4193353" y="277891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8" name="Text 50"/>
          <p:cNvSpPr/>
          <p:nvPr/>
        </p:nvSpPr>
        <p:spPr>
          <a:xfrm>
            <a:off x="4507678" y="2769989"/>
            <a:ext cx="167562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작업 진행률 (Work Progress)</a:t>
            </a:r>
            <a:endParaRPr lang="en-US" sz="885" dirty="0"/>
          </a:p>
        </p:txBody>
      </p:sp>
      <p:sp>
        <p:nvSpPr>
          <p:cNvPr id="59" name="Text 51"/>
          <p:cNvSpPr/>
          <p:nvPr/>
        </p:nvSpPr>
        <p:spPr>
          <a:xfrm>
            <a:off x="4193353" y="3016448"/>
            <a:ext cx="457914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입력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작업일보 작성 시 입력한 진행률 연동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표시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전일 대비 증가량 또는 금일 목표치 시각화</a:t>
            </a:r>
            <a:endParaRPr lang="en-US" sz="727" dirty="0"/>
          </a:p>
        </p:txBody>
      </p:sp>
      <p:sp>
        <p:nvSpPr>
          <p:cNvPr id="60" name="Shape 52"/>
          <p:cNvSpPr/>
          <p:nvPr/>
        </p:nvSpPr>
        <p:spPr>
          <a:xfrm>
            <a:off x="4107628" y="3487936"/>
            <a:ext cx="4750594" cy="88225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4193353" y="358259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2" name="Text 54"/>
          <p:cNvSpPr/>
          <p:nvPr/>
        </p:nvSpPr>
        <p:spPr>
          <a:xfrm>
            <a:off x="4193353" y="358259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3" name="Text 55"/>
          <p:cNvSpPr/>
          <p:nvPr/>
        </p:nvSpPr>
        <p:spPr>
          <a:xfrm>
            <a:off x="4507678" y="3573661"/>
            <a:ext cx="139211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퀵 메뉴 (Quick Actions)</a:t>
            </a:r>
            <a:endParaRPr lang="en-US" sz="885" dirty="0"/>
          </a:p>
        </p:txBody>
      </p:sp>
      <p:sp>
        <p:nvSpPr>
          <p:cNvPr id="64" name="Text 56"/>
          <p:cNvSpPr/>
          <p:nvPr/>
        </p:nvSpPr>
        <p:spPr>
          <a:xfrm>
            <a:off x="4193353" y="3820120"/>
            <a:ext cx="4579144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작업일보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금일 일보 미작성 시 '작성 필요' 배지 노출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출역확인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팀원들의 출퇴근 시간 상세 조회 화면 이동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팀원관리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팀원 연락처 조회 및 전화 걸기 기능</a:t>
            </a:r>
            <a:endParaRPr lang="en-US" sz="727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428625"/>
            <a:ext cx="880110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71450" y="1228725"/>
            <a:ext cx="88011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171450" y="428625"/>
            <a:ext cx="88011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[팀장] 작업일보 작성 및 사진 첨부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171450" y="935831"/>
            <a:ext cx="88011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금일 작업 내용 기록 및 현장 사진 증빙 업로드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5322" y="1371600"/>
            <a:ext cx="2400300" cy="3543300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02722" y="23717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02722" y="23717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02722" y="32289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02722" y="32289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02722" y="394335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02722" y="3943350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02472" y="1371600"/>
            <a:ext cx="2286000" cy="3429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02472" y="1371600"/>
            <a:ext cx="2286000" cy="3357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197" y="1482328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27618" y="1457325"/>
            <a:ext cx="66065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작업일보 작성</a:t>
            </a:r>
            <a:endParaRPr lang="en-US" sz="784" dirty="0"/>
          </a:p>
        </p:txBody>
      </p:sp>
      <p:sp>
        <p:nvSpPr>
          <p:cNvPr id="18" name="Text 14"/>
          <p:cNvSpPr/>
          <p:nvPr/>
        </p:nvSpPr>
        <p:spPr>
          <a:xfrm>
            <a:off x="2727685" y="1468041"/>
            <a:ext cx="275034" cy="142875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b="1" dirty="0">
                <a:solidFill>
                  <a:srgbClr val="FFFFFF"/>
                </a:solidFill>
              </a:rPr>
              <a:t>제출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888197" y="1793081"/>
            <a:ext cx="2114550" cy="29289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634" y="1891308"/>
            <a:ext cx="82153" cy="9286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41788" y="1873448"/>
            <a:ext cx="6642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2024.01.25 (목)</a:t>
            </a:r>
            <a:endParaRPr lang="en-US" sz="674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474" y="1891308"/>
            <a:ext cx="116086" cy="9286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560560" y="1873448"/>
            <a:ext cx="370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맑음 5°C</a:t>
            </a:r>
            <a:endParaRPr lang="en-US" sz="674" dirty="0"/>
          </a:p>
        </p:txBody>
      </p:sp>
      <p:sp>
        <p:nvSpPr>
          <p:cNvPr id="24" name="Text 18"/>
          <p:cNvSpPr/>
          <p:nvPr/>
        </p:nvSpPr>
        <p:spPr>
          <a:xfrm>
            <a:off x="888197" y="2171700"/>
            <a:ext cx="21145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작업 내용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F4444"/>
                </a:solidFill>
              </a:rPr>
              <a:t>*</a:t>
            </a:r>
            <a:endParaRPr lang="en-US" sz="683" dirty="0"/>
          </a:p>
        </p:txBody>
      </p:sp>
      <p:sp>
        <p:nvSpPr>
          <p:cNvPr id="25" name="Text 19"/>
          <p:cNvSpPr/>
          <p:nvPr/>
        </p:nvSpPr>
        <p:spPr>
          <a:xfrm>
            <a:off x="888197" y="2930723"/>
            <a:ext cx="21145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총 투입 공수</a:t>
            </a:r>
            <a:endParaRPr lang="en-US" sz="683" dirty="0"/>
          </a:p>
        </p:txBody>
      </p:sp>
      <p:sp>
        <p:nvSpPr>
          <p:cNvPr id="26" name="Shape 20"/>
          <p:cNvSpPr/>
          <p:nvPr/>
        </p:nvSpPr>
        <p:spPr>
          <a:xfrm>
            <a:off x="888197" y="3132534"/>
            <a:ext cx="1191946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45347" y="3189684"/>
            <a:ext cx="228600" cy="228600"/>
          </a:xfrm>
          <a:prstGeom prst="ellipse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497" y="3246834"/>
            <a:ext cx="100013" cy="1143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45384" y="3226296"/>
            <a:ext cx="1649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8.5</a:t>
            </a:r>
            <a:endParaRPr lang="en-US" sz="784" dirty="0"/>
          </a:p>
        </p:txBody>
      </p:sp>
      <p:sp>
        <p:nvSpPr>
          <p:cNvPr id="30" name="Shape 23"/>
          <p:cNvSpPr/>
          <p:nvPr/>
        </p:nvSpPr>
        <p:spPr>
          <a:xfrm>
            <a:off x="1496058" y="3189684"/>
            <a:ext cx="228600" cy="228600"/>
          </a:xfrm>
          <a:prstGeom prst="ellipse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3208" y="3239691"/>
            <a:ext cx="100013" cy="1143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796095" y="3224510"/>
            <a:ext cx="18403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공수</a:t>
            </a:r>
            <a:endParaRPr lang="en-US" sz="727" dirty="0"/>
          </a:p>
        </p:txBody>
      </p:sp>
      <p:sp>
        <p:nvSpPr>
          <p:cNvPr id="33" name="Text 25"/>
          <p:cNvSpPr/>
          <p:nvPr/>
        </p:nvSpPr>
        <p:spPr>
          <a:xfrm>
            <a:off x="888197" y="3561159"/>
            <a:ext cx="21145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현장 사진 (2/5)</a:t>
            </a:r>
            <a:endParaRPr lang="en-US" sz="683" dirty="0"/>
          </a:p>
        </p:txBody>
      </p:sp>
      <p:sp>
        <p:nvSpPr>
          <p:cNvPr id="34" name="Shape 26"/>
          <p:cNvSpPr/>
          <p:nvPr/>
        </p:nvSpPr>
        <p:spPr>
          <a:xfrm>
            <a:off x="888197" y="3762970"/>
            <a:ext cx="442913" cy="442913"/>
          </a:xfrm>
          <a:prstGeom prst="rect">
            <a:avLst/>
          </a:prstGeom>
          <a:solidFill>
            <a:srgbClr val="EFF6FF"/>
          </a:solidFill>
          <a:ln w="9144">
            <a:solidFill>
              <a:srgbClr val="3B82F6"/>
            </a:solidFill>
            <a:prstDash val="dash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16" y="3835301"/>
            <a:ext cx="128588" cy="1285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023621" y="3992463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추가</a:t>
            </a:r>
            <a:endParaRPr lang="en-US" sz="621" dirty="0"/>
          </a:p>
        </p:txBody>
      </p:sp>
      <p:sp>
        <p:nvSpPr>
          <p:cNvPr id="37" name="Shape 28"/>
          <p:cNvSpPr/>
          <p:nvPr/>
        </p:nvSpPr>
        <p:spPr>
          <a:xfrm>
            <a:off x="1373972" y="3762970"/>
            <a:ext cx="428625" cy="4286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8" name="Shape 29"/>
          <p:cNvSpPr/>
          <p:nvPr/>
        </p:nvSpPr>
        <p:spPr>
          <a:xfrm>
            <a:off x="1674009" y="3777258"/>
            <a:ext cx="114300" cy="114300"/>
          </a:xfrm>
          <a:prstGeom prst="ellipse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8835" y="3798689"/>
            <a:ext cx="44648" cy="71438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1859747" y="3762970"/>
            <a:ext cx="428625" cy="4286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Shape 31"/>
          <p:cNvSpPr/>
          <p:nvPr/>
        </p:nvSpPr>
        <p:spPr>
          <a:xfrm>
            <a:off x="2159784" y="3777258"/>
            <a:ext cx="114300" cy="114300"/>
          </a:xfrm>
          <a:prstGeom prst="ellipse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4610" y="3798689"/>
            <a:ext cx="44648" cy="71438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4005244" y="1371600"/>
            <a:ext cx="4967306" cy="75221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4090969" y="146625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34"/>
          <p:cNvSpPr/>
          <p:nvPr/>
        </p:nvSpPr>
        <p:spPr>
          <a:xfrm>
            <a:off x="4090969" y="146625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46" name="Text 35"/>
          <p:cNvSpPr/>
          <p:nvPr/>
        </p:nvSpPr>
        <p:spPr>
          <a:xfrm>
            <a:off x="4405294" y="1457325"/>
            <a:ext cx="180499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작업 내용 입력 (Content Input)</a:t>
            </a:r>
            <a:endParaRPr lang="en-US" sz="885" dirty="0"/>
          </a:p>
        </p:txBody>
      </p:sp>
      <p:sp>
        <p:nvSpPr>
          <p:cNvPr id="47" name="Text 36"/>
          <p:cNvSpPr/>
          <p:nvPr/>
        </p:nvSpPr>
        <p:spPr>
          <a:xfrm>
            <a:off x="4090969" y="1703784"/>
            <a:ext cx="479585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필수 입력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최소 10자 이상 입력 검사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자동 저장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입력 중 로컬에 임시 저장</a:t>
            </a:r>
            <a:endParaRPr lang="en-US" sz="727" dirty="0"/>
          </a:p>
        </p:txBody>
      </p:sp>
      <p:sp>
        <p:nvSpPr>
          <p:cNvPr id="48" name="Shape 37"/>
          <p:cNvSpPr/>
          <p:nvPr/>
        </p:nvSpPr>
        <p:spPr>
          <a:xfrm>
            <a:off x="4005244" y="2223827"/>
            <a:ext cx="4967306" cy="75221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4090969" y="2318482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39"/>
          <p:cNvSpPr/>
          <p:nvPr/>
        </p:nvSpPr>
        <p:spPr>
          <a:xfrm>
            <a:off x="4090969" y="2318482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1" name="Text 40"/>
          <p:cNvSpPr/>
          <p:nvPr/>
        </p:nvSpPr>
        <p:spPr>
          <a:xfrm>
            <a:off x="4405294" y="2309552"/>
            <a:ext cx="132293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공수 입력 (Man-hours)</a:t>
            </a:r>
            <a:endParaRPr lang="en-US" sz="885" dirty="0"/>
          </a:p>
        </p:txBody>
      </p:sp>
      <p:sp>
        <p:nvSpPr>
          <p:cNvPr id="52" name="Text 41"/>
          <p:cNvSpPr/>
          <p:nvPr/>
        </p:nvSpPr>
        <p:spPr>
          <a:xfrm>
            <a:off x="4090969" y="2556011"/>
            <a:ext cx="479585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기본값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승인된 팀원 공수 합계 자동 계산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수정 가능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수동 조정 허용</a:t>
            </a:r>
            <a:endParaRPr lang="en-US" sz="727" dirty="0"/>
          </a:p>
        </p:txBody>
      </p:sp>
      <p:sp>
        <p:nvSpPr>
          <p:cNvPr id="53" name="Shape 42"/>
          <p:cNvSpPr/>
          <p:nvPr/>
        </p:nvSpPr>
        <p:spPr>
          <a:xfrm>
            <a:off x="4005244" y="3076054"/>
            <a:ext cx="4967306" cy="98260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4090969" y="317070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5" name="Text 44"/>
          <p:cNvSpPr/>
          <p:nvPr/>
        </p:nvSpPr>
        <p:spPr>
          <a:xfrm>
            <a:off x="4090969" y="317070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56" name="Text 45"/>
          <p:cNvSpPr/>
          <p:nvPr/>
        </p:nvSpPr>
        <p:spPr>
          <a:xfrm>
            <a:off x="4405294" y="3161779"/>
            <a:ext cx="161571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사진 업로드 (Photo Upload)</a:t>
            </a:r>
            <a:endParaRPr lang="en-US" sz="885" dirty="0"/>
          </a:p>
        </p:txBody>
      </p:sp>
      <p:sp>
        <p:nvSpPr>
          <p:cNvPr id="57" name="Text 46"/>
          <p:cNvSpPr/>
          <p:nvPr/>
        </p:nvSpPr>
        <p:spPr>
          <a:xfrm>
            <a:off x="4090969" y="3408238"/>
            <a:ext cx="479585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제한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최대 5장, 장당 10MB 이하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전송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Multipart/form-data → S3 업로드</a:t>
            </a:r>
            <a:endParaRPr lang="en-US" sz="727" dirty="0"/>
          </a:p>
        </p:txBody>
      </p:sp>
      <p:sp>
        <p:nvSpPr>
          <p:cNvPr id="58" name="Shape 47"/>
          <p:cNvSpPr/>
          <p:nvPr/>
        </p:nvSpPr>
        <p:spPr>
          <a:xfrm>
            <a:off x="4090969" y="3771119"/>
            <a:ext cx="1084622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4090969" y="3771119"/>
            <a:ext cx="1084622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/api/team/reports</a:t>
            </a:r>
            <a:endParaRPr lang="en-US" sz="62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57300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[팀장] 팀원 출역 확인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팀원들의 실시간 출근 현황 조회 및 미출근자 연락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26861" y="1471613"/>
            <a:ext cx="2400300" cy="3400425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5686" y="237886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55686" y="237886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55686" y="309324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55686" y="3093244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55686" y="380761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55686" y="380761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84011" y="1521619"/>
            <a:ext cx="2286000" cy="32861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84011" y="1521619"/>
            <a:ext cx="2286000" cy="3357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736" y="1632347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74679" y="1607344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팀원 출역 현황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986" y="1632347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84011" y="1857375"/>
            <a:ext cx="228600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84011" y="2193131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548" y="1968103"/>
            <a:ext cx="71438" cy="1143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26710" y="1943100"/>
            <a:ext cx="80057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2024.01.25 (목)</a:t>
            </a:r>
            <a:endParaRPr lang="en-US" sz="784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3009" y="1968103"/>
            <a:ext cx="71438" cy="1143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84011" y="2193131"/>
            <a:ext cx="2286000" cy="28575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Shape 18"/>
          <p:cNvSpPr/>
          <p:nvPr/>
        </p:nvSpPr>
        <p:spPr>
          <a:xfrm>
            <a:off x="884011" y="2471738"/>
            <a:ext cx="2286000" cy="714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6" name="Text 19"/>
          <p:cNvSpPr/>
          <p:nvPr/>
        </p:nvSpPr>
        <p:spPr>
          <a:xfrm>
            <a:off x="969736" y="2264569"/>
            <a:ext cx="4126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총원: 10명</a:t>
            </a:r>
            <a:endParaRPr lang="en-US" sz="634" dirty="0"/>
          </a:p>
        </p:txBody>
      </p:sp>
      <p:sp>
        <p:nvSpPr>
          <p:cNvPr id="27" name="Text 20"/>
          <p:cNvSpPr/>
          <p:nvPr/>
        </p:nvSpPr>
        <p:spPr>
          <a:xfrm>
            <a:off x="2417239" y="2264569"/>
            <a:ext cx="6670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출근 8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 /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F4444"/>
                </a:solidFill>
              </a:rPr>
              <a:t>미출근 2</a:t>
            </a:r>
            <a:endParaRPr lang="en-US" sz="634" dirty="0"/>
          </a:p>
        </p:txBody>
      </p:sp>
      <p:sp>
        <p:nvSpPr>
          <p:cNvPr id="28" name="Shape 21"/>
          <p:cNvSpPr/>
          <p:nvPr/>
        </p:nvSpPr>
        <p:spPr>
          <a:xfrm>
            <a:off x="941161" y="2528888"/>
            <a:ext cx="2171700" cy="49649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26886" y="2614613"/>
            <a:ext cx="7883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김철수</a:t>
            </a:r>
            <a:endParaRPr lang="en-US" sz="734" dirty="0"/>
          </a:p>
        </p:txBody>
      </p:sp>
      <p:sp>
        <p:nvSpPr>
          <p:cNvPr id="30" name="Text 23"/>
          <p:cNvSpPr/>
          <p:nvPr/>
        </p:nvSpPr>
        <p:spPr>
          <a:xfrm>
            <a:off x="1026886" y="2798564"/>
            <a:ext cx="7883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06:45 출근 (안면인식)</a:t>
            </a:r>
            <a:endParaRPr lang="en-US" sz="621" dirty="0"/>
          </a:p>
        </p:txBody>
      </p:sp>
      <p:sp>
        <p:nvSpPr>
          <p:cNvPr id="31" name="Shape 24"/>
          <p:cNvSpPr/>
          <p:nvPr/>
        </p:nvSpPr>
        <p:spPr>
          <a:xfrm>
            <a:off x="2555649" y="2678013"/>
            <a:ext cx="471488" cy="18395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2" name="Text 25"/>
          <p:cNvSpPr/>
          <p:nvPr/>
        </p:nvSpPr>
        <p:spPr>
          <a:xfrm>
            <a:off x="2555649" y="2678013"/>
            <a:ext cx="471488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정상</a:t>
            </a:r>
            <a:endParaRPr lang="en-US" sz="584" dirty="0"/>
          </a:p>
        </p:txBody>
      </p:sp>
      <p:sp>
        <p:nvSpPr>
          <p:cNvPr id="33" name="Shape 26"/>
          <p:cNvSpPr/>
          <p:nvPr/>
        </p:nvSpPr>
        <p:spPr>
          <a:xfrm>
            <a:off x="941161" y="3068241"/>
            <a:ext cx="2171700" cy="49649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1026886" y="3153966"/>
            <a:ext cx="7883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이영희</a:t>
            </a:r>
            <a:endParaRPr lang="en-US" sz="734" dirty="0"/>
          </a:p>
        </p:txBody>
      </p:sp>
      <p:sp>
        <p:nvSpPr>
          <p:cNvPr id="35" name="Text 28"/>
          <p:cNvSpPr/>
          <p:nvPr/>
        </p:nvSpPr>
        <p:spPr>
          <a:xfrm>
            <a:off x="1026886" y="3337917"/>
            <a:ext cx="7883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06:52 출근 (안면인식)</a:t>
            </a:r>
            <a:endParaRPr lang="en-US" sz="621" dirty="0"/>
          </a:p>
        </p:txBody>
      </p:sp>
      <p:sp>
        <p:nvSpPr>
          <p:cNvPr id="36" name="Shape 29"/>
          <p:cNvSpPr/>
          <p:nvPr/>
        </p:nvSpPr>
        <p:spPr>
          <a:xfrm>
            <a:off x="2555649" y="3217366"/>
            <a:ext cx="471488" cy="18395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7" name="Text 30"/>
          <p:cNvSpPr/>
          <p:nvPr/>
        </p:nvSpPr>
        <p:spPr>
          <a:xfrm>
            <a:off x="2555649" y="3217366"/>
            <a:ext cx="471488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정상</a:t>
            </a:r>
            <a:endParaRPr lang="en-US" sz="584" dirty="0"/>
          </a:p>
        </p:txBody>
      </p:sp>
      <p:sp>
        <p:nvSpPr>
          <p:cNvPr id="38" name="Shape 31"/>
          <p:cNvSpPr/>
          <p:nvPr/>
        </p:nvSpPr>
        <p:spPr>
          <a:xfrm>
            <a:off x="941161" y="3607594"/>
            <a:ext cx="2171700" cy="49649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1026886" y="3693319"/>
            <a:ext cx="5177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박민수</a:t>
            </a:r>
            <a:endParaRPr lang="en-US" sz="734" dirty="0"/>
          </a:p>
        </p:txBody>
      </p:sp>
      <p:sp>
        <p:nvSpPr>
          <p:cNvPr id="40" name="Text 33"/>
          <p:cNvSpPr/>
          <p:nvPr/>
        </p:nvSpPr>
        <p:spPr>
          <a:xfrm>
            <a:off x="1026886" y="3877270"/>
            <a:ext cx="51778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F4444"/>
                </a:solidFill>
              </a:rPr>
              <a:t>출근 기록 없음</a:t>
            </a:r>
            <a:endParaRPr lang="en-US" sz="621" dirty="0"/>
          </a:p>
        </p:txBody>
      </p:sp>
      <p:sp>
        <p:nvSpPr>
          <p:cNvPr id="41" name="Shape 34"/>
          <p:cNvSpPr/>
          <p:nvPr/>
        </p:nvSpPr>
        <p:spPr>
          <a:xfrm>
            <a:off x="2212749" y="3756720"/>
            <a:ext cx="471488" cy="1839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2" name="Text 35"/>
          <p:cNvSpPr/>
          <p:nvPr/>
        </p:nvSpPr>
        <p:spPr>
          <a:xfrm>
            <a:off x="2212749" y="3756720"/>
            <a:ext cx="471488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91B1B"/>
                </a:solidFill>
              </a:rPr>
              <a:t>미출근</a:t>
            </a:r>
            <a:endParaRPr lang="en-US" sz="584" dirty="0"/>
          </a:p>
        </p:txBody>
      </p:sp>
      <p:sp>
        <p:nvSpPr>
          <p:cNvPr id="43" name="Shape 36"/>
          <p:cNvSpPr/>
          <p:nvPr/>
        </p:nvSpPr>
        <p:spPr>
          <a:xfrm>
            <a:off x="2755674" y="3712964"/>
            <a:ext cx="271463" cy="271463"/>
          </a:xfrm>
          <a:prstGeom prst="ellipse">
            <a:avLst/>
          </a:prstGeom>
          <a:solidFill>
            <a:srgbClr val="EFF6FF"/>
          </a:solidFill>
          <a:ln w="9144">
            <a:solidFill>
              <a:srgbClr val="DBEAFE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1399" y="3791545"/>
            <a:ext cx="114300" cy="114300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3982613" y="1633240"/>
            <a:ext cx="4875609" cy="112692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4068338" y="17350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Text 39"/>
          <p:cNvSpPr/>
          <p:nvPr/>
        </p:nvSpPr>
        <p:spPr>
          <a:xfrm>
            <a:off x="4068338" y="17350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48" name="Text 40"/>
          <p:cNvSpPr/>
          <p:nvPr/>
        </p:nvSpPr>
        <p:spPr>
          <a:xfrm>
            <a:off x="4368375" y="1726109"/>
            <a:ext cx="20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실시간 출역 리스트 (Real-time List)</a:t>
            </a:r>
            <a:endParaRPr lang="en-US" sz="885" dirty="0"/>
          </a:p>
        </p:txBody>
      </p:sp>
      <p:sp>
        <p:nvSpPr>
          <p:cNvPr id="49" name="Text 41"/>
          <p:cNvSpPr/>
          <p:nvPr/>
        </p:nvSpPr>
        <p:spPr>
          <a:xfrm>
            <a:off x="4068338" y="1972568"/>
            <a:ext cx="470415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정렬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미출근 인원 상단 노출 &gt; 출근 시간순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상태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정상(녹색), 지각(노랑), 미출근(빨강)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출처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현장 안면인식 단말기 또는 GPS 앱 출근 데이터</a:t>
            </a:r>
            <a:endParaRPr lang="en-US" sz="727" dirty="0"/>
          </a:p>
        </p:txBody>
      </p:sp>
      <p:sp>
        <p:nvSpPr>
          <p:cNvPr id="50" name="Shape 42"/>
          <p:cNvSpPr/>
          <p:nvPr/>
        </p:nvSpPr>
        <p:spPr>
          <a:xfrm>
            <a:off x="4068338" y="2479774"/>
            <a:ext cx="2125573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4068338" y="2479774"/>
            <a:ext cx="212557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/api/team/attendance/daily?date=2024-01-25</a:t>
            </a:r>
            <a:endParaRPr lang="en-US" sz="621" dirty="0"/>
          </a:p>
        </p:txBody>
      </p:sp>
      <p:sp>
        <p:nvSpPr>
          <p:cNvPr id="52" name="Shape 44"/>
          <p:cNvSpPr/>
          <p:nvPr/>
        </p:nvSpPr>
        <p:spPr>
          <a:xfrm>
            <a:off x="3982613" y="2831604"/>
            <a:ext cx="4875609" cy="88225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4068338" y="2933402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4" name="Text 46"/>
          <p:cNvSpPr/>
          <p:nvPr/>
        </p:nvSpPr>
        <p:spPr>
          <a:xfrm>
            <a:off x="4068338" y="2933402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5" name="Text 47"/>
          <p:cNvSpPr/>
          <p:nvPr/>
        </p:nvSpPr>
        <p:spPr>
          <a:xfrm>
            <a:off x="4368375" y="2924473"/>
            <a:ext cx="15425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연락하기 (Contact Action)</a:t>
            </a:r>
            <a:endParaRPr lang="en-US" sz="885" dirty="0"/>
          </a:p>
        </p:txBody>
      </p:sp>
      <p:sp>
        <p:nvSpPr>
          <p:cNvPr id="56" name="Text 48"/>
          <p:cNvSpPr/>
          <p:nvPr/>
        </p:nvSpPr>
        <p:spPr>
          <a:xfrm>
            <a:off x="4068338" y="3170932"/>
            <a:ext cx="470415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대상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'미출근' 또는 '지각' 상태인 팀원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기능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전화 아이콘 클릭 시 시스템 다이얼러 호출 (tel: scheme)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목적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출근 여부 및 위치 파악</a:t>
            </a:r>
            <a:endParaRPr lang="en-US" sz="727" dirty="0"/>
          </a:p>
        </p:txBody>
      </p:sp>
      <p:sp>
        <p:nvSpPr>
          <p:cNvPr id="57" name="Shape 49"/>
          <p:cNvSpPr/>
          <p:nvPr/>
        </p:nvSpPr>
        <p:spPr>
          <a:xfrm>
            <a:off x="3982613" y="3792438"/>
            <a:ext cx="4875609" cy="88225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4068338" y="389423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9" name="Text 51"/>
          <p:cNvSpPr/>
          <p:nvPr/>
        </p:nvSpPr>
        <p:spPr>
          <a:xfrm>
            <a:off x="4068338" y="3894237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0" name="Text 52"/>
          <p:cNvSpPr/>
          <p:nvPr/>
        </p:nvSpPr>
        <p:spPr>
          <a:xfrm>
            <a:off x="4368375" y="3885307"/>
            <a:ext cx="213006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수기 정정 요청 (Correction Request)</a:t>
            </a:r>
            <a:endParaRPr lang="en-US" sz="885" dirty="0"/>
          </a:p>
        </p:txBody>
      </p:sp>
      <p:sp>
        <p:nvSpPr>
          <p:cNvPr id="61" name="Text 53"/>
          <p:cNvSpPr/>
          <p:nvPr/>
        </p:nvSpPr>
        <p:spPr>
          <a:xfrm>
            <a:off x="4068338" y="4131766"/>
            <a:ext cx="470415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상황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기기 오류로 출근 기록이 누락된 경우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방법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해당 인원 롱프레스 &gt; '수기 출근 요청' 팝업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승인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현장 관리자 승인 후 반영</a:t>
            </a:r>
            <a:endParaRPr lang="en-US" sz="727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77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2872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[노무자] 개인 대시보드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나의 이번 달 총 공수, 예상 급여, 최근 출역 현장 조회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29847" y="1300163"/>
            <a:ext cx="2400300" cy="3829050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87247" y="23717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87247" y="23717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87247" y="34432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87247" y="344328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87247" y="42005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87247" y="42005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86997" y="1300163"/>
            <a:ext cx="2286000" cy="37147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886997" y="1300163"/>
            <a:ext cx="2286000" cy="346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972722" y="1385888"/>
            <a:ext cx="6834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SmartCON</a:t>
            </a:r>
            <a:endParaRPr lang="en-US" sz="885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758" y="1409105"/>
            <a:ext cx="112514" cy="128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87010" y="1746647"/>
            <a:ext cx="20859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김철수님,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오늘도 안전작업하세요!</a:t>
            </a:r>
            <a:endParaRPr lang="en-US" sz="987" dirty="0"/>
          </a:p>
        </p:txBody>
      </p:sp>
      <p:sp>
        <p:nvSpPr>
          <p:cNvPr id="19" name="Text 15"/>
          <p:cNvSpPr/>
          <p:nvPr/>
        </p:nvSpPr>
        <p:spPr>
          <a:xfrm>
            <a:off x="987010" y="2175272"/>
            <a:ext cx="20859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조적공 | A팀</a:t>
            </a:r>
            <a:endParaRPr lang="en-US" sz="727" dirty="0"/>
          </a:p>
        </p:txBody>
      </p:sp>
      <p:sp>
        <p:nvSpPr>
          <p:cNvPr id="20" name="Shape 16"/>
          <p:cNvSpPr/>
          <p:nvPr/>
        </p:nvSpPr>
        <p:spPr>
          <a:xfrm>
            <a:off x="987010" y="2434233"/>
            <a:ext cx="2085975" cy="96083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7"/>
          <p:cNvSpPr/>
          <p:nvPr/>
        </p:nvSpPr>
        <p:spPr>
          <a:xfrm>
            <a:off x="1101310" y="2548533"/>
            <a:ext cx="18573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90000"/>
                  </a:srgbClr>
                </a:solidFill>
              </a:rPr>
              <a:t>2024년 1월 누적</a:t>
            </a:r>
            <a:endParaRPr lang="en-US" sz="727" dirty="0"/>
          </a:p>
        </p:txBody>
      </p:sp>
      <p:sp>
        <p:nvSpPr>
          <p:cNvPr id="22" name="Text 18"/>
          <p:cNvSpPr/>
          <p:nvPr/>
        </p:nvSpPr>
        <p:spPr>
          <a:xfrm>
            <a:off x="1101310" y="2750344"/>
            <a:ext cx="40426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18.5</a:t>
            </a:r>
            <a:endParaRPr lang="en-US" sz="1397" dirty="0"/>
          </a:p>
        </p:txBody>
      </p:sp>
      <p:sp>
        <p:nvSpPr>
          <p:cNvPr id="23" name="Text 19"/>
          <p:cNvSpPr/>
          <p:nvPr/>
        </p:nvSpPr>
        <p:spPr>
          <a:xfrm>
            <a:off x="2774649" y="2850356"/>
            <a:ext cx="18403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공수</a:t>
            </a:r>
            <a:endParaRPr lang="en-US" sz="683" dirty="0"/>
          </a:p>
        </p:txBody>
      </p:sp>
      <p:sp>
        <p:nvSpPr>
          <p:cNvPr id="24" name="Text 20"/>
          <p:cNvSpPr/>
          <p:nvPr/>
        </p:nvSpPr>
        <p:spPr>
          <a:xfrm>
            <a:off x="1101310" y="3080742"/>
            <a:ext cx="1857375" cy="200025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>
                    <a:alpha val="80000"/>
                  </a:srgbClr>
                </a:solidFill>
              </a:rPr>
              <a:t>예상 급여: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>
                    <a:alpha val="80000"/>
                  </a:srgbClr>
                </a:solidFill>
              </a:rPr>
              <a:t>3,250,000원</a:t>
            </a:r>
            <a:endParaRPr lang="en-US" sz="674" dirty="0"/>
          </a:p>
        </p:txBody>
      </p:sp>
      <p:sp>
        <p:nvSpPr>
          <p:cNvPr id="25" name="Text 21"/>
          <p:cNvSpPr/>
          <p:nvPr/>
        </p:nvSpPr>
        <p:spPr>
          <a:xfrm>
            <a:off x="987010" y="3509367"/>
            <a:ext cx="20859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4155"/>
                </a:solidFill>
              </a:rPr>
              <a:t>최근 출역 현장</a:t>
            </a:r>
            <a:endParaRPr lang="en-US" sz="784" dirty="0"/>
          </a:p>
        </p:txBody>
      </p:sp>
      <p:sp>
        <p:nvSpPr>
          <p:cNvPr id="26" name="Shape 22"/>
          <p:cNvSpPr/>
          <p:nvPr/>
        </p:nvSpPr>
        <p:spPr>
          <a:xfrm>
            <a:off x="987010" y="3730823"/>
            <a:ext cx="2085975" cy="48220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072735" y="3821906"/>
            <a:ext cx="285750" cy="285750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389" y="3900488"/>
            <a:ext cx="96441" cy="1285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429922" y="3816548"/>
            <a:ext cx="14144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강남 오피스텔 신축공사</a:t>
            </a:r>
            <a:endParaRPr lang="en-US" sz="734" dirty="0"/>
          </a:p>
        </p:txBody>
      </p:sp>
      <p:sp>
        <p:nvSpPr>
          <p:cNvPr id="30" name="Text 25"/>
          <p:cNvSpPr/>
          <p:nvPr/>
        </p:nvSpPr>
        <p:spPr>
          <a:xfrm>
            <a:off x="1429922" y="3986213"/>
            <a:ext cx="14144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● 금일 출역 승인됨</a:t>
            </a:r>
            <a:endParaRPr lang="en-US" sz="584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822" y="3907631"/>
            <a:ext cx="71438" cy="11430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87010" y="4313039"/>
            <a:ext cx="657225" cy="498277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114" y="4398764"/>
            <a:ext cx="125016" cy="14287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107309" y="4584502"/>
            <a:ext cx="4166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출역 캘린더</a:t>
            </a:r>
            <a:endParaRPr lang="en-US" sz="584" dirty="0"/>
          </a:p>
        </p:txBody>
      </p:sp>
      <p:sp>
        <p:nvSpPr>
          <p:cNvPr id="35" name="Shape 28"/>
          <p:cNvSpPr/>
          <p:nvPr/>
        </p:nvSpPr>
        <p:spPr>
          <a:xfrm>
            <a:off x="1701385" y="4313039"/>
            <a:ext cx="657225" cy="498277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9630" y="4398764"/>
            <a:ext cx="160734" cy="14287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832818" y="4584502"/>
            <a:ext cx="39435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근로계약서</a:t>
            </a:r>
            <a:endParaRPr lang="en-US" sz="584" dirty="0"/>
          </a:p>
        </p:txBody>
      </p:sp>
      <p:sp>
        <p:nvSpPr>
          <p:cNvPr id="38" name="Shape 30"/>
          <p:cNvSpPr/>
          <p:nvPr/>
        </p:nvSpPr>
        <p:spPr>
          <a:xfrm>
            <a:off x="2415760" y="4313039"/>
            <a:ext cx="657225" cy="498277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0794" y="4398764"/>
            <a:ext cx="107156" cy="14287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2547193" y="4584502"/>
            <a:ext cx="39435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급여명세서</a:t>
            </a:r>
            <a:endParaRPr lang="en-US" sz="584" dirty="0"/>
          </a:p>
        </p:txBody>
      </p:sp>
      <p:sp>
        <p:nvSpPr>
          <p:cNvPr id="41" name="Shape 32"/>
          <p:cNvSpPr/>
          <p:nvPr/>
        </p:nvSpPr>
        <p:spPr>
          <a:xfrm>
            <a:off x="3974297" y="1300163"/>
            <a:ext cx="4883925" cy="99688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4060022" y="1393031"/>
            <a:ext cx="735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1</a:t>
            </a:r>
            <a:endParaRPr lang="en-US" sz="885" dirty="0"/>
          </a:p>
        </p:txBody>
      </p:sp>
      <p:sp>
        <p:nvSpPr>
          <p:cNvPr id="43" name="Text 34"/>
          <p:cNvSpPr/>
          <p:nvPr/>
        </p:nvSpPr>
        <p:spPr>
          <a:xfrm>
            <a:off x="4276455" y="1385888"/>
            <a:ext cx="220412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월간 요약 데이터 (Monthly Summary)</a:t>
            </a:r>
            <a:endParaRPr lang="en-US" sz="885" dirty="0"/>
          </a:p>
        </p:txBody>
      </p:sp>
      <p:sp>
        <p:nvSpPr>
          <p:cNvPr id="44" name="Text 35"/>
          <p:cNvSpPr/>
          <p:nvPr/>
        </p:nvSpPr>
        <p:spPr>
          <a:xfrm>
            <a:off x="4060022" y="1632347"/>
            <a:ext cx="47124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공수 합계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이달 '승인' 공수 합산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예상 급여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(총 공수 × 단가) - 공제</a:t>
            </a:r>
            <a:endParaRPr lang="en-US" sz="727" dirty="0"/>
          </a:p>
        </p:txBody>
      </p:sp>
      <p:sp>
        <p:nvSpPr>
          <p:cNvPr id="45" name="Shape 36"/>
          <p:cNvSpPr/>
          <p:nvPr/>
        </p:nvSpPr>
        <p:spPr>
          <a:xfrm>
            <a:off x="4060022" y="2009515"/>
            <a:ext cx="1658801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4060022" y="2009515"/>
            <a:ext cx="1658801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/api/worker/dashboard/summary</a:t>
            </a:r>
            <a:endParaRPr lang="en-US" sz="621" dirty="0"/>
          </a:p>
        </p:txBody>
      </p:sp>
      <p:sp>
        <p:nvSpPr>
          <p:cNvPr id="47" name="Shape 38"/>
          <p:cNvSpPr/>
          <p:nvPr/>
        </p:nvSpPr>
        <p:spPr>
          <a:xfrm>
            <a:off x="3974297" y="2354200"/>
            <a:ext cx="4883925" cy="75221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4060022" y="2447069"/>
            <a:ext cx="735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2</a:t>
            </a:r>
            <a:endParaRPr lang="en-US" sz="885" dirty="0"/>
          </a:p>
        </p:txBody>
      </p:sp>
      <p:sp>
        <p:nvSpPr>
          <p:cNvPr id="49" name="Text 40"/>
          <p:cNvSpPr/>
          <p:nvPr/>
        </p:nvSpPr>
        <p:spPr>
          <a:xfrm>
            <a:off x="4276455" y="2439925"/>
            <a:ext cx="161585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최근 현장 정보 (Recent Site)</a:t>
            </a:r>
            <a:endParaRPr lang="en-US" sz="885" dirty="0"/>
          </a:p>
        </p:txBody>
      </p:sp>
      <p:sp>
        <p:nvSpPr>
          <p:cNvPr id="50" name="Text 41"/>
          <p:cNvSpPr/>
          <p:nvPr/>
        </p:nvSpPr>
        <p:spPr>
          <a:xfrm>
            <a:off x="4060022" y="2686385"/>
            <a:ext cx="47124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표시 기준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최근 출역 또는 배정 현장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상태 표시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요청 / 승인 / 반려</a:t>
            </a:r>
            <a:endParaRPr lang="en-US" sz="727" dirty="0"/>
          </a:p>
        </p:txBody>
      </p:sp>
      <p:sp>
        <p:nvSpPr>
          <p:cNvPr id="51" name="Shape 42"/>
          <p:cNvSpPr/>
          <p:nvPr/>
        </p:nvSpPr>
        <p:spPr>
          <a:xfrm>
            <a:off x="3974297" y="3177853"/>
            <a:ext cx="4883925" cy="75221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4060022" y="3270721"/>
            <a:ext cx="735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3</a:t>
            </a:r>
            <a:endParaRPr lang="en-US" sz="885" dirty="0"/>
          </a:p>
        </p:txBody>
      </p:sp>
      <p:sp>
        <p:nvSpPr>
          <p:cNvPr id="53" name="Text 44"/>
          <p:cNvSpPr/>
          <p:nvPr/>
        </p:nvSpPr>
        <p:spPr>
          <a:xfrm>
            <a:off x="4276455" y="3263578"/>
            <a:ext cx="133900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퀵 메뉴 (Quick Access)</a:t>
            </a:r>
            <a:endParaRPr lang="en-US" sz="885" dirty="0"/>
          </a:p>
        </p:txBody>
      </p:sp>
      <p:sp>
        <p:nvSpPr>
          <p:cNvPr id="54" name="Text 45"/>
          <p:cNvSpPr/>
          <p:nvPr/>
        </p:nvSpPr>
        <p:spPr>
          <a:xfrm>
            <a:off x="4060022" y="3510037"/>
            <a:ext cx="47124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출역 캘린더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월별 출역 내역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근로계약서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전자계약서 보기</a:t>
            </a:r>
            <a:endParaRPr lang="en-US" sz="727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[노무자] 안면 데이터 등록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카메라를 통해 본인의 얼굴을 촬영하고 안면 인식 데이터를 등록하는 가이드 화면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82213" y="1443038"/>
            <a:ext cx="2400300" cy="3400425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11025" y="2571750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711025" y="2571750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2711025" y="3657600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711025" y="3657600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2711025" y="4300538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711025" y="4300538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839363" y="1500188"/>
            <a:ext cx="2286000" cy="32861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Shape 12"/>
          <p:cNvSpPr/>
          <p:nvPr/>
        </p:nvSpPr>
        <p:spPr>
          <a:xfrm>
            <a:off x="839363" y="1500188"/>
            <a:ext cx="2286000" cy="378619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19" y="1632347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50023" y="16073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안면 등록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879" y="1632347"/>
            <a:ext cx="114300" cy="1143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46873" y="3743325"/>
            <a:ext cx="870979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가이드 라인 안에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얼굴을 맞춰주세요</a:t>
            </a:r>
            <a:endParaRPr lang="en-US" sz="784" dirty="0"/>
          </a:p>
        </p:txBody>
      </p:sp>
      <p:sp>
        <p:nvSpPr>
          <p:cNvPr id="20" name="Shape 15"/>
          <p:cNvSpPr/>
          <p:nvPr/>
        </p:nvSpPr>
        <p:spPr>
          <a:xfrm>
            <a:off x="839363" y="4071938"/>
            <a:ext cx="2286000" cy="7143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Shape 16"/>
          <p:cNvSpPr/>
          <p:nvPr/>
        </p:nvSpPr>
        <p:spPr>
          <a:xfrm>
            <a:off x="1725188" y="4171950"/>
            <a:ext cx="514350" cy="51435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CBD5E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107628" y="1515368"/>
            <a:ext cx="4750594" cy="9572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93353" y="1608237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19"/>
          <p:cNvSpPr/>
          <p:nvPr/>
        </p:nvSpPr>
        <p:spPr>
          <a:xfrm>
            <a:off x="4193353" y="1608237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25" name="Text 20"/>
          <p:cNvSpPr/>
          <p:nvPr/>
        </p:nvSpPr>
        <p:spPr>
          <a:xfrm>
            <a:off x="4550541" y="1613595"/>
            <a:ext cx="218858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카메라 가이드 및 권한 (Camera Guide)</a:t>
            </a:r>
            <a:endParaRPr lang="en-US" sz="885" dirty="0"/>
          </a:p>
        </p:txBody>
      </p:sp>
      <p:sp>
        <p:nvSpPr>
          <p:cNvPr id="26" name="Text 21"/>
          <p:cNvSpPr/>
          <p:nvPr/>
        </p:nvSpPr>
        <p:spPr>
          <a:xfrm>
            <a:off x="4193353" y="1865412"/>
            <a:ext cx="45791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권한 요청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앱 최초 실행 시 카메라 접근 권한 획득 필수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가이드 오버레이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얼굴 위치를 유도하는 타원형 가이드 표시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조도 감지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너무 어두운 경우 "밝은 곳으로 이동해주세요" 안내</a:t>
            </a:r>
            <a:endParaRPr lang="en-US" sz="780" dirty="0"/>
          </a:p>
        </p:txBody>
      </p:sp>
      <p:sp>
        <p:nvSpPr>
          <p:cNvPr id="27" name="Shape 22"/>
          <p:cNvSpPr/>
          <p:nvPr/>
        </p:nvSpPr>
        <p:spPr>
          <a:xfrm>
            <a:off x="4107628" y="2522637"/>
            <a:ext cx="4750594" cy="9572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93353" y="2615505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4"/>
          <p:cNvSpPr/>
          <p:nvPr/>
        </p:nvSpPr>
        <p:spPr>
          <a:xfrm>
            <a:off x="4193353" y="2615505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30" name="Text 25"/>
          <p:cNvSpPr/>
          <p:nvPr/>
        </p:nvSpPr>
        <p:spPr>
          <a:xfrm>
            <a:off x="4550541" y="2620863"/>
            <a:ext cx="190913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이미지 품질 검사 (Quality Check)</a:t>
            </a:r>
            <a:endParaRPr lang="en-US" sz="885" dirty="0"/>
          </a:p>
        </p:txBody>
      </p:sp>
      <p:sp>
        <p:nvSpPr>
          <p:cNvPr id="31" name="Text 26"/>
          <p:cNvSpPr/>
          <p:nvPr/>
        </p:nvSpPr>
        <p:spPr>
          <a:xfrm>
            <a:off x="4193353" y="2872680"/>
            <a:ext cx="45791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자동 감지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얼굴이 가이드 내에 위치하고 눈을 떴을 때 자동 촬영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유효성 검사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얼굴 크기(Pixel), 기울기(Pose), 선명도(Blur) 실시간 체크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피드백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"조금 더 가까이 와주세요", "고개를 바로 해주세요"</a:t>
            </a:r>
            <a:endParaRPr lang="en-US" sz="780" dirty="0"/>
          </a:p>
        </p:txBody>
      </p:sp>
      <p:sp>
        <p:nvSpPr>
          <p:cNvPr id="32" name="Shape 27"/>
          <p:cNvSpPr/>
          <p:nvPr/>
        </p:nvSpPr>
        <p:spPr>
          <a:xfrm>
            <a:off x="4107628" y="3529905"/>
            <a:ext cx="4750594" cy="122693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193353" y="3622774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Text 29"/>
          <p:cNvSpPr/>
          <p:nvPr/>
        </p:nvSpPr>
        <p:spPr>
          <a:xfrm>
            <a:off x="4193353" y="3622774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35" name="Text 30"/>
          <p:cNvSpPr/>
          <p:nvPr/>
        </p:nvSpPr>
        <p:spPr>
          <a:xfrm>
            <a:off x="4550541" y="3628132"/>
            <a:ext cx="26289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임베딩 추출 및 업로드 (Embedding &amp; Upload)</a:t>
            </a:r>
            <a:endParaRPr lang="en-US" sz="885" dirty="0"/>
          </a:p>
        </p:txBody>
      </p:sp>
      <p:sp>
        <p:nvSpPr>
          <p:cNvPr id="36" name="Text 31"/>
          <p:cNvSpPr/>
          <p:nvPr/>
        </p:nvSpPr>
        <p:spPr>
          <a:xfrm>
            <a:off x="4193353" y="3879949"/>
            <a:ext cx="45791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전처리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FaceNet 모델 호환을 위한 이미지 리사이징 (160x160)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데이터 전송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원본 이미지는 S3에 저장, 추출된 128D 벡터는 DB 저장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보안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전송 구간 암호화 (SSL/TLS)</a:t>
            </a:r>
            <a:endParaRPr lang="en-US" sz="780" dirty="0"/>
          </a:p>
        </p:txBody>
      </p:sp>
      <p:sp>
        <p:nvSpPr>
          <p:cNvPr id="37" name="Shape 32"/>
          <p:cNvSpPr/>
          <p:nvPr/>
        </p:nvSpPr>
        <p:spPr>
          <a:xfrm>
            <a:off x="4193353" y="4465737"/>
            <a:ext cx="1647276" cy="198239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193353" y="4465737"/>
            <a:ext cx="1647276" cy="19823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POST /api/worker/face-registration</a:t>
            </a:r>
            <a:endParaRPr lang="en-US" sz="67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161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[노무자] 전자 근로계약 서명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모바일 화면에서 근로계약서를 확인하고 서명 패드에 직접 서명하는 기능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35791" y="1500188"/>
            <a:ext cx="2400300" cy="3371850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64616" y="22145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64616" y="22145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64616" y="35861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64616" y="35861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64616" y="41576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64616" y="41576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92941" y="1500188"/>
            <a:ext cx="2286000" cy="32575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892941" y="1500188"/>
            <a:ext cx="2286000" cy="378619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97" y="1632347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98454" y="1607344"/>
            <a:ext cx="66065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전자계약 서명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457" y="1632347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50091" y="1935956"/>
            <a:ext cx="2171700" cy="150018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21528" y="2007394"/>
            <a:ext cx="20288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표준근로계약서 (일용직)</a:t>
            </a:r>
            <a:endParaRPr lang="en-US" sz="683" dirty="0"/>
          </a:p>
        </p:txBody>
      </p:sp>
      <p:sp>
        <p:nvSpPr>
          <p:cNvPr id="21" name="Text 16"/>
          <p:cNvSpPr/>
          <p:nvPr/>
        </p:nvSpPr>
        <p:spPr>
          <a:xfrm>
            <a:off x="1021528" y="2253128"/>
            <a:ext cx="2028825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1. 근로계약기간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 2024년 01월 25일 부터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 2024년 01월 25일 까지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2. 근무장소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 서울시 강남구 역삼동 SmartCON 현장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3. 업무의 내용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 조적 공사 및 관련 업무 보조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4. 근로시간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 07:00 부터 16:00 까지 (휴게시간 1시간)</a:t>
            </a:r>
            <a:endParaRPr lang="en-US" sz="584" dirty="0"/>
          </a:p>
        </p:txBody>
      </p:sp>
      <p:sp>
        <p:nvSpPr>
          <p:cNvPr id="22" name="Shape 17"/>
          <p:cNvSpPr/>
          <p:nvPr/>
        </p:nvSpPr>
        <p:spPr>
          <a:xfrm>
            <a:off x="892941" y="3493294"/>
            <a:ext cx="2286000" cy="12644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892941" y="3493294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19"/>
          <p:cNvSpPr/>
          <p:nvPr/>
        </p:nvSpPr>
        <p:spPr>
          <a:xfrm>
            <a:off x="978666" y="3586163"/>
            <a:ext cx="21145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서명 입력</a:t>
            </a:r>
            <a:endParaRPr lang="en-US" sz="634" dirty="0"/>
          </a:p>
        </p:txBody>
      </p:sp>
      <p:sp>
        <p:nvSpPr>
          <p:cNvPr id="25" name="Shape 20"/>
          <p:cNvSpPr/>
          <p:nvPr/>
        </p:nvSpPr>
        <p:spPr>
          <a:xfrm>
            <a:off x="978666" y="3779044"/>
            <a:ext cx="2114550" cy="557213"/>
          </a:xfrm>
          <a:prstGeom prst="rect">
            <a:avLst/>
          </a:prstGeom>
          <a:solidFill>
            <a:srgbClr val="F1F5F9"/>
          </a:solidFill>
          <a:ln w="9144">
            <a:solidFill>
              <a:srgbClr val="94A3B8"/>
            </a:solidFill>
            <a:prstDash val="dash"/>
          </a:ln>
        </p:spPr>
      </p:sp>
      <p:sp>
        <p:nvSpPr>
          <p:cNvPr id="26" name="Text 21"/>
          <p:cNvSpPr/>
          <p:nvPr/>
        </p:nvSpPr>
        <p:spPr>
          <a:xfrm>
            <a:off x="1654866" y="3992463"/>
            <a:ext cx="76212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여기에 서명하세요</a:t>
            </a:r>
            <a:endParaRPr lang="en-US" sz="727" dirty="0"/>
          </a:p>
        </p:txBody>
      </p:sp>
      <p:sp>
        <p:nvSpPr>
          <p:cNvPr id="27" name="Shape 22"/>
          <p:cNvSpPr/>
          <p:nvPr/>
        </p:nvSpPr>
        <p:spPr>
          <a:xfrm>
            <a:off x="978666" y="4393406"/>
            <a:ext cx="2114550" cy="27860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3"/>
          <p:cNvSpPr/>
          <p:nvPr/>
        </p:nvSpPr>
        <p:spPr>
          <a:xfrm>
            <a:off x="978666" y="4393406"/>
            <a:ext cx="2114550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서명 제출 및 계약 완료</a:t>
            </a:r>
            <a:endParaRPr lang="en-US" sz="683" dirty="0"/>
          </a:p>
        </p:txBody>
      </p:sp>
      <p:sp>
        <p:nvSpPr>
          <p:cNvPr id="29" name="Shape 24"/>
          <p:cNvSpPr/>
          <p:nvPr/>
        </p:nvSpPr>
        <p:spPr>
          <a:xfrm>
            <a:off x="3957610" y="1500188"/>
            <a:ext cx="4900613" cy="96937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071910" y="162341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6"/>
          <p:cNvSpPr/>
          <p:nvPr/>
        </p:nvSpPr>
        <p:spPr>
          <a:xfrm>
            <a:off x="4071910" y="1623417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32" name="Text 27"/>
          <p:cNvSpPr/>
          <p:nvPr/>
        </p:nvSpPr>
        <p:spPr>
          <a:xfrm>
            <a:off x="4386235" y="1614488"/>
            <a:ext cx="177684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계약서 뷰어 (Contract Viewer)</a:t>
            </a:r>
            <a:endParaRPr lang="en-US" sz="885" dirty="0"/>
          </a:p>
        </p:txBody>
      </p:sp>
      <p:sp>
        <p:nvSpPr>
          <p:cNvPr id="33" name="Text 28"/>
          <p:cNvSpPr/>
          <p:nvPr/>
        </p:nvSpPr>
        <p:spPr>
          <a:xfrm>
            <a:off x="4071910" y="1860947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데이터 바인딩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근로자 정보(이름, 단가, 공종)가 매핑된 HTML 렌더링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필수 확인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스크롤을 끝까지 내려야 서명 영역 활성화 (Read Check)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형식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모바일 가독성을 고려한 반응형 웹뷰(WebView) 사용</a:t>
            </a:r>
            <a:endParaRPr lang="en-US" sz="727" dirty="0"/>
          </a:p>
        </p:txBody>
      </p:sp>
      <p:sp>
        <p:nvSpPr>
          <p:cNvPr id="34" name="Shape 29"/>
          <p:cNvSpPr/>
          <p:nvPr/>
        </p:nvSpPr>
        <p:spPr>
          <a:xfrm>
            <a:off x="3957610" y="2569573"/>
            <a:ext cx="4900613" cy="96937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071910" y="269280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6" name="Text 31"/>
          <p:cNvSpPr/>
          <p:nvPr/>
        </p:nvSpPr>
        <p:spPr>
          <a:xfrm>
            <a:off x="4071910" y="269280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37" name="Text 32"/>
          <p:cNvSpPr/>
          <p:nvPr/>
        </p:nvSpPr>
        <p:spPr>
          <a:xfrm>
            <a:off x="4386235" y="2683873"/>
            <a:ext cx="152622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서명 패드 (Signature Pad)</a:t>
            </a:r>
            <a:endParaRPr lang="en-US" sz="885" dirty="0"/>
          </a:p>
        </p:txBody>
      </p:sp>
      <p:sp>
        <p:nvSpPr>
          <p:cNvPr id="38" name="Text 33"/>
          <p:cNvSpPr/>
          <p:nvPr/>
        </p:nvSpPr>
        <p:spPr>
          <a:xfrm>
            <a:off x="4071910" y="2930333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기술 스택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HTML5 Canvas API + Touch Event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서명 그리기, 지우기(Reset), 이미지 추출(Base64 PNG)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유효성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빈 서명 제출 방지 (최소 획수 또는 픽셀 감지)</a:t>
            </a:r>
            <a:endParaRPr lang="en-US" sz="727" dirty="0"/>
          </a:p>
        </p:txBody>
      </p:sp>
      <p:sp>
        <p:nvSpPr>
          <p:cNvPr id="39" name="Shape 34"/>
          <p:cNvSpPr/>
          <p:nvPr/>
        </p:nvSpPr>
        <p:spPr>
          <a:xfrm>
            <a:off x="3957610" y="3638959"/>
            <a:ext cx="4900613" cy="121404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4071910" y="376218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6"/>
          <p:cNvSpPr/>
          <p:nvPr/>
        </p:nvSpPr>
        <p:spPr>
          <a:xfrm>
            <a:off x="4071910" y="376218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42" name="Text 37"/>
          <p:cNvSpPr/>
          <p:nvPr/>
        </p:nvSpPr>
        <p:spPr>
          <a:xfrm>
            <a:off x="4386235" y="3753259"/>
            <a:ext cx="206102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PDF 생성 및 저장 (PDF Generation)</a:t>
            </a:r>
            <a:endParaRPr lang="en-US" sz="885" dirty="0"/>
          </a:p>
        </p:txBody>
      </p:sp>
      <p:sp>
        <p:nvSpPr>
          <p:cNvPr id="43" name="Text 38"/>
          <p:cNvSpPr/>
          <p:nvPr/>
        </p:nvSpPr>
        <p:spPr>
          <a:xfrm>
            <a:off x="4071910" y="3999719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프로세스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서명 이미지 + 계약서 템플릿 합성 (Server-side)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저장소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AWS S3 (Private Bucket)에 PDF 파일 업로드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보안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파일 암호화 및 접근 로그 기록 (Audit Trail)</a:t>
            </a:r>
            <a:endParaRPr lang="en-US" sz="727" dirty="0"/>
          </a:p>
        </p:txBody>
      </p:sp>
      <p:sp>
        <p:nvSpPr>
          <p:cNvPr id="44" name="Shape 39"/>
          <p:cNvSpPr/>
          <p:nvPr/>
        </p:nvSpPr>
        <p:spPr>
          <a:xfrm>
            <a:off x="4071910" y="4536895"/>
            <a:ext cx="1611725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4071910" y="4536895"/>
            <a:ext cx="1611725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/api/worker/contracts/{id}/sign</a:t>
            </a:r>
            <a:endParaRPr lang="en-US" sz="62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14438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[노무자] 월간 출역 캘린더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일별 공수 확인 및 월간 예상 급여 실시간 조회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35791" y="1443038"/>
            <a:ext cx="2400300" cy="3471863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64616" y="24288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64616" y="24288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64616" y="32146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64616" y="321468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64616" y="44291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64616" y="44291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92941" y="1500188"/>
            <a:ext cx="2286000" cy="335756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92941" y="1500188"/>
            <a:ext cx="2286000" cy="3357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66" y="1610916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51028" y="1585913"/>
            <a:ext cx="5555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출역 캘린더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888" y="1610916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92941" y="1835944"/>
            <a:ext cx="2286000" cy="353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92941" y="2182416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837" y="1944886"/>
            <a:ext cx="80367" cy="128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94504" y="1921669"/>
            <a:ext cx="4828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2024.01</a:t>
            </a:r>
            <a:endParaRPr lang="en-US" sz="885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677" y="1944886"/>
            <a:ext cx="80367" cy="12858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92941" y="2182416"/>
            <a:ext cx="2286000" cy="19109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18"/>
          <p:cNvSpPr/>
          <p:nvPr/>
        </p:nvSpPr>
        <p:spPr>
          <a:xfrm>
            <a:off x="950091" y="2239566"/>
            <a:ext cx="31022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F4444"/>
                </a:solidFill>
              </a:rPr>
              <a:t>일</a:t>
            </a:r>
            <a:endParaRPr lang="en-US" sz="621" dirty="0"/>
          </a:p>
        </p:txBody>
      </p:sp>
      <p:sp>
        <p:nvSpPr>
          <p:cNvPr id="26" name="Text 19"/>
          <p:cNvSpPr/>
          <p:nvPr/>
        </p:nvSpPr>
        <p:spPr>
          <a:xfrm>
            <a:off x="1260314" y="2239566"/>
            <a:ext cx="3102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월</a:t>
            </a:r>
            <a:endParaRPr lang="en-US" sz="621" dirty="0"/>
          </a:p>
        </p:txBody>
      </p:sp>
      <p:sp>
        <p:nvSpPr>
          <p:cNvPr id="27" name="Text 20"/>
          <p:cNvSpPr/>
          <p:nvPr/>
        </p:nvSpPr>
        <p:spPr>
          <a:xfrm>
            <a:off x="1570565" y="2239566"/>
            <a:ext cx="3102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화</a:t>
            </a:r>
            <a:endParaRPr lang="en-US" sz="621" dirty="0"/>
          </a:p>
        </p:txBody>
      </p:sp>
      <p:sp>
        <p:nvSpPr>
          <p:cNvPr id="28" name="Text 21"/>
          <p:cNvSpPr/>
          <p:nvPr/>
        </p:nvSpPr>
        <p:spPr>
          <a:xfrm>
            <a:off x="1880815" y="2239566"/>
            <a:ext cx="31022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수</a:t>
            </a:r>
            <a:endParaRPr lang="en-US" sz="621" dirty="0"/>
          </a:p>
        </p:txBody>
      </p:sp>
      <p:sp>
        <p:nvSpPr>
          <p:cNvPr id="29" name="Text 22"/>
          <p:cNvSpPr/>
          <p:nvPr/>
        </p:nvSpPr>
        <p:spPr>
          <a:xfrm>
            <a:off x="2191038" y="2239566"/>
            <a:ext cx="3102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목</a:t>
            </a:r>
            <a:endParaRPr lang="en-US" sz="621" dirty="0"/>
          </a:p>
        </p:txBody>
      </p:sp>
      <p:sp>
        <p:nvSpPr>
          <p:cNvPr id="30" name="Text 23"/>
          <p:cNvSpPr/>
          <p:nvPr/>
        </p:nvSpPr>
        <p:spPr>
          <a:xfrm>
            <a:off x="2501289" y="2239566"/>
            <a:ext cx="3102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금</a:t>
            </a:r>
            <a:endParaRPr lang="en-US" sz="621" dirty="0"/>
          </a:p>
        </p:txBody>
      </p:sp>
      <p:sp>
        <p:nvSpPr>
          <p:cNvPr id="31" name="Text 24"/>
          <p:cNvSpPr/>
          <p:nvPr/>
        </p:nvSpPr>
        <p:spPr>
          <a:xfrm>
            <a:off x="2811540" y="2239566"/>
            <a:ext cx="31022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토</a:t>
            </a:r>
            <a:endParaRPr lang="en-US" sz="621" dirty="0"/>
          </a:p>
        </p:txBody>
      </p:sp>
      <p:sp>
        <p:nvSpPr>
          <p:cNvPr id="32" name="Text 25"/>
          <p:cNvSpPr/>
          <p:nvPr/>
        </p:nvSpPr>
        <p:spPr>
          <a:xfrm>
            <a:off x="950091" y="24235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31</a:t>
            </a:r>
            <a:endParaRPr lang="en-US" sz="621" dirty="0"/>
          </a:p>
        </p:txBody>
      </p:sp>
      <p:sp>
        <p:nvSpPr>
          <p:cNvPr id="33" name="Text 26"/>
          <p:cNvSpPr/>
          <p:nvPr/>
        </p:nvSpPr>
        <p:spPr>
          <a:xfrm>
            <a:off x="1382762" y="24520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</a:t>
            </a:r>
            <a:endParaRPr lang="en-US" sz="621" dirty="0"/>
          </a:p>
        </p:txBody>
      </p:sp>
      <p:sp>
        <p:nvSpPr>
          <p:cNvPr id="34" name="Shape 27"/>
          <p:cNvSpPr/>
          <p:nvPr/>
        </p:nvSpPr>
        <p:spPr>
          <a:xfrm>
            <a:off x="1321566" y="25824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28"/>
          <p:cNvSpPr/>
          <p:nvPr/>
        </p:nvSpPr>
        <p:spPr>
          <a:xfrm>
            <a:off x="1321566" y="25824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36" name="Text 29"/>
          <p:cNvSpPr/>
          <p:nvPr/>
        </p:nvSpPr>
        <p:spPr>
          <a:xfrm>
            <a:off x="1697087" y="24520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2</a:t>
            </a:r>
            <a:endParaRPr lang="en-US" sz="621" dirty="0"/>
          </a:p>
        </p:txBody>
      </p:sp>
      <p:sp>
        <p:nvSpPr>
          <p:cNvPr id="37" name="Shape 30"/>
          <p:cNvSpPr/>
          <p:nvPr/>
        </p:nvSpPr>
        <p:spPr>
          <a:xfrm>
            <a:off x="1635891" y="25824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1"/>
          <p:cNvSpPr/>
          <p:nvPr/>
        </p:nvSpPr>
        <p:spPr>
          <a:xfrm>
            <a:off x="1635891" y="25824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39" name="Text 32"/>
          <p:cNvSpPr/>
          <p:nvPr/>
        </p:nvSpPr>
        <p:spPr>
          <a:xfrm>
            <a:off x="2011412" y="24520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3</a:t>
            </a:r>
            <a:endParaRPr lang="en-US" sz="621" dirty="0"/>
          </a:p>
        </p:txBody>
      </p:sp>
      <p:sp>
        <p:nvSpPr>
          <p:cNvPr id="40" name="Shape 33"/>
          <p:cNvSpPr/>
          <p:nvPr/>
        </p:nvSpPr>
        <p:spPr>
          <a:xfrm>
            <a:off x="1950216" y="25824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4"/>
          <p:cNvSpPr/>
          <p:nvPr/>
        </p:nvSpPr>
        <p:spPr>
          <a:xfrm>
            <a:off x="1950216" y="25824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42" name="Text 35"/>
          <p:cNvSpPr/>
          <p:nvPr/>
        </p:nvSpPr>
        <p:spPr>
          <a:xfrm>
            <a:off x="2325737" y="24520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4</a:t>
            </a:r>
            <a:endParaRPr lang="en-US" sz="621" dirty="0"/>
          </a:p>
        </p:txBody>
      </p:sp>
      <p:sp>
        <p:nvSpPr>
          <p:cNvPr id="43" name="Shape 36"/>
          <p:cNvSpPr/>
          <p:nvPr/>
        </p:nvSpPr>
        <p:spPr>
          <a:xfrm>
            <a:off x="2264541" y="2582466"/>
            <a:ext cx="171450" cy="155377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4" name="Text 37"/>
          <p:cNvSpPr/>
          <p:nvPr/>
        </p:nvSpPr>
        <p:spPr>
          <a:xfrm>
            <a:off x="2264541" y="25824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0.5</a:t>
            </a:r>
            <a:endParaRPr lang="en-US" sz="485" dirty="0"/>
          </a:p>
        </p:txBody>
      </p:sp>
      <p:sp>
        <p:nvSpPr>
          <p:cNvPr id="45" name="Text 38"/>
          <p:cNvSpPr/>
          <p:nvPr/>
        </p:nvSpPr>
        <p:spPr>
          <a:xfrm>
            <a:off x="2640062" y="24520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5</a:t>
            </a:r>
            <a:endParaRPr lang="en-US" sz="621" dirty="0"/>
          </a:p>
        </p:txBody>
      </p:sp>
      <p:sp>
        <p:nvSpPr>
          <p:cNvPr id="46" name="Shape 39"/>
          <p:cNvSpPr/>
          <p:nvPr/>
        </p:nvSpPr>
        <p:spPr>
          <a:xfrm>
            <a:off x="2578866" y="25824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7" name="Text 40"/>
          <p:cNvSpPr/>
          <p:nvPr/>
        </p:nvSpPr>
        <p:spPr>
          <a:xfrm>
            <a:off x="2578866" y="25824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48" name="Text 41"/>
          <p:cNvSpPr/>
          <p:nvPr/>
        </p:nvSpPr>
        <p:spPr>
          <a:xfrm>
            <a:off x="2836041" y="24235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6</a:t>
            </a:r>
            <a:endParaRPr lang="en-US" sz="621" dirty="0"/>
          </a:p>
        </p:txBody>
      </p:sp>
      <p:sp>
        <p:nvSpPr>
          <p:cNvPr id="49" name="Text 42"/>
          <p:cNvSpPr/>
          <p:nvPr/>
        </p:nvSpPr>
        <p:spPr>
          <a:xfrm>
            <a:off x="950091" y="27664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7</a:t>
            </a:r>
            <a:endParaRPr lang="en-US" sz="621" dirty="0"/>
          </a:p>
        </p:txBody>
      </p:sp>
      <p:sp>
        <p:nvSpPr>
          <p:cNvPr id="50" name="Text 43"/>
          <p:cNvSpPr/>
          <p:nvPr/>
        </p:nvSpPr>
        <p:spPr>
          <a:xfrm>
            <a:off x="1382762" y="27949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8</a:t>
            </a:r>
            <a:endParaRPr lang="en-US" sz="621" dirty="0"/>
          </a:p>
        </p:txBody>
      </p:sp>
      <p:sp>
        <p:nvSpPr>
          <p:cNvPr id="51" name="Shape 44"/>
          <p:cNvSpPr/>
          <p:nvPr/>
        </p:nvSpPr>
        <p:spPr>
          <a:xfrm>
            <a:off x="1321566" y="29253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2" name="Text 45"/>
          <p:cNvSpPr/>
          <p:nvPr/>
        </p:nvSpPr>
        <p:spPr>
          <a:xfrm>
            <a:off x="1321566" y="29253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53" name="Text 46"/>
          <p:cNvSpPr/>
          <p:nvPr/>
        </p:nvSpPr>
        <p:spPr>
          <a:xfrm>
            <a:off x="1697087" y="27949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9</a:t>
            </a:r>
            <a:endParaRPr lang="en-US" sz="621" dirty="0"/>
          </a:p>
        </p:txBody>
      </p:sp>
      <p:sp>
        <p:nvSpPr>
          <p:cNvPr id="54" name="Shape 47"/>
          <p:cNvSpPr/>
          <p:nvPr/>
        </p:nvSpPr>
        <p:spPr>
          <a:xfrm>
            <a:off x="1635891" y="29253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5" name="Text 48"/>
          <p:cNvSpPr/>
          <p:nvPr/>
        </p:nvSpPr>
        <p:spPr>
          <a:xfrm>
            <a:off x="1635891" y="29253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56" name="Text 49"/>
          <p:cNvSpPr/>
          <p:nvPr/>
        </p:nvSpPr>
        <p:spPr>
          <a:xfrm>
            <a:off x="1986883" y="2794992"/>
            <a:ext cx="980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10</a:t>
            </a:r>
            <a:endParaRPr lang="en-US" sz="584" dirty="0"/>
          </a:p>
        </p:txBody>
      </p:sp>
      <p:sp>
        <p:nvSpPr>
          <p:cNvPr id="57" name="Shape 50"/>
          <p:cNvSpPr/>
          <p:nvPr/>
        </p:nvSpPr>
        <p:spPr>
          <a:xfrm>
            <a:off x="1950216" y="29253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8" name="Text 51"/>
          <p:cNvSpPr/>
          <p:nvPr/>
        </p:nvSpPr>
        <p:spPr>
          <a:xfrm>
            <a:off x="1950216" y="29253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59" name="Text 52"/>
          <p:cNvSpPr/>
          <p:nvPr/>
        </p:nvSpPr>
        <p:spPr>
          <a:xfrm>
            <a:off x="2207391" y="27664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11</a:t>
            </a:r>
            <a:endParaRPr lang="en-US" sz="621" dirty="0"/>
          </a:p>
        </p:txBody>
      </p:sp>
      <p:sp>
        <p:nvSpPr>
          <p:cNvPr id="60" name="Text 53"/>
          <p:cNvSpPr/>
          <p:nvPr/>
        </p:nvSpPr>
        <p:spPr>
          <a:xfrm>
            <a:off x="2521716" y="27664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12</a:t>
            </a:r>
            <a:endParaRPr lang="en-US" sz="621" dirty="0"/>
          </a:p>
        </p:txBody>
      </p:sp>
      <p:sp>
        <p:nvSpPr>
          <p:cNvPr id="61" name="Text 54"/>
          <p:cNvSpPr/>
          <p:nvPr/>
        </p:nvSpPr>
        <p:spPr>
          <a:xfrm>
            <a:off x="2836041" y="27664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13</a:t>
            </a:r>
            <a:endParaRPr lang="en-US" sz="621" dirty="0"/>
          </a:p>
        </p:txBody>
      </p:sp>
      <p:sp>
        <p:nvSpPr>
          <p:cNvPr id="62" name="Shape 55"/>
          <p:cNvSpPr/>
          <p:nvPr/>
        </p:nvSpPr>
        <p:spPr>
          <a:xfrm>
            <a:off x="892941" y="4093369"/>
            <a:ext cx="2286000" cy="7643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56"/>
          <p:cNvSpPr/>
          <p:nvPr/>
        </p:nvSpPr>
        <p:spPr>
          <a:xfrm>
            <a:off x="892941" y="4093369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57"/>
          <p:cNvSpPr/>
          <p:nvPr/>
        </p:nvSpPr>
        <p:spPr>
          <a:xfrm>
            <a:off x="964378" y="4171950"/>
            <a:ext cx="30204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총 공수</a:t>
            </a:r>
            <a:endParaRPr lang="en-US" sz="727" dirty="0"/>
          </a:p>
        </p:txBody>
      </p:sp>
      <p:sp>
        <p:nvSpPr>
          <p:cNvPr id="65" name="Text 58"/>
          <p:cNvSpPr/>
          <p:nvPr/>
        </p:nvSpPr>
        <p:spPr>
          <a:xfrm>
            <a:off x="2754557" y="4171950"/>
            <a:ext cx="35294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7.5 공수</a:t>
            </a:r>
            <a:endParaRPr lang="en-US" sz="683" dirty="0"/>
          </a:p>
        </p:txBody>
      </p:sp>
      <p:sp>
        <p:nvSpPr>
          <p:cNvPr id="66" name="Text 59"/>
          <p:cNvSpPr/>
          <p:nvPr/>
        </p:nvSpPr>
        <p:spPr>
          <a:xfrm>
            <a:off x="964378" y="4359473"/>
            <a:ext cx="30204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일 단가</a:t>
            </a:r>
            <a:endParaRPr lang="en-US" sz="727" dirty="0"/>
          </a:p>
        </p:txBody>
      </p:sp>
      <p:sp>
        <p:nvSpPr>
          <p:cNvPr id="67" name="Text 60"/>
          <p:cNvSpPr/>
          <p:nvPr/>
        </p:nvSpPr>
        <p:spPr>
          <a:xfrm>
            <a:off x="2645420" y="4359473"/>
            <a:ext cx="46208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250,000원</a:t>
            </a:r>
            <a:endParaRPr lang="en-US" sz="727" dirty="0"/>
          </a:p>
        </p:txBody>
      </p:sp>
      <p:sp>
        <p:nvSpPr>
          <p:cNvPr id="68" name="Text 61"/>
          <p:cNvSpPr/>
          <p:nvPr/>
        </p:nvSpPr>
        <p:spPr>
          <a:xfrm>
            <a:off x="964378" y="4597003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예상 급여</a:t>
            </a:r>
            <a:endParaRPr lang="en-US" sz="885" dirty="0"/>
          </a:p>
        </p:txBody>
      </p:sp>
      <p:sp>
        <p:nvSpPr>
          <p:cNvPr id="69" name="Text 62"/>
          <p:cNvSpPr/>
          <p:nvPr/>
        </p:nvSpPr>
        <p:spPr>
          <a:xfrm>
            <a:off x="2392793" y="4597003"/>
            <a:ext cx="71471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</a:rPr>
              <a:t>1,875,000원</a:t>
            </a:r>
            <a:endParaRPr lang="en-US" sz="885" dirty="0"/>
          </a:p>
        </p:txBody>
      </p:sp>
      <p:sp>
        <p:nvSpPr>
          <p:cNvPr id="70" name="Shape 63"/>
          <p:cNvSpPr/>
          <p:nvPr/>
        </p:nvSpPr>
        <p:spPr>
          <a:xfrm>
            <a:off x="3957610" y="1488272"/>
            <a:ext cx="4900613" cy="124262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4071910" y="161864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2" name="Text 65"/>
          <p:cNvSpPr/>
          <p:nvPr/>
        </p:nvSpPr>
        <p:spPr>
          <a:xfrm>
            <a:off x="4071910" y="161864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73" name="Text 66"/>
          <p:cNvSpPr/>
          <p:nvPr/>
        </p:nvSpPr>
        <p:spPr>
          <a:xfrm>
            <a:off x="4386235" y="1609716"/>
            <a:ext cx="178030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캘린더 렌더링 (Calendar View)</a:t>
            </a:r>
            <a:endParaRPr lang="en-US" sz="885" dirty="0"/>
          </a:p>
        </p:txBody>
      </p:sp>
      <p:sp>
        <p:nvSpPr>
          <p:cNvPr id="74" name="Text 67"/>
          <p:cNvSpPr/>
          <p:nvPr/>
        </p:nvSpPr>
        <p:spPr>
          <a:xfrm>
            <a:off x="4071910" y="1870463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라이브러리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react-calendar 또는 커스텀 Grid 구현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표시 데이터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날짜별 공수(1.0, 0.5) 배지 표시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색상 구분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1.0(녹색), 0.5(주황), 결근/휴무(표시 없음)</a:t>
            </a:r>
            <a:endParaRPr lang="en-US" sz="727" dirty="0"/>
          </a:p>
        </p:txBody>
      </p:sp>
      <p:sp>
        <p:nvSpPr>
          <p:cNvPr id="75" name="Shape 68"/>
          <p:cNvSpPr/>
          <p:nvPr/>
        </p:nvSpPr>
        <p:spPr>
          <a:xfrm>
            <a:off x="4071910" y="2421927"/>
            <a:ext cx="2571080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6" name="Text 69"/>
          <p:cNvSpPr/>
          <p:nvPr/>
        </p:nvSpPr>
        <p:spPr>
          <a:xfrm>
            <a:off x="4071910" y="2421927"/>
            <a:ext cx="2571080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/api/worker/attendance/monthly?year=2024&amp;month=01</a:t>
            </a:r>
            <a:endParaRPr lang="en-US" sz="621" dirty="0"/>
          </a:p>
        </p:txBody>
      </p:sp>
      <p:sp>
        <p:nvSpPr>
          <p:cNvPr id="77" name="Shape 70"/>
          <p:cNvSpPr/>
          <p:nvPr/>
        </p:nvSpPr>
        <p:spPr>
          <a:xfrm>
            <a:off x="3957610" y="2802331"/>
            <a:ext cx="4900613" cy="98366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8" name="Shape 71"/>
          <p:cNvSpPr/>
          <p:nvPr/>
        </p:nvSpPr>
        <p:spPr>
          <a:xfrm>
            <a:off x="4071910" y="293270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9" name="Text 72"/>
          <p:cNvSpPr/>
          <p:nvPr/>
        </p:nvSpPr>
        <p:spPr>
          <a:xfrm>
            <a:off x="4071910" y="293270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80" name="Text 73"/>
          <p:cNvSpPr/>
          <p:nvPr/>
        </p:nvSpPr>
        <p:spPr>
          <a:xfrm>
            <a:off x="4386235" y="2923775"/>
            <a:ext cx="163820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일별 상세 조회 (Daily Detail)</a:t>
            </a:r>
            <a:endParaRPr lang="en-US" sz="885" dirty="0"/>
          </a:p>
        </p:txBody>
      </p:sp>
      <p:sp>
        <p:nvSpPr>
          <p:cNvPr id="81" name="Text 74"/>
          <p:cNvSpPr/>
          <p:nvPr/>
        </p:nvSpPr>
        <p:spPr>
          <a:xfrm>
            <a:off x="4071910" y="3184522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인터랙션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날짜 터치 시 하단 바텀시트(Bottom Sheet) 호출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상세 정보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현장명, 출/퇴근 시간, 작업 내용, 공수 인정 내역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이의 제기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공수 불일치 시 '정정 요청' 버튼 활성화</a:t>
            </a:r>
            <a:endParaRPr lang="en-US" sz="727" dirty="0"/>
          </a:p>
        </p:txBody>
      </p:sp>
      <p:sp>
        <p:nvSpPr>
          <p:cNvPr id="82" name="Shape 75"/>
          <p:cNvSpPr/>
          <p:nvPr/>
        </p:nvSpPr>
        <p:spPr>
          <a:xfrm>
            <a:off x="3957610" y="3864573"/>
            <a:ext cx="4900613" cy="98366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4071910" y="399494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4" name="Text 77"/>
          <p:cNvSpPr/>
          <p:nvPr/>
        </p:nvSpPr>
        <p:spPr>
          <a:xfrm>
            <a:off x="4071910" y="3994947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85" name="Text 78"/>
          <p:cNvSpPr/>
          <p:nvPr/>
        </p:nvSpPr>
        <p:spPr>
          <a:xfrm>
            <a:off x="4386235" y="3986017"/>
            <a:ext cx="20664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급여 시뮬레이션 (Wage Estimation)</a:t>
            </a:r>
            <a:endParaRPr lang="en-US" sz="885" dirty="0"/>
          </a:p>
        </p:txBody>
      </p:sp>
      <p:sp>
        <p:nvSpPr>
          <p:cNvPr id="86" name="Text 79"/>
          <p:cNvSpPr/>
          <p:nvPr/>
        </p:nvSpPr>
        <p:spPr>
          <a:xfrm>
            <a:off x="4071910" y="4246764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계산식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∑(일별 공수 × 해당일 계약 단가)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세금 공제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'예상 수령액' 토글 시 소득세/주민세 공제 후 금액 표시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갱신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출역 승인 상태 변경 시 실시간 반영</a:t>
            </a:r>
            <a:endParaRPr lang="en-US" sz="727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기술 명세 및 최종 점검 리스트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안정적인 서비스 런칭을 위한 백엔드, 프론트엔드, 인프라 필수 점검 항목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571625"/>
            <a:ext cx="2714625" cy="295036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743075"/>
            <a:ext cx="357188" cy="357188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9" y="1835944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21544" y="1814513"/>
            <a:ext cx="15144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</a:rPr>
              <a:t>Backend &amp; Security</a:t>
            </a:r>
            <a:endParaRPr lang="en-US" sz="109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8875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7225" y="2400300"/>
            <a:ext cx="21717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멀티테넌트 데이터 격리</a:t>
            </a:r>
            <a:endParaRPr lang="en-US" sz="784" dirty="0"/>
          </a:p>
        </p:txBody>
      </p:sp>
      <p:sp>
        <p:nvSpPr>
          <p:cNvPr id="13" name="Text 8"/>
          <p:cNvSpPr/>
          <p:nvPr/>
        </p:nvSpPr>
        <p:spPr>
          <a:xfrm>
            <a:off x="657225" y="2593181"/>
            <a:ext cx="217170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Hibernate Filter 적용 및 TenantID 누락 방지 테스트 완료</a:t>
            </a:r>
            <a:endParaRPr lang="en-US" sz="674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38928"/>
            <a:ext cx="114300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7225" y="2910353"/>
            <a:ext cx="20403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개인정보 암호화 (PII)</a:t>
            </a:r>
            <a:endParaRPr lang="en-US" sz="784" dirty="0"/>
          </a:p>
        </p:txBody>
      </p:sp>
      <p:sp>
        <p:nvSpPr>
          <p:cNvPr id="16" name="Text 10"/>
          <p:cNvSpPr/>
          <p:nvPr/>
        </p:nvSpPr>
        <p:spPr>
          <a:xfrm>
            <a:off x="657225" y="3103234"/>
            <a:ext cx="204035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주민번호, 계좌번호 DB 저장 시 AES-256 암호화 적용</a:t>
            </a:r>
            <a:endParaRPr lang="en-US" sz="674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18970"/>
            <a:ext cx="114300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7225" y="3290395"/>
            <a:ext cx="21407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API 인증 및 권한 (RBAC)</a:t>
            </a:r>
            <a:endParaRPr lang="en-US" sz="784" dirty="0"/>
          </a:p>
        </p:txBody>
      </p:sp>
      <p:sp>
        <p:nvSpPr>
          <p:cNvPr id="19" name="Text 12"/>
          <p:cNvSpPr/>
          <p:nvPr/>
        </p:nvSpPr>
        <p:spPr>
          <a:xfrm>
            <a:off x="657225" y="3483276"/>
            <a:ext cx="21407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JWT 토큰 만료 처리 및 역할별(Role) API 접근 제어 검증</a:t>
            </a:r>
            <a:endParaRPr lang="en-US" sz="674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99011"/>
            <a:ext cx="114300" cy="1143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7225" y="3670436"/>
            <a:ext cx="16573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대용량 트래픽 처리</a:t>
            </a:r>
            <a:endParaRPr lang="en-US" sz="784" dirty="0"/>
          </a:p>
        </p:txBody>
      </p:sp>
      <p:sp>
        <p:nvSpPr>
          <p:cNvPr id="22" name="Text 14"/>
          <p:cNvSpPr/>
          <p:nvPr/>
        </p:nvSpPr>
        <p:spPr>
          <a:xfrm>
            <a:off x="657225" y="3863318"/>
            <a:ext cx="165735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Redis 캐싱 적용 (공통 코드, 대시보드 통계)</a:t>
            </a:r>
            <a:endParaRPr lang="en-US" sz="674" dirty="0"/>
          </a:p>
        </p:txBody>
      </p:sp>
      <p:sp>
        <p:nvSpPr>
          <p:cNvPr id="23" name="Shape 15"/>
          <p:cNvSpPr/>
          <p:nvPr/>
        </p:nvSpPr>
        <p:spPr>
          <a:xfrm>
            <a:off x="3214688" y="1571625"/>
            <a:ext cx="2714625" cy="295036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3386138" y="1743075"/>
            <a:ext cx="357188" cy="357188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0438" y="1835944"/>
            <a:ext cx="128588" cy="17145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850481" y="1814513"/>
            <a:ext cx="11421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</a:rPr>
              <a:t>Frontend &amp; UX</a:t>
            </a:r>
            <a:endParaRPr lang="en-US" sz="109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6138" y="2428875"/>
            <a:ext cx="114300" cy="1143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586163" y="2400300"/>
            <a:ext cx="21717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크로스 브라우징</a:t>
            </a:r>
            <a:endParaRPr lang="en-US" sz="784" dirty="0"/>
          </a:p>
        </p:txBody>
      </p:sp>
      <p:sp>
        <p:nvSpPr>
          <p:cNvPr id="29" name="Text 19"/>
          <p:cNvSpPr/>
          <p:nvPr/>
        </p:nvSpPr>
        <p:spPr>
          <a:xfrm>
            <a:off x="3586163" y="2593181"/>
            <a:ext cx="217170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Chrome, Safari, Samsung Internet 모바일 호환성 점검</a:t>
            </a:r>
            <a:endParaRPr lang="en-US" sz="674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6138" y="2938928"/>
            <a:ext cx="114300" cy="1143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586163" y="2910353"/>
            <a:ext cx="216999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이미지 최적화</a:t>
            </a:r>
            <a:endParaRPr lang="en-US" sz="784" dirty="0"/>
          </a:p>
        </p:txBody>
      </p:sp>
      <p:sp>
        <p:nvSpPr>
          <p:cNvPr id="32" name="Text 21"/>
          <p:cNvSpPr/>
          <p:nvPr/>
        </p:nvSpPr>
        <p:spPr>
          <a:xfrm>
            <a:off x="3586163" y="3103234"/>
            <a:ext cx="216999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작업일보 사진 업로드 시 클라이언트 측 압축 (Max 1MB)</a:t>
            </a:r>
            <a:endParaRPr lang="en-US" sz="674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6138" y="3318970"/>
            <a:ext cx="114300" cy="11430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3586163" y="3290395"/>
            <a:ext cx="21717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예외 처리 UX</a:t>
            </a:r>
            <a:endParaRPr lang="en-US" sz="784" dirty="0"/>
          </a:p>
        </p:txBody>
      </p:sp>
      <p:sp>
        <p:nvSpPr>
          <p:cNvPr id="35" name="Text 23"/>
          <p:cNvSpPr/>
          <p:nvPr/>
        </p:nvSpPr>
        <p:spPr>
          <a:xfrm>
            <a:off x="3586163" y="3483276"/>
            <a:ext cx="217170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네트워크 오류, API 실패 시 Toast 메시지 및 재시도 버튼 제공</a:t>
            </a:r>
            <a:endParaRPr lang="en-US" sz="674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6138" y="3829022"/>
            <a:ext cx="114300" cy="11430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3586163" y="3800447"/>
            <a:ext cx="1901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전자서명 (Canvas)</a:t>
            </a:r>
            <a:endParaRPr lang="en-US" sz="784" dirty="0"/>
          </a:p>
        </p:txBody>
      </p:sp>
      <p:sp>
        <p:nvSpPr>
          <p:cNvPr id="38" name="Text 25"/>
          <p:cNvSpPr/>
          <p:nvPr/>
        </p:nvSpPr>
        <p:spPr>
          <a:xfrm>
            <a:off x="3586163" y="3993328"/>
            <a:ext cx="190196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모바일 터치 서명 감도 조정 및 이미지 변환 테스트</a:t>
            </a:r>
            <a:endParaRPr lang="en-US" sz="674" dirty="0"/>
          </a:p>
        </p:txBody>
      </p:sp>
      <p:sp>
        <p:nvSpPr>
          <p:cNvPr id="39" name="Shape 26"/>
          <p:cNvSpPr/>
          <p:nvPr/>
        </p:nvSpPr>
        <p:spPr>
          <a:xfrm>
            <a:off x="6143625" y="1571625"/>
            <a:ext cx="2714625" cy="295036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0" name="Shape 27"/>
          <p:cNvSpPr/>
          <p:nvPr/>
        </p:nvSpPr>
        <p:spPr>
          <a:xfrm>
            <a:off x="6315075" y="1743075"/>
            <a:ext cx="357188" cy="357188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7944" y="1835944"/>
            <a:ext cx="171450" cy="17145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779419" y="1814513"/>
            <a:ext cx="118611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</a:rPr>
              <a:t>DevOps &amp; Infra</a:t>
            </a:r>
            <a:endParaRPr lang="en-US" sz="109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5075" y="2428875"/>
            <a:ext cx="114300" cy="114300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6515100" y="2400300"/>
            <a:ext cx="21717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CI/CD 파이프라인</a:t>
            </a:r>
            <a:endParaRPr lang="en-US" sz="784" dirty="0"/>
          </a:p>
        </p:txBody>
      </p:sp>
      <p:sp>
        <p:nvSpPr>
          <p:cNvPr id="45" name="Text 30"/>
          <p:cNvSpPr/>
          <p:nvPr/>
        </p:nvSpPr>
        <p:spPr>
          <a:xfrm>
            <a:off x="6515100" y="2593181"/>
            <a:ext cx="217170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GitHub Actions 빌드/배포 자동화 및 Docker 이미지 최적화</a:t>
            </a:r>
            <a:endParaRPr lang="en-US" sz="674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15075" y="2938928"/>
            <a:ext cx="114300" cy="114300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6515100" y="2910353"/>
            <a:ext cx="206764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스토리지 보안 (S3)</a:t>
            </a:r>
            <a:endParaRPr lang="en-US" sz="784" dirty="0"/>
          </a:p>
        </p:txBody>
      </p:sp>
      <p:sp>
        <p:nvSpPr>
          <p:cNvPr id="48" name="Text 32"/>
          <p:cNvSpPr/>
          <p:nvPr/>
        </p:nvSpPr>
        <p:spPr>
          <a:xfrm>
            <a:off x="6515100" y="3103234"/>
            <a:ext cx="2067641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근로계약서 PDF 및 개인 서류 접근 권한(Private) 설정</a:t>
            </a:r>
            <a:endParaRPr lang="en-US" sz="674" dirty="0"/>
          </a:p>
        </p:txBody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5075" y="3318970"/>
            <a:ext cx="114300" cy="114300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6515100" y="3290395"/>
            <a:ext cx="190911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로깅 및 모니터링</a:t>
            </a:r>
            <a:endParaRPr lang="en-US" sz="784" dirty="0"/>
          </a:p>
        </p:txBody>
      </p:sp>
      <p:sp>
        <p:nvSpPr>
          <p:cNvPr id="51" name="Text 34"/>
          <p:cNvSpPr/>
          <p:nvPr/>
        </p:nvSpPr>
        <p:spPr>
          <a:xfrm>
            <a:off x="6515100" y="3483276"/>
            <a:ext cx="1909111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API 요청/응답 로그 적재 및 에러 알림(Slack) 연동</a:t>
            </a:r>
            <a:endParaRPr lang="en-US" sz="674" dirty="0"/>
          </a:p>
        </p:txBody>
      </p:sp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15075" y="3699011"/>
            <a:ext cx="114300" cy="114300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6515100" y="3670436"/>
            <a:ext cx="145127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SSL 인증서</a:t>
            </a:r>
            <a:endParaRPr lang="en-US" sz="784" dirty="0"/>
          </a:p>
        </p:txBody>
      </p:sp>
      <p:sp>
        <p:nvSpPr>
          <p:cNvPr id="54" name="Text 36"/>
          <p:cNvSpPr/>
          <p:nvPr/>
        </p:nvSpPr>
        <p:spPr>
          <a:xfrm>
            <a:off x="6515100" y="3863318"/>
            <a:ext cx="145127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HTTPS 적용 및 도메인 연결 상태 확인</a:t>
            </a:r>
            <a:endParaRPr lang="en-US" sz="674" dirty="0"/>
          </a:p>
        </p:txBody>
      </p:sp>
      <p:sp>
        <p:nvSpPr>
          <p:cNvPr id="55" name="Shape 37"/>
          <p:cNvSpPr/>
          <p:nvPr/>
        </p:nvSpPr>
        <p:spPr>
          <a:xfrm>
            <a:off x="285750" y="4593431"/>
            <a:ext cx="8572500" cy="55006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6" name="Text 38"/>
          <p:cNvSpPr/>
          <p:nvPr/>
        </p:nvSpPr>
        <p:spPr>
          <a:xfrm>
            <a:off x="500063" y="4797921"/>
            <a:ext cx="11195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BD5E1"/>
                </a:solidFill>
              </a:rPr>
              <a:t>Target Launch Date:</a:t>
            </a:r>
            <a:endParaRPr lang="en-US" sz="784" dirty="0"/>
          </a:p>
        </p:txBody>
      </p:sp>
      <p:sp>
        <p:nvSpPr>
          <p:cNvPr id="57" name="Text 39"/>
          <p:cNvSpPr/>
          <p:nvPr/>
        </p:nvSpPr>
        <p:spPr>
          <a:xfrm>
            <a:off x="1726806" y="4778276"/>
            <a:ext cx="114202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2024. 02. 16 (Fri)</a:t>
            </a:r>
            <a:endParaRPr lang="en-US" sz="987" dirty="0"/>
          </a:p>
        </p:txBody>
      </p:sp>
      <p:sp>
        <p:nvSpPr>
          <p:cNvPr id="58" name="Shape 40"/>
          <p:cNvSpPr/>
          <p:nvPr/>
        </p:nvSpPr>
        <p:spPr>
          <a:xfrm>
            <a:off x="6966691" y="4750594"/>
            <a:ext cx="1677246" cy="250031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59" name="Text 41"/>
          <p:cNvSpPr/>
          <p:nvPr/>
        </p:nvSpPr>
        <p:spPr>
          <a:xfrm>
            <a:off x="6966691" y="4750594"/>
            <a:ext cx="1677246" cy="250031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READY FOR DEVELOPMENT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2026-01-19T06:17:27Z</dcterms:created>
  <dcterms:modified xsi:type="dcterms:W3CDTF">2026-01-19T06:17:27Z</dcterms:modified>
</cp:coreProperties>
</file>