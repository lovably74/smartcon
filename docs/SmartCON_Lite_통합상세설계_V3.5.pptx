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image" Target="../media/image-19-8.png"/><Relationship Id="rId9" Type="http://schemas.openxmlformats.org/officeDocument/2006/relationships/image" Target="../media/image-1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image" Target="../media/image-25-7.png"/><Relationship Id="rId8" Type="http://schemas.openxmlformats.org/officeDocument/2006/relationships/image" Target="../media/image-25-8.png"/><Relationship Id="rId9" Type="http://schemas.openxmlformats.org/officeDocument/2006/relationships/image" Target="../media/image-25-9.png"/><Relationship Id="rId10" Type="http://schemas.openxmlformats.org/officeDocument/2006/relationships/image" Target="../media/image-25-10.png"/><Relationship Id="rId11" Type="http://schemas.openxmlformats.org/officeDocument/2006/relationships/image" Target="../media/image-25-11.png"/><Relationship Id="rId12" Type="http://schemas.openxmlformats.org/officeDocument/2006/relationships/image" Target="../media/image-25-12.png"/><Relationship Id="rId13" Type="http://schemas.openxmlformats.org/officeDocument/2006/relationships/image" Target="../media/image-25-13.png"/><Relationship Id="rId14" Type="http://schemas.openxmlformats.org/officeDocument/2006/relationships/image" Target="../media/image-25-14.png"/><Relationship Id="rId15" Type="http://schemas.openxmlformats.org/officeDocument/2006/relationships/image" Target="../media/image-25-15.png"/><Relationship Id="rId16" Type="http://schemas.openxmlformats.org/officeDocument/2006/relationships/image" Target="../media/image-25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1487212" cy="400050"/>
          </a:xfrm>
          <a:prstGeom prst="rect">
            <a:avLst/>
          </a:prstGeom>
          <a:solidFill>
            <a:srgbClr val="3B82F6">
              <a:alpha val="20000"/>
            </a:srgbClr>
          </a:solidFill>
          <a:ln w="9144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71500" y="428625"/>
            <a:ext cx="1487212" cy="400050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B82F6"/>
                </a:solidFill>
              </a:rPr>
              <a:t>INTEGRATED DESIGN GUIDE V3.3</a:t>
            </a:r>
            <a:endParaRPr lang="en-US" sz="683" dirty="0"/>
          </a:p>
        </p:txBody>
      </p:sp>
      <p:sp>
        <p:nvSpPr>
          <p:cNvPr id="5" name="Shape 2"/>
          <p:cNvSpPr/>
          <p:nvPr/>
        </p:nvSpPr>
        <p:spPr>
          <a:xfrm>
            <a:off x="2135200" y="512564"/>
            <a:ext cx="569491" cy="360759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135200" y="512564"/>
            <a:ext cx="569491" cy="360759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React / Native</a:t>
            </a:r>
            <a:endParaRPr lang="en-US" sz="584" dirty="0"/>
          </a:p>
        </p:txBody>
      </p:sp>
      <p:sp>
        <p:nvSpPr>
          <p:cNvPr id="7" name="Shape 4"/>
          <p:cNvSpPr/>
          <p:nvPr/>
        </p:nvSpPr>
        <p:spPr>
          <a:xfrm>
            <a:off x="2804703" y="512564"/>
            <a:ext cx="509746" cy="360759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04703" y="512564"/>
            <a:ext cx="509746" cy="360759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Spring Boot</a:t>
            </a:r>
            <a:endParaRPr lang="en-US" sz="584" dirty="0"/>
          </a:p>
        </p:txBody>
      </p:sp>
      <p:sp>
        <p:nvSpPr>
          <p:cNvPr id="9" name="Shape 6"/>
          <p:cNvSpPr/>
          <p:nvPr/>
        </p:nvSpPr>
        <p:spPr>
          <a:xfrm>
            <a:off x="3417224" y="512564"/>
            <a:ext cx="518452" cy="360759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417224" y="512564"/>
            <a:ext cx="518452" cy="360759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JPA / MySQL</a:t>
            </a:r>
            <a:endParaRPr lang="en-US" sz="584" dirty="0"/>
          </a:p>
        </p:txBody>
      </p:sp>
      <p:sp>
        <p:nvSpPr>
          <p:cNvPr id="11" name="Shape 8"/>
          <p:cNvSpPr/>
          <p:nvPr/>
        </p:nvSpPr>
        <p:spPr>
          <a:xfrm>
            <a:off x="4041186" y="512564"/>
            <a:ext cx="387939" cy="360759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41186" y="512564"/>
            <a:ext cx="387939" cy="360759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CBD5E1"/>
                </a:solidFill>
              </a:rPr>
              <a:t>AWS S3</a:t>
            </a:r>
            <a:endParaRPr lang="en-US" sz="584" dirty="0"/>
          </a:p>
        </p:txBody>
      </p:sp>
      <p:sp>
        <p:nvSpPr>
          <p:cNvPr id="13" name="Text 10"/>
          <p:cNvSpPr/>
          <p:nvPr/>
        </p:nvSpPr>
        <p:spPr>
          <a:xfrm>
            <a:off x="571500" y="1320729"/>
            <a:ext cx="3857625" cy="502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94A3B8"/>
                </a:solidFill>
              </a:rPr>
              <a:t>SmartCON Lite</a:t>
            </a:r>
            <a:endParaRPr lang="en-US" sz="3294" dirty="0"/>
          </a:p>
        </p:txBody>
      </p:sp>
      <p:sp>
        <p:nvSpPr>
          <p:cNvPr id="14" name="Text 11"/>
          <p:cNvSpPr/>
          <p:nvPr/>
        </p:nvSpPr>
        <p:spPr>
          <a:xfrm>
            <a:off x="571500" y="1895075"/>
            <a:ext cx="3857625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3B82F6"/>
                </a:solidFill>
              </a:rPr>
              <a:t>건설 현장 인력 관리의 디지털 혁신</a:t>
            </a:r>
            <a:endParaRPr lang="en-US" sz="1397" dirty="0"/>
          </a:p>
        </p:txBody>
      </p:sp>
      <p:sp>
        <p:nvSpPr>
          <p:cNvPr id="15" name="Shape 12"/>
          <p:cNvSpPr/>
          <p:nvPr/>
        </p:nvSpPr>
        <p:spPr>
          <a:xfrm>
            <a:off x="571500" y="2327272"/>
            <a:ext cx="300038" cy="300038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081" y="2405853"/>
            <a:ext cx="128588" cy="12858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928688" y="2455859"/>
            <a:ext cx="202645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실시간 출역 관리</a:t>
            </a:r>
            <a:endParaRPr lang="en-US" sz="885" dirty="0"/>
          </a:p>
        </p:txBody>
      </p:sp>
      <p:sp>
        <p:nvSpPr>
          <p:cNvPr id="18" name="Text 14"/>
          <p:cNvSpPr/>
          <p:nvPr/>
        </p:nvSpPr>
        <p:spPr>
          <a:xfrm>
            <a:off x="928688" y="2666600"/>
            <a:ext cx="202645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GPS 및 안면인식 기술을 활용한 정확한 근태 관리</a:t>
            </a:r>
            <a:endParaRPr lang="en-US" sz="727" dirty="0"/>
          </a:p>
        </p:txBody>
      </p:sp>
      <p:sp>
        <p:nvSpPr>
          <p:cNvPr id="19" name="Shape 15"/>
          <p:cNvSpPr/>
          <p:nvPr/>
        </p:nvSpPr>
        <p:spPr>
          <a:xfrm>
            <a:off x="571500" y="2902344"/>
            <a:ext cx="300038" cy="300038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045" y="2980925"/>
            <a:ext cx="144661" cy="12858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28688" y="3030931"/>
            <a:ext cx="1931659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간편 전자계약</a:t>
            </a:r>
            <a:endParaRPr lang="en-US" sz="885" dirty="0"/>
          </a:p>
        </p:txBody>
      </p:sp>
      <p:sp>
        <p:nvSpPr>
          <p:cNvPr id="22" name="Text 17"/>
          <p:cNvSpPr/>
          <p:nvPr/>
        </p:nvSpPr>
        <p:spPr>
          <a:xfrm>
            <a:off x="928688" y="3241672"/>
            <a:ext cx="193165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모바일 서명으로 비대면 계약 및 PDF 자동 생성</a:t>
            </a:r>
            <a:endParaRPr lang="en-US" sz="727" dirty="0"/>
          </a:p>
        </p:txBody>
      </p:sp>
      <p:sp>
        <p:nvSpPr>
          <p:cNvPr id="23" name="Shape 18"/>
          <p:cNvSpPr/>
          <p:nvPr/>
        </p:nvSpPr>
        <p:spPr>
          <a:xfrm>
            <a:off x="571500" y="3477416"/>
            <a:ext cx="300038" cy="300038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081" y="3555997"/>
            <a:ext cx="128588" cy="12858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28688" y="3606003"/>
            <a:ext cx="1838232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투명한 노무비 정산</a:t>
            </a:r>
            <a:endParaRPr lang="en-US" sz="885" dirty="0"/>
          </a:p>
        </p:txBody>
      </p:sp>
      <p:sp>
        <p:nvSpPr>
          <p:cNvPr id="26" name="Text 20"/>
          <p:cNvSpPr/>
          <p:nvPr/>
        </p:nvSpPr>
        <p:spPr>
          <a:xfrm>
            <a:off x="928688" y="3816744"/>
            <a:ext cx="183823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일별 공수 자동 집계로 예상 급여 실시간 조회</a:t>
            </a:r>
            <a:endParaRPr lang="en-US" sz="727" dirty="0"/>
          </a:p>
        </p:txBody>
      </p:sp>
      <p:sp>
        <p:nvSpPr>
          <p:cNvPr id="27" name="Shape 21"/>
          <p:cNvSpPr/>
          <p:nvPr/>
        </p:nvSpPr>
        <p:spPr>
          <a:xfrm>
            <a:off x="4850606" y="1118974"/>
            <a:ext cx="3586163" cy="2157413"/>
          </a:xfrm>
          <a:prstGeom prst="rect">
            <a:avLst/>
          </a:prstGeom>
          <a:solidFill>
            <a:srgbClr val="000000">
              <a:alpha val="0"/>
            </a:srgbClr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1936" y="1120755"/>
            <a:ext cx="3606629" cy="2182912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7272338" y="2666600"/>
            <a:ext cx="1443038" cy="1085850"/>
          </a:xfrm>
          <a:prstGeom prst="rect">
            <a:avLst/>
          </a:prstGeom>
          <a:solidFill>
            <a:srgbClr val="000000">
              <a:alpha val="0"/>
            </a:srgbClr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6625" y="2680888"/>
            <a:ext cx="926427" cy="15537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9520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8715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1285875"/>
            <a:ext cx="85725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428625"/>
            <a:ext cx="857250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spc="-1" kern="0" dirty="0">
                <a:solidFill>
                  <a:srgbClr val="3B82F6"/>
                </a:solidFill>
              </a:rPr>
              <a:t>[공통] 회원가입 프로세스 (PC &amp; Mobile)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285750" y="935831"/>
            <a:ext cx="8572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약관 동의부터 가입 완료까지의 4단계 절차 및 상세 구현 명세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1143000" y="1571625"/>
            <a:ext cx="428625" cy="428625"/>
          </a:xfrm>
          <a:prstGeom prst="ellipse">
            <a:avLst/>
          </a:prstGeom>
          <a:solidFill>
            <a:srgbClr val="0F172A"/>
          </a:solidFill>
          <a:ln w="18288">
            <a:solidFill>
              <a:srgbClr val="3B82F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43000" y="1571625"/>
            <a:ext cx="428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B82F6"/>
                </a:solidFill>
              </a:rPr>
              <a:t>1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1132117" y="2064544"/>
            <a:ext cx="450363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CBD5E1"/>
                </a:solidFill>
              </a:rPr>
              <a:t>약관 동의</a:t>
            </a:r>
            <a:endParaRPr lang="en-US" sz="784" dirty="0"/>
          </a:p>
        </p:txBody>
      </p:sp>
      <p:sp>
        <p:nvSpPr>
          <p:cNvPr id="10" name="Shape 7"/>
          <p:cNvSpPr/>
          <p:nvPr/>
        </p:nvSpPr>
        <p:spPr>
          <a:xfrm>
            <a:off x="3286125" y="1571625"/>
            <a:ext cx="428625" cy="428625"/>
          </a:xfrm>
          <a:prstGeom prst="ellipse">
            <a:avLst/>
          </a:prstGeom>
          <a:solidFill>
            <a:srgbClr val="0F172A"/>
          </a:solidFill>
          <a:ln w="18288">
            <a:solidFill>
              <a:srgbClr val="3B82F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86125" y="1571625"/>
            <a:ext cx="428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B82F6"/>
                </a:solidFill>
              </a:rPr>
              <a:t>2</a:t>
            </a:r>
            <a:endParaRPr lang="en-US" sz="987" dirty="0"/>
          </a:p>
        </p:txBody>
      </p:sp>
      <p:sp>
        <p:nvSpPr>
          <p:cNvPr id="12" name="Text 9"/>
          <p:cNvSpPr/>
          <p:nvPr/>
        </p:nvSpPr>
        <p:spPr>
          <a:xfrm>
            <a:off x="3275242" y="2064544"/>
            <a:ext cx="450363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CBD5E1"/>
                </a:solidFill>
              </a:rPr>
              <a:t>본인 인증</a:t>
            </a:r>
            <a:endParaRPr lang="en-US" sz="784" dirty="0"/>
          </a:p>
        </p:txBody>
      </p:sp>
      <p:sp>
        <p:nvSpPr>
          <p:cNvPr id="13" name="Shape 10"/>
          <p:cNvSpPr/>
          <p:nvPr/>
        </p:nvSpPr>
        <p:spPr>
          <a:xfrm>
            <a:off x="5429250" y="1571625"/>
            <a:ext cx="428625" cy="428625"/>
          </a:xfrm>
          <a:prstGeom prst="ellipse">
            <a:avLst/>
          </a:prstGeom>
          <a:solidFill>
            <a:srgbClr val="0F172A"/>
          </a:solidFill>
          <a:ln w="18288">
            <a:solidFill>
              <a:srgbClr val="3B82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29250" y="1571625"/>
            <a:ext cx="428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B82F6"/>
                </a:solidFill>
              </a:rPr>
              <a:t>3</a:t>
            </a:r>
            <a:endParaRPr lang="en-US" sz="987" dirty="0"/>
          </a:p>
        </p:txBody>
      </p:sp>
      <p:sp>
        <p:nvSpPr>
          <p:cNvPr id="15" name="Text 12"/>
          <p:cNvSpPr/>
          <p:nvPr/>
        </p:nvSpPr>
        <p:spPr>
          <a:xfrm>
            <a:off x="5418367" y="2064544"/>
            <a:ext cx="450363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CBD5E1"/>
                </a:solidFill>
              </a:rPr>
              <a:t>정보 입력</a:t>
            </a:r>
            <a:endParaRPr lang="en-US" sz="784" dirty="0"/>
          </a:p>
        </p:txBody>
      </p:sp>
      <p:sp>
        <p:nvSpPr>
          <p:cNvPr id="16" name="Shape 13"/>
          <p:cNvSpPr/>
          <p:nvPr/>
        </p:nvSpPr>
        <p:spPr>
          <a:xfrm>
            <a:off x="7572375" y="1571625"/>
            <a:ext cx="428625" cy="428625"/>
          </a:xfrm>
          <a:prstGeom prst="ellipse">
            <a:avLst/>
          </a:prstGeom>
          <a:solidFill>
            <a:srgbClr val="0F172A"/>
          </a:solidFill>
          <a:ln w="18288">
            <a:solidFill>
              <a:srgbClr val="3B82F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572375" y="1571625"/>
            <a:ext cx="428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B82F6"/>
                </a:solidFill>
              </a:rPr>
              <a:t>4</a:t>
            </a:r>
            <a:endParaRPr lang="en-US" sz="987" dirty="0"/>
          </a:p>
        </p:txBody>
      </p:sp>
      <p:sp>
        <p:nvSpPr>
          <p:cNvPr id="18" name="Text 15"/>
          <p:cNvSpPr/>
          <p:nvPr/>
        </p:nvSpPr>
        <p:spPr>
          <a:xfrm>
            <a:off x="7561492" y="2064544"/>
            <a:ext cx="450363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CBD5E1"/>
                </a:solidFill>
              </a:rPr>
              <a:t>가입 완료</a:t>
            </a:r>
            <a:endParaRPr lang="en-US" sz="784" dirty="0"/>
          </a:p>
        </p:txBody>
      </p:sp>
      <p:sp>
        <p:nvSpPr>
          <p:cNvPr id="19" name="Shape 16"/>
          <p:cNvSpPr/>
          <p:nvPr/>
        </p:nvSpPr>
        <p:spPr>
          <a:xfrm>
            <a:off x="285750" y="2514600"/>
            <a:ext cx="2035969" cy="2200275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2687836"/>
            <a:ext cx="96441" cy="12858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96503" y="2657475"/>
            <a:ext cx="50664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B82F6"/>
                </a:solidFill>
              </a:rPr>
              <a:t>약관 동의</a:t>
            </a:r>
            <a:endParaRPr lang="en-US" sz="885" dirty="0"/>
          </a:p>
        </p:txBody>
      </p:sp>
      <p:sp>
        <p:nvSpPr>
          <p:cNvPr id="22" name="Text 18"/>
          <p:cNvSpPr/>
          <p:nvPr/>
        </p:nvSpPr>
        <p:spPr>
          <a:xfrm>
            <a:off x="428625" y="3032522"/>
            <a:ext cx="175021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UI Elements</a:t>
            </a:r>
            <a:endParaRPr lang="en-US" sz="584" dirty="0"/>
          </a:p>
        </p:txBody>
      </p:sp>
      <p:sp>
        <p:nvSpPr>
          <p:cNvPr id="23" name="Text 19"/>
          <p:cNvSpPr/>
          <p:nvPr/>
        </p:nvSpPr>
        <p:spPr>
          <a:xfrm>
            <a:off x="428625" y="3177183"/>
            <a:ext cx="1750219" cy="560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전체 동의 체크박스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서비스 이용약관 (필수)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개인정보 처리방침 (필수)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마케팅 수신 동의 (선택)</a:t>
            </a:r>
            <a:endParaRPr lang="en-US" sz="727" dirty="0"/>
          </a:p>
        </p:txBody>
      </p:sp>
      <p:sp>
        <p:nvSpPr>
          <p:cNvPr id="24" name="Text 20"/>
          <p:cNvSpPr/>
          <p:nvPr/>
        </p:nvSpPr>
        <p:spPr>
          <a:xfrm>
            <a:off x="428625" y="3822911"/>
            <a:ext cx="175021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Logic</a:t>
            </a:r>
            <a:endParaRPr lang="en-US" sz="584" dirty="0"/>
          </a:p>
        </p:txBody>
      </p:sp>
      <p:sp>
        <p:nvSpPr>
          <p:cNvPr id="25" name="Text 21"/>
          <p:cNvSpPr/>
          <p:nvPr/>
        </p:nvSpPr>
        <p:spPr>
          <a:xfrm>
            <a:off x="428625" y="3967572"/>
            <a:ext cx="1750219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'전체 동의' 클릭 시 하위 항목 일괄 토글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필수 항목 미체크 시 '다음' 버튼 비활성화</a:t>
            </a:r>
            <a:endParaRPr lang="en-US" sz="727" dirty="0"/>
          </a:p>
        </p:txBody>
      </p:sp>
      <p:sp>
        <p:nvSpPr>
          <p:cNvPr id="26" name="Shape 22"/>
          <p:cNvSpPr/>
          <p:nvPr/>
        </p:nvSpPr>
        <p:spPr>
          <a:xfrm>
            <a:off x="2464594" y="2514600"/>
            <a:ext cx="2035969" cy="2200275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7469" y="2687836"/>
            <a:ext cx="96441" cy="12858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2775347" y="2657475"/>
            <a:ext cx="50664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B82F6"/>
                </a:solidFill>
              </a:rPr>
              <a:t>본인 인증</a:t>
            </a:r>
            <a:endParaRPr lang="en-US" sz="885" dirty="0"/>
          </a:p>
        </p:txBody>
      </p:sp>
      <p:sp>
        <p:nvSpPr>
          <p:cNvPr id="29" name="Text 24"/>
          <p:cNvSpPr/>
          <p:nvPr/>
        </p:nvSpPr>
        <p:spPr>
          <a:xfrm>
            <a:off x="2607469" y="3032522"/>
            <a:ext cx="175021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UI Elements</a:t>
            </a:r>
            <a:endParaRPr lang="en-US" sz="584" dirty="0"/>
          </a:p>
        </p:txBody>
      </p:sp>
      <p:sp>
        <p:nvSpPr>
          <p:cNvPr id="30" name="Text 25"/>
          <p:cNvSpPr/>
          <p:nvPr/>
        </p:nvSpPr>
        <p:spPr>
          <a:xfrm>
            <a:off x="2607469" y="3177183"/>
            <a:ext cx="1750219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통신사 선택 드롭다운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휴대폰 번호 입력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인증번호 요청/확인 버튼</a:t>
            </a:r>
            <a:endParaRPr lang="en-US" sz="727" dirty="0"/>
          </a:p>
        </p:txBody>
      </p:sp>
      <p:sp>
        <p:nvSpPr>
          <p:cNvPr id="31" name="Text 26"/>
          <p:cNvSpPr/>
          <p:nvPr/>
        </p:nvSpPr>
        <p:spPr>
          <a:xfrm>
            <a:off x="2607469" y="3682910"/>
            <a:ext cx="175021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API</a:t>
            </a:r>
            <a:endParaRPr lang="en-US" sz="584" dirty="0"/>
          </a:p>
        </p:txBody>
      </p:sp>
      <p:sp>
        <p:nvSpPr>
          <p:cNvPr id="32" name="Shape 27"/>
          <p:cNvSpPr/>
          <p:nvPr/>
        </p:nvSpPr>
        <p:spPr>
          <a:xfrm>
            <a:off x="2607469" y="3863290"/>
            <a:ext cx="1092882" cy="178594"/>
          </a:xfrm>
          <a:prstGeom prst="rect">
            <a:avLst/>
          </a:prstGeom>
          <a:solidFill>
            <a:srgbClr val="0F172A"/>
          </a:solidFill>
          <a:ln w="9144">
            <a:solidFill>
              <a:srgbClr val="10B981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2607469" y="3863290"/>
            <a:ext cx="1092882" cy="178594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10B981"/>
                </a:solidFill>
              </a:rPr>
              <a:t>POST /api/auth/verify-sms</a:t>
            </a:r>
            <a:endParaRPr lang="en-US" sz="568" dirty="0"/>
          </a:p>
        </p:txBody>
      </p:sp>
      <p:sp>
        <p:nvSpPr>
          <p:cNvPr id="34" name="Text 29"/>
          <p:cNvSpPr/>
          <p:nvPr/>
        </p:nvSpPr>
        <p:spPr>
          <a:xfrm>
            <a:off x="2607469" y="4113321"/>
            <a:ext cx="175021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Logic</a:t>
            </a:r>
            <a:endParaRPr lang="en-US" sz="584" dirty="0"/>
          </a:p>
        </p:txBody>
      </p:sp>
      <p:sp>
        <p:nvSpPr>
          <p:cNvPr id="35" name="Text 30"/>
          <p:cNvSpPr/>
          <p:nvPr/>
        </p:nvSpPr>
        <p:spPr>
          <a:xfrm>
            <a:off x="2607469" y="4257982"/>
            <a:ext cx="1750219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인증번호 유효시간(3분) 타이머 표시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3회 실패 시 재요청 제한</a:t>
            </a:r>
            <a:endParaRPr lang="en-US" sz="727" dirty="0"/>
          </a:p>
        </p:txBody>
      </p:sp>
      <p:sp>
        <p:nvSpPr>
          <p:cNvPr id="36" name="Shape 31"/>
          <p:cNvSpPr/>
          <p:nvPr/>
        </p:nvSpPr>
        <p:spPr>
          <a:xfrm>
            <a:off x="4643438" y="2514600"/>
            <a:ext cx="2035969" cy="2200275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6313" y="2687836"/>
            <a:ext cx="160734" cy="128588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5018484" y="2657475"/>
            <a:ext cx="50664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B82F6"/>
                </a:solidFill>
              </a:rPr>
              <a:t>정보 입력</a:t>
            </a:r>
            <a:endParaRPr lang="en-US" sz="885" dirty="0"/>
          </a:p>
        </p:txBody>
      </p:sp>
      <p:sp>
        <p:nvSpPr>
          <p:cNvPr id="39" name="Text 33"/>
          <p:cNvSpPr/>
          <p:nvPr/>
        </p:nvSpPr>
        <p:spPr>
          <a:xfrm>
            <a:off x="4786313" y="3032522"/>
            <a:ext cx="175021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UI Elements</a:t>
            </a:r>
            <a:endParaRPr lang="en-US" sz="584" dirty="0"/>
          </a:p>
        </p:txBody>
      </p:sp>
      <p:sp>
        <p:nvSpPr>
          <p:cNvPr id="40" name="Text 34"/>
          <p:cNvSpPr/>
          <p:nvPr/>
        </p:nvSpPr>
        <p:spPr>
          <a:xfrm>
            <a:off x="4786313" y="3177183"/>
            <a:ext cx="1750219" cy="560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이메일 (ID)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비밀번호 (영문/숫자/특수문자 8자↑)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비밀번호 확인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이름 (실명)</a:t>
            </a:r>
            <a:endParaRPr lang="en-US" sz="727" dirty="0"/>
          </a:p>
        </p:txBody>
      </p:sp>
      <p:sp>
        <p:nvSpPr>
          <p:cNvPr id="41" name="Text 35"/>
          <p:cNvSpPr/>
          <p:nvPr/>
        </p:nvSpPr>
        <p:spPr>
          <a:xfrm>
            <a:off x="4786313" y="3822911"/>
            <a:ext cx="175021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Validation</a:t>
            </a:r>
            <a:endParaRPr lang="en-US" sz="584" dirty="0"/>
          </a:p>
        </p:txBody>
      </p:sp>
      <p:sp>
        <p:nvSpPr>
          <p:cNvPr id="42" name="Text 36"/>
          <p:cNvSpPr/>
          <p:nvPr/>
        </p:nvSpPr>
        <p:spPr>
          <a:xfrm>
            <a:off x="4786313" y="3967572"/>
            <a:ext cx="1750219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이메일 형식 정규식 검사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비밀번호 일치 여부 실시간 확인</a:t>
            </a:r>
            <a:endParaRPr lang="en-US" sz="727" dirty="0"/>
          </a:p>
        </p:txBody>
      </p:sp>
      <p:sp>
        <p:nvSpPr>
          <p:cNvPr id="43" name="Shape 37"/>
          <p:cNvSpPr/>
          <p:nvPr/>
        </p:nvSpPr>
        <p:spPr>
          <a:xfrm>
            <a:off x="6822281" y="2514600"/>
            <a:ext cx="2035969" cy="2200275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4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5156" y="2687836"/>
            <a:ext cx="128588" cy="128588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7165181" y="2657475"/>
            <a:ext cx="50664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B82F6"/>
                </a:solidFill>
              </a:rPr>
              <a:t>가입 완료</a:t>
            </a:r>
            <a:endParaRPr lang="en-US" sz="885" dirty="0"/>
          </a:p>
        </p:txBody>
      </p:sp>
      <p:sp>
        <p:nvSpPr>
          <p:cNvPr id="46" name="Text 39"/>
          <p:cNvSpPr/>
          <p:nvPr/>
        </p:nvSpPr>
        <p:spPr>
          <a:xfrm>
            <a:off x="6965156" y="3032522"/>
            <a:ext cx="175021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UI Elements</a:t>
            </a:r>
            <a:endParaRPr lang="en-US" sz="584" dirty="0"/>
          </a:p>
        </p:txBody>
      </p:sp>
      <p:sp>
        <p:nvSpPr>
          <p:cNvPr id="47" name="Text 40"/>
          <p:cNvSpPr/>
          <p:nvPr/>
        </p:nvSpPr>
        <p:spPr>
          <a:xfrm>
            <a:off x="6965156" y="3177183"/>
            <a:ext cx="1750219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환영 메시지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'로그인하러 가기' 버튼</a:t>
            </a:r>
            <a:endParaRPr lang="en-US" sz="727" dirty="0"/>
          </a:p>
        </p:txBody>
      </p:sp>
      <p:sp>
        <p:nvSpPr>
          <p:cNvPr id="48" name="Text 41"/>
          <p:cNvSpPr/>
          <p:nvPr/>
        </p:nvSpPr>
        <p:spPr>
          <a:xfrm>
            <a:off x="6965156" y="3542909"/>
            <a:ext cx="175021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API</a:t>
            </a:r>
            <a:endParaRPr lang="en-US" sz="584" dirty="0"/>
          </a:p>
        </p:txBody>
      </p:sp>
      <p:sp>
        <p:nvSpPr>
          <p:cNvPr id="49" name="Shape 42"/>
          <p:cNvSpPr/>
          <p:nvPr/>
        </p:nvSpPr>
        <p:spPr>
          <a:xfrm>
            <a:off x="6965156" y="3723289"/>
            <a:ext cx="1001325" cy="178594"/>
          </a:xfrm>
          <a:prstGeom prst="rect">
            <a:avLst/>
          </a:prstGeom>
          <a:solidFill>
            <a:srgbClr val="0F172A"/>
          </a:solidFill>
          <a:ln w="9144">
            <a:solidFill>
              <a:srgbClr val="10B981"/>
            </a:solidFill>
            <a:prstDash val="solid"/>
          </a:ln>
        </p:spPr>
      </p:sp>
      <p:sp>
        <p:nvSpPr>
          <p:cNvPr id="50" name="Text 43"/>
          <p:cNvSpPr/>
          <p:nvPr/>
        </p:nvSpPr>
        <p:spPr>
          <a:xfrm>
            <a:off x="6965156" y="3723289"/>
            <a:ext cx="1001325" cy="178594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10B981"/>
                </a:solidFill>
              </a:rPr>
              <a:t>POST /api/auth/register</a:t>
            </a:r>
            <a:endParaRPr lang="en-US" sz="568" dirty="0"/>
          </a:p>
        </p:txBody>
      </p:sp>
      <p:sp>
        <p:nvSpPr>
          <p:cNvPr id="51" name="Text 44"/>
          <p:cNvSpPr/>
          <p:nvPr/>
        </p:nvSpPr>
        <p:spPr>
          <a:xfrm>
            <a:off x="6965156" y="3973320"/>
            <a:ext cx="175021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Logic</a:t>
            </a:r>
            <a:endParaRPr lang="en-US" sz="584" dirty="0"/>
          </a:p>
        </p:txBody>
      </p:sp>
      <p:sp>
        <p:nvSpPr>
          <p:cNvPr id="52" name="Text 45"/>
          <p:cNvSpPr/>
          <p:nvPr/>
        </p:nvSpPr>
        <p:spPr>
          <a:xfrm>
            <a:off x="6965156" y="4117981"/>
            <a:ext cx="1750219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가입 성공 시 자동 로그인 처리 안 함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F1F5F9"/>
                </a:solidFill>
              </a:rPr>
              <a:t>(보안 정책상 재로그인 유도)</a:t>
            </a:r>
            <a:endParaRPr lang="en-US" sz="727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8715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1285875"/>
            <a:ext cx="85725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428625"/>
            <a:ext cx="857250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spc="-1" kern="0" dirty="0">
                <a:solidFill>
                  <a:srgbClr val="3B82F6"/>
                </a:solidFill>
              </a:rPr>
              <a:t>[공통] 로그인 및 소셜 연동 (PC &amp; Mobile)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285750" y="935831"/>
            <a:ext cx="8572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이메일 로그인 및 OAuth 2.0 기반 소셜 로그인 구현 명세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85750" y="1428750"/>
            <a:ext cx="4171950" cy="3500438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38" y="1596628"/>
            <a:ext cx="171450" cy="1714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71513" y="1557338"/>
            <a:ext cx="991000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8FAFC"/>
                </a:solidFill>
              </a:rPr>
              <a:t>이메일 로그인</a:t>
            </a:r>
            <a:endParaRPr lang="en-US" sz="1193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338" y="2018109"/>
            <a:ext cx="125016" cy="10001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96503" y="2000250"/>
            <a:ext cx="95053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94A3B8"/>
                </a:solidFill>
              </a:rPr>
              <a:t>API Specification</a:t>
            </a:r>
            <a:endParaRPr lang="en-US" sz="683" dirty="0"/>
          </a:p>
        </p:txBody>
      </p:sp>
      <p:sp>
        <p:nvSpPr>
          <p:cNvPr id="12" name="Shape 7"/>
          <p:cNvSpPr/>
          <p:nvPr/>
        </p:nvSpPr>
        <p:spPr>
          <a:xfrm>
            <a:off x="414338" y="2193131"/>
            <a:ext cx="3914775" cy="754335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485775" y="2264569"/>
            <a:ext cx="1054205" cy="234293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</p:sp>
      <p:sp>
        <p:nvSpPr>
          <p:cNvPr id="14" name="Text 9"/>
          <p:cNvSpPr/>
          <p:nvPr/>
        </p:nvSpPr>
        <p:spPr>
          <a:xfrm>
            <a:off x="485775" y="2264569"/>
            <a:ext cx="1054205" cy="234293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10B981"/>
                </a:solidFill>
              </a:rPr>
              <a:t>POST /api/auth/login</a:t>
            </a:r>
            <a:endParaRPr lang="en-US" sz="674" dirty="0"/>
          </a:p>
        </p:txBody>
      </p:sp>
      <p:sp>
        <p:nvSpPr>
          <p:cNvPr id="15" name="Text 10"/>
          <p:cNvSpPr/>
          <p:nvPr/>
        </p:nvSpPr>
        <p:spPr>
          <a:xfrm>
            <a:off x="485775" y="2541724"/>
            <a:ext cx="377190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Request: { email, password } • Response: { accessToken, refreshToken, userRole }</a:t>
            </a:r>
            <a:endParaRPr lang="en-US" sz="727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338" y="2876755"/>
            <a:ext cx="100013" cy="10001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71500" y="2858895"/>
            <a:ext cx="81081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94A3B8"/>
                </a:solidFill>
              </a:rPr>
              <a:t>Security Logic</a:t>
            </a:r>
            <a:endParaRPr lang="en-US" sz="683" dirty="0"/>
          </a:p>
        </p:txBody>
      </p:sp>
      <p:sp>
        <p:nvSpPr>
          <p:cNvPr id="18" name="Shape 12"/>
          <p:cNvSpPr/>
          <p:nvPr/>
        </p:nvSpPr>
        <p:spPr>
          <a:xfrm>
            <a:off x="414338" y="3051777"/>
            <a:ext cx="3914775" cy="477180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414338" y="3051777"/>
            <a:ext cx="3914775" cy="47718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비밀번호 암호화: SHA-256 + Salt · 로그인 실패 제한: 5회 후 10분 잠금 · 토큰 저장: Access (Memory), Refresh (HttpOnly Cookie)</a:t>
            </a:r>
            <a:endParaRPr lang="en-US" sz="727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338" y="3618254"/>
            <a:ext cx="100013" cy="100013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71500" y="3600394"/>
            <a:ext cx="102264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94A3B8"/>
                </a:solidFill>
              </a:rPr>
              <a:t>Account Recovery</a:t>
            </a:r>
            <a:endParaRPr lang="en-US" sz="683" dirty="0"/>
          </a:p>
        </p:txBody>
      </p:sp>
      <p:sp>
        <p:nvSpPr>
          <p:cNvPr id="22" name="Shape 15"/>
          <p:cNvSpPr/>
          <p:nvPr/>
        </p:nvSpPr>
        <p:spPr>
          <a:xfrm>
            <a:off x="414338" y="3793275"/>
            <a:ext cx="3914775" cy="477180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414338" y="3793275"/>
            <a:ext cx="3914775" cy="47718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아이디 찾기: 휴대폰 인증 후 이메일 마스킹 · 비밀번호 재설정: 임시 비밀번호 발송 또는 링크</a:t>
            </a:r>
            <a:endParaRPr lang="en-US" sz="727" dirty="0"/>
          </a:p>
        </p:txBody>
      </p:sp>
      <p:sp>
        <p:nvSpPr>
          <p:cNvPr id="24" name="Shape 17"/>
          <p:cNvSpPr/>
          <p:nvPr/>
        </p:nvSpPr>
        <p:spPr>
          <a:xfrm>
            <a:off x="4686300" y="1428750"/>
            <a:ext cx="4171950" cy="3500438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4888" y="1596628"/>
            <a:ext cx="150019" cy="17145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050631" y="1557338"/>
            <a:ext cx="1834688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8FAFC"/>
                </a:solidFill>
              </a:rPr>
              <a:t>소셜 로그인 (OAuth 2.0)</a:t>
            </a:r>
            <a:endParaRPr lang="en-US" sz="1193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4888" y="2018109"/>
            <a:ext cx="100013" cy="100013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4972050" y="2000250"/>
            <a:ext cx="117835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94A3B8"/>
                </a:solidFill>
              </a:rPr>
              <a:t>Supported Providers</a:t>
            </a:r>
            <a:endParaRPr lang="en-US" sz="683" dirty="0"/>
          </a:p>
        </p:txBody>
      </p:sp>
      <p:sp>
        <p:nvSpPr>
          <p:cNvPr id="29" name="Shape 20"/>
          <p:cNvSpPr/>
          <p:nvPr/>
        </p:nvSpPr>
        <p:spPr>
          <a:xfrm>
            <a:off x="4814888" y="2200275"/>
            <a:ext cx="631524" cy="314325"/>
          </a:xfrm>
          <a:prstGeom prst="rect">
            <a:avLst/>
          </a:prstGeom>
          <a:solidFill>
            <a:srgbClr val="FEE500"/>
          </a:solidFill>
          <a:ln/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00613" y="2303859"/>
            <a:ext cx="107156" cy="107156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5064919" y="2271713"/>
            <a:ext cx="29576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0F172A"/>
                </a:solidFill>
              </a:rPr>
              <a:t>카카오</a:t>
            </a:r>
            <a:endParaRPr lang="en-US" sz="734" dirty="0"/>
          </a:p>
        </p:txBody>
      </p:sp>
      <p:sp>
        <p:nvSpPr>
          <p:cNvPr id="32" name="Shape 22"/>
          <p:cNvSpPr/>
          <p:nvPr/>
        </p:nvSpPr>
        <p:spPr>
          <a:xfrm>
            <a:off x="5532137" y="2200275"/>
            <a:ext cx="582188" cy="314325"/>
          </a:xfrm>
          <a:prstGeom prst="rect">
            <a:avLst/>
          </a:prstGeom>
          <a:solidFill>
            <a:srgbClr val="03C75A"/>
          </a:solidFill>
          <a:ln/>
        </p:spPr>
      </p:sp>
      <p:sp>
        <p:nvSpPr>
          <p:cNvPr id="33" name="Text 23"/>
          <p:cNvSpPr/>
          <p:nvPr/>
        </p:nvSpPr>
        <p:spPr>
          <a:xfrm>
            <a:off x="5532137" y="2200275"/>
            <a:ext cx="582188" cy="314325"/>
          </a:xfrm>
          <a:prstGeom prst="rect">
            <a:avLst/>
          </a:prstGeom>
          <a:noFill/>
          <a:ln/>
        </p:spPr>
        <p:txBody>
          <a:bodyPr wrap="square" lIns="102108" tIns="0" rIns="102108" bIns="0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FFFFFF"/>
                </a:solidFill>
              </a:rPr>
              <a:t>N 네이버</a:t>
            </a:r>
            <a:endParaRPr lang="en-US" sz="734" dirty="0"/>
          </a:p>
        </p:txBody>
      </p:sp>
      <p:sp>
        <p:nvSpPr>
          <p:cNvPr id="34" name="Shape 24"/>
          <p:cNvSpPr/>
          <p:nvPr/>
        </p:nvSpPr>
        <p:spPr>
          <a:xfrm>
            <a:off x="6200049" y="2193131"/>
            <a:ext cx="541865" cy="328613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1"/>
            </a:solidFill>
            <a:prstDash val="solid"/>
          </a:ln>
        </p:spPr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85774" y="2296716"/>
            <a:ext cx="101798" cy="107156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6444723" y="2264569"/>
            <a:ext cx="19717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0F172A"/>
                </a:solidFill>
              </a:rPr>
              <a:t>구글</a:t>
            </a:r>
            <a:endParaRPr lang="en-US" sz="734" dirty="0"/>
          </a:p>
        </p:txBody>
      </p:sp>
      <p:pic>
        <p:nvPicPr>
          <p:cNvPr id="3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14888" y="2611041"/>
            <a:ext cx="100013" cy="100013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4972050" y="2593181"/>
            <a:ext cx="58977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94A3B8"/>
                </a:solidFill>
              </a:rPr>
              <a:t>Auth Flow</a:t>
            </a:r>
            <a:endParaRPr lang="en-US" sz="683" dirty="0"/>
          </a:p>
        </p:txBody>
      </p:sp>
      <p:sp>
        <p:nvSpPr>
          <p:cNvPr id="39" name="Shape 27"/>
          <p:cNvSpPr/>
          <p:nvPr/>
        </p:nvSpPr>
        <p:spPr>
          <a:xfrm>
            <a:off x="4814888" y="2786063"/>
            <a:ext cx="3914775" cy="731453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40" name="Shape 28"/>
          <p:cNvSpPr/>
          <p:nvPr/>
        </p:nvSpPr>
        <p:spPr>
          <a:xfrm>
            <a:off x="4886325" y="2860346"/>
            <a:ext cx="142875" cy="142875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1" name="Text 29"/>
          <p:cNvSpPr/>
          <p:nvPr/>
        </p:nvSpPr>
        <p:spPr>
          <a:xfrm>
            <a:off x="4886325" y="2860346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1</a:t>
            </a:r>
            <a:endParaRPr lang="en-US" sz="534" dirty="0"/>
          </a:p>
        </p:txBody>
      </p:sp>
      <p:sp>
        <p:nvSpPr>
          <p:cNvPr id="42" name="Text 30"/>
          <p:cNvSpPr/>
          <p:nvPr/>
        </p:nvSpPr>
        <p:spPr>
          <a:xfrm>
            <a:off x="5100638" y="2857500"/>
            <a:ext cx="1348550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사용자 버튼 클릭 → Provider 인증</a:t>
            </a:r>
            <a:endParaRPr lang="en-US" sz="674" dirty="0"/>
          </a:p>
        </p:txBody>
      </p:sp>
      <p:sp>
        <p:nvSpPr>
          <p:cNvPr id="43" name="Shape 31"/>
          <p:cNvSpPr/>
          <p:nvPr/>
        </p:nvSpPr>
        <p:spPr>
          <a:xfrm>
            <a:off x="4886325" y="3051777"/>
            <a:ext cx="142875" cy="142875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4" name="Text 32"/>
          <p:cNvSpPr/>
          <p:nvPr/>
        </p:nvSpPr>
        <p:spPr>
          <a:xfrm>
            <a:off x="4886325" y="3051777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2</a:t>
            </a:r>
            <a:endParaRPr lang="en-US" sz="534" dirty="0"/>
          </a:p>
        </p:txBody>
      </p:sp>
      <p:sp>
        <p:nvSpPr>
          <p:cNvPr id="45" name="Text 33"/>
          <p:cNvSpPr/>
          <p:nvPr/>
        </p:nvSpPr>
        <p:spPr>
          <a:xfrm>
            <a:off x="5100638" y="3048930"/>
            <a:ext cx="1651211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Auth Code 수신 및 서버로 전달, 토큰 교환</a:t>
            </a:r>
            <a:endParaRPr lang="en-US" sz="674" dirty="0"/>
          </a:p>
        </p:txBody>
      </p:sp>
      <p:sp>
        <p:nvSpPr>
          <p:cNvPr id="46" name="Shape 34"/>
          <p:cNvSpPr/>
          <p:nvPr/>
        </p:nvSpPr>
        <p:spPr>
          <a:xfrm>
            <a:off x="4886325" y="3243207"/>
            <a:ext cx="142875" cy="142875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7" name="Text 35"/>
          <p:cNvSpPr/>
          <p:nvPr/>
        </p:nvSpPr>
        <p:spPr>
          <a:xfrm>
            <a:off x="4886325" y="3243207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3</a:t>
            </a:r>
            <a:endParaRPr lang="en-US" sz="534" dirty="0"/>
          </a:p>
        </p:txBody>
      </p:sp>
      <p:sp>
        <p:nvSpPr>
          <p:cNvPr id="48" name="Text 36"/>
          <p:cNvSpPr/>
          <p:nvPr/>
        </p:nvSpPr>
        <p:spPr>
          <a:xfrm>
            <a:off x="5100638" y="3240360"/>
            <a:ext cx="1511908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회원 확인 후 로그인 또는 회원가입 처리</a:t>
            </a:r>
            <a:endParaRPr lang="en-US" sz="67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8636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8715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1285875"/>
            <a:ext cx="85725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428625"/>
            <a:ext cx="857250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spc="-1" kern="0" dirty="0">
                <a:solidFill>
                  <a:srgbClr val="3B82F6"/>
                </a:solidFill>
              </a:rPr>
              <a:t>[공통] 권한 선택 및 대시보드 진입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285750" y="935831"/>
            <a:ext cx="8572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사용자 역할(Role) 기반 라우팅 및 멀티 프로필 처리 로직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931283" y="1714500"/>
            <a:ext cx="2443163" cy="716356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52739" y="1973656"/>
            <a:ext cx="200025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8FAFC"/>
                </a:solidFill>
              </a:rPr>
              <a:t>1. 로그인 성공</a:t>
            </a:r>
            <a:endParaRPr lang="en-US" sz="784" dirty="0"/>
          </a:p>
        </p:txBody>
      </p:sp>
      <p:sp>
        <p:nvSpPr>
          <p:cNvPr id="9" name="Text 6"/>
          <p:cNvSpPr/>
          <p:nvPr/>
        </p:nvSpPr>
        <p:spPr>
          <a:xfrm>
            <a:off x="1152739" y="2173681"/>
            <a:ext cx="20002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JWT Access Token 발급 완료</a:t>
            </a:r>
            <a:endParaRPr lang="en-US" sz="674" dirty="0"/>
          </a:p>
        </p:txBody>
      </p:sp>
      <p:sp>
        <p:nvSpPr>
          <p:cNvPr id="10" name="Shape 7"/>
          <p:cNvSpPr/>
          <p:nvPr/>
        </p:nvSpPr>
        <p:spPr>
          <a:xfrm>
            <a:off x="931283" y="2702319"/>
            <a:ext cx="2443163" cy="716356"/>
          </a:xfrm>
          <a:prstGeom prst="rect">
            <a:avLst/>
          </a:prstGeom>
          <a:solidFill>
            <a:srgbClr val="1E293B"/>
          </a:solidFill>
          <a:ln w="9144">
            <a:solidFill>
              <a:srgbClr val="3B82F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52739" y="2961475"/>
            <a:ext cx="200025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8FAFC"/>
                </a:solidFill>
              </a:rPr>
              <a:t>2. 권한(Role) 확인</a:t>
            </a:r>
            <a:endParaRPr lang="en-US" sz="784" dirty="0"/>
          </a:p>
        </p:txBody>
      </p:sp>
      <p:sp>
        <p:nvSpPr>
          <p:cNvPr id="12" name="Text 9"/>
          <p:cNvSpPr/>
          <p:nvPr/>
        </p:nvSpPr>
        <p:spPr>
          <a:xfrm>
            <a:off x="1152739" y="3161500"/>
            <a:ext cx="20002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Token Payload의 'roles' 배열 검사</a:t>
            </a:r>
            <a:endParaRPr lang="en-US" sz="674" dirty="0"/>
          </a:p>
        </p:txBody>
      </p:sp>
      <p:sp>
        <p:nvSpPr>
          <p:cNvPr id="13" name="Shape 10"/>
          <p:cNvSpPr/>
          <p:nvPr/>
        </p:nvSpPr>
        <p:spPr>
          <a:xfrm>
            <a:off x="285750" y="3690138"/>
            <a:ext cx="1867114" cy="644723"/>
          </a:xfrm>
          <a:prstGeom prst="rect">
            <a:avLst/>
          </a:prstGeom>
          <a:solidFill>
            <a:srgbClr val="0F172A"/>
          </a:solidFill>
          <a:ln w="9144">
            <a:solidFill>
              <a:srgbClr val="3B82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18710" y="3806223"/>
            <a:ext cx="3940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단일 권한</a:t>
            </a:r>
            <a:endParaRPr lang="en-US" sz="683" dirty="0"/>
          </a:p>
        </p:txBody>
      </p:sp>
      <p:sp>
        <p:nvSpPr>
          <p:cNvPr id="15" name="Text 12"/>
          <p:cNvSpPr/>
          <p:nvPr/>
        </p:nvSpPr>
        <p:spPr>
          <a:xfrm>
            <a:off x="928548" y="3958028"/>
            <a:ext cx="57437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해당 대시보드로</a:t>
            </a:r>
            <a:endParaRPr lang="en-US" sz="621" dirty="0"/>
          </a:p>
        </p:txBody>
      </p:sp>
      <p:sp>
        <p:nvSpPr>
          <p:cNvPr id="16" name="Text 13"/>
          <p:cNvSpPr/>
          <p:nvPr/>
        </p:nvSpPr>
        <p:spPr>
          <a:xfrm>
            <a:off x="928548" y="4093759"/>
            <a:ext cx="57437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즉시 리다이렉트</a:t>
            </a:r>
            <a:endParaRPr lang="en-US" sz="621" dirty="0"/>
          </a:p>
        </p:txBody>
      </p:sp>
      <p:sp>
        <p:nvSpPr>
          <p:cNvPr id="17" name="Shape 14"/>
          <p:cNvSpPr/>
          <p:nvPr/>
        </p:nvSpPr>
        <p:spPr>
          <a:xfrm>
            <a:off x="2145720" y="3690138"/>
            <a:ext cx="1874258" cy="644723"/>
          </a:xfrm>
          <a:prstGeom prst="rect">
            <a:avLst/>
          </a:prstGeom>
          <a:solidFill>
            <a:srgbClr val="0F172A"/>
          </a:solidFill>
          <a:ln w="9144">
            <a:solidFill>
              <a:srgbClr val="3B82F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889396" y="3806223"/>
            <a:ext cx="3940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다중 권한</a:t>
            </a:r>
            <a:endParaRPr lang="en-US" sz="683" dirty="0"/>
          </a:p>
        </p:txBody>
      </p:sp>
      <p:sp>
        <p:nvSpPr>
          <p:cNvPr id="19" name="Text 16"/>
          <p:cNvSpPr/>
          <p:nvPr/>
        </p:nvSpPr>
        <p:spPr>
          <a:xfrm>
            <a:off x="2737507" y="3958028"/>
            <a:ext cx="69782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권한 선택 팝업 표시</a:t>
            </a:r>
            <a:endParaRPr lang="en-US" sz="621" dirty="0"/>
          </a:p>
        </p:txBody>
      </p:sp>
      <p:sp>
        <p:nvSpPr>
          <p:cNvPr id="20" name="Text 17"/>
          <p:cNvSpPr/>
          <p:nvPr/>
        </p:nvSpPr>
        <p:spPr>
          <a:xfrm>
            <a:off x="2836432" y="4093759"/>
            <a:ext cx="49995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(본사/현장 등)</a:t>
            </a:r>
            <a:endParaRPr lang="en-US" sz="621" dirty="0"/>
          </a:p>
        </p:txBody>
      </p:sp>
      <p:sp>
        <p:nvSpPr>
          <p:cNvPr id="21" name="Shape 18"/>
          <p:cNvSpPr/>
          <p:nvPr/>
        </p:nvSpPr>
        <p:spPr>
          <a:xfrm>
            <a:off x="4377165" y="1571625"/>
            <a:ext cx="4481057" cy="1014413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20040" y="1672530"/>
            <a:ext cx="290943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3B82F6"/>
                </a:solidFill>
              </a:rPr>
              <a:t>ROLE_HQ_ADMIN</a:t>
            </a:r>
            <a:endParaRPr lang="en-US" sz="584" dirty="0"/>
          </a:p>
        </p:txBody>
      </p:sp>
      <p:sp>
        <p:nvSpPr>
          <p:cNvPr id="23" name="Text 20"/>
          <p:cNvSpPr/>
          <p:nvPr/>
        </p:nvSpPr>
        <p:spPr>
          <a:xfrm>
            <a:off x="4520040" y="1824335"/>
            <a:ext cx="2909432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본사 통합 대시보드</a:t>
            </a:r>
            <a:endParaRPr lang="en-US" sz="987" dirty="0"/>
          </a:p>
        </p:txBody>
      </p:sp>
      <p:sp>
        <p:nvSpPr>
          <p:cNvPr id="24" name="Shape 21"/>
          <p:cNvSpPr/>
          <p:nvPr/>
        </p:nvSpPr>
        <p:spPr>
          <a:xfrm>
            <a:off x="4520040" y="2088654"/>
            <a:ext cx="768009" cy="183952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4520040" y="2088654"/>
            <a:ext cx="768009" cy="183952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10B981"/>
                </a:solidFill>
              </a:rPr>
              <a:t>/hq/dashboard</a:t>
            </a:r>
            <a:endParaRPr lang="en-US" sz="674" dirty="0"/>
          </a:p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0040" y="2361009"/>
            <a:ext cx="105370" cy="92869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4668273" y="2344043"/>
            <a:ext cx="91755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PC Web Environment</a:t>
            </a:r>
            <a:endParaRPr lang="en-US" sz="674" dirty="0"/>
          </a:p>
        </p:txBody>
      </p:sp>
      <p:sp>
        <p:nvSpPr>
          <p:cNvPr id="28" name="Shape 24"/>
          <p:cNvSpPr/>
          <p:nvPr/>
        </p:nvSpPr>
        <p:spPr>
          <a:xfrm>
            <a:off x="7572347" y="1571625"/>
            <a:ext cx="1285875" cy="1000125"/>
          </a:xfrm>
          <a:prstGeom prst="rect">
            <a:avLst/>
          </a:prstGeom>
          <a:solidFill>
            <a:srgbClr val="0F172A">
              <a:alpha val="60000"/>
            </a:srgbClr>
          </a:solidFill>
          <a:ln/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9560" y="1957388"/>
            <a:ext cx="171450" cy="228600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4377165" y="2714625"/>
            <a:ext cx="4481057" cy="1014413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4520040" y="2815530"/>
            <a:ext cx="290943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3B82F6"/>
                </a:solidFill>
              </a:rPr>
              <a:t>ROLE_SITE_ADMIN</a:t>
            </a:r>
            <a:endParaRPr lang="en-US" sz="584" dirty="0"/>
          </a:p>
        </p:txBody>
      </p:sp>
      <p:sp>
        <p:nvSpPr>
          <p:cNvPr id="32" name="Text 27"/>
          <p:cNvSpPr/>
          <p:nvPr/>
        </p:nvSpPr>
        <p:spPr>
          <a:xfrm>
            <a:off x="4520040" y="2967335"/>
            <a:ext cx="2909432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현장 관리 대시보드</a:t>
            </a:r>
            <a:endParaRPr lang="en-US" sz="987" dirty="0"/>
          </a:p>
        </p:txBody>
      </p:sp>
      <p:sp>
        <p:nvSpPr>
          <p:cNvPr id="33" name="Shape 28"/>
          <p:cNvSpPr/>
          <p:nvPr/>
        </p:nvSpPr>
        <p:spPr>
          <a:xfrm>
            <a:off x="4520040" y="3231654"/>
            <a:ext cx="807858" cy="183952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</p:sp>
      <p:sp>
        <p:nvSpPr>
          <p:cNvPr id="34" name="Text 29"/>
          <p:cNvSpPr/>
          <p:nvPr/>
        </p:nvSpPr>
        <p:spPr>
          <a:xfrm>
            <a:off x="4520040" y="3231654"/>
            <a:ext cx="807858" cy="183952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10B981"/>
                </a:solidFill>
              </a:rPr>
              <a:t>/site/dashboard</a:t>
            </a:r>
            <a:endParaRPr lang="en-US" sz="674" dirty="0"/>
          </a:p>
        </p:txBody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0040" y="3504009"/>
            <a:ext cx="69652" cy="92869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4632554" y="3487043"/>
            <a:ext cx="110050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Mobile Web Environment</a:t>
            </a:r>
            <a:endParaRPr lang="en-US" sz="674" dirty="0"/>
          </a:p>
        </p:txBody>
      </p:sp>
      <p:sp>
        <p:nvSpPr>
          <p:cNvPr id="37" name="Shape 31"/>
          <p:cNvSpPr/>
          <p:nvPr/>
        </p:nvSpPr>
        <p:spPr>
          <a:xfrm>
            <a:off x="7572347" y="2714625"/>
            <a:ext cx="1285875" cy="1000125"/>
          </a:xfrm>
          <a:prstGeom prst="rect">
            <a:avLst/>
          </a:prstGeom>
          <a:solidFill>
            <a:srgbClr val="0F172A">
              <a:alpha val="60000"/>
            </a:srgbClr>
          </a:solidFill>
          <a:ln/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6697" y="3100388"/>
            <a:ext cx="257175" cy="228600"/>
          </a:xfrm>
          <a:prstGeom prst="rect">
            <a:avLst/>
          </a:prstGeom>
        </p:spPr>
      </p:pic>
      <p:sp>
        <p:nvSpPr>
          <p:cNvPr id="39" name="Shape 32"/>
          <p:cNvSpPr/>
          <p:nvPr/>
        </p:nvSpPr>
        <p:spPr>
          <a:xfrm>
            <a:off x="4377165" y="3857625"/>
            <a:ext cx="4481057" cy="1014413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4520040" y="3958530"/>
            <a:ext cx="290943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3B82F6"/>
                </a:solidFill>
              </a:rPr>
              <a:t>ROLE_TEAM_LEADER / ROLE_WORKER</a:t>
            </a:r>
            <a:endParaRPr lang="en-US" sz="584" dirty="0"/>
          </a:p>
        </p:txBody>
      </p:sp>
      <p:sp>
        <p:nvSpPr>
          <p:cNvPr id="41" name="Text 34"/>
          <p:cNvSpPr/>
          <p:nvPr/>
        </p:nvSpPr>
        <p:spPr>
          <a:xfrm>
            <a:off x="4520040" y="4110335"/>
            <a:ext cx="2909432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노무자/팀장 앱 홈</a:t>
            </a:r>
            <a:endParaRPr lang="en-US" sz="987" dirty="0"/>
          </a:p>
        </p:txBody>
      </p:sp>
      <p:sp>
        <p:nvSpPr>
          <p:cNvPr id="42" name="Shape 35"/>
          <p:cNvSpPr/>
          <p:nvPr/>
        </p:nvSpPr>
        <p:spPr>
          <a:xfrm>
            <a:off x="4520040" y="4374654"/>
            <a:ext cx="602531" cy="183952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</p:sp>
      <p:sp>
        <p:nvSpPr>
          <p:cNvPr id="43" name="Text 36"/>
          <p:cNvSpPr/>
          <p:nvPr/>
        </p:nvSpPr>
        <p:spPr>
          <a:xfrm>
            <a:off x="4520040" y="4374654"/>
            <a:ext cx="602531" cy="183952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10B981"/>
                </a:solidFill>
              </a:rPr>
              <a:t>/app/home</a:t>
            </a:r>
            <a:endParaRPr lang="en-US" sz="674" dirty="0"/>
          </a:p>
        </p:txBody>
      </p:sp>
      <p:sp>
        <p:nvSpPr>
          <p:cNvPr id="44" name="Text 37"/>
          <p:cNvSpPr/>
          <p:nvPr/>
        </p:nvSpPr>
        <p:spPr>
          <a:xfrm>
            <a:off x="4562903" y="4630043"/>
            <a:ext cx="106196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Native App Environment</a:t>
            </a:r>
            <a:endParaRPr lang="en-US" sz="674" dirty="0"/>
          </a:p>
        </p:txBody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72347" y="3857625"/>
            <a:ext cx="1197639" cy="15537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8143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1228725"/>
            <a:ext cx="85725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428625"/>
            <a:ext cx="857250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spc="-1" kern="0" dirty="0">
                <a:solidFill>
                  <a:srgbClr val="3B82F6"/>
                </a:solidFill>
              </a:rPr>
              <a:t>[본사] 통합 대시보드 (PC Web)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285750" y="935831"/>
            <a:ext cx="8572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전사 현장 현황 및 실시간 출역 모니터링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85750" y="1371600"/>
            <a:ext cx="4972050" cy="2271713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1428750"/>
            <a:ext cx="4857750" cy="214312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14338" y="1500188"/>
            <a:ext cx="214313" cy="214313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0" name="Text 6"/>
          <p:cNvSpPr/>
          <p:nvPr/>
        </p:nvSpPr>
        <p:spPr>
          <a:xfrm>
            <a:off x="414338" y="1500188"/>
            <a:ext cx="214313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1</a:t>
            </a:r>
            <a:endParaRPr lang="en-US" sz="784" dirty="0"/>
          </a:p>
        </p:txBody>
      </p:sp>
      <p:sp>
        <p:nvSpPr>
          <p:cNvPr id="11" name="Shape 7"/>
          <p:cNvSpPr/>
          <p:nvPr/>
        </p:nvSpPr>
        <p:spPr>
          <a:xfrm>
            <a:off x="4729163" y="2300288"/>
            <a:ext cx="214313" cy="214313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2" name="Text 8"/>
          <p:cNvSpPr/>
          <p:nvPr/>
        </p:nvSpPr>
        <p:spPr>
          <a:xfrm>
            <a:off x="4729163" y="2300288"/>
            <a:ext cx="214313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2</a:t>
            </a:r>
            <a:endParaRPr lang="en-US" sz="784" dirty="0"/>
          </a:p>
        </p:txBody>
      </p:sp>
      <p:sp>
        <p:nvSpPr>
          <p:cNvPr id="13" name="Shape 9"/>
          <p:cNvSpPr/>
          <p:nvPr/>
        </p:nvSpPr>
        <p:spPr>
          <a:xfrm>
            <a:off x="585788" y="3114675"/>
            <a:ext cx="214313" cy="214313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4" name="Text 10"/>
          <p:cNvSpPr/>
          <p:nvPr/>
        </p:nvSpPr>
        <p:spPr>
          <a:xfrm>
            <a:off x="585788" y="3114675"/>
            <a:ext cx="214313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3</a:t>
            </a:r>
            <a:endParaRPr lang="en-US" sz="784" dirty="0"/>
          </a:p>
        </p:txBody>
      </p:sp>
      <p:sp>
        <p:nvSpPr>
          <p:cNvPr id="15" name="Shape 11"/>
          <p:cNvSpPr/>
          <p:nvPr/>
        </p:nvSpPr>
        <p:spPr>
          <a:xfrm>
            <a:off x="285750" y="3771900"/>
            <a:ext cx="171450" cy="17145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6" name="Text 12"/>
          <p:cNvSpPr/>
          <p:nvPr/>
        </p:nvSpPr>
        <p:spPr>
          <a:xfrm>
            <a:off x="285750" y="3771900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17" name="Text 13"/>
          <p:cNvSpPr/>
          <p:nvPr/>
        </p:nvSpPr>
        <p:spPr>
          <a:xfrm>
            <a:off x="514350" y="3785295"/>
            <a:ext cx="846423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핵심 지표 (KPI) 카드</a:t>
            </a:r>
            <a:endParaRPr lang="en-US" sz="727" dirty="0"/>
          </a:p>
        </p:txBody>
      </p:sp>
      <p:sp>
        <p:nvSpPr>
          <p:cNvPr id="18" name="Shape 14"/>
          <p:cNvSpPr/>
          <p:nvPr/>
        </p:nvSpPr>
        <p:spPr>
          <a:xfrm>
            <a:off x="2233566" y="3771900"/>
            <a:ext cx="171450" cy="17145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9" name="Text 15"/>
          <p:cNvSpPr/>
          <p:nvPr/>
        </p:nvSpPr>
        <p:spPr>
          <a:xfrm>
            <a:off x="2233566" y="3771900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20" name="Text 16"/>
          <p:cNvSpPr/>
          <p:nvPr/>
        </p:nvSpPr>
        <p:spPr>
          <a:xfrm>
            <a:off x="2462166" y="3785295"/>
            <a:ext cx="90614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실시간 출역 현황 차트</a:t>
            </a:r>
            <a:endParaRPr lang="en-US" sz="727" dirty="0"/>
          </a:p>
        </p:txBody>
      </p:sp>
      <p:sp>
        <p:nvSpPr>
          <p:cNvPr id="21" name="Shape 17"/>
          <p:cNvSpPr/>
          <p:nvPr/>
        </p:nvSpPr>
        <p:spPr>
          <a:xfrm>
            <a:off x="4241099" y="3771900"/>
            <a:ext cx="171450" cy="17145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2" name="Text 18"/>
          <p:cNvSpPr/>
          <p:nvPr/>
        </p:nvSpPr>
        <p:spPr>
          <a:xfrm>
            <a:off x="4241099" y="3771900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23" name="Text 19"/>
          <p:cNvSpPr/>
          <p:nvPr/>
        </p:nvSpPr>
        <p:spPr>
          <a:xfrm>
            <a:off x="4469699" y="3785295"/>
            <a:ext cx="788101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현장별 이슈 리스트</a:t>
            </a:r>
            <a:endParaRPr lang="en-US" sz="727" dirty="0"/>
          </a:p>
        </p:txBody>
      </p:sp>
      <p:sp>
        <p:nvSpPr>
          <p:cNvPr id="24" name="Shape 20"/>
          <p:cNvSpPr/>
          <p:nvPr/>
        </p:nvSpPr>
        <p:spPr>
          <a:xfrm>
            <a:off x="5543550" y="1371600"/>
            <a:ext cx="1614488" cy="130261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Shape 21"/>
          <p:cNvSpPr/>
          <p:nvPr/>
        </p:nvSpPr>
        <p:spPr>
          <a:xfrm>
            <a:off x="5543550" y="1371600"/>
            <a:ext cx="28575" cy="130261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6" name="Shape 22"/>
          <p:cNvSpPr/>
          <p:nvPr/>
        </p:nvSpPr>
        <p:spPr>
          <a:xfrm>
            <a:off x="5629275" y="1466255"/>
            <a:ext cx="171450" cy="17145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7" name="Text 23"/>
          <p:cNvSpPr/>
          <p:nvPr/>
        </p:nvSpPr>
        <p:spPr>
          <a:xfrm>
            <a:off x="5629275" y="1466255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28" name="Text 24"/>
          <p:cNvSpPr/>
          <p:nvPr/>
        </p:nvSpPr>
        <p:spPr>
          <a:xfrm>
            <a:off x="5872163" y="1457325"/>
            <a:ext cx="843409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핵심 지표 (KPI)</a:t>
            </a:r>
            <a:endParaRPr lang="en-US" sz="885" dirty="0"/>
          </a:p>
        </p:txBody>
      </p:sp>
      <p:sp>
        <p:nvSpPr>
          <p:cNvPr id="29" name="Text 25"/>
          <p:cNvSpPr/>
          <p:nvPr/>
        </p:nvSpPr>
        <p:spPr>
          <a:xfrm>
            <a:off x="5629275" y="1703784"/>
            <a:ext cx="1443038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구성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총 현장 수, 금일 총 출역 인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원, 전일 대비 증감률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로직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매 60초마다 데이터 자동 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갱신 (Polling)</a:t>
            </a:r>
            <a:endParaRPr lang="en-US" sz="727" dirty="0"/>
          </a:p>
        </p:txBody>
      </p:sp>
      <p:sp>
        <p:nvSpPr>
          <p:cNvPr id="30" name="Shape 26"/>
          <p:cNvSpPr/>
          <p:nvPr/>
        </p:nvSpPr>
        <p:spPr>
          <a:xfrm>
            <a:off x="5629275" y="2400970"/>
            <a:ext cx="1290870" cy="187523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5629275" y="2400970"/>
            <a:ext cx="1290870" cy="187523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GET /api/hq/dashboard/stats</a:t>
            </a:r>
            <a:endParaRPr lang="en-US" sz="621" dirty="0"/>
          </a:p>
        </p:txBody>
      </p:sp>
      <p:sp>
        <p:nvSpPr>
          <p:cNvPr id="32" name="Shape 28"/>
          <p:cNvSpPr/>
          <p:nvPr/>
        </p:nvSpPr>
        <p:spPr>
          <a:xfrm>
            <a:off x="7243763" y="1371600"/>
            <a:ext cx="1614488" cy="130261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3" name="Shape 29"/>
          <p:cNvSpPr/>
          <p:nvPr/>
        </p:nvSpPr>
        <p:spPr>
          <a:xfrm>
            <a:off x="7243763" y="1371600"/>
            <a:ext cx="28575" cy="130261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4" name="Shape 30"/>
          <p:cNvSpPr/>
          <p:nvPr/>
        </p:nvSpPr>
        <p:spPr>
          <a:xfrm>
            <a:off x="7329488" y="1466255"/>
            <a:ext cx="171450" cy="17145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5" name="Text 31"/>
          <p:cNvSpPr/>
          <p:nvPr/>
        </p:nvSpPr>
        <p:spPr>
          <a:xfrm>
            <a:off x="7329488" y="1466255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36" name="Text 32"/>
          <p:cNvSpPr/>
          <p:nvPr/>
        </p:nvSpPr>
        <p:spPr>
          <a:xfrm>
            <a:off x="7572375" y="1457325"/>
            <a:ext cx="89497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실시간 출역 현황</a:t>
            </a:r>
            <a:endParaRPr lang="en-US" sz="885" dirty="0"/>
          </a:p>
        </p:txBody>
      </p:sp>
      <p:sp>
        <p:nvSpPr>
          <p:cNvPr id="37" name="Text 33"/>
          <p:cNvSpPr/>
          <p:nvPr/>
        </p:nvSpPr>
        <p:spPr>
          <a:xfrm>
            <a:off x="7329488" y="1703784"/>
            <a:ext cx="1443038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시각화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시간대별 출근 인원 Bar 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Chart (Chart.js)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데이터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안면인식 성공 및 관리자 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승인 완료 건 집계</a:t>
            </a:r>
            <a:endParaRPr lang="en-US" sz="727" dirty="0"/>
          </a:p>
        </p:txBody>
      </p:sp>
      <p:sp>
        <p:nvSpPr>
          <p:cNvPr id="38" name="Shape 34"/>
          <p:cNvSpPr/>
          <p:nvPr/>
        </p:nvSpPr>
        <p:spPr>
          <a:xfrm>
            <a:off x="7329488" y="2400970"/>
            <a:ext cx="1327984" cy="187523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7329488" y="2400970"/>
            <a:ext cx="1327984" cy="187523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GET /api/hq/attendance/chart</a:t>
            </a:r>
            <a:endParaRPr lang="en-US" sz="621" dirty="0"/>
          </a:p>
        </p:txBody>
      </p:sp>
      <p:sp>
        <p:nvSpPr>
          <p:cNvPr id="40" name="Shape 36"/>
          <p:cNvSpPr/>
          <p:nvPr/>
        </p:nvSpPr>
        <p:spPr>
          <a:xfrm>
            <a:off x="5543550" y="2749228"/>
            <a:ext cx="3314700" cy="9826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Shape 37"/>
          <p:cNvSpPr/>
          <p:nvPr/>
        </p:nvSpPr>
        <p:spPr>
          <a:xfrm>
            <a:off x="5543550" y="2749228"/>
            <a:ext cx="28575" cy="9826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2" name="Shape 38"/>
          <p:cNvSpPr/>
          <p:nvPr/>
        </p:nvSpPr>
        <p:spPr>
          <a:xfrm>
            <a:off x="5629275" y="2843882"/>
            <a:ext cx="171450" cy="17145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3" name="Text 39"/>
          <p:cNvSpPr/>
          <p:nvPr/>
        </p:nvSpPr>
        <p:spPr>
          <a:xfrm>
            <a:off x="5629275" y="2843882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44" name="Text 40"/>
          <p:cNvSpPr/>
          <p:nvPr/>
        </p:nvSpPr>
        <p:spPr>
          <a:xfrm>
            <a:off x="5872163" y="2834953"/>
            <a:ext cx="113158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현장별 이슈 모니터링</a:t>
            </a:r>
            <a:endParaRPr lang="en-US" sz="885" dirty="0"/>
          </a:p>
        </p:txBody>
      </p:sp>
      <p:sp>
        <p:nvSpPr>
          <p:cNvPr id="45" name="Text 41"/>
          <p:cNvSpPr/>
          <p:nvPr/>
        </p:nvSpPr>
        <p:spPr>
          <a:xfrm>
            <a:off x="5629275" y="3081412"/>
            <a:ext cx="314325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알림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안전 사고 보고, 근로계약 미체결 인원 경고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액션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항목 클릭 시 해당 현장 상세 페이지로 이동</a:t>
            </a:r>
            <a:endParaRPr lang="en-US" sz="727" dirty="0"/>
          </a:p>
        </p:txBody>
      </p:sp>
      <p:sp>
        <p:nvSpPr>
          <p:cNvPr id="46" name="Shape 42"/>
          <p:cNvSpPr/>
          <p:nvPr/>
        </p:nvSpPr>
        <p:spPr>
          <a:xfrm>
            <a:off x="5629275" y="3458580"/>
            <a:ext cx="1166915" cy="187523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629275" y="3458580"/>
            <a:ext cx="1166915" cy="187523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GET /api/hq/issues/recent</a:t>
            </a:r>
            <a:endParaRPr lang="en-US" sz="621" dirty="0"/>
          </a:p>
        </p:txBody>
      </p:sp>
      <p:sp>
        <p:nvSpPr>
          <p:cNvPr id="48" name="Shape 44"/>
          <p:cNvSpPr/>
          <p:nvPr/>
        </p:nvSpPr>
        <p:spPr>
          <a:xfrm>
            <a:off x="5543550" y="3806837"/>
            <a:ext cx="3314700" cy="457200"/>
          </a:xfrm>
          <a:prstGeom prst="rect">
            <a:avLst/>
          </a:prstGeom>
          <a:solidFill>
            <a:srgbClr val="3B82F6">
              <a:alpha val="10000"/>
            </a:srgbClr>
          </a:solidFill>
          <a:ln w="9144">
            <a:solidFill>
              <a:srgbClr val="3B82F6"/>
            </a:solidFill>
            <a:prstDash val="dash"/>
          </a:ln>
        </p:spPr>
      </p:sp>
      <p:pic>
        <p:nvPicPr>
          <p:cNvPr id="4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9275" y="3919351"/>
            <a:ext cx="92869" cy="92869"/>
          </a:xfrm>
          <a:prstGeom prst="rect">
            <a:avLst/>
          </a:prstGeom>
        </p:spPr>
      </p:pic>
      <p:sp>
        <p:nvSpPr>
          <p:cNvPr id="50" name="Text 45"/>
          <p:cNvSpPr/>
          <p:nvPr/>
        </p:nvSpPr>
        <p:spPr>
          <a:xfrm>
            <a:off x="5746310" y="3901492"/>
            <a:ext cx="45340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3C5FD"/>
                </a:solidFill>
              </a:rPr>
              <a:t>Dev Note:</a:t>
            </a:r>
            <a:endParaRPr lang="en-US" sz="634" dirty="0"/>
          </a:p>
        </p:txBody>
      </p:sp>
      <p:sp>
        <p:nvSpPr>
          <p:cNvPr id="51" name="Text 46"/>
          <p:cNvSpPr/>
          <p:nvPr/>
        </p:nvSpPr>
        <p:spPr>
          <a:xfrm>
            <a:off x="6199715" y="3901492"/>
            <a:ext cx="250988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93C5FD"/>
                </a:solidFill>
              </a:rPr>
              <a:t>대시보드 데이터는 쿼리 부하를 줄이기 위해 Redis 캐싱(TTL 1분)</a:t>
            </a:r>
            <a:endParaRPr lang="en-US" sz="674" dirty="0"/>
          </a:p>
        </p:txBody>
      </p:sp>
      <p:sp>
        <p:nvSpPr>
          <p:cNvPr id="52" name="Text 47"/>
          <p:cNvSpPr/>
          <p:nvPr/>
        </p:nvSpPr>
        <p:spPr>
          <a:xfrm>
            <a:off x="5629275" y="4037223"/>
            <a:ext cx="283604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93C5FD"/>
                </a:solidFill>
              </a:rPr>
              <a:t>을 적용하며, WebSocket을 통해 긴급 공지사항을 실시간으로 수신합니다.</a:t>
            </a:r>
            <a:endParaRPr lang="en-US" sz="674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1850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8715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1285875"/>
            <a:ext cx="85725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428625"/>
            <a:ext cx="857250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spc="-1" kern="0" dirty="0">
                <a:solidFill>
                  <a:srgbClr val="3B82F6"/>
                </a:solidFill>
              </a:rPr>
              <a:t>[본사] 프로젝트(현장) 목록 관리 (PC Web)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285750" y="935831"/>
            <a:ext cx="8572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등록된 현장 목록 조회, 검색, 필터링 및 신규 현장 등록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85750" y="1500188"/>
            <a:ext cx="5099521" cy="3375422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92906" y="1607344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6"/>
          <p:cNvSpPr/>
          <p:nvPr/>
        </p:nvSpPr>
        <p:spPr>
          <a:xfrm>
            <a:off x="392906" y="1607344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1</a:t>
            </a:r>
            <a:endParaRPr lang="en-US" sz="683" dirty="0"/>
          </a:p>
        </p:txBody>
      </p:sp>
      <p:sp>
        <p:nvSpPr>
          <p:cNvPr id="10" name="Shape 7"/>
          <p:cNvSpPr/>
          <p:nvPr/>
        </p:nvSpPr>
        <p:spPr>
          <a:xfrm>
            <a:off x="5106665" y="1607344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8"/>
          <p:cNvSpPr/>
          <p:nvPr/>
        </p:nvSpPr>
        <p:spPr>
          <a:xfrm>
            <a:off x="5106665" y="1607344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3</a:t>
            </a:r>
            <a:endParaRPr lang="en-US" sz="683" dirty="0"/>
          </a:p>
        </p:txBody>
      </p:sp>
      <p:sp>
        <p:nvSpPr>
          <p:cNvPr id="12" name="Shape 9"/>
          <p:cNvSpPr/>
          <p:nvPr/>
        </p:nvSpPr>
        <p:spPr>
          <a:xfrm>
            <a:off x="2835511" y="2571750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3" name="Text 10"/>
          <p:cNvSpPr/>
          <p:nvPr/>
        </p:nvSpPr>
        <p:spPr>
          <a:xfrm>
            <a:off x="2835511" y="2571750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2</a:t>
            </a:r>
            <a:endParaRPr lang="en-US" sz="683" dirty="0"/>
          </a:p>
        </p:txBody>
      </p:sp>
      <p:sp>
        <p:nvSpPr>
          <p:cNvPr id="14" name="Shape 11"/>
          <p:cNvSpPr/>
          <p:nvPr/>
        </p:nvSpPr>
        <p:spPr>
          <a:xfrm>
            <a:off x="428625" y="1643063"/>
            <a:ext cx="2500675" cy="273248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" y="1715393"/>
            <a:ext cx="114300" cy="1143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350294" y="1709142"/>
            <a:ext cx="42005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전체 상태</a:t>
            </a:r>
            <a:endParaRPr lang="en-US" sz="727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0352" y="1727002"/>
            <a:ext cx="87511" cy="100013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4263256" y="1643063"/>
            <a:ext cx="979140" cy="258961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7556" y="1722537"/>
            <a:ext cx="89297" cy="100013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524003" y="1700213"/>
            <a:ext cx="604093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신규 현장 등록</a:t>
            </a:r>
            <a:endParaRPr lang="en-US" sz="683" dirty="0"/>
          </a:p>
        </p:txBody>
      </p:sp>
      <p:sp>
        <p:nvSpPr>
          <p:cNvPr id="21" name="Shape 15"/>
          <p:cNvSpPr/>
          <p:nvPr/>
        </p:nvSpPr>
        <p:spPr>
          <a:xfrm>
            <a:off x="428625" y="2044898"/>
            <a:ext cx="555120" cy="314325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2" name="Shape 16"/>
          <p:cNvSpPr/>
          <p:nvPr/>
        </p:nvSpPr>
        <p:spPr>
          <a:xfrm>
            <a:off x="428625" y="2344936"/>
            <a:ext cx="555120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3" name="Text 17"/>
          <p:cNvSpPr/>
          <p:nvPr/>
        </p:nvSpPr>
        <p:spPr>
          <a:xfrm>
            <a:off x="428625" y="2044898"/>
            <a:ext cx="555120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Image</a:t>
            </a:r>
            <a:endParaRPr lang="en-US" sz="634" dirty="0"/>
          </a:p>
        </p:txBody>
      </p:sp>
      <p:sp>
        <p:nvSpPr>
          <p:cNvPr id="24" name="Shape 18"/>
          <p:cNvSpPr/>
          <p:nvPr/>
        </p:nvSpPr>
        <p:spPr>
          <a:xfrm>
            <a:off x="983745" y="2044898"/>
            <a:ext cx="1494299" cy="314325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5" name="Shape 19"/>
          <p:cNvSpPr/>
          <p:nvPr/>
        </p:nvSpPr>
        <p:spPr>
          <a:xfrm>
            <a:off x="983745" y="2344936"/>
            <a:ext cx="1494299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6" name="Text 20"/>
          <p:cNvSpPr/>
          <p:nvPr/>
        </p:nvSpPr>
        <p:spPr>
          <a:xfrm>
            <a:off x="983745" y="2044898"/>
            <a:ext cx="1494299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현장명</a:t>
            </a:r>
            <a:endParaRPr lang="en-US" sz="634" dirty="0"/>
          </a:p>
        </p:txBody>
      </p:sp>
      <p:sp>
        <p:nvSpPr>
          <p:cNvPr id="27" name="Shape 21"/>
          <p:cNvSpPr/>
          <p:nvPr/>
        </p:nvSpPr>
        <p:spPr>
          <a:xfrm>
            <a:off x="2478044" y="2044898"/>
            <a:ext cx="1439187" cy="314325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8" name="Shape 22"/>
          <p:cNvSpPr/>
          <p:nvPr/>
        </p:nvSpPr>
        <p:spPr>
          <a:xfrm>
            <a:off x="2478044" y="2344936"/>
            <a:ext cx="1439187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9" name="Text 23"/>
          <p:cNvSpPr/>
          <p:nvPr/>
        </p:nvSpPr>
        <p:spPr>
          <a:xfrm>
            <a:off x="2478044" y="2044898"/>
            <a:ext cx="1439187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공사 기간</a:t>
            </a:r>
            <a:endParaRPr lang="en-US" sz="634" dirty="0"/>
          </a:p>
        </p:txBody>
      </p:sp>
      <p:sp>
        <p:nvSpPr>
          <p:cNvPr id="30" name="Shape 24"/>
          <p:cNvSpPr/>
          <p:nvPr/>
        </p:nvSpPr>
        <p:spPr>
          <a:xfrm>
            <a:off x="3917231" y="2044898"/>
            <a:ext cx="733295" cy="314325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1" name="Shape 25"/>
          <p:cNvSpPr/>
          <p:nvPr/>
        </p:nvSpPr>
        <p:spPr>
          <a:xfrm>
            <a:off x="3917231" y="2344936"/>
            <a:ext cx="733295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2" name="Text 26"/>
          <p:cNvSpPr/>
          <p:nvPr/>
        </p:nvSpPr>
        <p:spPr>
          <a:xfrm>
            <a:off x="3917231" y="2044898"/>
            <a:ext cx="733295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현장 대리인</a:t>
            </a:r>
            <a:endParaRPr lang="en-US" sz="634" dirty="0"/>
          </a:p>
        </p:txBody>
      </p:sp>
      <p:sp>
        <p:nvSpPr>
          <p:cNvPr id="33" name="Shape 27"/>
          <p:cNvSpPr/>
          <p:nvPr/>
        </p:nvSpPr>
        <p:spPr>
          <a:xfrm>
            <a:off x="4650525" y="2044898"/>
            <a:ext cx="591871" cy="314325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4" name="Shape 28"/>
          <p:cNvSpPr/>
          <p:nvPr/>
        </p:nvSpPr>
        <p:spPr>
          <a:xfrm>
            <a:off x="4650525" y="2344936"/>
            <a:ext cx="591871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5" name="Text 29"/>
          <p:cNvSpPr/>
          <p:nvPr/>
        </p:nvSpPr>
        <p:spPr>
          <a:xfrm>
            <a:off x="4650525" y="2044898"/>
            <a:ext cx="591871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상태</a:t>
            </a:r>
            <a:endParaRPr lang="en-US" sz="634" dirty="0"/>
          </a:p>
        </p:txBody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" y="2437805"/>
            <a:ext cx="300038" cy="300038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1069470" y="2479774"/>
            <a:ext cx="101229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1F5F9"/>
                </a:solidFill>
              </a:rPr>
              <a:t>강남 더샵 팰리스 신축공사</a:t>
            </a:r>
            <a:endParaRPr lang="en-US" sz="634" dirty="0"/>
          </a:p>
        </p:txBody>
      </p:sp>
      <p:sp>
        <p:nvSpPr>
          <p:cNvPr id="38" name="Text 31"/>
          <p:cNvSpPr/>
          <p:nvPr/>
        </p:nvSpPr>
        <p:spPr>
          <a:xfrm>
            <a:off x="1069470" y="2620863"/>
            <a:ext cx="96200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4748B"/>
                </a:solidFill>
              </a:rPr>
              <a:t>서울시 강남구 역삼동 123-45</a:t>
            </a:r>
            <a:endParaRPr lang="en-US" sz="568" dirty="0"/>
          </a:p>
        </p:txBody>
      </p:sp>
      <p:sp>
        <p:nvSpPr>
          <p:cNvPr id="39" name="Text 32"/>
          <p:cNvSpPr/>
          <p:nvPr/>
        </p:nvSpPr>
        <p:spPr>
          <a:xfrm>
            <a:off x="2478044" y="2352080"/>
            <a:ext cx="1439187" cy="50363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2023.09.01 ~ 2025.12.31</a:t>
            </a:r>
            <a:endParaRPr lang="en-US" sz="674" dirty="0"/>
          </a:p>
        </p:txBody>
      </p:sp>
      <p:sp>
        <p:nvSpPr>
          <p:cNvPr id="40" name="Text 33"/>
          <p:cNvSpPr/>
          <p:nvPr/>
        </p:nvSpPr>
        <p:spPr>
          <a:xfrm>
            <a:off x="3917231" y="2352080"/>
            <a:ext cx="733295" cy="50363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김현장 소장</a:t>
            </a:r>
            <a:endParaRPr lang="en-US" sz="674" dirty="0"/>
          </a:p>
        </p:txBody>
      </p:sp>
      <p:sp>
        <p:nvSpPr>
          <p:cNvPr id="41" name="Shape 34"/>
          <p:cNvSpPr/>
          <p:nvPr/>
        </p:nvSpPr>
        <p:spPr>
          <a:xfrm>
            <a:off x="4736250" y="2524423"/>
            <a:ext cx="331208" cy="164306"/>
          </a:xfrm>
          <a:prstGeom prst="roundRect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42" name="Text 35"/>
          <p:cNvSpPr/>
          <p:nvPr/>
        </p:nvSpPr>
        <p:spPr>
          <a:xfrm>
            <a:off x="4736250" y="2524423"/>
            <a:ext cx="331208" cy="16430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10B981"/>
                </a:solidFill>
              </a:rPr>
              <a:t>진행중</a:t>
            </a:r>
            <a:endParaRPr lang="en-US" sz="534" dirty="0"/>
          </a:p>
        </p:txBody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350" y="2945011"/>
            <a:ext cx="300038" cy="300038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1069470" y="2986980"/>
            <a:ext cx="90270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1F5F9"/>
                </a:solidFill>
              </a:rPr>
              <a:t>판교 테크노밸리 오피스</a:t>
            </a:r>
            <a:endParaRPr lang="en-US" sz="634" dirty="0"/>
          </a:p>
        </p:txBody>
      </p:sp>
      <p:sp>
        <p:nvSpPr>
          <p:cNvPr id="45" name="Text 37"/>
          <p:cNvSpPr/>
          <p:nvPr/>
        </p:nvSpPr>
        <p:spPr>
          <a:xfrm>
            <a:off x="1069470" y="3128070"/>
            <a:ext cx="100113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4748B"/>
                </a:solidFill>
              </a:rPr>
              <a:t>경기도 성남시 분당구 판교역로</a:t>
            </a:r>
            <a:endParaRPr lang="en-US" sz="568" dirty="0"/>
          </a:p>
        </p:txBody>
      </p:sp>
      <p:sp>
        <p:nvSpPr>
          <p:cNvPr id="46" name="Text 38"/>
          <p:cNvSpPr/>
          <p:nvPr/>
        </p:nvSpPr>
        <p:spPr>
          <a:xfrm>
            <a:off x="2478044" y="2855714"/>
            <a:ext cx="1439187" cy="507206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2024.01.15 ~ 2026.06.30</a:t>
            </a:r>
            <a:endParaRPr lang="en-US" sz="674" dirty="0"/>
          </a:p>
        </p:txBody>
      </p:sp>
      <p:sp>
        <p:nvSpPr>
          <p:cNvPr id="47" name="Text 39"/>
          <p:cNvSpPr/>
          <p:nvPr/>
        </p:nvSpPr>
        <p:spPr>
          <a:xfrm>
            <a:off x="3917231" y="2855714"/>
            <a:ext cx="733295" cy="507206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이판교 소장</a:t>
            </a:r>
            <a:endParaRPr lang="en-US" sz="674" dirty="0"/>
          </a:p>
        </p:txBody>
      </p:sp>
      <p:sp>
        <p:nvSpPr>
          <p:cNvPr id="48" name="Shape 40"/>
          <p:cNvSpPr/>
          <p:nvPr/>
        </p:nvSpPr>
        <p:spPr>
          <a:xfrm>
            <a:off x="4736250" y="3031629"/>
            <a:ext cx="331208" cy="164306"/>
          </a:xfrm>
          <a:prstGeom prst="roundRect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49" name="Text 41"/>
          <p:cNvSpPr/>
          <p:nvPr/>
        </p:nvSpPr>
        <p:spPr>
          <a:xfrm>
            <a:off x="4736250" y="3031629"/>
            <a:ext cx="331208" cy="16430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10B981"/>
                </a:solidFill>
              </a:rPr>
              <a:t>진행중</a:t>
            </a:r>
            <a:endParaRPr lang="en-US" sz="534" dirty="0"/>
          </a:p>
        </p:txBody>
      </p:sp>
      <p:sp>
        <p:nvSpPr>
          <p:cNvPr id="50" name="Text 42"/>
          <p:cNvSpPr/>
          <p:nvPr/>
        </p:nvSpPr>
        <p:spPr>
          <a:xfrm>
            <a:off x="1069470" y="3472755"/>
            <a:ext cx="109771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1F5F9"/>
                </a:solidFill>
              </a:rPr>
              <a:t>부산 해운대 리조트 리모델링</a:t>
            </a:r>
            <a:endParaRPr lang="en-US" sz="634" dirty="0"/>
          </a:p>
        </p:txBody>
      </p:sp>
      <p:sp>
        <p:nvSpPr>
          <p:cNvPr id="51" name="Text 43"/>
          <p:cNvSpPr/>
          <p:nvPr/>
        </p:nvSpPr>
        <p:spPr>
          <a:xfrm>
            <a:off x="1069470" y="3613845"/>
            <a:ext cx="69152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4748B"/>
                </a:solidFill>
              </a:rPr>
              <a:t>부산시 해운대구 중동</a:t>
            </a:r>
            <a:endParaRPr lang="en-US" sz="568" dirty="0"/>
          </a:p>
        </p:txBody>
      </p:sp>
      <p:sp>
        <p:nvSpPr>
          <p:cNvPr id="52" name="Text 44"/>
          <p:cNvSpPr/>
          <p:nvPr/>
        </p:nvSpPr>
        <p:spPr>
          <a:xfrm>
            <a:off x="2478044" y="3362920"/>
            <a:ext cx="1439187" cy="46434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2023.01.01 ~ 2023.12.31</a:t>
            </a:r>
            <a:endParaRPr lang="en-US" sz="674" dirty="0"/>
          </a:p>
        </p:txBody>
      </p:sp>
      <p:sp>
        <p:nvSpPr>
          <p:cNvPr id="53" name="Text 45"/>
          <p:cNvSpPr/>
          <p:nvPr/>
        </p:nvSpPr>
        <p:spPr>
          <a:xfrm>
            <a:off x="3917231" y="3362920"/>
            <a:ext cx="733295" cy="46434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박부산 소장</a:t>
            </a:r>
            <a:endParaRPr lang="en-US" sz="674" dirty="0"/>
          </a:p>
        </p:txBody>
      </p:sp>
      <p:sp>
        <p:nvSpPr>
          <p:cNvPr id="54" name="Shape 46"/>
          <p:cNvSpPr/>
          <p:nvPr/>
        </p:nvSpPr>
        <p:spPr>
          <a:xfrm>
            <a:off x="4736250" y="3517404"/>
            <a:ext cx="258905" cy="164306"/>
          </a:xfrm>
          <a:prstGeom prst="roundRect">
            <a:avLst/>
          </a:prstGeom>
          <a:solidFill>
            <a:srgbClr val="94A3B8">
              <a:alpha val="20000"/>
            </a:srgbClr>
          </a:solidFill>
          <a:ln/>
        </p:spPr>
      </p:sp>
      <p:sp>
        <p:nvSpPr>
          <p:cNvPr id="55" name="Text 47"/>
          <p:cNvSpPr/>
          <p:nvPr/>
        </p:nvSpPr>
        <p:spPr>
          <a:xfrm>
            <a:off x="4736250" y="3517404"/>
            <a:ext cx="258905" cy="16430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94A3B8"/>
                </a:solidFill>
              </a:rPr>
              <a:t>종료</a:t>
            </a:r>
            <a:endParaRPr lang="en-US" sz="534" dirty="0"/>
          </a:p>
        </p:txBody>
      </p:sp>
      <p:pic>
        <p:nvPicPr>
          <p:cNvPr id="5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23111" y="4577358"/>
            <a:ext cx="71438" cy="155377"/>
          </a:xfrm>
          <a:prstGeom prst="rect">
            <a:avLst/>
          </a:prstGeom>
        </p:spPr>
      </p:pic>
      <p:sp>
        <p:nvSpPr>
          <p:cNvPr id="57" name="Text 48"/>
          <p:cNvSpPr/>
          <p:nvPr/>
        </p:nvSpPr>
        <p:spPr>
          <a:xfrm>
            <a:off x="2665986" y="4577358"/>
            <a:ext cx="6538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4748B"/>
                </a:solidFill>
              </a:rPr>
              <a:t>1</a:t>
            </a:r>
            <a:endParaRPr lang="en-US" sz="834" dirty="0"/>
          </a:p>
        </p:txBody>
      </p:sp>
      <p:sp>
        <p:nvSpPr>
          <p:cNvPr id="58" name="Text 49"/>
          <p:cNvSpPr/>
          <p:nvPr/>
        </p:nvSpPr>
        <p:spPr>
          <a:xfrm>
            <a:off x="2802806" y="4577358"/>
            <a:ext cx="6538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B82F6"/>
                </a:solidFill>
              </a:rPr>
              <a:t>2</a:t>
            </a:r>
            <a:endParaRPr lang="en-US" sz="834" dirty="0"/>
          </a:p>
        </p:txBody>
      </p:sp>
      <p:sp>
        <p:nvSpPr>
          <p:cNvPr id="59" name="Text 50"/>
          <p:cNvSpPr/>
          <p:nvPr/>
        </p:nvSpPr>
        <p:spPr>
          <a:xfrm>
            <a:off x="2939625" y="4577358"/>
            <a:ext cx="6538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4748B"/>
                </a:solidFill>
              </a:rPr>
              <a:t>3</a:t>
            </a:r>
            <a:endParaRPr lang="en-US" sz="834" dirty="0"/>
          </a:p>
        </p:txBody>
      </p:sp>
      <p:pic>
        <p:nvPicPr>
          <p:cNvPr id="6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76445" y="4577358"/>
            <a:ext cx="71438" cy="155377"/>
          </a:xfrm>
          <a:prstGeom prst="rect">
            <a:avLst/>
          </a:prstGeom>
        </p:spPr>
      </p:pic>
      <p:sp>
        <p:nvSpPr>
          <p:cNvPr id="61" name="Shape 51"/>
          <p:cNvSpPr/>
          <p:nvPr/>
        </p:nvSpPr>
        <p:spPr>
          <a:xfrm>
            <a:off x="5671021" y="1500188"/>
            <a:ext cx="3187229" cy="882253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62" name="Shape 52"/>
          <p:cNvSpPr/>
          <p:nvPr/>
        </p:nvSpPr>
        <p:spPr>
          <a:xfrm>
            <a:off x="5778178" y="1618059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3" name="Text 53"/>
          <p:cNvSpPr/>
          <p:nvPr/>
        </p:nvSpPr>
        <p:spPr>
          <a:xfrm>
            <a:off x="5778178" y="1618059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64" name="Text 54"/>
          <p:cNvSpPr/>
          <p:nvPr/>
        </p:nvSpPr>
        <p:spPr>
          <a:xfrm>
            <a:off x="5992490" y="1607344"/>
            <a:ext cx="152214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B82F6"/>
                </a:solidFill>
              </a:rPr>
              <a:t>검색 및 필터 (Search &amp; Filter)</a:t>
            </a:r>
            <a:endParaRPr lang="en-US" sz="784" dirty="0"/>
          </a:p>
        </p:txBody>
      </p:sp>
      <p:sp>
        <p:nvSpPr>
          <p:cNvPr id="65" name="Text 55"/>
          <p:cNvSpPr/>
          <p:nvPr/>
        </p:nvSpPr>
        <p:spPr>
          <a:xfrm>
            <a:off x="5778178" y="1843088"/>
            <a:ext cx="2972916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검색 조건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: 현장명, 주소 (Like 검색)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상태 필터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: 전체 / 진행중 / 종료 / 중지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동작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: 엔터키 입력 또는 돋보기 아이콘 클릭 시 API 호출</a:t>
            </a:r>
            <a:endParaRPr lang="en-US" sz="674" dirty="0"/>
          </a:p>
        </p:txBody>
      </p:sp>
      <p:sp>
        <p:nvSpPr>
          <p:cNvPr id="66" name="Shape 56"/>
          <p:cNvSpPr/>
          <p:nvPr/>
        </p:nvSpPr>
        <p:spPr>
          <a:xfrm>
            <a:off x="5671021" y="2511028"/>
            <a:ext cx="3187229" cy="1325166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67" name="Shape 57"/>
          <p:cNvSpPr/>
          <p:nvPr/>
        </p:nvSpPr>
        <p:spPr>
          <a:xfrm>
            <a:off x="5778178" y="2628900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8" name="Text 58"/>
          <p:cNvSpPr/>
          <p:nvPr/>
        </p:nvSpPr>
        <p:spPr>
          <a:xfrm>
            <a:off x="5778178" y="2628900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69" name="Text 59"/>
          <p:cNvSpPr/>
          <p:nvPr/>
        </p:nvSpPr>
        <p:spPr>
          <a:xfrm>
            <a:off x="5992490" y="2618184"/>
            <a:ext cx="140637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B82F6"/>
                </a:solidFill>
              </a:rPr>
              <a:t>프로젝트 목록 (Project List)</a:t>
            </a:r>
            <a:endParaRPr lang="en-US" sz="784" dirty="0"/>
          </a:p>
        </p:txBody>
      </p:sp>
      <p:sp>
        <p:nvSpPr>
          <p:cNvPr id="70" name="Text 60"/>
          <p:cNvSpPr/>
          <p:nvPr/>
        </p:nvSpPr>
        <p:spPr>
          <a:xfrm>
            <a:off x="5778178" y="2859286"/>
            <a:ext cx="5907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</a:t>
            </a:r>
            <a:endParaRPr lang="en-US" sz="674" dirty="0"/>
          </a:p>
        </p:txBody>
      </p:sp>
      <p:sp>
        <p:nvSpPr>
          <p:cNvPr id="71" name="Text 61"/>
          <p:cNvSpPr/>
          <p:nvPr/>
        </p:nvSpPr>
        <p:spPr>
          <a:xfrm>
            <a:off x="5837253" y="2859286"/>
            <a:ext cx="45136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데이터 표시</a:t>
            </a:r>
            <a:endParaRPr lang="en-US" sz="634" dirty="0"/>
          </a:p>
        </p:txBody>
      </p:sp>
      <p:sp>
        <p:nvSpPr>
          <p:cNvPr id="72" name="Text 62"/>
          <p:cNvSpPr/>
          <p:nvPr/>
        </p:nvSpPr>
        <p:spPr>
          <a:xfrm>
            <a:off x="6288621" y="2859286"/>
            <a:ext cx="157581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: 썸네일, 현장명, 주소, 기간, 관리자, 상태</a:t>
            </a:r>
            <a:endParaRPr lang="en-US" sz="674" dirty="0"/>
          </a:p>
        </p:txBody>
      </p:sp>
      <p:sp>
        <p:nvSpPr>
          <p:cNvPr id="73" name="Text 63"/>
          <p:cNvSpPr/>
          <p:nvPr/>
        </p:nvSpPr>
        <p:spPr>
          <a:xfrm>
            <a:off x="5778178" y="2998589"/>
            <a:ext cx="5907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</a:t>
            </a:r>
            <a:endParaRPr lang="en-US" sz="674" dirty="0"/>
          </a:p>
        </p:txBody>
      </p:sp>
      <p:sp>
        <p:nvSpPr>
          <p:cNvPr id="74" name="Text 64"/>
          <p:cNvSpPr/>
          <p:nvPr/>
        </p:nvSpPr>
        <p:spPr>
          <a:xfrm>
            <a:off x="5837253" y="2998589"/>
            <a:ext cx="51264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페이지네이션</a:t>
            </a:r>
            <a:endParaRPr lang="en-US" sz="634" dirty="0"/>
          </a:p>
        </p:txBody>
      </p:sp>
      <p:sp>
        <p:nvSpPr>
          <p:cNvPr id="75" name="Text 65"/>
          <p:cNvSpPr/>
          <p:nvPr/>
        </p:nvSpPr>
        <p:spPr>
          <a:xfrm>
            <a:off x="6349901" y="2998589"/>
            <a:ext cx="177762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: 기본 10개씩 조회 (Server-side Pagination)</a:t>
            </a:r>
            <a:endParaRPr lang="en-US" sz="674" dirty="0"/>
          </a:p>
        </p:txBody>
      </p:sp>
      <p:sp>
        <p:nvSpPr>
          <p:cNvPr id="76" name="Text 66"/>
          <p:cNvSpPr/>
          <p:nvPr/>
        </p:nvSpPr>
        <p:spPr>
          <a:xfrm>
            <a:off x="5778178" y="3137892"/>
            <a:ext cx="5907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</a:t>
            </a:r>
            <a:endParaRPr lang="en-US" sz="674" dirty="0"/>
          </a:p>
        </p:txBody>
      </p:sp>
      <p:sp>
        <p:nvSpPr>
          <p:cNvPr id="77" name="Text 67"/>
          <p:cNvSpPr/>
          <p:nvPr/>
        </p:nvSpPr>
        <p:spPr>
          <a:xfrm>
            <a:off x="5837253" y="3137892"/>
            <a:ext cx="25633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이벤트</a:t>
            </a:r>
            <a:endParaRPr lang="en-US" sz="634" dirty="0"/>
          </a:p>
        </p:txBody>
      </p:sp>
      <p:sp>
        <p:nvSpPr>
          <p:cNvPr id="78" name="Text 68"/>
          <p:cNvSpPr/>
          <p:nvPr/>
        </p:nvSpPr>
        <p:spPr>
          <a:xfrm>
            <a:off x="6093591" y="3137892"/>
            <a:ext cx="184356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: 행(Row) 클릭 시 '프로젝트 상세' 화면으로 이동</a:t>
            </a:r>
            <a:endParaRPr lang="en-US" sz="674" dirty="0"/>
          </a:p>
        </p:txBody>
      </p:sp>
      <p:sp>
        <p:nvSpPr>
          <p:cNvPr id="79" name="Shape 69"/>
          <p:cNvSpPr/>
          <p:nvPr/>
        </p:nvSpPr>
        <p:spPr>
          <a:xfrm>
            <a:off x="5778178" y="3328988"/>
            <a:ext cx="2972916" cy="385763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80" name="Text 70"/>
          <p:cNvSpPr/>
          <p:nvPr/>
        </p:nvSpPr>
        <p:spPr>
          <a:xfrm>
            <a:off x="5778178" y="3328988"/>
            <a:ext cx="2972916" cy="38576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GET /api/hq/projects?page=0&amp;size=10&amp;keyword={text}&amp;status={status}</a:t>
            </a:r>
            <a:endParaRPr lang="en-US" sz="621" dirty="0"/>
          </a:p>
        </p:txBody>
      </p:sp>
      <p:sp>
        <p:nvSpPr>
          <p:cNvPr id="81" name="Shape 71"/>
          <p:cNvSpPr/>
          <p:nvPr/>
        </p:nvSpPr>
        <p:spPr>
          <a:xfrm>
            <a:off x="5671021" y="3950494"/>
            <a:ext cx="3187229" cy="882253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82" name="Shape 72"/>
          <p:cNvSpPr/>
          <p:nvPr/>
        </p:nvSpPr>
        <p:spPr>
          <a:xfrm>
            <a:off x="5778178" y="4068366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3" name="Text 73"/>
          <p:cNvSpPr/>
          <p:nvPr/>
        </p:nvSpPr>
        <p:spPr>
          <a:xfrm>
            <a:off x="5778178" y="4068366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84" name="Text 74"/>
          <p:cNvSpPr/>
          <p:nvPr/>
        </p:nvSpPr>
        <p:spPr>
          <a:xfrm>
            <a:off x="5992490" y="4057650"/>
            <a:ext cx="1366354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B82F6"/>
                </a:solidFill>
              </a:rPr>
              <a:t>신규 등록 (Create Project)</a:t>
            </a:r>
            <a:endParaRPr lang="en-US" sz="784" dirty="0"/>
          </a:p>
        </p:txBody>
      </p:sp>
      <p:sp>
        <p:nvSpPr>
          <p:cNvPr id="85" name="Text 75"/>
          <p:cNvSpPr/>
          <p:nvPr/>
        </p:nvSpPr>
        <p:spPr>
          <a:xfrm>
            <a:off x="5778178" y="4293394"/>
            <a:ext cx="2972916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버튼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: '신규 현장 등록' (Primary Color)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이벤트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: 클릭 시 프로젝트 생성 모달(Modal) 오픈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권한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: 슈퍼 관리자 및 본사 관리자만 접근 가능</a:t>
            </a:r>
            <a:endParaRPr lang="en-US" sz="67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8429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1257300"/>
            <a:ext cx="85725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428625"/>
            <a:ext cx="857250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spc="-1" kern="0" dirty="0">
                <a:solidFill>
                  <a:srgbClr val="3B82F6"/>
                </a:solidFill>
              </a:rPr>
              <a:t>[본사] 프로젝트 상세 정보 (PC Web)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285750" y="935831"/>
            <a:ext cx="8572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현장별 상세 계약 정보 및 관리자 배정 현황 조회/수정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85750" y="1343025"/>
            <a:ext cx="5066342" cy="3136106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38" y="1503759"/>
            <a:ext cx="142875" cy="14287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8650" y="1471613"/>
            <a:ext cx="562933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8FAFC"/>
                </a:solidFill>
              </a:rPr>
              <a:t>기본 정보</a:t>
            </a:r>
            <a:endParaRPr lang="en-US" sz="987" dirty="0"/>
          </a:p>
        </p:txBody>
      </p:sp>
      <p:sp>
        <p:nvSpPr>
          <p:cNvPr id="10" name="Text 6"/>
          <p:cNvSpPr/>
          <p:nvPr/>
        </p:nvSpPr>
        <p:spPr>
          <a:xfrm>
            <a:off x="414338" y="1828800"/>
            <a:ext cx="236170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프로젝트명</a:t>
            </a:r>
            <a:endParaRPr lang="en-US" sz="634" dirty="0"/>
          </a:p>
        </p:txBody>
      </p:sp>
      <p:sp>
        <p:nvSpPr>
          <p:cNvPr id="11" name="Shape 7"/>
          <p:cNvSpPr/>
          <p:nvPr/>
        </p:nvSpPr>
        <p:spPr>
          <a:xfrm>
            <a:off x="414338" y="2007394"/>
            <a:ext cx="2361707" cy="312539"/>
          </a:xfrm>
          <a:prstGeom prst="rect">
            <a:avLst/>
          </a:prstGeom>
          <a:solidFill>
            <a:srgbClr val="0F172A"/>
          </a:solidFill>
          <a:ln w="9144">
            <a:solidFill>
              <a:srgbClr val="475569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14338" y="2007394"/>
            <a:ext cx="2361707" cy="31253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E2E8F0"/>
                </a:solidFill>
              </a:rPr>
              <a:t>서울 강남구 역삼동 오피스텔 신축공사</a:t>
            </a:r>
            <a:endParaRPr lang="en-US" sz="780" dirty="0"/>
          </a:p>
        </p:txBody>
      </p:sp>
      <p:sp>
        <p:nvSpPr>
          <p:cNvPr id="13" name="Text 9"/>
          <p:cNvSpPr/>
          <p:nvPr/>
        </p:nvSpPr>
        <p:spPr>
          <a:xfrm>
            <a:off x="2861770" y="1828800"/>
            <a:ext cx="236173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현장 주소</a:t>
            </a:r>
            <a:endParaRPr lang="en-US" sz="634" dirty="0"/>
          </a:p>
        </p:txBody>
      </p:sp>
      <p:sp>
        <p:nvSpPr>
          <p:cNvPr id="14" name="Shape 10"/>
          <p:cNvSpPr/>
          <p:nvPr/>
        </p:nvSpPr>
        <p:spPr>
          <a:xfrm>
            <a:off x="2861770" y="2007394"/>
            <a:ext cx="2361735" cy="312539"/>
          </a:xfrm>
          <a:prstGeom prst="rect">
            <a:avLst/>
          </a:prstGeom>
          <a:solidFill>
            <a:srgbClr val="0F172A"/>
          </a:solidFill>
          <a:ln w="9144">
            <a:solidFill>
              <a:srgbClr val="475569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861770" y="2007394"/>
            <a:ext cx="2361735" cy="31253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E2E8F0"/>
                </a:solidFill>
              </a:rPr>
              <a:t>서울특별시 강남구 테헤란로 123</a:t>
            </a:r>
            <a:endParaRPr lang="en-US" sz="780" dirty="0"/>
          </a:p>
        </p:txBody>
      </p:sp>
      <p:sp>
        <p:nvSpPr>
          <p:cNvPr id="16" name="Text 12"/>
          <p:cNvSpPr/>
          <p:nvPr/>
        </p:nvSpPr>
        <p:spPr>
          <a:xfrm>
            <a:off x="414338" y="2391370"/>
            <a:ext cx="236170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공사 기간</a:t>
            </a:r>
            <a:endParaRPr lang="en-US" sz="634" dirty="0"/>
          </a:p>
        </p:txBody>
      </p:sp>
      <p:sp>
        <p:nvSpPr>
          <p:cNvPr id="17" name="Shape 13"/>
          <p:cNvSpPr/>
          <p:nvPr/>
        </p:nvSpPr>
        <p:spPr>
          <a:xfrm>
            <a:off x="414338" y="2569964"/>
            <a:ext cx="2361707" cy="303609"/>
          </a:xfrm>
          <a:prstGeom prst="rect">
            <a:avLst/>
          </a:prstGeom>
          <a:solidFill>
            <a:srgbClr val="0F172A"/>
          </a:solidFill>
          <a:ln w="9144">
            <a:solidFill>
              <a:srgbClr val="475569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14338" y="2569964"/>
            <a:ext cx="2361707" cy="30360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E2E8F0"/>
                </a:solidFill>
              </a:rPr>
              <a:t>2023.03.01 ~ 2024.02.28</a:t>
            </a:r>
            <a:endParaRPr lang="en-US" sz="780" dirty="0"/>
          </a:p>
        </p:txBody>
      </p:sp>
      <p:sp>
        <p:nvSpPr>
          <p:cNvPr id="19" name="Text 15"/>
          <p:cNvSpPr/>
          <p:nvPr/>
        </p:nvSpPr>
        <p:spPr>
          <a:xfrm>
            <a:off x="2861770" y="2391370"/>
            <a:ext cx="236173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계약 금액</a:t>
            </a:r>
            <a:endParaRPr lang="en-US" sz="634" dirty="0"/>
          </a:p>
        </p:txBody>
      </p:sp>
      <p:sp>
        <p:nvSpPr>
          <p:cNvPr id="20" name="Shape 16"/>
          <p:cNvSpPr/>
          <p:nvPr/>
        </p:nvSpPr>
        <p:spPr>
          <a:xfrm>
            <a:off x="2861770" y="2569964"/>
            <a:ext cx="2361735" cy="303609"/>
          </a:xfrm>
          <a:prstGeom prst="rect">
            <a:avLst/>
          </a:prstGeom>
          <a:solidFill>
            <a:srgbClr val="0F172A"/>
          </a:solidFill>
          <a:ln w="9144">
            <a:solidFill>
              <a:srgbClr val="475569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2861770" y="2569964"/>
            <a:ext cx="2361735" cy="30360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E2E8F0"/>
                </a:solidFill>
              </a:rPr>
              <a:t>₩ 1,500,000,000</a:t>
            </a:r>
            <a:endParaRPr lang="en-US" sz="780" dirty="0"/>
          </a:p>
        </p:txBody>
      </p:sp>
      <p:sp>
        <p:nvSpPr>
          <p:cNvPr id="22" name="Text 18"/>
          <p:cNvSpPr/>
          <p:nvPr/>
        </p:nvSpPr>
        <p:spPr>
          <a:xfrm>
            <a:off x="414338" y="2945011"/>
            <a:ext cx="236170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발주처</a:t>
            </a:r>
            <a:endParaRPr lang="en-US" sz="634" dirty="0"/>
          </a:p>
        </p:txBody>
      </p:sp>
      <p:sp>
        <p:nvSpPr>
          <p:cNvPr id="23" name="Shape 19"/>
          <p:cNvSpPr/>
          <p:nvPr/>
        </p:nvSpPr>
        <p:spPr>
          <a:xfrm>
            <a:off x="414338" y="3123605"/>
            <a:ext cx="2361707" cy="312539"/>
          </a:xfrm>
          <a:prstGeom prst="rect">
            <a:avLst/>
          </a:prstGeom>
          <a:solidFill>
            <a:srgbClr val="0F172A"/>
          </a:solidFill>
          <a:ln w="9144">
            <a:solidFill>
              <a:srgbClr val="475569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14338" y="3123605"/>
            <a:ext cx="2361707" cy="31253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E2E8F0"/>
                </a:solidFill>
              </a:rPr>
              <a:t>(주)스마트건설</a:t>
            </a:r>
            <a:endParaRPr lang="en-US" sz="780" dirty="0"/>
          </a:p>
        </p:txBody>
      </p:sp>
      <p:sp>
        <p:nvSpPr>
          <p:cNvPr id="25" name="Text 21"/>
          <p:cNvSpPr/>
          <p:nvPr/>
        </p:nvSpPr>
        <p:spPr>
          <a:xfrm>
            <a:off x="2861770" y="2945011"/>
            <a:ext cx="236173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상태</a:t>
            </a:r>
            <a:endParaRPr lang="en-US" sz="634" dirty="0"/>
          </a:p>
        </p:txBody>
      </p:sp>
      <p:sp>
        <p:nvSpPr>
          <p:cNvPr id="26" name="Shape 22"/>
          <p:cNvSpPr/>
          <p:nvPr/>
        </p:nvSpPr>
        <p:spPr>
          <a:xfrm>
            <a:off x="2861770" y="3123605"/>
            <a:ext cx="2361735" cy="312539"/>
          </a:xfrm>
          <a:prstGeom prst="rect">
            <a:avLst/>
          </a:prstGeom>
          <a:solidFill>
            <a:srgbClr val="0F172A"/>
          </a:solidFill>
          <a:ln w="9144">
            <a:solidFill>
              <a:srgbClr val="475569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2861770" y="3123605"/>
            <a:ext cx="2361735" cy="31253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80" dirty="0">
                <a:solidFill>
                  <a:srgbClr val="10B981"/>
                </a:solidFill>
              </a:rPr>
              <a:t>진행중 (D-120)</a:t>
            </a:r>
            <a:endParaRPr lang="en-US" sz="780" dirty="0"/>
          </a:p>
        </p:txBody>
      </p:sp>
      <p:sp>
        <p:nvSpPr>
          <p:cNvPr id="28" name="Shape 24"/>
          <p:cNvSpPr/>
          <p:nvPr/>
        </p:nvSpPr>
        <p:spPr>
          <a:xfrm>
            <a:off x="5480679" y="1343025"/>
            <a:ext cx="3377571" cy="3136106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9267" y="1503759"/>
            <a:ext cx="178594" cy="142875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5859298" y="1471613"/>
            <a:ext cx="116300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8FAFC"/>
                </a:solidFill>
              </a:rPr>
              <a:t>관리자 및 계약 문서</a:t>
            </a:r>
            <a:endParaRPr lang="en-US" sz="987" dirty="0"/>
          </a:p>
        </p:txBody>
      </p:sp>
      <p:sp>
        <p:nvSpPr>
          <p:cNvPr id="31" name="Text 26"/>
          <p:cNvSpPr/>
          <p:nvPr/>
        </p:nvSpPr>
        <p:spPr>
          <a:xfrm>
            <a:off x="5609267" y="1828800"/>
            <a:ext cx="312039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배정된 현장 관리자</a:t>
            </a:r>
            <a:endParaRPr lang="en-US" sz="634" dirty="0"/>
          </a:p>
        </p:txBody>
      </p:sp>
      <p:sp>
        <p:nvSpPr>
          <p:cNvPr id="32" name="Shape 27"/>
          <p:cNvSpPr/>
          <p:nvPr/>
        </p:nvSpPr>
        <p:spPr>
          <a:xfrm>
            <a:off x="5609267" y="2021681"/>
            <a:ext cx="3120396" cy="389334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5694992" y="2094905"/>
            <a:ext cx="228600" cy="2286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4" name="Text 29"/>
          <p:cNvSpPr/>
          <p:nvPr/>
        </p:nvSpPr>
        <p:spPr>
          <a:xfrm>
            <a:off x="5694992" y="209490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K</a:t>
            </a:r>
            <a:endParaRPr lang="en-US" sz="683" dirty="0"/>
          </a:p>
        </p:txBody>
      </p:sp>
      <p:sp>
        <p:nvSpPr>
          <p:cNvPr id="35" name="Text 30"/>
          <p:cNvSpPr/>
          <p:nvPr/>
        </p:nvSpPr>
        <p:spPr>
          <a:xfrm>
            <a:off x="5995029" y="2078831"/>
            <a:ext cx="594606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김현장 소장</a:t>
            </a:r>
            <a:endParaRPr lang="en-US" sz="683" dirty="0"/>
          </a:p>
        </p:txBody>
      </p:sp>
      <p:sp>
        <p:nvSpPr>
          <p:cNvPr id="36" name="Text 31"/>
          <p:cNvSpPr/>
          <p:nvPr/>
        </p:nvSpPr>
        <p:spPr>
          <a:xfrm>
            <a:off x="5995029" y="2223492"/>
            <a:ext cx="59460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010-1234-5678</a:t>
            </a:r>
            <a:endParaRPr lang="en-US" sz="621" dirty="0"/>
          </a:p>
        </p:txBody>
      </p:sp>
      <p:sp>
        <p:nvSpPr>
          <p:cNvPr id="37" name="Text 32"/>
          <p:cNvSpPr/>
          <p:nvPr/>
        </p:nvSpPr>
        <p:spPr>
          <a:xfrm>
            <a:off x="8486189" y="2145804"/>
            <a:ext cx="15774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B82F6"/>
                </a:solidFill>
              </a:rPr>
              <a:t>총괄</a:t>
            </a:r>
            <a:endParaRPr lang="en-US" sz="621" dirty="0"/>
          </a:p>
        </p:txBody>
      </p:sp>
      <p:sp>
        <p:nvSpPr>
          <p:cNvPr id="38" name="Shape 33"/>
          <p:cNvSpPr/>
          <p:nvPr/>
        </p:nvSpPr>
        <p:spPr>
          <a:xfrm>
            <a:off x="5609267" y="2453878"/>
            <a:ext cx="3120396" cy="389334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5694992" y="2527102"/>
            <a:ext cx="228600" cy="22860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40" name="Text 35"/>
          <p:cNvSpPr/>
          <p:nvPr/>
        </p:nvSpPr>
        <p:spPr>
          <a:xfrm>
            <a:off x="5694992" y="252710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L</a:t>
            </a:r>
            <a:endParaRPr lang="en-US" sz="683" dirty="0"/>
          </a:p>
        </p:txBody>
      </p:sp>
      <p:sp>
        <p:nvSpPr>
          <p:cNvPr id="41" name="Text 36"/>
          <p:cNvSpPr/>
          <p:nvPr/>
        </p:nvSpPr>
        <p:spPr>
          <a:xfrm>
            <a:off x="5995029" y="2511028"/>
            <a:ext cx="594606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이공무 대리</a:t>
            </a:r>
            <a:endParaRPr lang="en-US" sz="683" dirty="0"/>
          </a:p>
        </p:txBody>
      </p:sp>
      <p:sp>
        <p:nvSpPr>
          <p:cNvPr id="42" name="Text 37"/>
          <p:cNvSpPr/>
          <p:nvPr/>
        </p:nvSpPr>
        <p:spPr>
          <a:xfrm>
            <a:off x="5995029" y="2655689"/>
            <a:ext cx="59460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010-9876-5432</a:t>
            </a:r>
            <a:endParaRPr lang="en-US" sz="621" dirty="0"/>
          </a:p>
        </p:txBody>
      </p:sp>
      <p:sp>
        <p:nvSpPr>
          <p:cNvPr id="43" name="Text 38"/>
          <p:cNvSpPr/>
          <p:nvPr/>
        </p:nvSpPr>
        <p:spPr>
          <a:xfrm>
            <a:off x="8486189" y="2578001"/>
            <a:ext cx="15774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관리</a:t>
            </a:r>
            <a:endParaRPr lang="en-US" sz="621" dirty="0"/>
          </a:p>
        </p:txBody>
      </p:sp>
      <p:sp>
        <p:nvSpPr>
          <p:cNvPr id="44" name="Text 39"/>
          <p:cNvSpPr/>
          <p:nvPr/>
        </p:nvSpPr>
        <p:spPr>
          <a:xfrm>
            <a:off x="5609267" y="2914650"/>
            <a:ext cx="312039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전자 계약 문서 (참조)</a:t>
            </a:r>
            <a:endParaRPr lang="en-US" sz="634" dirty="0"/>
          </a:p>
        </p:txBody>
      </p:sp>
      <p:pic>
        <p:nvPicPr>
          <p:cNvPr id="4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9267" y="3193256"/>
            <a:ext cx="871538" cy="800100"/>
          </a:xfrm>
          <a:prstGeom prst="rect">
            <a:avLst/>
          </a:prstGeom>
        </p:spPr>
      </p:pic>
      <p:pic>
        <p:nvPicPr>
          <p:cNvPr id="4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6529" y="3193256"/>
            <a:ext cx="871538" cy="800100"/>
          </a:xfrm>
          <a:prstGeom prst="rect">
            <a:avLst/>
          </a:prstGeom>
        </p:spPr>
      </p:pic>
      <p:sp>
        <p:nvSpPr>
          <p:cNvPr id="47" name="Shape 40"/>
          <p:cNvSpPr/>
          <p:nvPr/>
        </p:nvSpPr>
        <p:spPr>
          <a:xfrm>
            <a:off x="378619" y="4672013"/>
            <a:ext cx="1146823" cy="221456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</p:sp>
      <p:sp>
        <p:nvSpPr>
          <p:cNvPr id="48" name="Text 41"/>
          <p:cNvSpPr/>
          <p:nvPr/>
        </p:nvSpPr>
        <p:spPr>
          <a:xfrm>
            <a:off x="378619" y="4672013"/>
            <a:ext cx="1146823" cy="221456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10B981"/>
                </a:solidFill>
              </a:rPr>
              <a:t>GET /api/projects/{id}</a:t>
            </a:r>
            <a:endParaRPr lang="en-US" sz="727" dirty="0"/>
          </a:p>
        </p:txBody>
      </p:sp>
      <p:sp>
        <p:nvSpPr>
          <p:cNvPr id="49" name="Shape 42"/>
          <p:cNvSpPr/>
          <p:nvPr/>
        </p:nvSpPr>
        <p:spPr>
          <a:xfrm>
            <a:off x="1611167" y="4672013"/>
            <a:ext cx="1152013" cy="221456"/>
          </a:xfrm>
          <a:prstGeom prst="rect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50" name="Text 43"/>
          <p:cNvSpPr/>
          <p:nvPr/>
        </p:nvSpPr>
        <p:spPr>
          <a:xfrm>
            <a:off x="1611167" y="4672013"/>
            <a:ext cx="1152013" cy="221456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B82F6"/>
                </a:solidFill>
              </a:rPr>
              <a:t>PUT /api/projects/{id}</a:t>
            </a:r>
            <a:endParaRPr lang="en-US" sz="727" dirty="0"/>
          </a:p>
        </p:txBody>
      </p:sp>
      <p:sp>
        <p:nvSpPr>
          <p:cNvPr id="51" name="Shape 44"/>
          <p:cNvSpPr/>
          <p:nvPr/>
        </p:nvSpPr>
        <p:spPr>
          <a:xfrm>
            <a:off x="7365206" y="4657725"/>
            <a:ext cx="428625" cy="250031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2" name="Text 45"/>
          <p:cNvSpPr/>
          <p:nvPr/>
        </p:nvSpPr>
        <p:spPr>
          <a:xfrm>
            <a:off x="7365206" y="4657725"/>
            <a:ext cx="428625" cy="250031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삭제</a:t>
            </a:r>
            <a:endParaRPr lang="en-US" sz="683" dirty="0"/>
          </a:p>
        </p:txBody>
      </p:sp>
      <p:sp>
        <p:nvSpPr>
          <p:cNvPr id="53" name="Shape 46"/>
          <p:cNvSpPr/>
          <p:nvPr/>
        </p:nvSpPr>
        <p:spPr>
          <a:xfrm>
            <a:off x="7850981" y="4657725"/>
            <a:ext cx="428625" cy="250031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4" name="Text 47"/>
          <p:cNvSpPr/>
          <p:nvPr/>
        </p:nvSpPr>
        <p:spPr>
          <a:xfrm>
            <a:off x="7850981" y="4657725"/>
            <a:ext cx="428625" cy="250031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수정</a:t>
            </a:r>
            <a:endParaRPr lang="en-US" sz="683" dirty="0"/>
          </a:p>
        </p:txBody>
      </p:sp>
      <p:sp>
        <p:nvSpPr>
          <p:cNvPr id="55" name="Shape 48"/>
          <p:cNvSpPr/>
          <p:nvPr/>
        </p:nvSpPr>
        <p:spPr>
          <a:xfrm>
            <a:off x="8336756" y="4657725"/>
            <a:ext cx="428625" cy="250031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56" name="Text 49"/>
          <p:cNvSpPr/>
          <p:nvPr/>
        </p:nvSpPr>
        <p:spPr>
          <a:xfrm>
            <a:off x="8336756" y="4657725"/>
            <a:ext cx="428625" cy="250031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목록</a:t>
            </a:r>
            <a:endParaRPr lang="en-US" sz="683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78581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1200150"/>
            <a:ext cx="85725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428625"/>
            <a:ext cx="857250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spc="-1" kern="0" dirty="0">
                <a:solidFill>
                  <a:srgbClr val="3B82F6"/>
                </a:solidFill>
              </a:rPr>
              <a:t>[본사] 신규 프로젝트 등록 (PC Web)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285750" y="935831"/>
            <a:ext cx="8572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현장명, 주소, 공사 기간 등 필수 정보를 입력하여 새로운 프로젝트를 생성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85750" y="1257300"/>
            <a:ext cx="3838119" cy="3829050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71475" y="1343025"/>
            <a:ext cx="3666669" cy="239316"/>
          </a:xfrm>
          <a:prstGeom prst="rect">
            <a:avLst/>
          </a:prstGeom>
          <a:noFill/>
          <a:ln/>
        </p:spPr>
        <p:txBody>
          <a:bodyPr wrap="square" lIns="0" tIns="0" rIns="0" bIns="51054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신규 현장 등록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371475" y="1653778"/>
            <a:ext cx="366666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현장명</a:t>
            </a:r>
            <a:endParaRPr lang="en-US" sz="634" dirty="0"/>
          </a:p>
        </p:txBody>
      </p:sp>
      <p:sp>
        <p:nvSpPr>
          <p:cNvPr id="10" name="Shape 7"/>
          <p:cNvSpPr/>
          <p:nvPr/>
        </p:nvSpPr>
        <p:spPr>
          <a:xfrm>
            <a:off x="371475" y="1818084"/>
            <a:ext cx="3666669" cy="257175"/>
          </a:xfrm>
          <a:prstGeom prst="rect">
            <a:avLst/>
          </a:prstGeom>
          <a:solidFill>
            <a:srgbClr val="0F172A"/>
          </a:solidFill>
          <a:ln w="9144">
            <a:solidFill>
              <a:srgbClr val="47556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71475" y="1818084"/>
            <a:ext cx="3666669" cy="257175"/>
          </a:xfrm>
          <a:prstGeom prst="rect">
            <a:avLst/>
          </a:prstGeom>
          <a:noFill/>
          <a:ln/>
        </p:spPr>
        <p:txBody>
          <a:bodyPr wrap="square" lIns="85090" tIns="0" rIns="8509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예: 강남역 오피스텔 신축공사</a:t>
            </a:r>
            <a:endParaRPr lang="en-US" sz="727" dirty="0"/>
          </a:p>
        </p:txBody>
      </p:sp>
      <p:sp>
        <p:nvSpPr>
          <p:cNvPr id="12" name="Text 9"/>
          <p:cNvSpPr/>
          <p:nvPr/>
        </p:nvSpPr>
        <p:spPr>
          <a:xfrm>
            <a:off x="371475" y="2118122"/>
            <a:ext cx="366666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현장 주소</a:t>
            </a:r>
            <a:endParaRPr lang="en-US" sz="634" dirty="0"/>
          </a:p>
        </p:txBody>
      </p:sp>
      <p:sp>
        <p:nvSpPr>
          <p:cNvPr id="13" name="Shape 10"/>
          <p:cNvSpPr/>
          <p:nvPr/>
        </p:nvSpPr>
        <p:spPr>
          <a:xfrm>
            <a:off x="371475" y="2282428"/>
            <a:ext cx="3055069" cy="257175"/>
          </a:xfrm>
          <a:prstGeom prst="rect">
            <a:avLst/>
          </a:prstGeom>
          <a:solidFill>
            <a:srgbClr val="0F172A"/>
          </a:solidFill>
          <a:ln w="9144">
            <a:solidFill>
              <a:srgbClr val="47556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71475" y="2282428"/>
            <a:ext cx="3055069" cy="257175"/>
          </a:xfrm>
          <a:prstGeom prst="rect">
            <a:avLst/>
          </a:prstGeom>
          <a:noFill/>
          <a:ln/>
        </p:spPr>
        <p:txBody>
          <a:bodyPr wrap="square" lIns="85090" tIns="0" rIns="8509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우편번호</a:t>
            </a:r>
            <a:endParaRPr lang="en-US" sz="727" dirty="0"/>
          </a:p>
        </p:txBody>
      </p:sp>
      <p:sp>
        <p:nvSpPr>
          <p:cNvPr id="15" name="Shape 12"/>
          <p:cNvSpPr/>
          <p:nvPr/>
        </p:nvSpPr>
        <p:spPr>
          <a:xfrm>
            <a:off x="3469407" y="2282428"/>
            <a:ext cx="568737" cy="2428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6" name="Text 13"/>
          <p:cNvSpPr/>
          <p:nvPr/>
        </p:nvSpPr>
        <p:spPr>
          <a:xfrm>
            <a:off x="3469407" y="2282428"/>
            <a:ext cx="568737" cy="242888"/>
          </a:xfrm>
          <a:prstGeom prst="rect">
            <a:avLst/>
          </a:prstGeom>
          <a:noFill/>
          <a:ln/>
        </p:spPr>
        <p:txBody>
          <a:bodyPr wrap="square" lIns="102108" tIns="0" rIns="102108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FFFFF"/>
                </a:solidFill>
              </a:rPr>
              <a:t>주소 검색</a:t>
            </a:r>
            <a:endParaRPr lang="en-US" sz="674" dirty="0"/>
          </a:p>
        </p:txBody>
      </p:sp>
      <p:sp>
        <p:nvSpPr>
          <p:cNvPr id="17" name="Shape 14"/>
          <p:cNvSpPr/>
          <p:nvPr/>
        </p:nvSpPr>
        <p:spPr>
          <a:xfrm>
            <a:off x="371475" y="2582466"/>
            <a:ext cx="3666669" cy="257175"/>
          </a:xfrm>
          <a:prstGeom prst="rect">
            <a:avLst/>
          </a:prstGeom>
          <a:solidFill>
            <a:srgbClr val="0F172A"/>
          </a:solidFill>
          <a:ln w="9144">
            <a:solidFill>
              <a:srgbClr val="47556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71475" y="2582466"/>
            <a:ext cx="3666669" cy="257175"/>
          </a:xfrm>
          <a:prstGeom prst="rect">
            <a:avLst/>
          </a:prstGeom>
          <a:noFill/>
          <a:ln/>
        </p:spPr>
        <p:txBody>
          <a:bodyPr wrap="square" lIns="85090" tIns="0" rIns="8509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기본 주소 자동 입력</a:t>
            </a:r>
            <a:endParaRPr lang="en-US" sz="727" dirty="0"/>
          </a:p>
        </p:txBody>
      </p:sp>
      <p:sp>
        <p:nvSpPr>
          <p:cNvPr id="19" name="Shape 16"/>
          <p:cNvSpPr/>
          <p:nvPr/>
        </p:nvSpPr>
        <p:spPr>
          <a:xfrm>
            <a:off x="371475" y="2882503"/>
            <a:ext cx="3666669" cy="257175"/>
          </a:xfrm>
          <a:prstGeom prst="rect">
            <a:avLst/>
          </a:prstGeom>
          <a:solidFill>
            <a:srgbClr val="0F172A"/>
          </a:solidFill>
          <a:ln w="9144">
            <a:solidFill>
              <a:srgbClr val="47556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71475" y="2882503"/>
            <a:ext cx="3666669" cy="257175"/>
          </a:xfrm>
          <a:prstGeom prst="rect">
            <a:avLst/>
          </a:prstGeom>
          <a:noFill/>
          <a:ln/>
        </p:spPr>
        <p:txBody>
          <a:bodyPr wrap="square" lIns="85090" tIns="0" rIns="8509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상세 주소 입력</a:t>
            </a:r>
            <a:endParaRPr lang="en-US" sz="727" dirty="0"/>
          </a:p>
        </p:txBody>
      </p:sp>
      <p:sp>
        <p:nvSpPr>
          <p:cNvPr id="21" name="Text 18"/>
          <p:cNvSpPr/>
          <p:nvPr/>
        </p:nvSpPr>
        <p:spPr>
          <a:xfrm>
            <a:off x="371475" y="3182541"/>
            <a:ext cx="366666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공사 기간</a:t>
            </a:r>
            <a:endParaRPr lang="en-US" sz="634" dirty="0"/>
          </a:p>
        </p:txBody>
      </p:sp>
      <p:sp>
        <p:nvSpPr>
          <p:cNvPr id="22" name="Shape 19"/>
          <p:cNvSpPr/>
          <p:nvPr/>
        </p:nvSpPr>
        <p:spPr>
          <a:xfrm>
            <a:off x="371475" y="3346847"/>
            <a:ext cx="1757781" cy="257175"/>
          </a:xfrm>
          <a:prstGeom prst="rect">
            <a:avLst/>
          </a:prstGeom>
          <a:solidFill>
            <a:srgbClr val="0F172A"/>
          </a:solidFill>
          <a:ln w="9144">
            <a:solidFill>
              <a:srgbClr val="47556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71475" y="3346847"/>
            <a:ext cx="1757781" cy="257175"/>
          </a:xfrm>
          <a:prstGeom prst="rect">
            <a:avLst/>
          </a:prstGeom>
          <a:noFill/>
          <a:ln/>
        </p:spPr>
        <p:txBody>
          <a:bodyPr wrap="square" lIns="85090" tIns="0" rIns="8509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YYYY-MM-DD</a:t>
            </a:r>
            <a:endParaRPr lang="en-US" sz="727" dirty="0"/>
          </a:p>
        </p:txBody>
      </p:sp>
      <p:sp>
        <p:nvSpPr>
          <p:cNvPr id="24" name="Text 21"/>
          <p:cNvSpPr/>
          <p:nvPr/>
        </p:nvSpPr>
        <p:spPr>
          <a:xfrm>
            <a:off x="2164975" y="3397746"/>
            <a:ext cx="6538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4748B"/>
                </a:solidFill>
              </a:rPr>
              <a:t>~</a:t>
            </a:r>
            <a:endParaRPr lang="en-US" sz="834" dirty="0"/>
          </a:p>
        </p:txBody>
      </p:sp>
      <p:sp>
        <p:nvSpPr>
          <p:cNvPr id="25" name="Shape 22"/>
          <p:cNvSpPr/>
          <p:nvPr/>
        </p:nvSpPr>
        <p:spPr>
          <a:xfrm>
            <a:off x="2273219" y="3346847"/>
            <a:ext cx="1764925" cy="257175"/>
          </a:xfrm>
          <a:prstGeom prst="rect">
            <a:avLst/>
          </a:prstGeom>
          <a:solidFill>
            <a:srgbClr val="0F172A"/>
          </a:solidFill>
          <a:ln w="9144">
            <a:solidFill>
              <a:srgbClr val="47556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273219" y="3346847"/>
            <a:ext cx="1764925" cy="257175"/>
          </a:xfrm>
          <a:prstGeom prst="rect">
            <a:avLst/>
          </a:prstGeom>
          <a:noFill/>
          <a:ln/>
        </p:spPr>
        <p:txBody>
          <a:bodyPr wrap="square" lIns="85090" tIns="0" rIns="8509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YYYY-MM-DD</a:t>
            </a:r>
            <a:endParaRPr lang="en-US" sz="727" dirty="0"/>
          </a:p>
        </p:txBody>
      </p:sp>
      <p:sp>
        <p:nvSpPr>
          <p:cNvPr id="27" name="Text 24"/>
          <p:cNvSpPr/>
          <p:nvPr/>
        </p:nvSpPr>
        <p:spPr>
          <a:xfrm>
            <a:off x="371475" y="3646884"/>
            <a:ext cx="366666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계약 금액 (VAT 별도)</a:t>
            </a:r>
            <a:endParaRPr lang="en-US" sz="634" dirty="0"/>
          </a:p>
        </p:txBody>
      </p:sp>
      <p:sp>
        <p:nvSpPr>
          <p:cNvPr id="28" name="Shape 25"/>
          <p:cNvSpPr/>
          <p:nvPr/>
        </p:nvSpPr>
        <p:spPr>
          <a:xfrm>
            <a:off x="371475" y="3811191"/>
            <a:ext cx="3666669" cy="257175"/>
          </a:xfrm>
          <a:prstGeom prst="rect">
            <a:avLst/>
          </a:prstGeom>
          <a:solidFill>
            <a:srgbClr val="0F172A"/>
          </a:solidFill>
          <a:ln w="9144">
            <a:solidFill>
              <a:srgbClr val="47556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42913" y="3864769"/>
            <a:ext cx="5723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0</a:t>
            </a:r>
            <a:endParaRPr lang="en-US" sz="727" dirty="0"/>
          </a:p>
        </p:txBody>
      </p:sp>
      <p:sp>
        <p:nvSpPr>
          <p:cNvPr id="30" name="Text 27"/>
          <p:cNvSpPr/>
          <p:nvPr/>
        </p:nvSpPr>
        <p:spPr>
          <a:xfrm>
            <a:off x="3874675" y="3860304"/>
            <a:ext cx="92032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원</a:t>
            </a:r>
            <a:endParaRPr lang="en-US" sz="727" dirty="0"/>
          </a:p>
        </p:txBody>
      </p:sp>
      <p:sp>
        <p:nvSpPr>
          <p:cNvPr id="31" name="Text 28"/>
          <p:cNvSpPr/>
          <p:nvPr/>
        </p:nvSpPr>
        <p:spPr>
          <a:xfrm>
            <a:off x="3023732" y="4757738"/>
            <a:ext cx="385763" cy="242888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94A3B8"/>
                </a:solidFill>
              </a:rPr>
              <a:t>취소</a:t>
            </a:r>
            <a:endParaRPr lang="en-US" sz="683" dirty="0"/>
          </a:p>
        </p:txBody>
      </p:sp>
      <p:sp>
        <p:nvSpPr>
          <p:cNvPr id="32" name="Shape 29"/>
          <p:cNvSpPr/>
          <p:nvPr/>
        </p:nvSpPr>
        <p:spPr>
          <a:xfrm>
            <a:off x="3466644" y="4757738"/>
            <a:ext cx="571500" cy="2428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3" name="Text 30"/>
          <p:cNvSpPr/>
          <p:nvPr/>
        </p:nvSpPr>
        <p:spPr>
          <a:xfrm>
            <a:off x="3466644" y="4757738"/>
            <a:ext cx="571500" cy="242888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등록하기</a:t>
            </a:r>
            <a:endParaRPr lang="en-US" sz="683" dirty="0"/>
          </a:p>
        </p:txBody>
      </p:sp>
      <p:sp>
        <p:nvSpPr>
          <p:cNvPr id="34" name="Shape 31"/>
          <p:cNvSpPr/>
          <p:nvPr/>
        </p:nvSpPr>
        <p:spPr>
          <a:xfrm>
            <a:off x="4252457" y="1257300"/>
            <a:ext cx="4605793" cy="1357313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3894" y="1353741"/>
            <a:ext cx="114300" cy="114300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4495344" y="1328738"/>
            <a:ext cx="69037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B82F6"/>
                </a:solidFill>
              </a:rPr>
              <a:t>입력 필드 명세</a:t>
            </a:r>
            <a:endParaRPr lang="en-US" sz="784" dirty="0"/>
          </a:p>
        </p:txBody>
      </p:sp>
      <p:sp>
        <p:nvSpPr>
          <p:cNvPr id="37" name="Text 33"/>
          <p:cNvSpPr/>
          <p:nvPr/>
        </p:nvSpPr>
        <p:spPr>
          <a:xfrm>
            <a:off x="4323894" y="1535906"/>
            <a:ext cx="1115709" cy="196453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필드명</a:t>
            </a:r>
            <a:endParaRPr lang="en-US" sz="634" dirty="0"/>
          </a:p>
        </p:txBody>
      </p:sp>
      <p:sp>
        <p:nvSpPr>
          <p:cNvPr id="38" name="Text 34"/>
          <p:cNvSpPr/>
          <p:nvPr/>
        </p:nvSpPr>
        <p:spPr>
          <a:xfrm>
            <a:off x="5439603" y="1535906"/>
            <a:ext cx="892578" cy="196453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타입</a:t>
            </a:r>
            <a:endParaRPr lang="en-US" sz="634" dirty="0"/>
          </a:p>
        </p:txBody>
      </p:sp>
      <p:sp>
        <p:nvSpPr>
          <p:cNvPr id="39" name="Text 35"/>
          <p:cNvSpPr/>
          <p:nvPr/>
        </p:nvSpPr>
        <p:spPr>
          <a:xfrm>
            <a:off x="6332181" y="1535906"/>
            <a:ext cx="669420" cy="196453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필수</a:t>
            </a:r>
            <a:endParaRPr lang="en-US" sz="634" dirty="0"/>
          </a:p>
        </p:txBody>
      </p:sp>
      <p:sp>
        <p:nvSpPr>
          <p:cNvPr id="40" name="Text 36"/>
          <p:cNvSpPr/>
          <p:nvPr/>
        </p:nvSpPr>
        <p:spPr>
          <a:xfrm>
            <a:off x="7001601" y="1535906"/>
            <a:ext cx="1785212" cy="196453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유효성 검사 / 비고</a:t>
            </a:r>
            <a:endParaRPr lang="en-US" sz="634" dirty="0"/>
          </a:p>
        </p:txBody>
      </p:sp>
      <p:sp>
        <p:nvSpPr>
          <p:cNvPr id="41" name="Text 37"/>
          <p:cNvSpPr/>
          <p:nvPr/>
        </p:nvSpPr>
        <p:spPr>
          <a:xfrm>
            <a:off x="4323894" y="1732359"/>
            <a:ext cx="1115709" cy="200025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현장명</a:t>
            </a:r>
            <a:endParaRPr lang="en-US" sz="674" dirty="0"/>
          </a:p>
        </p:txBody>
      </p:sp>
      <p:sp>
        <p:nvSpPr>
          <p:cNvPr id="42" name="Text 38"/>
          <p:cNvSpPr/>
          <p:nvPr/>
        </p:nvSpPr>
        <p:spPr>
          <a:xfrm>
            <a:off x="5439603" y="1732359"/>
            <a:ext cx="892578" cy="200025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Text</a:t>
            </a:r>
            <a:endParaRPr lang="en-US" sz="674" dirty="0"/>
          </a:p>
        </p:txBody>
      </p:sp>
      <p:sp>
        <p:nvSpPr>
          <p:cNvPr id="43" name="Text 39"/>
          <p:cNvSpPr/>
          <p:nvPr/>
        </p:nvSpPr>
        <p:spPr>
          <a:xfrm>
            <a:off x="6332181" y="1732359"/>
            <a:ext cx="669420" cy="200025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Y</a:t>
            </a:r>
            <a:endParaRPr lang="en-US" sz="674" dirty="0"/>
          </a:p>
        </p:txBody>
      </p:sp>
      <p:sp>
        <p:nvSpPr>
          <p:cNvPr id="44" name="Text 40"/>
          <p:cNvSpPr/>
          <p:nvPr/>
        </p:nvSpPr>
        <p:spPr>
          <a:xfrm>
            <a:off x="7001601" y="1732359"/>
            <a:ext cx="1785212" cy="200025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최대 50자, 특수문자 제한</a:t>
            </a:r>
            <a:endParaRPr lang="en-US" sz="674" dirty="0"/>
          </a:p>
        </p:txBody>
      </p:sp>
      <p:sp>
        <p:nvSpPr>
          <p:cNvPr id="45" name="Text 41"/>
          <p:cNvSpPr/>
          <p:nvPr/>
        </p:nvSpPr>
        <p:spPr>
          <a:xfrm>
            <a:off x="4323894" y="1932384"/>
            <a:ext cx="1115709" cy="200025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현장 주소</a:t>
            </a:r>
            <a:endParaRPr lang="en-US" sz="674" dirty="0"/>
          </a:p>
        </p:txBody>
      </p:sp>
      <p:sp>
        <p:nvSpPr>
          <p:cNvPr id="46" name="Text 42"/>
          <p:cNvSpPr/>
          <p:nvPr/>
        </p:nvSpPr>
        <p:spPr>
          <a:xfrm>
            <a:off x="5439603" y="1932384"/>
            <a:ext cx="892578" cy="200025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Address</a:t>
            </a:r>
            <a:endParaRPr lang="en-US" sz="674" dirty="0"/>
          </a:p>
        </p:txBody>
      </p:sp>
      <p:sp>
        <p:nvSpPr>
          <p:cNvPr id="47" name="Text 43"/>
          <p:cNvSpPr/>
          <p:nvPr/>
        </p:nvSpPr>
        <p:spPr>
          <a:xfrm>
            <a:off x="6332181" y="1932384"/>
            <a:ext cx="669420" cy="200025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Y</a:t>
            </a:r>
            <a:endParaRPr lang="en-US" sz="674" dirty="0"/>
          </a:p>
        </p:txBody>
      </p:sp>
      <p:sp>
        <p:nvSpPr>
          <p:cNvPr id="48" name="Text 44"/>
          <p:cNvSpPr/>
          <p:nvPr/>
        </p:nvSpPr>
        <p:spPr>
          <a:xfrm>
            <a:off x="7001601" y="1932384"/>
            <a:ext cx="1785212" cy="200025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Daum 주소 API 연동 (Zonecode)</a:t>
            </a:r>
            <a:endParaRPr lang="en-US" sz="674" dirty="0"/>
          </a:p>
        </p:txBody>
      </p:sp>
      <p:sp>
        <p:nvSpPr>
          <p:cNvPr id="49" name="Text 45"/>
          <p:cNvSpPr/>
          <p:nvPr/>
        </p:nvSpPr>
        <p:spPr>
          <a:xfrm>
            <a:off x="4323894" y="2132409"/>
            <a:ext cx="1115709" cy="200025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공사 기간</a:t>
            </a:r>
            <a:endParaRPr lang="en-US" sz="674" dirty="0"/>
          </a:p>
        </p:txBody>
      </p:sp>
      <p:sp>
        <p:nvSpPr>
          <p:cNvPr id="50" name="Text 46"/>
          <p:cNvSpPr/>
          <p:nvPr/>
        </p:nvSpPr>
        <p:spPr>
          <a:xfrm>
            <a:off x="5439603" y="2132409"/>
            <a:ext cx="892578" cy="200025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DateRange</a:t>
            </a:r>
            <a:endParaRPr lang="en-US" sz="674" dirty="0"/>
          </a:p>
        </p:txBody>
      </p:sp>
      <p:sp>
        <p:nvSpPr>
          <p:cNvPr id="51" name="Text 47"/>
          <p:cNvSpPr/>
          <p:nvPr/>
        </p:nvSpPr>
        <p:spPr>
          <a:xfrm>
            <a:off x="6332181" y="2132409"/>
            <a:ext cx="669420" cy="200025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Y</a:t>
            </a:r>
            <a:endParaRPr lang="en-US" sz="674" dirty="0"/>
          </a:p>
        </p:txBody>
      </p:sp>
      <p:sp>
        <p:nvSpPr>
          <p:cNvPr id="52" name="Text 48"/>
          <p:cNvSpPr/>
          <p:nvPr/>
        </p:nvSpPr>
        <p:spPr>
          <a:xfrm>
            <a:off x="7001601" y="2132409"/>
            <a:ext cx="1785212" cy="200025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종료일 &gt;= 시작일 검증 필수</a:t>
            </a:r>
            <a:endParaRPr lang="en-US" sz="674" dirty="0"/>
          </a:p>
        </p:txBody>
      </p:sp>
      <p:sp>
        <p:nvSpPr>
          <p:cNvPr id="53" name="Text 49"/>
          <p:cNvSpPr/>
          <p:nvPr/>
        </p:nvSpPr>
        <p:spPr>
          <a:xfrm>
            <a:off x="4323894" y="2332434"/>
            <a:ext cx="1115709" cy="196453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계약 금액</a:t>
            </a:r>
            <a:endParaRPr lang="en-US" sz="674" dirty="0"/>
          </a:p>
        </p:txBody>
      </p:sp>
      <p:sp>
        <p:nvSpPr>
          <p:cNvPr id="54" name="Text 50"/>
          <p:cNvSpPr/>
          <p:nvPr/>
        </p:nvSpPr>
        <p:spPr>
          <a:xfrm>
            <a:off x="5439603" y="2332434"/>
            <a:ext cx="892578" cy="196453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Number</a:t>
            </a:r>
            <a:endParaRPr lang="en-US" sz="674" dirty="0"/>
          </a:p>
        </p:txBody>
      </p:sp>
      <p:sp>
        <p:nvSpPr>
          <p:cNvPr id="55" name="Text 51"/>
          <p:cNvSpPr/>
          <p:nvPr/>
        </p:nvSpPr>
        <p:spPr>
          <a:xfrm>
            <a:off x="6332181" y="2332434"/>
            <a:ext cx="669420" cy="196453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Y</a:t>
            </a:r>
            <a:endParaRPr lang="en-US" sz="674" dirty="0"/>
          </a:p>
        </p:txBody>
      </p:sp>
      <p:sp>
        <p:nvSpPr>
          <p:cNvPr id="56" name="Text 52"/>
          <p:cNvSpPr/>
          <p:nvPr/>
        </p:nvSpPr>
        <p:spPr>
          <a:xfrm>
            <a:off x="7001601" y="2332434"/>
            <a:ext cx="1785212" cy="196453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숫자만 입력, 3자리 콤마 자동 포맷팅</a:t>
            </a:r>
            <a:endParaRPr lang="en-US" sz="674" dirty="0"/>
          </a:p>
        </p:txBody>
      </p:sp>
      <p:sp>
        <p:nvSpPr>
          <p:cNvPr id="57" name="Shape 53"/>
          <p:cNvSpPr/>
          <p:nvPr/>
        </p:nvSpPr>
        <p:spPr>
          <a:xfrm>
            <a:off x="4252457" y="2657475"/>
            <a:ext cx="4605793" cy="2050786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5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3894" y="2753916"/>
            <a:ext cx="142875" cy="114300"/>
          </a:xfrm>
          <a:prstGeom prst="rect">
            <a:avLst/>
          </a:prstGeom>
        </p:spPr>
      </p:pic>
      <p:sp>
        <p:nvSpPr>
          <p:cNvPr id="59" name="Text 54"/>
          <p:cNvSpPr/>
          <p:nvPr/>
        </p:nvSpPr>
        <p:spPr>
          <a:xfrm>
            <a:off x="4523919" y="2728913"/>
            <a:ext cx="810062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B82F6"/>
                </a:solidFill>
              </a:rPr>
              <a:t>구현 로직 및 API</a:t>
            </a:r>
            <a:endParaRPr lang="en-US" sz="784" dirty="0"/>
          </a:p>
        </p:txBody>
      </p:sp>
      <p:pic>
        <p:nvPicPr>
          <p:cNvPr id="6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3894" y="2964656"/>
            <a:ext cx="50006" cy="100013"/>
          </a:xfrm>
          <a:prstGeom prst="rect">
            <a:avLst/>
          </a:prstGeom>
        </p:spPr>
      </p:pic>
      <p:sp>
        <p:nvSpPr>
          <p:cNvPr id="61" name="Text 55"/>
          <p:cNvSpPr/>
          <p:nvPr/>
        </p:nvSpPr>
        <p:spPr>
          <a:xfrm>
            <a:off x="4431050" y="2936081"/>
            <a:ext cx="3376259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주소 검색: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Daum Postcode API 팝업 호출 → 선택 시 우편번호/주소 자동 바인딩</a:t>
            </a:r>
            <a:endParaRPr lang="en-US" sz="683" dirty="0"/>
          </a:p>
        </p:txBody>
      </p:sp>
      <p:pic>
        <p:nvPicPr>
          <p:cNvPr id="6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3894" y="3137892"/>
            <a:ext cx="50006" cy="100013"/>
          </a:xfrm>
          <a:prstGeom prst="rect">
            <a:avLst/>
          </a:prstGeom>
        </p:spPr>
      </p:pic>
      <p:sp>
        <p:nvSpPr>
          <p:cNvPr id="63" name="Text 56"/>
          <p:cNvSpPr/>
          <p:nvPr/>
        </p:nvSpPr>
        <p:spPr>
          <a:xfrm>
            <a:off x="4431050" y="3109317"/>
            <a:ext cx="3039498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금액 입력: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입력 시 실시간으로 천 단위 콤마(,) 적용 (UI 전용), 전송 시 제거</a:t>
            </a:r>
            <a:endParaRPr lang="en-US" sz="683" dirty="0"/>
          </a:p>
        </p:txBody>
      </p:sp>
      <p:sp>
        <p:nvSpPr>
          <p:cNvPr id="64" name="Shape 57"/>
          <p:cNvSpPr/>
          <p:nvPr/>
        </p:nvSpPr>
        <p:spPr>
          <a:xfrm>
            <a:off x="4323894" y="3296841"/>
            <a:ext cx="4462918" cy="1325696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65" name="Text 58"/>
          <p:cNvSpPr/>
          <p:nvPr/>
        </p:nvSpPr>
        <p:spPr>
          <a:xfrm>
            <a:off x="4323894" y="3296841"/>
            <a:ext cx="4462918" cy="1325696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POST /api/v1/projects</a:t>
            </a:r>
            <a:endParaRPr lang="en-US" sz="621" dirty="0"/>
          </a:p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{</a:t>
            </a:r>
            <a:endParaRPr lang="en-US" sz="621" dirty="0"/>
          </a:p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  "projectName": "강남역 오피스텔 신축공사",</a:t>
            </a:r>
            <a:endParaRPr lang="en-US" sz="621" dirty="0"/>
          </a:p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  "zipCode": "06234",</a:t>
            </a:r>
            <a:endParaRPr lang="en-US" sz="621" dirty="0"/>
          </a:p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  "address": "서울 강남구 테헤란로 123",</a:t>
            </a:r>
            <a:endParaRPr lang="en-US" sz="621" dirty="0"/>
          </a:p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  "startDate": "2024-03-01",</a:t>
            </a:r>
            <a:endParaRPr lang="en-US" sz="621" dirty="0"/>
          </a:p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  "endDate": "2025-02-28",</a:t>
            </a:r>
            <a:endParaRPr lang="en-US" sz="621" dirty="0"/>
          </a:p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  "contractAmount": 1500000000</a:t>
            </a:r>
            <a:endParaRPr lang="en-US" sz="621" dirty="0"/>
          </a:p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}</a:t>
            </a:r>
            <a:endParaRPr lang="en-US" sz="62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8715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1285875"/>
            <a:ext cx="85725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428625"/>
            <a:ext cx="857250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spc="-1" kern="0" dirty="0">
                <a:solidFill>
                  <a:srgbClr val="3B82F6"/>
                </a:solidFill>
              </a:rPr>
              <a:t>[본사] 전사 출역 로그 조회 (PC Web)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285750" y="935831"/>
            <a:ext cx="8572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모든 현장의 출역 기록 실시간 조회 및 엑셀 다운로드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85750" y="1428750"/>
            <a:ext cx="5985486" cy="3286125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57188" y="1500188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6"/>
          <p:cNvSpPr/>
          <p:nvPr/>
        </p:nvSpPr>
        <p:spPr>
          <a:xfrm>
            <a:off x="357188" y="1500188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1</a:t>
            </a:r>
            <a:endParaRPr lang="en-US" sz="534" dirty="0"/>
          </a:p>
        </p:txBody>
      </p:sp>
      <p:sp>
        <p:nvSpPr>
          <p:cNvPr id="10" name="Shape 7"/>
          <p:cNvSpPr/>
          <p:nvPr/>
        </p:nvSpPr>
        <p:spPr>
          <a:xfrm>
            <a:off x="6042636" y="1500188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8"/>
          <p:cNvSpPr/>
          <p:nvPr/>
        </p:nvSpPr>
        <p:spPr>
          <a:xfrm>
            <a:off x="6042636" y="1500188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3</a:t>
            </a:r>
            <a:endParaRPr lang="en-US" sz="534" dirty="0"/>
          </a:p>
        </p:txBody>
      </p:sp>
      <p:sp>
        <p:nvSpPr>
          <p:cNvPr id="12" name="Shape 9"/>
          <p:cNvSpPr/>
          <p:nvPr/>
        </p:nvSpPr>
        <p:spPr>
          <a:xfrm>
            <a:off x="3271335" y="2071688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3" name="Text 10"/>
          <p:cNvSpPr/>
          <p:nvPr/>
        </p:nvSpPr>
        <p:spPr>
          <a:xfrm>
            <a:off x="3271335" y="2071688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2</a:t>
            </a:r>
            <a:endParaRPr lang="en-US" sz="534" dirty="0"/>
          </a:p>
        </p:txBody>
      </p:sp>
      <p:sp>
        <p:nvSpPr>
          <p:cNvPr id="14" name="Shape 11"/>
          <p:cNvSpPr/>
          <p:nvPr/>
        </p:nvSpPr>
        <p:spPr>
          <a:xfrm>
            <a:off x="371475" y="1514475"/>
            <a:ext cx="5799748" cy="485775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8625" y="1636812"/>
            <a:ext cx="902177" cy="226814"/>
          </a:xfrm>
          <a:prstGeom prst="rect">
            <a:avLst/>
          </a:prstGeom>
          <a:solidFill>
            <a:srgbClr val="1E293B"/>
          </a:solidFill>
          <a:ln w="9144">
            <a:solidFill>
              <a:srgbClr val="47556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28625" y="1636812"/>
            <a:ext cx="902177" cy="226814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2024-01-25</a:t>
            </a:r>
            <a:endParaRPr lang="en-US" sz="674" dirty="0"/>
          </a:p>
        </p:txBody>
      </p:sp>
      <p:sp>
        <p:nvSpPr>
          <p:cNvPr id="17" name="Text 14"/>
          <p:cNvSpPr/>
          <p:nvPr/>
        </p:nvSpPr>
        <p:spPr>
          <a:xfrm>
            <a:off x="1373665" y="1672530"/>
            <a:ext cx="6538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4748B"/>
                </a:solidFill>
              </a:rPr>
              <a:t>~</a:t>
            </a:r>
            <a:endParaRPr lang="en-US" sz="834" dirty="0"/>
          </a:p>
        </p:txBody>
      </p:sp>
      <p:sp>
        <p:nvSpPr>
          <p:cNvPr id="18" name="Shape 15"/>
          <p:cNvSpPr/>
          <p:nvPr/>
        </p:nvSpPr>
        <p:spPr>
          <a:xfrm>
            <a:off x="1496197" y="1636812"/>
            <a:ext cx="902177" cy="226814"/>
          </a:xfrm>
          <a:prstGeom prst="rect">
            <a:avLst/>
          </a:prstGeom>
          <a:solidFill>
            <a:srgbClr val="1E293B"/>
          </a:solidFill>
          <a:ln w="9144">
            <a:solidFill>
              <a:srgbClr val="47556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496197" y="1636812"/>
            <a:ext cx="902177" cy="226814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2024-01-25</a:t>
            </a:r>
            <a:endParaRPr lang="en-US" sz="674" dirty="0"/>
          </a:p>
        </p:txBody>
      </p:sp>
      <p:sp>
        <p:nvSpPr>
          <p:cNvPr id="20" name="Shape 17"/>
          <p:cNvSpPr/>
          <p:nvPr/>
        </p:nvSpPr>
        <p:spPr>
          <a:xfrm>
            <a:off x="2441237" y="1632347"/>
            <a:ext cx="1026356" cy="235744"/>
          </a:xfrm>
          <a:prstGeom prst="rect">
            <a:avLst/>
          </a:prstGeom>
          <a:solidFill>
            <a:srgbClr val="1E293B"/>
          </a:solidFill>
          <a:ln w="9144">
            <a:solidFill>
              <a:srgbClr val="47556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512675" y="1682353"/>
            <a:ext cx="36592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전체 현장</a:t>
            </a:r>
            <a:endParaRPr lang="en-US" sz="674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9715" y="1703784"/>
            <a:ext cx="82153" cy="92869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3510455" y="1632347"/>
            <a:ext cx="1274713" cy="235744"/>
          </a:xfrm>
          <a:prstGeom prst="rect">
            <a:avLst/>
          </a:prstGeom>
          <a:solidFill>
            <a:srgbClr val="1E293B"/>
          </a:solidFill>
          <a:ln w="9144">
            <a:solidFill>
              <a:srgbClr val="475569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510455" y="1632347"/>
            <a:ext cx="1274713" cy="235744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근로자명 검색</a:t>
            </a:r>
            <a:endParaRPr lang="en-US" sz="674" dirty="0"/>
          </a:p>
        </p:txBody>
      </p:sp>
      <p:sp>
        <p:nvSpPr>
          <p:cNvPr id="25" name="Shape 21"/>
          <p:cNvSpPr/>
          <p:nvPr/>
        </p:nvSpPr>
        <p:spPr>
          <a:xfrm>
            <a:off x="4828031" y="1571625"/>
            <a:ext cx="421677" cy="357188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615" y="1641277"/>
            <a:ext cx="92869" cy="92869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5030484" y="1623417"/>
            <a:ext cx="10961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FFFFF"/>
                </a:solidFill>
              </a:rPr>
              <a:t>조</a:t>
            </a:r>
            <a:endParaRPr lang="en-US" sz="674" dirty="0"/>
          </a:p>
        </p:txBody>
      </p:sp>
      <p:sp>
        <p:nvSpPr>
          <p:cNvPr id="28" name="Text 23"/>
          <p:cNvSpPr/>
          <p:nvPr/>
        </p:nvSpPr>
        <p:spPr>
          <a:xfrm>
            <a:off x="4996132" y="1759148"/>
            <a:ext cx="8544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FFFFF"/>
                </a:solidFill>
              </a:rPr>
              <a:t>회</a:t>
            </a:r>
            <a:endParaRPr lang="en-US" sz="674" dirty="0"/>
          </a:p>
        </p:txBody>
      </p:sp>
      <p:sp>
        <p:nvSpPr>
          <p:cNvPr id="29" name="Shape 24"/>
          <p:cNvSpPr/>
          <p:nvPr/>
        </p:nvSpPr>
        <p:spPr>
          <a:xfrm>
            <a:off x="5306885" y="1571625"/>
            <a:ext cx="735750" cy="357188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2610" y="1703784"/>
            <a:ext cx="69652" cy="92869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505124" y="1614488"/>
            <a:ext cx="451786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FFFFF"/>
                </a:solidFill>
              </a:rPr>
              <a:t>엑셀 다운로드</a:t>
            </a:r>
            <a:endParaRPr lang="en-US" sz="674" dirty="0"/>
          </a:p>
        </p:txBody>
      </p:sp>
      <p:sp>
        <p:nvSpPr>
          <p:cNvPr id="32" name="Shape 26"/>
          <p:cNvSpPr/>
          <p:nvPr/>
        </p:nvSpPr>
        <p:spPr>
          <a:xfrm>
            <a:off x="371475" y="2057400"/>
            <a:ext cx="1042150" cy="257175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3" name="Shape 27"/>
          <p:cNvSpPr/>
          <p:nvPr/>
        </p:nvSpPr>
        <p:spPr>
          <a:xfrm>
            <a:off x="371475" y="2300288"/>
            <a:ext cx="1042150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4" name="Text 28"/>
          <p:cNvSpPr/>
          <p:nvPr/>
        </p:nvSpPr>
        <p:spPr>
          <a:xfrm>
            <a:off x="371475" y="2057400"/>
            <a:ext cx="1042150" cy="25717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일자</a:t>
            </a:r>
            <a:endParaRPr lang="en-US" sz="634" dirty="0"/>
          </a:p>
        </p:txBody>
      </p:sp>
      <p:sp>
        <p:nvSpPr>
          <p:cNvPr id="35" name="Shape 29"/>
          <p:cNvSpPr/>
          <p:nvPr/>
        </p:nvSpPr>
        <p:spPr>
          <a:xfrm>
            <a:off x="1413625" y="2057400"/>
            <a:ext cx="1471836" cy="257175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6" name="Shape 30"/>
          <p:cNvSpPr/>
          <p:nvPr/>
        </p:nvSpPr>
        <p:spPr>
          <a:xfrm>
            <a:off x="1413625" y="2300288"/>
            <a:ext cx="1471836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7" name="Text 31"/>
          <p:cNvSpPr/>
          <p:nvPr/>
        </p:nvSpPr>
        <p:spPr>
          <a:xfrm>
            <a:off x="1413625" y="2057400"/>
            <a:ext cx="1471836" cy="25717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현장명</a:t>
            </a:r>
            <a:endParaRPr lang="en-US" sz="634" dirty="0"/>
          </a:p>
        </p:txBody>
      </p:sp>
      <p:sp>
        <p:nvSpPr>
          <p:cNvPr id="38" name="Shape 32"/>
          <p:cNvSpPr/>
          <p:nvPr/>
        </p:nvSpPr>
        <p:spPr>
          <a:xfrm>
            <a:off x="2885461" y="2057400"/>
            <a:ext cx="793375" cy="257175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9" name="Shape 33"/>
          <p:cNvSpPr/>
          <p:nvPr/>
        </p:nvSpPr>
        <p:spPr>
          <a:xfrm>
            <a:off x="2885461" y="2300288"/>
            <a:ext cx="793375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0" name="Text 34"/>
          <p:cNvSpPr/>
          <p:nvPr/>
        </p:nvSpPr>
        <p:spPr>
          <a:xfrm>
            <a:off x="2885461" y="2057400"/>
            <a:ext cx="793375" cy="25717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근로자명</a:t>
            </a:r>
            <a:endParaRPr lang="en-US" sz="634" dirty="0"/>
          </a:p>
        </p:txBody>
      </p:sp>
      <p:sp>
        <p:nvSpPr>
          <p:cNvPr id="41" name="Shape 35"/>
          <p:cNvSpPr/>
          <p:nvPr/>
        </p:nvSpPr>
        <p:spPr>
          <a:xfrm>
            <a:off x="3678836" y="2057400"/>
            <a:ext cx="644723" cy="257175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2" name="Shape 36"/>
          <p:cNvSpPr/>
          <p:nvPr/>
        </p:nvSpPr>
        <p:spPr>
          <a:xfrm>
            <a:off x="3678836" y="2300288"/>
            <a:ext cx="644723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3" name="Text 37"/>
          <p:cNvSpPr/>
          <p:nvPr/>
        </p:nvSpPr>
        <p:spPr>
          <a:xfrm>
            <a:off x="3678836" y="2057400"/>
            <a:ext cx="644723" cy="25717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직종</a:t>
            </a:r>
            <a:endParaRPr lang="en-US" sz="634" dirty="0"/>
          </a:p>
        </p:txBody>
      </p:sp>
      <p:sp>
        <p:nvSpPr>
          <p:cNvPr id="44" name="Shape 38"/>
          <p:cNvSpPr/>
          <p:nvPr/>
        </p:nvSpPr>
        <p:spPr>
          <a:xfrm>
            <a:off x="4323559" y="2057400"/>
            <a:ext cx="839865" cy="257175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5" name="Shape 39"/>
          <p:cNvSpPr/>
          <p:nvPr/>
        </p:nvSpPr>
        <p:spPr>
          <a:xfrm>
            <a:off x="4323559" y="2300288"/>
            <a:ext cx="839865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6" name="Text 40"/>
          <p:cNvSpPr/>
          <p:nvPr/>
        </p:nvSpPr>
        <p:spPr>
          <a:xfrm>
            <a:off x="4323559" y="2057400"/>
            <a:ext cx="839865" cy="25717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출근 시간</a:t>
            </a:r>
            <a:endParaRPr lang="en-US" sz="634" dirty="0"/>
          </a:p>
        </p:txBody>
      </p:sp>
      <p:sp>
        <p:nvSpPr>
          <p:cNvPr id="47" name="Shape 41"/>
          <p:cNvSpPr/>
          <p:nvPr/>
        </p:nvSpPr>
        <p:spPr>
          <a:xfrm>
            <a:off x="5163424" y="2057400"/>
            <a:ext cx="936361" cy="257175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8" name="Shape 42"/>
          <p:cNvSpPr/>
          <p:nvPr/>
        </p:nvSpPr>
        <p:spPr>
          <a:xfrm>
            <a:off x="5163424" y="2300288"/>
            <a:ext cx="936361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9" name="Text 43"/>
          <p:cNvSpPr/>
          <p:nvPr/>
        </p:nvSpPr>
        <p:spPr>
          <a:xfrm>
            <a:off x="5163424" y="2057400"/>
            <a:ext cx="936361" cy="25717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상태</a:t>
            </a:r>
            <a:endParaRPr lang="en-US" sz="634" dirty="0"/>
          </a:p>
        </p:txBody>
      </p:sp>
      <p:sp>
        <p:nvSpPr>
          <p:cNvPr id="50" name="Text 44"/>
          <p:cNvSpPr/>
          <p:nvPr/>
        </p:nvSpPr>
        <p:spPr>
          <a:xfrm>
            <a:off x="371475" y="2307431"/>
            <a:ext cx="1042150" cy="289322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2024-01-25</a:t>
            </a:r>
            <a:endParaRPr lang="en-US" sz="674" dirty="0"/>
          </a:p>
        </p:txBody>
      </p:sp>
      <p:sp>
        <p:nvSpPr>
          <p:cNvPr id="51" name="Text 45"/>
          <p:cNvSpPr/>
          <p:nvPr/>
        </p:nvSpPr>
        <p:spPr>
          <a:xfrm>
            <a:off x="1413625" y="2307431"/>
            <a:ext cx="1471836" cy="289322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강남 더샵 팰리스</a:t>
            </a:r>
            <a:endParaRPr lang="en-US" sz="674" dirty="0"/>
          </a:p>
        </p:txBody>
      </p:sp>
      <p:sp>
        <p:nvSpPr>
          <p:cNvPr id="52" name="Text 46"/>
          <p:cNvSpPr/>
          <p:nvPr/>
        </p:nvSpPr>
        <p:spPr>
          <a:xfrm>
            <a:off x="2885461" y="2307431"/>
            <a:ext cx="793375" cy="289322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김철수</a:t>
            </a:r>
            <a:endParaRPr lang="en-US" sz="674" dirty="0"/>
          </a:p>
        </p:txBody>
      </p:sp>
      <p:sp>
        <p:nvSpPr>
          <p:cNvPr id="53" name="Text 47"/>
          <p:cNvSpPr/>
          <p:nvPr/>
        </p:nvSpPr>
        <p:spPr>
          <a:xfrm>
            <a:off x="3678836" y="2307431"/>
            <a:ext cx="644723" cy="289322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조적공</a:t>
            </a:r>
            <a:endParaRPr lang="en-US" sz="674" dirty="0"/>
          </a:p>
        </p:txBody>
      </p:sp>
      <p:sp>
        <p:nvSpPr>
          <p:cNvPr id="54" name="Text 48"/>
          <p:cNvSpPr/>
          <p:nvPr/>
        </p:nvSpPr>
        <p:spPr>
          <a:xfrm>
            <a:off x="4323559" y="2307431"/>
            <a:ext cx="839865" cy="289322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06:45:12</a:t>
            </a:r>
            <a:endParaRPr lang="en-US" sz="674" dirty="0"/>
          </a:p>
        </p:txBody>
      </p:sp>
      <p:sp>
        <p:nvSpPr>
          <p:cNvPr id="55" name="Shape 49"/>
          <p:cNvSpPr/>
          <p:nvPr/>
        </p:nvSpPr>
        <p:spPr>
          <a:xfrm>
            <a:off x="5220574" y="2364581"/>
            <a:ext cx="423937" cy="171450"/>
          </a:xfrm>
          <a:prstGeom prst="roundRect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56" name="Text 50"/>
          <p:cNvSpPr/>
          <p:nvPr/>
        </p:nvSpPr>
        <p:spPr>
          <a:xfrm>
            <a:off x="5220574" y="2364581"/>
            <a:ext cx="423937" cy="171450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10B981"/>
                </a:solidFill>
              </a:rPr>
              <a:t>승인 완료</a:t>
            </a:r>
            <a:endParaRPr lang="en-US" sz="534" dirty="0"/>
          </a:p>
        </p:txBody>
      </p:sp>
      <p:sp>
        <p:nvSpPr>
          <p:cNvPr id="57" name="Text 51"/>
          <p:cNvSpPr/>
          <p:nvPr/>
        </p:nvSpPr>
        <p:spPr>
          <a:xfrm>
            <a:off x="371475" y="2596753"/>
            <a:ext cx="1042150" cy="292894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2024-01-25</a:t>
            </a:r>
            <a:endParaRPr lang="en-US" sz="674" dirty="0"/>
          </a:p>
        </p:txBody>
      </p:sp>
      <p:sp>
        <p:nvSpPr>
          <p:cNvPr id="58" name="Text 52"/>
          <p:cNvSpPr/>
          <p:nvPr/>
        </p:nvSpPr>
        <p:spPr>
          <a:xfrm>
            <a:off x="1413625" y="2596753"/>
            <a:ext cx="1471836" cy="292894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강남 더샵 팰리스</a:t>
            </a:r>
            <a:endParaRPr lang="en-US" sz="674" dirty="0"/>
          </a:p>
        </p:txBody>
      </p:sp>
      <p:sp>
        <p:nvSpPr>
          <p:cNvPr id="59" name="Text 53"/>
          <p:cNvSpPr/>
          <p:nvPr/>
        </p:nvSpPr>
        <p:spPr>
          <a:xfrm>
            <a:off x="2885461" y="2596753"/>
            <a:ext cx="793375" cy="292894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이영희</a:t>
            </a:r>
            <a:endParaRPr lang="en-US" sz="674" dirty="0"/>
          </a:p>
        </p:txBody>
      </p:sp>
      <p:sp>
        <p:nvSpPr>
          <p:cNvPr id="60" name="Text 54"/>
          <p:cNvSpPr/>
          <p:nvPr/>
        </p:nvSpPr>
        <p:spPr>
          <a:xfrm>
            <a:off x="3678836" y="2596753"/>
            <a:ext cx="644723" cy="292894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미장공</a:t>
            </a:r>
            <a:endParaRPr lang="en-US" sz="674" dirty="0"/>
          </a:p>
        </p:txBody>
      </p:sp>
      <p:sp>
        <p:nvSpPr>
          <p:cNvPr id="61" name="Text 55"/>
          <p:cNvSpPr/>
          <p:nvPr/>
        </p:nvSpPr>
        <p:spPr>
          <a:xfrm>
            <a:off x="4323559" y="2596753"/>
            <a:ext cx="839865" cy="292894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06:48:30</a:t>
            </a:r>
            <a:endParaRPr lang="en-US" sz="674" dirty="0"/>
          </a:p>
        </p:txBody>
      </p:sp>
      <p:sp>
        <p:nvSpPr>
          <p:cNvPr id="62" name="Shape 56"/>
          <p:cNvSpPr/>
          <p:nvPr/>
        </p:nvSpPr>
        <p:spPr>
          <a:xfrm>
            <a:off x="5220574" y="2657475"/>
            <a:ext cx="423937" cy="171450"/>
          </a:xfrm>
          <a:prstGeom prst="roundRect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63" name="Text 57"/>
          <p:cNvSpPr/>
          <p:nvPr/>
        </p:nvSpPr>
        <p:spPr>
          <a:xfrm>
            <a:off x="5220574" y="2657475"/>
            <a:ext cx="423937" cy="171450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10B981"/>
                </a:solidFill>
              </a:rPr>
              <a:t>승인 완료</a:t>
            </a:r>
            <a:endParaRPr lang="en-US" sz="534" dirty="0"/>
          </a:p>
        </p:txBody>
      </p:sp>
      <p:sp>
        <p:nvSpPr>
          <p:cNvPr id="64" name="Text 58"/>
          <p:cNvSpPr/>
          <p:nvPr/>
        </p:nvSpPr>
        <p:spPr>
          <a:xfrm>
            <a:off x="371475" y="2889647"/>
            <a:ext cx="1042150" cy="292894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2024-01-25</a:t>
            </a:r>
            <a:endParaRPr lang="en-US" sz="674" dirty="0"/>
          </a:p>
        </p:txBody>
      </p:sp>
      <p:sp>
        <p:nvSpPr>
          <p:cNvPr id="65" name="Text 59"/>
          <p:cNvSpPr/>
          <p:nvPr/>
        </p:nvSpPr>
        <p:spPr>
          <a:xfrm>
            <a:off x="1413625" y="2889647"/>
            <a:ext cx="1471836" cy="292894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판교 테크노밸리</a:t>
            </a:r>
            <a:endParaRPr lang="en-US" sz="674" dirty="0"/>
          </a:p>
        </p:txBody>
      </p:sp>
      <p:sp>
        <p:nvSpPr>
          <p:cNvPr id="66" name="Text 60"/>
          <p:cNvSpPr/>
          <p:nvPr/>
        </p:nvSpPr>
        <p:spPr>
          <a:xfrm>
            <a:off x="2885461" y="2889647"/>
            <a:ext cx="793375" cy="292894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박민수</a:t>
            </a:r>
            <a:endParaRPr lang="en-US" sz="674" dirty="0"/>
          </a:p>
        </p:txBody>
      </p:sp>
      <p:sp>
        <p:nvSpPr>
          <p:cNvPr id="67" name="Text 61"/>
          <p:cNvSpPr/>
          <p:nvPr/>
        </p:nvSpPr>
        <p:spPr>
          <a:xfrm>
            <a:off x="3678836" y="2889647"/>
            <a:ext cx="644723" cy="292894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용접공</a:t>
            </a:r>
            <a:endParaRPr lang="en-US" sz="674" dirty="0"/>
          </a:p>
        </p:txBody>
      </p:sp>
      <p:sp>
        <p:nvSpPr>
          <p:cNvPr id="68" name="Text 62"/>
          <p:cNvSpPr/>
          <p:nvPr/>
        </p:nvSpPr>
        <p:spPr>
          <a:xfrm>
            <a:off x="4323559" y="2889647"/>
            <a:ext cx="839865" cy="292894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06:55:10</a:t>
            </a:r>
            <a:endParaRPr lang="en-US" sz="674" dirty="0"/>
          </a:p>
        </p:txBody>
      </p:sp>
      <p:sp>
        <p:nvSpPr>
          <p:cNvPr id="69" name="Shape 63"/>
          <p:cNvSpPr/>
          <p:nvPr/>
        </p:nvSpPr>
        <p:spPr>
          <a:xfrm>
            <a:off x="5220574" y="2950369"/>
            <a:ext cx="423937" cy="171450"/>
          </a:xfrm>
          <a:prstGeom prst="roundRect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70" name="Text 64"/>
          <p:cNvSpPr/>
          <p:nvPr/>
        </p:nvSpPr>
        <p:spPr>
          <a:xfrm>
            <a:off x="5220574" y="2950369"/>
            <a:ext cx="423937" cy="171450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59E0B"/>
                </a:solidFill>
              </a:rPr>
              <a:t>승인 대기</a:t>
            </a:r>
            <a:endParaRPr lang="en-US" sz="534" dirty="0"/>
          </a:p>
        </p:txBody>
      </p:sp>
      <p:sp>
        <p:nvSpPr>
          <p:cNvPr id="71" name="Text 65"/>
          <p:cNvSpPr/>
          <p:nvPr/>
        </p:nvSpPr>
        <p:spPr>
          <a:xfrm>
            <a:off x="371475" y="3182541"/>
            <a:ext cx="1042150" cy="292894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2024-01-25</a:t>
            </a:r>
            <a:endParaRPr lang="en-US" sz="674" dirty="0"/>
          </a:p>
        </p:txBody>
      </p:sp>
      <p:sp>
        <p:nvSpPr>
          <p:cNvPr id="72" name="Text 66"/>
          <p:cNvSpPr/>
          <p:nvPr/>
        </p:nvSpPr>
        <p:spPr>
          <a:xfrm>
            <a:off x="1413625" y="3182541"/>
            <a:ext cx="1471836" cy="292894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판교 테크노밸리</a:t>
            </a:r>
            <a:endParaRPr lang="en-US" sz="674" dirty="0"/>
          </a:p>
        </p:txBody>
      </p:sp>
      <p:sp>
        <p:nvSpPr>
          <p:cNvPr id="73" name="Text 67"/>
          <p:cNvSpPr/>
          <p:nvPr/>
        </p:nvSpPr>
        <p:spPr>
          <a:xfrm>
            <a:off x="2885461" y="3182541"/>
            <a:ext cx="793375" cy="292894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최지훈</a:t>
            </a:r>
            <a:endParaRPr lang="en-US" sz="674" dirty="0"/>
          </a:p>
        </p:txBody>
      </p:sp>
      <p:sp>
        <p:nvSpPr>
          <p:cNvPr id="74" name="Text 68"/>
          <p:cNvSpPr/>
          <p:nvPr/>
        </p:nvSpPr>
        <p:spPr>
          <a:xfrm>
            <a:off x="3678836" y="3182541"/>
            <a:ext cx="644723" cy="292894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일반공</a:t>
            </a:r>
            <a:endParaRPr lang="en-US" sz="674" dirty="0"/>
          </a:p>
        </p:txBody>
      </p:sp>
      <p:sp>
        <p:nvSpPr>
          <p:cNvPr id="75" name="Text 69"/>
          <p:cNvSpPr/>
          <p:nvPr/>
        </p:nvSpPr>
        <p:spPr>
          <a:xfrm>
            <a:off x="4323559" y="3182541"/>
            <a:ext cx="839865" cy="292894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07:01:22</a:t>
            </a:r>
            <a:endParaRPr lang="en-US" sz="674" dirty="0"/>
          </a:p>
        </p:txBody>
      </p:sp>
      <p:sp>
        <p:nvSpPr>
          <p:cNvPr id="76" name="Shape 70"/>
          <p:cNvSpPr/>
          <p:nvPr/>
        </p:nvSpPr>
        <p:spPr>
          <a:xfrm>
            <a:off x="5220574" y="3243263"/>
            <a:ext cx="423937" cy="171450"/>
          </a:xfrm>
          <a:prstGeom prst="roundRect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77" name="Text 71"/>
          <p:cNvSpPr/>
          <p:nvPr/>
        </p:nvSpPr>
        <p:spPr>
          <a:xfrm>
            <a:off x="5220574" y="3243263"/>
            <a:ext cx="423937" cy="171450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59E0B"/>
                </a:solidFill>
              </a:rPr>
              <a:t>승인 대기</a:t>
            </a:r>
            <a:endParaRPr lang="en-US" sz="534" dirty="0"/>
          </a:p>
        </p:txBody>
      </p:sp>
      <p:sp>
        <p:nvSpPr>
          <p:cNvPr id="78" name="Text 72"/>
          <p:cNvSpPr/>
          <p:nvPr/>
        </p:nvSpPr>
        <p:spPr>
          <a:xfrm>
            <a:off x="371475" y="3475434"/>
            <a:ext cx="1042150" cy="292894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2024-01-25</a:t>
            </a:r>
            <a:endParaRPr lang="en-US" sz="674" dirty="0"/>
          </a:p>
        </p:txBody>
      </p:sp>
      <p:sp>
        <p:nvSpPr>
          <p:cNvPr id="79" name="Text 73"/>
          <p:cNvSpPr/>
          <p:nvPr/>
        </p:nvSpPr>
        <p:spPr>
          <a:xfrm>
            <a:off x="1413625" y="3475434"/>
            <a:ext cx="1471836" cy="292894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부산 해운대 리조트</a:t>
            </a:r>
            <a:endParaRPr lang="en-US" sz="674" dirty="0"/>
          </a:p>
        </p:txBody>
      </p:sp>
      <p:sp>
        <p:nvSpPr>
          <p:cNvPr id="80" name="Text 74"/>
          <p:cNvSpPr/>
          <p:nvPr/>
        </p:nvSpPr>
        <p:spPr>
          <a:xfrm>
            <a:off x="2885461" y="3475434"/>
            <a:ext cx="793375" cy="292894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정우성</a:t>
            </a:r>
            <a:endParaRPr lang="en-US" sz="674" dirty="0"/>
          </a:p>
        </p:txBody>
      </p:sp>
      <p:sp>
        <p:nvSpPr>
          <p:cNvPr id="81" name="Text 75"/>
          <p:cNvSpPr/>
          <p:nvPr/>
        </p:nvSpPr>
        <p:spPr>
          <a:xfrm>
            <a:off x="3678836" y="3475434"/>
            <a:ext cx="644723" cy="292894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목수</a:t>
            </a:r>
            <a:endParaRPr lang="en-US" sz="674" dirty="0"/>
          </a:p>
        </p:txBody>
      </p:sp>
      <p:sp>
        <p:nvSpPr>
          <p:cNvPr id="82" name="Text 76"/>
          <p:cNvSpPr/>
          <p:nvPr/>
        </p:nvSpPr>
        <p:spPr>
          <a:xfrm>
            <a:off x="4323559" y="3475434"/>
            <a:ext cx="839865" cy="292894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06:30:05</a:t>
            </a:r>
            <a:endParaRPr lang="en-US" sz="674" dirty="0"/>
          </a:p>
        </p:txBody>
      </p:sp>
      <p:sp>
        <p:nvSpPr>
          <p:cNvPr id="83" name="Shape 77"/>
          <p:cNvSpPr/>
          <p:nvPr/>
        </p:nvSpPr>
        <p:spPr>
          <a:xfrm>
            <a:off x="5220574" y="3536156"/>
            <a:ext cx="423937" cy="171450"/>
          </a:xfrm>
          <a:prstGeom prst="roundRect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84" name="Text 78"/>
          <p:cNvSpPr/>
          <p:nvPr/>
        </p:nvSpPr>
        <p:spPr>
          <a:xfrm>
            <a:off x="5220574" y="3536156"/>
            <a:ext cx="423937" cy="171450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10B981"/>
                </a:solidFill>
              </a:rPr>
              <a:t>승인 완료</a:t>
            </a:r>
            <a:endParaRPr lang="en-US" sz="534" dirty="0"/>
          </a:p>
        </p:txBody>
      </p:sp>
      <p:sp>
        <p:nvSpPr>
          <p:cNvPr id="85" name="Text 79"/>
          <p:cNvSpPr/>
          <p:nvPr/>
        </p:nvSpPr>
        <p:spPr>
          <a:xfrm>
            <a:off x="2835343" y="3929063"/>
            <a:ext cx="5313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64748B"/>
                </a:solidFill>
              </a:rPr>
              <a:t>&lt;</a:t>
            </a:r>
            <a:endParaRPr lang="en-US" sz="674" dirty="0"/>
          </a:p>
        </p:txBody>
      </p:sp>
      <p:sp>
        <p:nvSpPr>
          <p:cNvPr id="86" name="Text 80"/>
          <p:cNvSpPr/>
          <p:nvPr/>
        </p:nvSpPr>
        <p:spPr>
          <a:xfrm>
            <a:off x="2959912" y="3929063"/>
            <a:ext cx="5313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B82F6"/>
                </a:solidFill>
              </a:rPr>
              <a:t>1</a:t>
            </a:r>
            <a:endParaRPr lang="en-US" sz="634" dirty="0"/>
          </a:p>
        </p:txBody>
      </p:sp>
      <p:sp>
        <p:nvSpPr>
          <p:cNvPr id="87" name="Text 81"/>
          <p:cNvSpPr/>
          <p:nvPr/>
        </p:nvSpPr>
        <p:spPr>
          <a:xfrm>
            <a:off x="3084481" y="3929063"/>
            <a:ext cx="5313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64748B"/>
                </a:solidFill>
              </a:rPr>
              <a:t>2</a:t>
            </a:r>
            <a:endParaRPr lang="en-US" sz="674" dirty="0"/>
          </a:p>
        </p:txBody>
      </p:sp>
      <p:sp>
        <p:nvSpPr>
          <p:cNvPr id="88" name="Text 82"/>
          <p:cNvSpPr/>
          <p:nvPr/>
        </p:nvSpPr>
        <p:spPr>
          <a:xfrm>
            <a:off x="3209051" y="3929063"/>
            <a:ext cx="5313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64748B"/>
                </a:solidFill>
              </a:rPr>
              <a:t>3</a:t>
            </a:r>
            <a:endParaRPr lang="en-US" sz="674" dirty="0"/>
          </a:p>
        </p:txBody>
      </p:sp>
      <p:sp>
        <p:nvSpPr>
          <p:cNvPr id="89" name="Text 83"/>
          <p:cNvSpPr/>
          <p:nvPr/>
        </p:nvSpPr>
        <p:spPr>
          <a:xfrm>
            <a:off x="3333620" y="3929063"/>
            <a:ext cx="5313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64748B"/>
                </a:solidFill>
              </a:rPr>
              <a:t>4</a:t>
            </a:r>
            <a:endParaRPr lang="en-US" sz="674" dirty="0"/>
          </a:p>
        </p:txBody>
      </p:sp>
      <p:sp>
        <p:nvSpPr>
          <p:cNvPr id="90" name="Text 84"/>
          <p:cNvSpPr/>
          <p:nvPr/>
        </p:nvSpPr>
        <p:spPr>
          <a:xfrm>
            <a:off x="3458189" y="3929063"/>
            <a:ext cx="5313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64748B"/>
                </a:solidFill>
              </a:rPr>
              <a:t>5</a:t>
            </a:r>
            <a:endParaRPr lang="en-US" sz="674" dirty="0"/>
          </a:p>
        </p:txBody>
      </p:sp>
      <p:sp>
        <p:nvSpPr>
          <p:cNvPr id="91" name="Text 85"/>
          <p:cNvSpPr/>
          <p:nvPr/>
        </p:nvSpPr>
        <p:spPr>
          <a:xfrm>
            <a:off x="3582758" y="3929063"/>
            <a:ext cx="5313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64748B"/>
                </a:solidFill>
              </a:rPr>
              <a:t>&gt;</a:t>
            </a:r>
            <a:endParaRPr lang="en-US" sz="674" dirty="0"/>
          </a:p>
        </p:txBody>
      </p:sp>
      <p:sp>
        <p:nvSpPr>
          <p:cNvPr id="92" name="Shape 86"/>
          <p:cNvSpPr/>
          <p:nvPr/>
        </p:nvSpPr>
        <p:spPr>
          <a:xfrm>
            <a:off x="6356961" y="1428750"/>
            <a:ext cx="2501289" cy="687195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93" name="Shape 87"/>
          <p:cNvSpPr/>
          <p:nvPr/>
        </p:nvSpPr>
        <p:spPr>
          <a:xfrm>
            <a:off x="6442686" y="1518047"/>
            <a:ext cx="157163" cy="157163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4" name="Text 88"/>
          <p:cNvSpPr/>
          <p:nvPr/>
        </p:nvSpPr>
        <p:spPr>
          <a:xfrm>
            <a:off x="6442686" y="1518047"/>
            <a:ext cx="157163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95" name="Text 89"/>
          <p:cNvSpPr/>
          <p:nvPr/>
        </p:nvSpPr>
        <p:spPr>
          <a:xfrm>
            <a:off x="6656998" y="1514475"/>
            <a:ext cx="69037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B82F6"/>
                </a:solidFill>
              </a:rPr>
              <a:t>검색 및 필터링</a:t>
            </a:r>
            <a:endParaRPr lang="en-US" sz="784" dirty="0"/>
          </a:p>
        </p:txBody>
      </p:sp>
      <p:sp>
        <p:nvSpPr>
          <p:cNvPr id="96" name="Text 90"/>
          <p:cNvSpPr/>
          <p:nvPr/>
        </p:nvSpPr>
        <p:spPr>
          <a:xfrm>
            <a:off x="6442686" y="1735931"/>
            <a:ext cx="2329839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기간 조회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시작일 ~ 종료일 (최대 3개월)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현장 필터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본사 관리자는 전체 현장 조회 가능</a:t>
            </a:r>
            <a:endParaRPr lang="en-US" sz="727" dirty="0"/>
          </a:p>
        </p:txBody>
      </p:sp>
      <p:sp>
        <p:nvSpPr>
          <p:cNvPr id="97" name="Shape 91"/>
          <p:cNvSpPr/>
          <p:nvPr/>
        </p:nvSpPr>
        <p:spPr>
          <a:xfrm>
            <a:off x="6356961" y="2187383"/>
            <a:ext cx="2501289" cy="1098631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98" name="Shape 92"/>
          <p:cNvSpPr/>
          <p:nvPr/>
        </p:nvSpPr>
        <p:spPr>
          <a:xfrm>
            <a:off x="6442686" y="2276680"/>
            <a:ext cx="157163" cy="157163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9" name="Text 93"/>
          <p:cNvSpPr/>
          <p:nvPr/>
        </p:nvSpPr>
        <p:spPr>
          <a:xfrm>
            <a:off x="6442686" y="2276680"/>
            <a:ext cx="157163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100" name="Text 94"/>
          <p:cNvSpPr/>
          <p:nvPr/>
        </p:nvSpPr>
        <p:spPr>
          <a:xfrm>
            <a:off x="6656998" y="2273108"/>
            <a:ext cx="90069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B82F6"/>
                </a:solidFill>
              </a:rPr>
              <a:t>로그 데이터 그리드</a:t>
            </a:r>
            <a:endParaRPr lang="en-US" sz="784" dirty="0"/>
          </a:p>
        </p:txBody>
      </p:sp>
      <p:sp>
        <p:nvSpPr>
          <p:cNvPr id="101" name="Text 95"/>
          <p:cNvSpPr/>
          <p:nvPr/>
        </p:nvSpPr>
        <p:spPr>
          <a:xfrm>
            <a:off x="6442686" y="2496350"/>
            <a:ext cx="6362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</a:t>
            </a:r>
            <a:endParaRPr lang="en-US" sz="727" dirty="0"/>
          </a:p>
        </p:txBody>
      </p:sp>
      <p:sp>
        <p:nvSpPr>
          <p:cNvPr id="102" name="Text 96"/>
          <p:cNvSpPr/>
          <p:nvPr/>
        </p:nvSpPr>
        <p:spPr>
          <a:xfrm>
            <a:off x="6506310" y="2496350"/>
            <a:ext cx="18403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정렬</a:t>
            </a:r>
            <a:endParaRPr lang="en-US" sz="683" dirty="0"/>
          </a:p>
        </p:txBody>
      </p:sp>
      <p:sp>
        <p:nvSpPr>
          <p:cNvPr id="103" name="Text 97"/>
          <p:cNvSpPr/>
          <p:nvPr/>
        </p:nvSpPr>
        <p:spPr>
          <a:xfrm>
            <a:off x="6690345" y="2496350"/>
            <a:ext cx="120296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최신순 (출근 시간 내림차순)</a:t>
            </a:r>
            <a:endParaRPr lang="en-US" sz="727" dirty="0"/>
          </a:p>
        </p:txBody>
      </p:sp>
      <p:sp>
        <p:nvSpPr>
          <p:cNvPr id="104" name="Text 98"/>
          <p:cNvSpPr/>
          <p:nvPr/>
        </p:nvSpPr>
        <p:spPr>
          <a:xfrm>
            <a:off x="6442686" y="2636351"/>
            <a:ext cx="6362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</a:t>
            </a:r>
            <a:endParaRPr lang="en-US" sz="727" dirty="0"/>
          </a:p>
        </p:txBody>
      </p:sp>
      <p:sp>
        <p:nvSpPr>
          <p:cNvPr id="105" name="Text 99"/>
          <p:cNvSpPr/>
          <p:nvPr/>
        </p:nvSpPr>
        <p:spPr>
          <a:xfrm>
            <a:off x="6506310" y="2636351"/>
            <a:ext cx="3940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상태 표시</a:t>
            </a:r>
            <a:endParaRPr lang="en-US" sz="683" dirty="0"/>
          </a:p>
        </p:txBody>
      </p:sp>
      <p:sp>
        <p:nvSpPr>
          <p:cNvPr id="106" name="Text 100"/>
          <p:cNvSpPr/>
          <p:nvPr/>
        </p:nvSpPr>
        <p:spPr>
          <a:xfrm>
            <a:off x="6900360" y="2636351"/>
            <a:ext cx="67929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승인/대기/반려</a:t>
            </a:r>
            <a:endParaRPr lang="en-US" sz="727" dirty="0"/>
          </a:p>
        </p:txBody>
      </p:sp>
      <p:sp>
        <p:nvSpPr>
          <p:cNvPr id="107" name="Shape 101"/>
          <p:cNvSpPr/>
          <p:nvPr/>
        </p:nvSpPr>
        <p:spPr>
          <a:xfrm>
            <a:off x="6442686" y="2817428"/>
            <a:ext cx="2329839" cy="368573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08" name="Text 102"/>
          <p:cNvSpPr/>
          <p:nvPr/>
        </p:nvSpPr>
        <p:spPr>
          <a:xfrm>
            <a:off x="6442686" y="2817428"/>
            <a:ext cx="2329839" cy="36857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GET /api/hq/attendance/logs?startDate={dt}&amp;endDate={dt}&amp;siteId={id}</a:t>
            </a:r>
            <a:endParaRPr lang="en-US" sz="621" dirty="0"/>
          </a:p>
        </p:txBody>
      </p:sp>
      <p:sp>
        <p:nvSpPr>
          <p:cNvPr id="109" name="Shape 103"/>
          <p:cNvSpPr/>
          <p:nvPr/>
        </p:nvSpPr>
        <p:spPr>
          <a:xfrm>
            <a:off x="6356961" y="3343163"/>
            <a:ext cx="2501289" cy="687195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10" name="Shape 104"/>
          <p:cNvSpPr/>
          <p:nvPr/>
        </p:nvSpPr>
        <p:spPr>
          <a:xfrm>
            <a:off x="6442686" y="3432460"/>
            <a:ext cx="157163" cy="157163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1" name="Text 105"/>
          <p:cNvSpPr/>
          <p:nvPr/>
        </p:nvSpPr>
        <p:spPr>
          <a:xfrm>
            <a:off x="6442686" y="3432460"/>
            <a:ext cx="157163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112" name="Text 106"/>
          <p:cNvSpPr/>
          <p:nvPr/>
        </p:nvSpPr>
        <p:spPr>
          <a:xfrm>
            <a:off x="6656998" y="3428888"/>
            <a:ext cx="660657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B82F6"/>
                </a:solidFill>
              </a:rPr>
              <a:t>엑셀 다운로드</a:t>
            </a:r>
            <a:endParaRPr lang="en-US" sz="784" dirty="0"/>
          </a:p>
        </p:txBody>
      </p:sp>
      <p:sp>
        <p:nvSpPr>
          <p:cNvPr id="113" name="Text 107"/>
          <p:cNvSpPr/>
          <p:nvPr/>
        </p:nvSpPr>
        <p:spPr>
          <a:xfrm>
            <a:off x="6442686" y="3650345"/>
            <a:ext cx="2329839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기능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필터된 전체 데이터를 .xlsx로 생성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파일명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출역로그_{YYYYMMDD}.xlsx</a:t>
            </a:r>
            <a:endParaRPr lang="en-US" sz="727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78581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1200150"/>
            <a:ext cx="85725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428625"/>
            <a:ext cx="857250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spc="-1" kern="0" dirty="0">
                <a:solidFill>
                  <a:srgbClr val="3B82F6"/>
                </a:solidFill>
              </a:rPr>
              <a:t>[본사] 근로계약 체결 현황 (PC Web)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285750" y="935831"/>
            <a:ext cx="8572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현장별 체결률 모니터링 및 미체결 인원 일괄 서명 요청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85750" y="1285875"/>
            <a:ext cx="2800350" cy="698302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71475" y="1378744"/>
            <a:ext cx="606716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94A3B8"/>
                </a:solidFill>
              </a:rPr>
              <a:t>금일 출력 대상</a:t>
            </a:r>
            <a:endParaRPr lang="en-US" sz="683" dirty="0"/>
          </a:p>
        </p:txBody>
      </p:sp>
      <p:sp>
        <p:nvSpPr>
          <p:cNvPr id="9" name="Text 6"/>
          <p:cNvSpPr/>
          <p:nvPr/>
        </p:nvSpPr>
        <p:spPr>
          <a:xfrm>
            <a:off x="371475" y="1559123"/>
            <a:ext cx="606716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8FAFC"/>
                </a:solidFill>
              </a:rPr>
              <a:t>150명</a:t>
            </a:r>
            <a:endParaRPr lang="en-US" sz="1602" dirty="0"/>
          </a:p>
        </p:txBody>
      </p:sp>
      <p:sp>
        <p:nvSpPr>
          <p:cNvPr id="10" name="Shape 7"/>
          <p:cNvSpPr/>
          <p:nvPr/>
        </p:nvSpPr>
        <p:spPr>
          <a:xfrm>
            <a:off x="2643188" y="1456432"/>
            <a:ext cx="357188" cy="357188"/>
          </a:xfrm>
          <a:prstGeom prst="ellipse">
            <a:avLst/>
          </a:prstGeom>
          <a:solidFill>
            <a:srgbClr val="3B82F6">
              <a:alpha val="20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4625" y="1549301"/>
            <a:ext cx="214313" cy="17145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171825" y="1285875"/>
            <a:ext cx="2800350" cy="698302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257550" y="1378744"/>
            <a:ext cx="606716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94A3B8"/>
                </a:solidFill>
              </a:rPr>
              <a:t>계약 체결 완료</a:t>
            </a:r>
            <a:endParaRPr lang="en-US" sz="683" dirty="0"/>
          </a:p>
        </p:txBody>
      </p:sp>
      <p:sp>
        <p:nvSpPr>
          <p:cNvPr id="14" name="Text 10"/>
          <p:cNvSpPr/>
          <p:nvPr/>
        </p:nvSpPr>
        <p:spPr>
          <a:xfrm>
            <a:off x="3257550" y="1559123"/>
            <a:ext cx="606716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0B981"/>
                </a:solidFill>
              </a:rPr>
              <a:t>135명</a:t>
            </a:r>
            <a:endParaRPr lang="en-US" sz="1602" dirty="0"/>
          </a:p>
        </p:txBody>
      </p:sp>
      <p:sp>
        <p:nvSpPr>
          <p:cNvPr id="15" name="Shape 11"/>
          <p:cNvSpPr/>
          <p:nvPr/>
        </p:nvSpPr>
        <p:spPr>
          <a:xfrm>
            <a:off x="5529263" y="1456432"/>
            <a:ext cx="357188" cy="357188"/>
          </a:xfrm>
          <a:prstGeom prst="ellipse">
            <a:avLst/>
          </a:prstGeom>
          <a:solidFill>
            <a:srgbClr val="10B981">
              <a:alpha val="20000"/>
            </a:srgbClr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1416" y="1549301"/>
            <a:ext cx="192881" cy="17145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6057900" y="1285875"/>
            <a:ext cx="2800350" cy="698302"/>
          </a:xfrm>
          <a:prstGeom prst="rect">
            <a:avLst/>
          </a:prstGeom>
          <a:solidFill>
            <a:srgbClr val="1E293B"/>
          </a:solidFill>
          <a:ln w="9144">
            <a:solidFill>
              <a:srgbClr val="EF4444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6143625" y="1371600"/>
            <a:ext cx="760921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F4444"/>
                </a:solidFill>
              </a:rPr>
              <a:t>미체결 (서명 필요)</a:t>
            </a:r>
            <a:endParaRPr lang="en-US" sz="683" dirty="0"/>
          </a:p>
        </p:txBody>
      </p:sp>
      <p:sp>
        <p:nvSpPr>
          <p:cNvPr id="19" name="Text 14"/>
          <p:cNvSpPr/>
          <p:nvPr/>
        </p:nvSpPr>
        <p:spPr>
          <a:xfrm>
            <a:off x="6143625" y="1551980"/>
            <a:ext cx="760921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EF4444"/>
                </a:solidFill>
              </a:rPr>
              <a:t>15명</a:t>
            </a:r>
            <a:endParaRPr lang="en-US" sz="1602" dirty="0"/>
          </a:p>
        </p:txBody>
      </p:sp>
      <p:sp>
        <p:nvSpPr>
          <p:cNvPr id="20" name="Shape 15"/>
          <p:cNvSpPr/>
          <p:nvPr/>
        </p:nvSpPr>
        <p:spPr>
          <a:xfrm>
            <a:off x="8415338" y="1449288"/>
            <a:ext cx="357188" cy="357188"/>
          </a:xfrm>
          <a:prstGeom prst="ellipse">
            <a:avLst/>
          </a:prstGeom>
          <a:solidFill>
            <a:srgbClr val="EF4444">
              <a:alpha val="20000"/>
            </a:srgbClr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8206" y="1542157"/>
            <a:ext cx="171450" cy="17145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85750" y="2055614"/>
            <a:ext cx="3838119" cy="2398514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475" y="2171700"/>
            <a:ext cx="128588" cy="12858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71500" y="2141339"/>
            <a:ext cx="74325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현장별 체결률</a:t>
            </a:r>
            <a:endParaRPr lang="en-US" sz="885" dirty="0"/>
          </a:p>
        </p:txBody>
      </p:sp>
      <p:sp>
        <p:nvSpPr>
          <p:cNvPr id="25" name="Text 18"/>
          <p:cNvSpPr/>
          <p:nvPr/>
        </p:nvSpPr>
        <p:spPr>
          <a:xfrm>
            <a:off x="371475" y="2452092"/>
            <a:ext cx="696097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강남 더샵 팰리스</a:t>
            </a:r>
            <a:endParaRPr lang="en-US" sz="727" dirty="0"/>
          </a:p>
        </p:txBody>
      </p:sp>
      <p:sp>
        <p:nvSpPr>
          <p:cNvPr id="26" name="Text 19"/>
          <p:cNvSpPr/>
          <p:nvPr/>
        </p:nvSpPr>
        <p:spPr>
          <a:xfrm>
            <a:off x="3840603" y="2452092"/>
            <a:ext cx="197541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10B981"/>
                </a:solidFill>
              </a:rPr>
              <a:t>98%</a:t>
            </a:r>
            <a:endParaRPr lang="en-US" sz="727" dirty="0"/>
          </a:p>
        </p:txBody>
      </p:sp>
      <p:sp>
        <p:nvSpPr>
          <p:cNvPr id="27" name="Shape 20"/>
          <p:cNvSpPr/>
          <p:nvPr/>
        </p:nvSpPr>
        <p:spPr>
          <a:xfrm>
            <a:off x="371475" y="2653903"/>
            <a:ext cx="3666669" cy="71438"/>
          </a:xfrm>
          <a:prstGeom prst="roundRect">
            <a:avLst/>
          </a:prstGeom>
          <a:solidFill>
            <a:srgbClr val="334155"/>
          </a:solidFill>
          <a:ln/>
        </p:spPr>
      </p:sp>
      <p:sp>
        <p:nvSpPr>
          <p:cNvPr id="28" name="Text 21"/>
          <p:cNvSpPr/>
          <p:nvPr/>
        </p:nvSpPr>
        <p:spPr>
          <a:xfrm>
            <a:off x="371475" y="2782491"/>
            <a:ext cx="670089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판교 테크노밸리</a:t>
            </a:r>
            <a:endParaRPr lang="en-US" sz="727" dirty="0"/>
          </a:p>
        </p:txBody>
      </p:sp>
      <p:sp>
        <p:nvSpPr>
          <p:cNvPr id="29" name="Text 22"/>
          <p:cNvSpPr/>
          <p:nvPr/>
        </p:nvSpPr>
        <p:spPr>
          <a:xfrm>
            <a:off x="3840603" y="2782491"/>
            <a:ext cx="197541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59E0B"/>
                </a:solidFill>
              </a:rPr>
              <a:t>85%</a:t>
            </a:r>
            <a:endParaRPr lang="en-US" sz="727" dirty="0"/>
          </a:p>
        </p:txBody>
      </p:sp>
      <p:sp>
        <p:nvSpPr>
          <p:cNvPr id="30" name="Shape 23"/>
          <p:cNvSpPr/>
          <p:nvPr/>
        </p:nvSpPr>
        <p:spPr>
          <a:xfrm>
            <a:off x="371475" y="2984302"/>
            <a:ext cx="3666669" cy="71438"/>
          </a:xfrm>
          <a:prstGeom prst="roundRect">
            <a:avLst/>
          </a:prstGeom>
          <a:solidFill>
            <a:srgbClr val="334155"/>
          </a:solidFill>
          <a:ln/>
        </p:spPr>
      </p:sp>
      <p:sp>
        <p:nvSpPr>
          <p:cNvPr id="31" name="Text 24"/>
          <p:cNvSpPr/>
          <p:nvPr/>
        </p:nvSpPr>
        <p:spPr>
          <a:xfrm>
            <a:off x="371475" y="3112889"/>
            <a:ext cx="788101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부산 해운대 리조트</a:t>
            </a:r>
            <a:endParaRPr lang="en-US" sz="727" dirty="0"/>
          </a:p>
        </p:txBody>
      </p:sp>
      <p:sp>
        <p:nvSpPr>
          <p:cNvPr id="32" name="Text 25"/>
          <p:cNvSpPr/>
          <p:nvPr/>
        </p:nvSpPr>
        <p:spPr>
          <a:xfrm>
            <a:off x="3840603" y="3112889"/>
            <a:ext cx="197541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EF4444"/>
                </a:solidFill>
              </a:rPr>
              <a:t>60%</a:t>
            </a:r>
            <a:endParaRPr lang="en-US" sz="727" dirty="0"/>
          </a:p>
        </p:txBody>
      </p:sp>
      <p:sp>
        <p:nvSpPr>
          <p:cNvPr id="33" name="Shape 26"/>
          <p:cNvSpPr/>
          <p:nvPr/>
        </p:nvSpPr>
        <p:spPr>
          <a:xfrm>
            <a:off x="371475" y="3314700"/>
            <a:ext cx="3666669" cy="71438"/>
          </a:xfrm>
          <a:prstGeom prst="roundRect">
            <a:avLst/>
          </a:prstGeom>
          <a:solidFill>
            <a:srgbClr val="334155"/>
          </a:solidFill>
          <a:ln/>
        </p:spPr>
      </p:sp>
      <p:sp>
        <p:nvSpPr>
          <p:cNvPr id="34" name="Shape 27"/>
          <p:cNvSpPr/>
          <p:nvPr/>
        </p:nvSpPr>
        <p:spPr>
          <a:xfrm>
            <a:off x="4252457" y="2055614"/>
            <a:ext cx="4605793" cy="2398514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38182" y="2183309"/>
            <a:ext cx="160734" cy="128588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4570354" y="2152948"/>
            <a:ext cx="89497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미체결 인원 관리</a:t>
            </a:r>
            <a:endParaRPr lang="en-US" sz="885" dirty="0"/>
          </a:p>
        </p:txBody>
      </p:sp>
      <p:sp>
        <p:nvSpPr>
          <p:cNvPr id="37" name="Shape 29"/>
          <p:cNvSpPr/>
          <p:nvPr/>
        </p:nvSpPr>
        <p:spPr>
          <a:xfrm>
            <a:off x="7975271" y="2141339"/>
            <a:ext cx="797254" cy="212527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60996" y="2209205"/>
            <a:ext cx="85725" cy="85725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8146721" y="2194917"/>
            <a:ext cx="54007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0000"/>
                </a:solidFill>
              </a:rPr>
              <a:t>전체 서명 요청</a:t>
            </a:r>
            <a:endParaRPr lang="en-US" sz="584" dirty="0"/>
          </a:p>
        </p:txBody>
      </p:sp>
      <p:sp>
        <p:nvSpPr>
          <p:cNvPr id="40" name="Text 31"/>
          <p:cNvSpPr/>
          <p:nvPr/>
        </p:nvSpPr>
        <p:spPr>
          <a:xfrm>
            <a:off x="4338182" y="2475309"/>
            <a:ext cx="607442" cy="28217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이름</a:t>
            </a:r>
            <a:endParaRPr lang="en-US" sz="634" dirty="0"/>
          </a:p>
        </p:txBody>
      </p:sp>
      <p:sp>
        <p:nvSpPr>
          <p:cNvPr id="41" name="Text 32"/>
          <p:cNvSpPr/>
          <p:nvPr/>
        </p:nvSpPr>
        <p:spPr>
          <a:xfrm>
            <a:off x="4945624" y="2475309"/>
            <a:ext cx="1185667" cy="28217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연락처</a:t>
            </a:r>
            <a:endParaRPr lang="en-US" sz="634" dirty="0"/>
          </a:p>
        </p:txBody>
      </p:sp>
      <p:sp>
        <p:nvSpPr>
          <p:cNvPr id="42" name="Text 33"/>
          <p:cNvSpPr/>
          <p:nvPr/>
        </p:nvSpPr>
        <p:spPr>
          <a:xfrm>
            <a:off x="6131291" y="2475309"/>
            <a:ext cx="1164180" cy="28217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소속 현장</a:t>
            </a:r>
            <a:endParaRPr lang="en-US" sz="634" dirty="0"/>
          </a:p>
        </p:txBody>
      </p:sp>
      <p:sp>
        <p:nvSpPr>
          <p:cNvPr id="43" name="Text 34"/>
          <p:cNvSpPr/>
          <p:nvPr/>
        </p:nvSpPr>
        <p:spPr>
          <a:xfrm>
            <a:off x="7295471" y="2475309"/>
            <a:ext cx="607442" cy="28217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상태</a:t>
            </a:r>
            <a:endParaRPr lang="en-US" sz="634" dirty="0"/>
          </a:p>
        </p:txBody>
      </p:sp>
      <p:sp>
        <p:nvSpPr>
          <p:cNvPr id="44" name="Text 35"/>
          <p:cNvSpPr/>
          <p:nvPr/>
        </p:nvSpPr>
        <p:spPr>
          <a:xfrm>
            <a:off x="7902913" y="2475309"/>
            <a:ext cx="869612" cy="28217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관리</a:t>
            </a:r>
            <a:endParaRPr lang="en-US" sz="634" dirty="0"/>
          </a:p>
        </p:txBody>
      </p:sp>
      <p:sp>
        <p:nvSpPr>
          <p:cNvPr id="45" name="Text 36"/>
          <p:cNvSpPr/>
          <p:nvPr/>
        </p:nvSpPr>
        <p:spPr>
          <a:xfrm>
            <a:off x="4338182" y="2757488"/>
            <a:ext cx="607442" cy="350044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김철수</a:t>
            </a:r>
            <a:endParaRPr lang="en-US" sz="674" dirty="0"/>
          </a:p>
        </p:txBody>
      </p:sp>
      <p:sp>
        <p:nvSpPr>
          <p:cNvPr id="46" name="Text 37"/>
          <p:cNvSpPr/>
          <p:nvPr/>
        </p:nvSpPr>
        <p:spPr>
          <a:xfrm>
            <a:off x="4945624" y="2757488"/>
            <a:ext cx="1185667" cy="350044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010-1234-****</a:t>
            </a:r>
            <a:endParaRPr lang="en-US" sz="674" dirty="0"/>
          </a:p>
        </p:txBody>
      </p:sp>
      <p:sp>
        <p:nvSpPr>
          <p:cNvPr id="47" name="Text 38"/>
          <p:cNvSpPr/>
          <p:nvPr/>
        </p:nvSpPr>
        <p:spPr>
          <a:xfrm>
            <a:off x="6131291" y="2757488"/>
            <a:ext cx="1164180" cy="350044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판교 테크노밸리</a:t>
            </a:r>
            <a:endParaRPr lang="en-US" sz="674" dirty="0"/>
          </a:p>
        </p:txBody>
      </p:sp>
      <p:sp>
        <p:nvSpPr>
          <p:cNvPr id="48" name="Text 39"/>
          <p:cNvSpPr/>
          <p:nvPr/>
        </p:nvSpPr>
        <p:spPr>
          <a:xfrm>
            <a:off x="7295471" y="2757488"/>
            <a:ext cx="607442" cy="350044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F4444"/>
                </a:solidFill>
              </a:rPr>
              <a:t>미서명</a:t>
            </a:r>
            <a:endParaRPr lang="en-US" sz="674" dirty="0"/>
          </a:p>
        </p:txBody>
      </p:sp>
      <p:sp>
        <p:nvSpPr>
          <p:cNvPr id="49" name="Shape 40"/>
          <p:cNvSpPr/>
          <p:nvPr/>
        </p:nvSpPr>
        <p:spPr>
          <a:xfrm>
            <a:off x="7974350" y="2832497"/>
            <a:ext cx="428625" cy="20002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0" name="Text 41"/>
          <p:cNvSpPr/>
          <p:nvPr/>
        </p:nvSpPr>
        <p:spPr>
          <a:xfrm>
            <a:off x="7974350" y="2832497"/>
            <a:ext cx="428625" cy="200025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재발송</a:t>
            </a:r>
            <a:endParaRPr lang="en-US" sz="621" dirty="0"/>
          </a:p>
        </p:txBody>
      </p:sp>
      <p:sp>
        <p:nvSpPr>
          <p:cNvPr id="51" name="Text 42"/>
          <p:cNvSpPr/>
          <p:nvPr/>
        </p:nvSpPr>
        <p:spPr>
          <a:xfrm>
            <a:off x="4338182" y="3107531"/>
            <a:ext cx="607442" cy="350044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이영희</a:t>
            </a:r>
            <a:endParaRPr lang="en-US" sz="674" dirty="0"/>
          </a:p>
        </p:txBody>
      </p:sp>
      <p:sp>
        <p:nvSpPr>
          <p:cNvPr id="52" name="Text 43"/>
          <p:cNvSpPr/>
          <p:nvPr/>
        </p:nvSpPr>
        <p:spPr>
          <a:xfrm>
            <a:off x="4945624" y="3107531"/>
            <a:ext cx="1185667" cy="350044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010-5678-****</a:t>
            </a:r>
            <a:endParaRPr lang="en-US" sz="674" dirty="0"/>
          </a:p>
        </p:txBody>
      </p:sp>
      <p:sp>
        <p:nvSpPr>
          <p:cNvPr id="53" name="Text 44"/>
          <p:cNvSpPr/>
          <p:nvPr/>
        </p:nvSpPr>
        <p:spPr>
          <a:xfrm>
            <a:off x="6131291" y="3107531"/>
            <a:ext cx="1164180" cy="350044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부산 해운대</a:t>
            </a:r>
            <a:endParaRPr lang="en-US" sz="674" dirty="0"/>
          </a:p>
        </p:txBody>
      </p:sp>
      <p:sp>
        <p:nvSpPr>
          <p:cNvPr id="54" name="Text 45"/>
          <p:cNvSpPr/>
          <p:nvPr/>
        </p:nvSpPr>
        <p:spPr>
          <a:xfrm>
            <a:off x="7295471" y="3107531"/>
            <a:ext cx="607442" cy="350044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F4444"/>
                </a:solidFill>
              </a:rPr>
              <a:t>미서명</a:t>
            </a:r>
            <a:endParaRPr lang="en-US" sz="674" dirty="0"/>
          </a:p>
        </p:txBody>
      </p:sp>
      <p:sp>
        <p:nvSpPr>
          <p:cNvPr id="55" name="Shape 46"/>
          <p:cNvSpPr/>
          <p:nvPr/>
        </p:nvSpPr>
        <p:spPr>
          <a:xfrm>
            <a:off x="7974350" y="3182541"/>
            <a:ext cx="428625" cy="20002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6" name="Text 47"/>
          <p:cNvSpPr/>
          <p:nvPr/>
        </p:nvSpPr>
        <p:spPr>
          <a:xfrm>
            <a:off x="7974350" y="3182541"/>
            <a:ext cx="428625" cy="200025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재발송</a:t>
            </a:r>
            <a:endParaRPr lang="en-US" sz="621" dirty="0"/>
          </a:p>
        </p:txBody>
      </p:sp>
      <p:sp>
        <p:nvSpPr>
          <p:cNvPr id="57" name="Text 48"/>
          <p:cNvSpPr/>
          <p:nvPr/>
        </p:nvSpPr>
        <p:spPr>
          <a:xfrm>
            <a:off x="4338182" y="3457575"/>
            <a:ext cx="607442" cy="28217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박민수</a:t>
            </a:r>
            <a:endParaRPr lang="en-US" sz="674" dirty="0"/>
          </a:p>
        </p:txBody>
      </p:sp>
      <p:sp>
        <p:nvSpPr>
          <p:cNvPr id="58" name="Text 49"/>
          <p:cNvSpPr/>
          <p:nvPr/>
        </p:nvSpPr>
        <p:spPr>
          <a:xfrm>
            <a:off x="4945624" y="3457575"/>
            <a:ext cx="1185667" cy="28217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010-9999-****</a:t>
            </a:r>
            <a:endParaRPr lang="en-US" sz="674" dirty="0"/>
          </a:p>
        </p:txBody>
      </p:sp>
      <p:sp>
        <p:nvSpPr>
          <p:cNvPr id="59" name="Text 50"/>
          <p:cNvSpPr/>
          <p:nvPr/>
        </p:nvSpPr>
        <p:spPr>
          <a:xfrm>
            <a:off x="6131291" y="3457575"/>
            <a:ext cx="1164180" cy="28217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E2E8F0"/>
                </a:solidFill>
              </a:rPr>
              <a:t>부산 해운대</a:t>
            </a:r>
            <a:endParaRPr lang="en-US" sz="674" dirty="0"/>
          </a:p>
        </p:txBody>
      </p:sp>
      <p:sp>
        <p:nvSpPr>
          <p:cNvPr id="60" name="Text 51"/>
          <p:cNvSpPr/>
          <p:nvPr/>
        </p:nvSpPr>
        <p:spPr>
          <a:xfrm>
            <a:off x="7295471" y="3457575"/>
            <a:ext cx="607442" cy="28217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59E0B"/>
                </a:solidFill>
              </a:rPr>
              <a:t>요청됨</a:t>
            </a:r>
            <a:endParaRPr lang="en-US" sz="674" dirty="0"/>
          </a:p>
        </p:txBody>
      </p:sp>
      <p:sp>
        <p:nvSpPr>
          <p:cNvPr id="61" name="Text 52"/>
          <p:cNvSpPr/>
          <p:nvPr/>
        </p:nvSpPr>
        <p:spPr>
          <a:xfrm>
            <a:off x="7974350" y="3546872"/>
            <a:ext cx="23660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대기중</a:t>
            </a:r>
            <a:endParaRPr lang="en-US" sz="621" dirty="0"/>
          </a:p>
        </p:txBody>
      </p:sp>
      <p:sp>
        <p:nvSpPr>
          <p:cNvPr id="62" name="Shape 53"/>
          <p:cNvSpPr/>
          <p:nvPr/>
        </p:nvSpPr>
        <p:spPr>
          <a:xfrm>
            <a:off x="350044" y="4575572"/>
            <a:ext cx="1228809" cy="187523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63" name="Text 54"/>
          <p:cNvSpPr/>
          <p:nvPr/>
        </p:nvSpPr>
        <p:spPr>
          <a:xfrm>
            <a:off x="350044" y="4575572"/>
            <a:ext cx="1228809" cy="187523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GET /api/hq/contracts/stats</a:t>
            </a:r>
            <a:endParaRPr lang="en-US" sz="621" dirty="0"/>
          </a:p>
        </p:txBody>
      </p:sp>
      <p:sp>
        <p:nvSpPr>
          <p:cNvPr id="64" name="Text 55"/>
          <p:cNvSpPr/>
          <p:nvPr/>
        </p:nvSpPr>
        <p:spPr>
          <a:xfrm>
            <a:off x="1650290" y="4608612"/>
            <a:ext cx="259979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통계 조회: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 현장별 전체/체결/미체결 카운트 집계 (Group By SiteId)</a:t>
            </a:r>
            <a:endParaRPr lang="en-US" sz="634" dirty="0"/>
          </a:p>
        </p:txBody>
      </p:sp>
      <p:sp>
        <p:nvSpPr>
          <p:cNvPr id="65" name="Shape 56"/>
          <p:cNvSpPr/>
          <p:nvPr/>
        </p:nvSpPr>
        <p:spPr>
          <a:xfrm>
            <a:off x="350044" y="4820245"/>
            <a:ext cx="1262993" cy="187523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66" name="Text 57"/>
          <p:cNvSpPr/>
          <p:nvPr/>
        </p:nvSpPr>
        <p:spPr>
          <a:xfrm>
            <a:off x="350044" y="4820245"/>
            <a:ext cx="1262993" cy="187523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POST /api/contracts/request</a:t>
            </a:r>
            <a:endParaRPr lang="en-US" sz="621" dirty="0"/>
          </a:p>
        </p:txBody>
      </p:sp>
      <p:sp>
        <p:nvSpPr>
          <p:cNvPr id="67" name="Text 58"/>
          <p:cNvSpPr/>
          <p:nvPr/>
        </p:nvSpPr>
        <p:spPr>
          <a:xfrm>
            <a:off x="1684474" y="4853285"/>
            <a:ext cx="378981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서명 요청:</a:t>
            </a:r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 선택된 근로자에게 카카오톡 알림톡으로 전자계약 서명 링크 발송 (외부 메시징 API 연동)</a:t>
            </a:r>
            <a:endParaRPr lang="en-US" sz="634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4019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8715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1285875"/>
            <a:ext cx="85725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428625"/>
            <a:ext cx="857250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spc="-1" kern="0" dirty="0">
                <a:solidFill>
                  <a:srgbClr val="3B82F6"/>
                </a:solidFill>
              </a:rPr>
              <a:t>[본사] 관리자 계정 및 권한 관리 (PC Web)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285750" y="935831"/>
            <a:ext cx="8572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본사 및 현장 관리자 계정 생성 및 권한(RBAC) 부여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85750" y="1357313"/>
            <a:ext cx="5187451" cy="3582842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28625" y="1500188"/>
            <a:ext cx="2328863" cy="258961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" y="1564481"/>
            <a:ext cx="114300" cy="130373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33478" y="1500188"/>
            <a:ext cx="896848" cy="258961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7778" y="1579662"/>
            <a:ext cx="125016" cy="10001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729944" y="1557338"/>
            <a:ext cx="486082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관리자 등록</a:t>
            </a:r>
            <a:endParaRPr lang="en-US" sz="683" dirty="0"/>
          </a:p>
        </p:txBody>
      </p:sp>
      <p:sp>
        <p:nvSpPr>
          <p:cNvPr id="13" name="Shape 8"/>
          <p:cNvSpPr/>
          <p:nvPr/>
        </p:nvSpPr>
        <p:spPr>
          <a:xfrm>
            <a:off x="428625" y="1902023"/>
            <a:ext cx="763265" cy="314325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4" name="Shape 9"/>
          <p:cNvSpPr/>
          <p:nvPr/>
        </p:nvSpPr>
        <p:spPr>
          <a:xfrm>
            <a:off x="428625" y="2202061"/>
            <a:ext cx="763265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Text 10"/>
          <p:cNvSpPr/>
          <p:nvPr/>
        </p:nvSpPr>
        <p:spPr>
          <a:xfrm>
            <a:off x="428625" y="1902023"/>
            <a:ext cx="763265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이름</a:t>
            </a:r>
            <a:endParaRPr lang="en-US" sz="634" dirty="0"/>
          </a:p>
        </p:txBody>
      </p:sp>
      <p:sp>
        <p:nvSpPr>
          <p:cNvPr id="16" name="Shape 11"/>
          <p:cNvSpPr/>
          <p:nvPr/>
        </p:nvSpPr>
        <p:spPr>
          <a:xfrm>
            <a:off x="1191890" y="1902023"/>
            <a:ext cx="1623836" cy="314325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7" name="Shape 12"/>
          <p:cNvSpPr/>
          <p:nvPr/>
        </p:nvSpPr>
        <p:spPr>
          <a:xfrm>
            <a:off x="1191890" y="2202061"/>
            <a:ext cx="1623836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8" name="Text 13"/>
          <p:cNvSpPr/>
          <p:nvPr/>
        </p:nvSpPr>
        <p:spPr>
          <a:xfrm>
            <a:off x="1191890" y="1902023"/>
            <a:ext cx="1623836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이메일</a:t>
            </a:r>
            <a:endParaRPr lang="en-US" sz="634" dirty="0"/>
          </a:p>
        </p:txBody>
      </p:sp>
      <p:sp>
        <p:nvSpPr>
          <p:cNvPr id="19" name="Shape 14"/>
          <p:cNvSpPr/>
          <p:nvPr/>
        </p:nvSpPr>
        <p:spPr>
          <a:xfrm>
            <a:off x="2815726" y="1902023"/>
            <a:ext cx="956844" cy="314325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0" name="Shape 15"/>
          <p:cNvSpPr/>
          <p:nvPr/>
        </p:nvSpPr>
        <p:spPr>
          <a:xfrm>
            <a:off x="2815726" y="2202061"/>
            <a:ext cx="956844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1" name="Text 16"/>
          <p:cNvSpPr/>
          <p:nvPr/>
        </p:nvSpPr>
        <p:spPr>
          <a:xfrm>
            <a:off x="2815726" y="1902023"/>
            <a:ext cx="956844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권한 (Role)</a:t>
            </a:r>
            <a:endParaRPr lang="en-US" sz="634" dirty="0"/>
          </a:p>
        </p:txBody>
      </p:sp>
      <p:sp>
        <p:nvSpPr>
          <p:cNvPr id="22" name="Shape 17"/>
          <p:cNvSpPr/>
          <p:nvPr/>
        </p:nvSpPr>
        <p:spPr>
          <a:xfrm>
            <a:off x="3772570" y="1902023"/>
            <a:ext cx="902987" cy="314325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3" name="Shape 18"/>
          <p:cNvSpPr/>
          <p:nvPr/>
        </p:nvSpPr>
        <p:spPr>
          <a:xfrm>
            <a:off x="3772570" y="2202061"/>
            <a:ext cx="902987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4" name="Text 19"/>
          <p:cNvSpPr/>
          <p:nvPr/>
        </p:nvSpPr>
        <p:spPr>
          <a:xfrm>
            <a:off x="3772570" y="1902023"/>
            <a:ext cx="902987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담당 현장</a:t>
            </a:r>
            <a:endParaRPr lang="en-US" sz="634" dirty="0"/>
          </a:p>
        </p:txBody>
      </p:sp>
      <p:sp>
        <p:nvSpPr>
          <p:cNvPr id="25" name="Shape 20"/>
          <p:cNvSpPr/>
          <p:nvPr/>
        </p:nvSpPr>
        <p:spPr>
          <a:xfrm>
            <a:off x="4675556" y="1902023"/>
            <a:ext cx="654769" cy="314325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6" name="Shape 21"/>
          <p:cNvSpPr/>
          <p:nvPr/>
        </p:nvSpPr>
        <p:spPr>
          <a:xfrm>
            <a:off x="4675556" y="2202061"/>
            <a:ext cx="654769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7" name="Text 22"/>
          <p:cNvSpPr/>
          <p:nvPr/>
        </p:nvSpPr>
        <p:spPr>
          <a:xfrm>
            <a:off x="4675556" y="1902023"/>
            <a:ext cx="654769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4A3B8"/>
                </a:solidFill>
              </a:rPr>
              <a:t>관리</a:t>
            </a:r>
            <a:endParaRPr lang="en-US" sz="634" dirty="0"/>
          </a:p>
        </p:txBody>
      </p:sp>
      <p:sp>
        <p:nvSpPr>
          <p:cNvPr id="28" name="Text 23"/>
          <p:cNvSpPr/>
          <p:nvPr/>
        </p:nvSpPr>
        <p:spPr>
          <a:xfrm>
            <a:off x="514350" y="2303859"/>
            <a:ext cx="42720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1F5F9"/>
                </a:solidFill>
              </a:rPr>
              <a:t>최고관리자</a:t>
            </a:r>
            <a:endParaRPr lang="en-US" sz="634" dirty="0"/>
          </a:p>
        </p:txBody>
      </p:sp>
      <p:sp>
        <p:nvSpPr>
          <p:cNvPr id="29" name="Text 24"/>
          <p:cNvSpPr/>
          <p:nvPr/>
        </p:nvSpPr>
        <p:spPr>
          <a:xfrm>
            <a:off x="1191890" y="2209205"/>
            <a:ext cx="1623836" cy="31075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admin@smartcon.com</a:t>
            </a:r>
            <a:endParaRPr lang="en-US" sz="674" dirty="0"/>
          </a:p>
        </p:txBody>
      </p:sp>
      <p:sp>
        <p:nvSpPr>
          <p:cNvPr id="30" name="Shape 25"/>
          <p:cNvSpPr/>
          <p:nvPr/>
        </p:nvSpPr>
        <p:spPr>
          <a:xfrm>
            <a:off x="2901451" y="2285107"/>
            <a:ext cx="362238" cy="164306"/>
          </a:xfrm>
          <a:prstGeom prst="rect">
            <a:avLst/>
          </a:prstGeom>
          <a:solidFill>
            <a:srgbClr val="EF4444">
              <a:alpha val="20000"/>
            </a:srgbClr>
          </a:solidFill>
          <a:ln/>
        </p:spPr>
      </p:sp>
      <p:sp>
        <p:nvSpPr>
          <p:cNvPr id="31" name="Text 26"/>
          <p:cNvSpPr/>
          <p:nvPr/>
        </p:nvSpPr>
        <p:spPr>
          <a:xfrm>
            <a:off x="2901451" y="2285107"/>
            <a:ext cx="362238" cy="16430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EF4444"/>
                </a:solidFill>
              </a:rPr>
              <a:t>Super</a:t>
            </a:r>
            <a:endParaRPr lang="en-US" sz="534" dirty="0"/>
          </a:p>
        </p:txBody>
      </p:sp>
      <p:sp>
        <p:nvSpPr>
          <p:cNvPr id="32" name="Text 27"/>
          <p:cNvSpPr/>
          <p:nvPr/>
        </p:nvSpPr>
        <p:spPr>
          <a:xfrm>
            <a:off x="3772570" y="2209205"/>
            <a:ext cx="902987" cy="31075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-</a:t>
            </a:r>
            <a:endParaRPr lang="en-US" sz="674" dirty="0"/>
          </a:p>
        </p:txBody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1281" y="2317254"/>
            <a:ext cx="92869" cy="92869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428625" y="2519958"/>
            <a:ext cx="763265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김본사</a:t>
            </a:r>
            <a:endParaRPr lang="en-US" sz="674" dirty="0"/>
          </a:p>
        </p:txBody>
      </p:sp>
      <p:sp>
        <p:nvSpPr>
          <p:cNvPr id="35" name="Text 29"/>
          <p:cNvSpPr/>
          <p:nvPr/>
        </p:nvSpPr>
        <p:spPr>
          <a:xfrm>
            <a:off x="1191890" y="2519958"/>
            <a:ext cx="1623836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hq_kim@smartcon.com</a:t>
            </a:r>
            <a:endParaRPr lang="en-US" sz="674" dirty="0"/>
          </a:p>
        </p:txBody>
      </p:sp>
      <p:sp>
        <p:nvSpPr>
          <p:cNvPr id="36" name="Shape 30"/>
          <p:cNvSpPr/>
          <p:nvPr/>
        </p:nvSpPr>
        <p:spPr>
          <a:xfrm>
            <a:off x="2901451" y="2599432"/>
            <a:ext cx="538349" cy="164306"/>
          </a:xfrm>
          <a:prstGeom prst="rect">
            <a:avLst/>
          </a:prstGeom>
          <a:solidFill>
            <a:srgbClr val="3B82F6">
              <a:alpha val="20000"/>
            </a:srgbClr>
          </a:solidFill>
          <a:ln/>
        </p:spPr>
      </p:sp>
      <p:sp>
        <p:nvSpPr>
          <p:cNvPr id="37" name="Text 31"/>
          <p:cNvSpPr/>
          <p:nvPr/>
        </p:nvSpPr>
        <p:spPr>
          <a:xfrm>
            <a:off x="2901451" y="2599432"/>
            <a:ext cx="538349" cy="16430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3B82F6"/>
                </a:solidFill>
              </a:rPr>
              <a:t>HQ Admin</a:t>
            </a:r>
            <a:endParaRPr lang="en-US" sz="534" dirty="0"/>
          </a:p>
        </p:txBody>
      </p:sp>
      <p:sp>
        <p:nvSpPr>
          <p:cNvPr id="38" name="Text 32"/>
          <p:cNvSpPr/>
          <p:nvPr/>
        </p:nvSpPr>
        <p:spPr>
          <a:xfrm>
            <a:off x="3772570" y="2519958"/>
            <a:ext cx="902987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-</a:t>
            </a:r>
            <a:endParaRPr lang="en-US" sz="674" dirty="0"/>
          </a:p>
        </p:txBody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1281" y="2631579"/>
            <a:ext cx="92869" cy="92869"/>
          </a:xfrm>
          <a:prstGeom prst="rect">
            <a:avLst/>
          </a:prstGeom>
        </p:spPr>
      </p:pic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9754" y="2631579"/>
            <a:ext cx="82153" cy="92869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428625" y="2834283"/>
            <a:ext cx="763265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이현장</a:t>
            </a:r>
            <a:endParaRPr lang="en-US" sz="674" dirty="0"/>
          </a:p>
        </p:txBody>
      </p:sp>
      <p:sp>
        <p:nvSpPr>
          <p:cNvPr id="42" name="Text 34"/>
          <p:cNvSpPr/>
          <p:nvPr/>
        </p:nvSpPr>
        <p:spPr>
          <a:xfrm>
            <a:off x="1191890" y="2834283"/>
            <a:ext cx="1623836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site_lee@smartcon.com</a:t>
            </a:r>
            <a:endParaRPr lang="en-US" sz="674" dirty="0"/>
          </a:p>
        </p:txBody>
      </p:sp>
      <p:sp>
        <p:nvSpPr>
          <p:cNvPr id="43" name="Shape 35"/>
          <p:cNvSpPr/>
          <p:nvPr/>
        </p:nvSpPr>
        <p:spPr>
          <a:xfrm>
            <a:off x="2901451" y="2913757"/>
            <a:ext cx="579034" cy="164306"/>
          </a:xfrm>
          <a:prstGeom prst="rect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44" name="Text 36"/>
          <p:cNvSpPr/>
          <p:nvPr/>
        </p:nvSpPr>
        <p:spPr>
          <a:xfrm>
            <a:off x="2901451" y="2913757"/>
            <a:ext cx="579034" cy="16430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10B981"/>
                </a:solidFill>
              </a:rPr>
              <a:t>Site Admin</a:t>
            </a:r>
            <a:endParaRPr lang="en-US" sz="534" dirty="0"/>
          </a:p>
        </p:txBody>
      </p:sp>
      <p:sp>
        <p:nvSpPr>
          <p:cNvPr id="45" name="Text 37"/>
          <p:cNvSpPr/>
          <p:nvPr/>
        </p:nvSpPr>
        <p:spPr>
          <a:xfrm>
            <a:off x="3772570" y="2834283"/>
            <a:ext cx="902987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강남 오피스텔</a:t>
            </a:r>
            <a:endParaRPr lang="en-US" sz="674" dirty="0"/>
          </a:p>
        </p:txBody>
      </p:sp>
      <p:pic>
        <p:nvPicPr>
          <p:cNvPr id="4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1281" y="2945904"/>
            <a:ext cx="92869" cy="92869"/>
          </a:xfrm>
          <a:prstGeom prst="rect">
            <a:avLst/>
          </a:prstGeom>
        </p:spPr>
      </p:pic>
      <p:pic>
        <p:nvPicPr>
          <p:cNvPr id="4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49754" y="2945904"/>
            <a:ext cx="82153" cy="92869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428625" y="3148608"/>
            <a:ext cx="763265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박공무</a:t>
            </a:r>
            <a:endParaRPr lang="en-US" sz="674" dirty="0"/>
          </a:p>
        </p:txBody>
      </p:sp>
      <p:sp>
        <p:nvSpPr>
          <p:cNvPr id="49" name="Text 39"/>
          <p:cNvSpPr/>
          <p:nvPr/>
        </p:nvSpPr>
        <p:spPr>
          <a:xfrm>
            <a:off x="1191890" y="3148608"/>
            <a:ext cx="1623836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site_park@smartcon.com</a:t>
            </a:r>
            <a:endParaRPr lang="en-US" sz="674" dirty="0"/>
          </a:p>
        </p:txBody>
      </p:sp>
      <p:sp>
        <p:nvSpPr>
          <p:cNvPr id="50" name="Shape 40"/>
          <p:cNvSpPr/>
          <p:nvPr/>
        </p:nvSpPr>
        <p:spPr>
          <a:xfrm>
            <a:off x="2901451" y="3228082"/>
            <a:ext cx="579034" cy="164306"/>
          </a:xfrm>
          <a:prstGeom prst="rect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51" name="Text 41"/>
          <p:cNvSpPr/>
          <p:nvPr/>
        </p:nvSpPr>
        <p:spPr>
          <a:xfrm>
            <a:off x="2901451" y="3228082"/>
            <a:ext cx="579034" cy="16430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10B981"/>
                </a:solidFill>
              </a:rPr>
              <a:t>Site Admin</a:t>
            </a:r>
            <a:endParaRPr lang="en-US" sz="534" dirty="0"/>
          </a:p>
        </p:txBody>
      </p:sp>
      <p:sp>
        <p:nvSpPr>
          <p:cNvPr id="52" name="Text 42"/>
          <p:cNvSpPr/>
          <p:nvPr/>
        </p:nvSpPr>
        <p:spPr>
          <a:xfrm>
            <a:off x="3772570" y="3148608"/>
            <a:ext cx="902987" cy="3143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1F5F9"/>
                </a:solidFill>
              </a:rPr>
              <a:t>판교 테크노</a:t>
            </a:r>
            <a:endParaRPr lang="en-US" sz="674" dirty="0"/>
          </a:p>
        </p:txBody>
      </p:sp>
      <p:pic>
        <p:nvPicPr>
          <p:cNvPr id="5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61281" y="3260229"/>
            <a:ext cx="92869" cy="92869"/>
          </a:xfrm>
          <a:prstGeom prst="rect">
            <a:avLst/>
          </a:prstGeom>
        </p:spPr>
      </p:pic>
      <p:pic>
        <p:nvPicPr>
          <p:cNvPr id="5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49754" y="3260229"/>
            <a:ext cx="82153" cy="92869"/>
          </a:xfrm>
          <a:prstGeom prst="rect">
            <a:avLst/>
          </a:prstGeom>
        </p:spPr>
      </p:pic>
      <p:sp>
        <p:nvSpPr>
          <p:cNvPr id="55" name="Shape 43"/>
          <p:cNvSpPr/>
          <p:nvPr/>
        </p:nvSpPr>
        <p:spPr>
          <a:xfrm>
            <a:off x="1329268" y="1744973"/>
            <a:ext cx="3100388" cy="2807494"/>
          </a:xfrm>
          <a:prstGeom prst="rect">
            <a:avLst/>
          </a:prstGeom>
          <a:solidFill>
            <a:srgbClr val="0F172A"/>
          </a:solidFill>
          <a:ln w="9144">
            <a:solidFill>
              <a:srgbClr val="3B82F6"/>
            </a:solidFill>
            <a:prstDash val="solid"/>
          </a:ln>
        </p:spPr>
      </p:sp>
      <p:sp>
        <p:nvSpPr>
          <p:cNvPr id="56" name="Text 44"/>
          <p:cNvSpPr/>
          <p:nvPr/>
        </p:nvSpPr>
        <p:spPr>
          <a:xfrm>
            <a:off x="1450711" y="1866416"/>
            <a:ext cx="2857500" cy="242888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8FAFC"/>
                </a:solidFill>
              </a:rPr>
              <a:t>관리자 계정 등록</a:t>
            </a:r>
            <a:endParaRPr lang="en-US" sz="784" dirty="0"/>
          </a:p>
        </p:txBody>
      </p:sp>
      <p:sp>
        <p:nvSpPr>
          <p:cNvPr id="57" name="Text 45"/>
          <p:cNvSpPr/>
          <p:nvPr/>
        </p:nvSpPr>
        <p:spPr>
          <a:xfrm>
            <a:off x="1450711" y="2216460"/>
            <a:ext cx="285750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이름</a:t>
            </a:r>
            <a:endParaRPr lang="en-US" sz="621" dirty="0"/>
          </a:p>
        </p:txBody>
      </p:sp>
      <p:sp>
        <p:nvSpPr>
          <p:cNvPr id="58" name="Text 46"/>
          <p:cNvSpPr/>
          <p:nvPr/>
        </p:nvSpPr>
        <p:spPr>
          <a:xfrm>
            <a:off x="1450711" y="2693305"/>
            <a:ext cx="285750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이메일 (ID)</a:t>
            </a:r>
            <a:endParaRPr lang="en-US" sz="621" dirty="0"/>
          </a:p>
        </p:txBody>
      </p:sp>
      <p:sp>
        <p:nvSpPr>
          <p:cNvPr id="59" name="Text 47"/>
          <p:cNvSpPr/>
          <p:nvPr/>
        </p:nvSpPr>
        <p:spPr>
          <a:xfrm>
            <a:off x="1450711" y="3170151"/>
            <a:ext cx="285750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권한 선택</a:t>
            </a:r>
            <a:endParaRPr lang="en-US" sz="621" dirty="0"/>
          </a:p>
        </p:txBody>
      </p:sp>
      <p:sp>
        <p:nvSpPr>
          <p:cNvPr id="60" name="Shape 48"/>
          <p:cNvSpPr/>
          <p:nvPr/>
        </p:nvSpPr>
        <p:spPr>
          <a:xfrm>
            <a:off x="1450711" y="3325527"/>
            <a:ext cx="2857500" cy="246459"/>
          </a:xfrm>
          <a:prstGeom prst="rect">
            <a:avLst/>
          </a:prstGeom>
          <a:solidFill>
            <a:srgbClr val="1E293B"/>
          </a:solidFill>
          <a:ln w="9144">
            <a:solidFill>
              <a:srgbClr val="475569"/>
            </a:solidFill>
            <a:prstDash val="solid"/>
          </a:ln>
        </p:spPr>
      </p:sp>
      <p:sp>
        <p:nvSpPr>
          <p:cNvPr id="61" name="Text 49"/>
          <p:cNvSpPr/>
          <p:nvPr/>
        </p:nvSpPr>
        <p:spPr>
          <a:xfrm>
            <a:off x="1450711" y="3650568"/>
            <a:ext cx="285750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94A3B8"/>
                </a:solidFill>
              </a:rPr>
              <a:t>담당 현장 배정</a:t>
            </a:r>
            <a:endParaRPr lang="en-US" sz="621" dirty="0"/>
          </a:p>
        </p:txBody>
      </p:sp>
      <p:sp>
        <p:nvSpPr>
          <p:cNvPr id="62" name="Shape 50"/>
          <p:cNvSpPr/>
          <p:nvPr/>
        </p:nvSpPr>
        <p:spPr>
          <a:xfrm>
            <a:off x="1450711" y="3805944"/>
            <a:ext cx="2857500" cy="246459"/>
          </a:xfrm>
          <a:prstGeom prst="rect">
            <a:avLst/>
          </a:prstGeom>
          <a:solidFill>
            <a:srgbClr val="1E293B"/>
          </a:solidFill>
          <a:ln w="9144">
            <a:solidFill>
              <a:srgbClr val="475569"/>
            </a:solidFill>
            <a:prstDash val="solid"/>
          </a:ln>
        </p:spPr>
      </p:sp>
      <p:sp>
        <p:nvSpPr>
          <p:cNvPr id="63" name="Text 51"/>
          <p:cNvSpPr/>
          <p:nvPr/>
        </p:nvSpPr>
        <p:spPr>
          <a:xfrm>
            <a:off x="3500968" y="4188135"/>
            <a:ext cx="375047" cy="228600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91" dirty="0">
                <a:solidFill>
                  <a:srgbClr val="94A3B8"/>
                </a:solidFill>
              </a:rPr>
              <a:t>취소</a:t>
            </a:r>
            <a:endParaRPr lang="en-US" sz="691" dirty="0"/>
          </a:p>
        </p:txBody>
      </p:sp>
      <p:sp>
        <p:nvSpPr>
          <p:cNvPr id="64" name="Shape 52"/>
          <p:cNvSpPr/>
          <p:nvPr/>
        </p:nvSpPr>
        <p:spPr>
          <a:xfrm>
            <a:off x="3947452" y="4188135"/>
            <a:ext cx="360759" cy="2286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5" name="Text 53"/>
          <p:cNvSpPr/>
          <p:nvPr/>
        </p:nvSpPr>
        <p:spPr>
          <a:xfrm>
            <a:off x="3947452" y="4188135"/>
            <a:ext cx="360759" cy="228600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91" dirty="0">
                <a:solidFill>
                  <a:srgbClr val="FFFFFF"/>
                </a:solidFill>
              </a:rPr>
              <a:t>등록</a:t>
            </a:r>
            <a:endParaRPr lang="en-US" sz="691" dirty="0"/>
          </a:p>
        </p:txBody>
      </p:sp>
      <p:sp>
        <p:nvSpPr>
          <p:cNvPr id="66" name="Shape 54"/>
          <p:cNvSpPr/>
          <p:nvPr/>
        </p:nvSpPr>
        <p:spPr>
          <a:xfrm>
            <a:off x="5616076" y="1357313"/>
            <a:ext cx="3242174" cy="1391580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6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23232" y="1489472"/>
            <a:ext cx="114300" cy="114300"/>
          </a:xfrm>
          <a:prstGeom prst="rect">
            <a:avLst/>
          </a:prstGeom>
        </p:spPr>
      </p:pic>
      <p:sp>
        <p:nvSpPr>
          <p:cNvPr id="68" name="Text 55"/>
          <p:cNvSpPr/>
          <p:nvPr/>
        </p:nvSpPr>
        <p:spPr>
          <a:xfrm>
            <a:off x="5908970" y="1464469"/>
            <a:ext cx="106952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B82F6"/>
                </a:solidFill>
              </a:rPr>
              <a:t>권한 매트릭스 (RBAC)</a:t>
            </a:r>
            <a:endParaRPr lang="en-US" sz="784" dirty="0"/>
          </a:p>
        </p:txBody>
      </p:sp>
      <p:sp>
        <p:nvSpPr>
          <p:cNvPr id="69" name="Shape 56"/>
          <p:cNvSpPr/>
          <p:nvPr/>
        </p:nvSpPr>
        <p:spPr>
          <a:xfrm>
            <a:off x="5726804" y="1703784"/>
            <a:ext cx="610930" cy="230023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70" name="Text 57"/>
          <p:cNvSpPr/>
          <p:nvPr/>
        </p:nvSpPr>
        <p:spPr>
          <a:xfrm>
            <a:off x="5726804" y="1703784"/>
            <a:ext cx="610930" cy="230023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Role</a:t>
            </a:r>
            <a:endParaRPr lang="en-US" sz="584" dirty="0"/>
          </a:p>
        </p:txBody>
      </p:sp>
      <p:sp>
        <p:nvSpPr>
          <p:cNvPr id="71" name="Shape 58"/>
          <p:cNvSpPr/>
          <p:nvPr/>
        </p:nvSpPr>
        <p:spPr>
          <a:xfrm>
            <a:off x="6337734" y="1703784"/>
            <a:ext cx="740159" cy="230023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72" name="Text 59"/>
          <p:cNvSpPr/>
          <p:nvPr/>
        </p:nvSpPr>
        <p:spPr>
          <a:xfrm>
            <a:off x="6337734" y="1703784"/>
            <a:ext cx="740159" cy="230023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Scope</a:t>
            </a:r>
            <a:endParaRPr lang="en-US" sz="584" dirty="0"/>
          </a:p>
        </p:txBody>
      </p:sp>
      <p:sp>
        <p:nvSpPr>
          <p:cNvPr id="73" name="Shape 60"/>
          <p:cNvSpPr/>
          <p:nvPr/>
        </p:nvSpPr>
        <p:spPr>
          <a:xfrm>
            <a:off x="7077894" y="1703784"/>
            <a:ext cx="1669628" cy="230023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74" name="Text 61"/>
          <p:cNvSpPr/>
          <p:nvPr/>
        </p:nvSpPr>
        <p:spPr>
          <a:xfrm>
            <a:off x="7077894" y="1703784"/>
            <a:ext cx="1669628" cy="230023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94A3B8"/>
                </a:solidFill>
              </a:rPr>
              <a:t>주요 권한</a:t>
            </a:r>
            <a:endParaRPr lang="en-US" sz="584" dirty="0"/>
          </a:p>
        </p:txBody>
      </p:sp>
      <p:sp>
        <p:nvSpPr>
          <p:cNvPr id="75" name="Text 62"/>
          <p:cNvSpPr/>
          <p:nvPr/>
        </p:nvSpPr>
        <p:spPr>
          <a:xfrm>
            <a:off x="5726804" y="1926664"/>
            <a:ext cx="610930" cy="230023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EF4444"/>
                </a:solidFill>
              </a:rPr>
              <a:t>SUPER</a:t>
            </a:r>
            <a:endParaRPr lang="en-US" sz="621" dirty="0"/>
          </a:p>
        </p:txBody>
      </p:sp>
      <p:sp>
        <p:nvSpPr>
          <p:cNvPr id="76" name="Text 63"/>
          <p:cNvSpPr/>
          <p:nvPr/>
        </p:nvSpPr>
        <p:spPr>
          <a:xfrm>
            <a:off x="6337734" y="1926664"/>
            <a:ext cx="740159" cy="230023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전체</a:t>
            </a:r>
            <a:endParaRPr lang="en-US" sz="621" dirty="0"/>
          </a:p>
        </p:txBody>
      </p:sp>
      <p:sp>
        <p:nvSpPr>
          <p:cNvPr id="77" name="Text 64"/>
          <p:cNvSpPr/>
          <p:nvPr/>
        </p:nvSpPr>
        <p:spPr>
          <a:xfrm>
            <a:off x="7077894" y="1926664"/>
            <a:ext cx="1669628" cy="230023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관리자 생성, 시스템 설정</a:t>
            </a:r>
            <a:endParaRPr lang="en-US" sz="621" dirty="0"/>
          </a:p>
        </p:txBody>
      </p:sp>
      <p:sp>
        <p:nvSpPr>
          <p:cNvPr id="78" name="Text 65"/>
          <p:cNvSpPr/>
          <p:nvPr/>
        </p:nvSpPr>
        <p:spPr>
          <a:xfrm>
            <a:off x="5726804" y="2156687"/>
            <a:ext cx="610930" cy="230023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3B82F6"/>
                </a:solidFill>
              </a:rPr>
              <a:t>HQ</a:t>
            </a:r>
            <a:endParaRPr lang="en-US" sz="621" dirty="0"/>
          </a:p>
        </p:txBody>
      </p:sp>
      <p:sp>
        <p:nvSpPr>
          <p:cNvPr id="79" name="Text 66"/>
          <p:cNvSpPr/>
          <p:nvPr/>
        </p:nvSpPr>
        <p:spPr>
          <a:xfrm>
            <a:off x="6337734" y="2156687"/>
            <a:ext cx="740159" cy="230023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전사</a:t>
            </a:r>
            <a:endParaRPr lang="en-US" sz="621" dirty="0"/>
          </a:p>
        </p:txBody>
      </p:sp>
      <p:sp>
        <p:nvSpPr>
          <p:cNvPr id="80" name="Text 67"/>
          <p:cNvSpPr/>
          <p:nvPr/>
        </p:nvSpPr>
        <p:spPr>
          <a:xfrm>
            <a:off x="7077894" y="2156687"/>
            <a:ext cx="1669628" cy="230023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현장 생성, 정산 승인</a:t>
            </a:r>
            <a:endParaRPr lang="en-US" sz="621" dirty="0"/>
          </a:p>
        </p:txBody>
      </p:sp>
      <p:sp>
        <p:nvSpPr>
          <p:cNvPr id="81" name="Text 68"/>
          <p:cNvSpPr/>
          <p:nvPr/>
        </p:nvSpPr>
        <p:spPr>
          <a:xfrm>
            <a:off x="5726804" y="2386710"/>
            <a:ext cx="610930" cy="230023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SITE</a:t>
            </a:r>
            <a:endParaRPr lang="en-US" sz="621" dirty="0"/>
          </a:p>
        </p:txBody>
      </p:sp>
      <p:sp>
        <p:nvSpPr>
          <p:cNvPr id="82" name="Text 69"/>
          <p:cNvSpPr/>
          <p:nvPr/>
        </p:nvSpPr>
        <p:spPr>
          <a:xfrm>
            <a:off x="6337734" y="2386710"/>
            <a:ext cx="740159" cy="230023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배정 현장</a:t>
            </a:r>
            <a:endParaRPr lang="en-US" sz="621" dirty="0"/>
          </a:p>
        </p:txBody>
      </p:sp>
      <p:sp>
        <p:nvSpPr>
          <p:cNvPr id="83" name="Text 70"/>
          <p:cNvSpPr/>
          <p:nvPr/>
        </p:nvSpPr>
        <p:spPr>
          <a:xfrm>
            <a:off x="7077894" y="2386710"/>
            <a:ext cx="1669628" cy="230023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출역 관리, 노무자 계약</a:t>
            </a:r>
            <a:endParaRPr lang="en-US" sz="621" dirty="0"/>
          </a:p>
        </p:txBody>
      </p:sp>
      <p:sp>
        <p:nvSpPr>
          <p:cNvPr id="84" name="Shape 71"/>
          <p:cNvSpPr/>
          <p:nvPr/>
        </p:nvSpPr>
        <p:spPr>
          <a:xfrm>
            <a:off x="5616076" y="2870336"/>
            <a:ext cx="3242174" cy="910047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8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23232" y="3002496"/>
            <a:ext cx="142875" cy="114300"/>
          </a:xfrm>
          <a:prstGeom prst="rect">
            <a:avLst/>
          </a:prstGeom>
        </p:spPr>
      </p:pic>
      <p:sp>
        <p:nvSpPr>
          <p:cNvPr id="86" name="Text 72"/>
          <p:cNvSpPr/>
          <p:nvPr/>
        </p:nvSpPr>
        <p:spPr>
          <a:xfrm>
            <a:off x="5937545" y="2977493"/>
            <a:ext cx="69037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B82F6"/>
                </a:solidFill>
              </a:rPr>
              <a:t>계정 생성 로직</a:t>
            </a:r>
            <a:endParaRPr lang="en-US" sz="784" dirty="0"/>
          </a:p>
        </p:txBody>
      </p:sp>
      <p:sp>
        <p:nvSpPr>
          <p:cNvPr id="87" name="Text 73"/>
          <p:cNvSpPr/>
          <p:nvPr/>
        </p:nvSpPr>
        <p:spPr>
          <a:xfrm>
            <a:off x="5723232" y="3213236"/>
            <a:ext cx="3027862" cy="4457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이메일 중복 체크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: 가입된 이메일 여부 확인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비밀번호 초기화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: 생성 시 임시 비밀번호 발급 및 이메일 발송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CBD5E1"/>
                </a:solidFill>
              </a:rPr>
              <a:t>현장 매핑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CBD5E1"/>
                </a:solidFill>
              </a:rPr>
              <a:t>: Site Admin은 반드시 1개 이상의 현장과 매핑되어야 함</a:t>
            </a:r>
            <a:endParaRPr lang="en-US" sz="674" dirty="0"/>
          </a:p>
        </p:txBody>
      </p:sp>
      <p:sp>
        <p:nvSpPr>
          <p:cNvPr id="88" name="Shape 74"/>
          <p:cNvSpPr/>
          <p:nvPr/>
        </p:nvSpPr>
        <p:spPr>
          <a:xfrm>
            <a:off x="5616076" y="3908971"/>
            <a:ext cx="3242174" cy="995465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89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23232" y="4036665"/>
            <a:ext cx="142875" cy="114300"/>
          </a:xfrm>
          <a:prstGeom prst="rect">
            <a:avLst/>
          </a:prstGeom>
        </p:spPr>
      </p:pic>
      <p:sp>
        <p:nvSpPr>
          <p:cNvPr id="90" name="Text 75"/>
          <p:cNvSpPr/>
          <p:nvPr/>
        </p:nvSpPr>
        <p:spPr>
          <a:xfrm>
            <a:off x="5937545" y="4016127"/>
            <a:ext cx="95851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B82F6"/>
                </a:solidFill>
              </a:rPr>
              <a:t>API Specification</a:t>
            </a:r>
            <a:endParaRPr lang="en-US" sz="784" dirty="0"/>
          </a:p>
        </p:txBody>
      </p:sp>
      <p:sp>
        <p:nvSpPr>
          <p:cNvPr id="91" name="Shape 76"/>
          <p:cNvSpPr/>
          <p:nvPr/>
        </p:nvSpPr>
        <p:spPr>
          <a:xfrm>
            <a:off x="5723232" y="4242941"/>
            <a:ext cx="3027862" cy="540051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92" name="Text 77"/>
          <p:cNvSpPr/>
          <p:nvPr/>
        </p:nvSpPr>
        <p:spPr>
          <a:xfrm>
            <a:off x="5723232" y="4242941"/>
            <a:ext cx="3027862" cy="54005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POST /api/admin/users { "email": "user@domain.com", "name": "홍길동", "role": "ROLE_SITE_ADMIN", "siteId": 101 }</a:t>
            </a:r>
            <a:endParaRPr lang="en-US" sz="62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8636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8715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1285875"/>
            <a:ext cx="85725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428625"/>
            <a:ext cx="857250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spc="-1" kern="0" dirty="0">
                <a:solidFill>
                  <a:srgbClr val="3B82F6"/>
                </a:solidFill>
              </a:rPr>
              <a:t>[현장] 현장 대시보드 (Mobile Web)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285750" y="935831"/>
            <a:ext cx="8572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현장 관리자용 모바일 메인 화면: 날씨, 출역 현황, 공지사항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811988" y="1357313"/>
            <a:ext cx="2400300" cy="3671888"/>
          </a:xfrm>
          <a:prstGeom prst="rect">
            <a:avLst/>
          </a:prstGeom>
          <a:solidFill>
            <a:srgbClr val="000000"/>
          </a:solidFill>
          <a:ln w="54864">
            <a:solidFill>
              <a:srgbClr val="33415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840813" y="1928813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6"/>
          <p:cNvSpPr/>
          <p:nvPr/>
        </p:nvSpPr>
        <p:spPr>
          <a:xfrm>
            <a:off x="2840813" y="1928813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10" name="Shape 7"/>
          <p:cNvSpPr/>
          <p:nvPr/>
        </p:nvSpPr>
        <p:spPr>
          <a:xfrm>
            <a:off x="2840813" y="2500313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8"/>
          <p:cNvSpPr/>
          <p:nvPr/>
        </p:nvSpPr>
        <p:spPr>
          <a:xfrm>
            <a:off x="2840813" y="2500313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12" name="Shape 9"/>
          <p:cNvSpPr/>
          <p:nvPr/>
        </p:nvSpPr>
        <p:spPr>
          <a:xfrm>
            <a:off x="2840813" y="3500438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3" name="Text 10"/>
          <p:cNvSpPr/>
          <p:nvPr/>
        </p:nvSpPr>
        <p:spPr>
          <a:xfrm>
            <a:off x="2840813" y="3500438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14" name="Shape 11"/>
          <p:cNvSpPr/>
          <p:nvPr/>
        </p:nvSpPr>
        <p:spPr>
          <a:xfrm>
            <a:off x="869138" y="1357313"/>
            <a:ext cx="2286000" cy="35575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Shape 12"/>
          <p:cNvSpPr/>
          <p:nvPr/>
        </p:nvSpPr>
        <p:spPr>
          <a:xfrm>
            <a:off x="869138" y="1357313"/>
            <a:ext cx="2286000" cy="378619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3"/>
          <p:cNvSpPr/>
          <p:nvPr/>
        </p:nvSpPr>
        <p:spPr>
          <a:xfrm>
            <a:off x="976294" y="1464469"/>
            <a:ext cx="795551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강남 더샵 팰리스</a:t>
            </a:r>
            <a:endParaRPr lang="en-US" sz="784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7969" y="1489472"/>
            <a:ext cx="100013" cy="11430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954863" y="1821656"/>
            <a:ext cx="2114550" cy="532209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588" y="2002036"/>
            <a:ext cx="171450" cy="17145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83475" y="1907381"/>
            <a:ext cx="55232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4155"/>
                </a:solidFill>
              </a:rPr>
              <a:t>24°C</a:t>
            </a:r>
            <a:endParaRPr lang="en-US" sz="1193" dirty="0"/>
          </a:p>
        </p:txBody>
      </p:sp>
      <p:sp>
        <p:nvSpPr>
          <p:cNvPr id="21" name="Text 16"/>
          <p:cNvSpPr/>
          <p:nvPr/>
        </p:nvSpPr>
        <p:spPr>
          <a:xfrm>
            <a:off x="1283475" y="2141339"/>
            <a:ext cx="55232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맑음, 습도 45%</a:t>
            </a:r>
            <a:endParaRPr lang="en-US" sz="621" dirty="0"/>
          </a:p>
        </p:txBody>
      </p:sp>
      <p:sp>
        <p:nvSpPr>
          <p:cNvPr id="22" name="Text 17"/>
          <p:cNvSpPr/>
          <p:nvPr/>
        </p:nvSpPr>
        <p:spPr>
          <a:xfrm>
            <a:off x="2601776" y="1973461"/>
            <a:ext cx="381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94A3B8"/>
                </a:solidFill>
              </a:rPr>
              <a:t>서울 강남구</a:t>
            </a:r>
            <a:pPr algn="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94A3B8"/>
                </a:solidFill>
              </a:rPr>
              <a:t>
</a:t>
            </a:r>
            <a:pPr algn="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94A3B8"/>
                </a:solidFill>
              </a:rPr>
              <a:t>10:30 기준</a:t>
            </a:r>
            <a:endParaRPr lang="en-US" sz="568" dirty="0"/>
          </a:p>
        </p:txBody>
      </p:sp>
      <p:sp>
        <p:nvSpPr>
          <p:cNvPr id="23" name="Shape 18"/>
          <p:cNvSpPr/>
          <p:nvPr/>
        </p:nvSpPr>
        <p:spPr>
          <a:xfrm>
            <a:off x="954863" y="2439591"/>
            <a:ext cx="1028700" cy="54113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19"/>
          <p:cNvSpPr/>
          <p:nvPr/>
        </p:nvSpPr>
        <p:spPr>
          <a:xfrm>
            <a:off x="1040588" y="2525316"/>
            <a:ext cx="85725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총 출역</a:t>
            </a:r>
            <a:endParaRPr lang="en-US" sz="621" dirty="0"/>
          </a:p>
        </p:txBody>
      </p:sp>
      <p:sp>
        <p:nvSpPr>
          <p:cNvPr id="25" name="Text 20"/>
          <p:cNvSpPr/>
          <p:nvPr/>
        </p:nvSpPr>
        <p:spPr>
          <a:xfrm>
            <a:off x="1040588" y="2687836"/>
            <a:ext cx="8572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B82F6"/>
                </a:solidFill>
              </a:rPr>
              <a:t>45명</a:t>
            </a:r>
            <a:endParaRPr lang="en-US" sz="987" dirty="0"/>
          </a:p>
        </p:txBody>
      </p:sp>
      <p:sp>
        <p:nvSpPr>
          <p:cNvPr id="26" name="Shape 21"/>
          <p:cNvSpPr/>
          <p:nvPr/>
        </p:nvSpPr>
        <p:spPr>
          <a:xfrm>
            <a:off x="2040713" y="2439591"/>
            <a:ext cx="1028700" cy="54113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2"/>
          <p:cNvSpPr/>
          <p:nvPr/>
        </p:nvSpPr>
        <p:spPr>
          <a:xfrm>
            <a:off x="2126438" y="2525316"/>
            <a:ext cx="85725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승인 대기</a:t>
            </a:r>
            <a:endParaRPr lang="en-US" sz="621" dirty="0"/>
          </a:p>
        </p:txBody>
      </p:sp>
      <p:sp>
        <p:nvSpPr>
          <p:cNvPr id="28" name="Text 23"/>
          <p:cNvSpPr/>
          <p:nvPr/>
        </p:nvSpPr>
        <p:spPr>
          <a:xfrm>
            <a:off x="2126438" y="2687836"/>
            <a:ext cx="8572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EF4444"/>
                </a:solidFill>
              </a:rPr>
              <a:t>5명</a:t>
            </a:r>
            <a:endParaRPr lang="en-US" sz="987" dirty="0"/>
          </a:p>
        </p:txBody>
      </p:sp>
      <p:sp>
        <p:nvSpPr>
          <p:cNvPr id="29" name="Shape 24"/>
          <p:cNvSpPr/>
          <p:nvPr/>
        </p:nvSpPr>
        <p:spPr>
          <a:xfrm>
            <a:off x="954863" y="3066455"/>
            <a:ext cx="2114550" cy="1762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5"/>
          <p:cNvSpPr/>
          <p:nvPr/>
        </p:nvSpPr>
        <p:spPr>
          <a:xfrm>
            <a:off x="1026300" y="3137892"/>
            <a:ext cx="578086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E293B"/>
                </a:solidFill>
              </a:rPr>
              <a:t>현장 공지사항</a:t>
            </a:r>
            <a:endParaRPr lang="en-US" sz="683" dirty="0"/>
          </a:p>
        </p:txBody>
      </p:sp>
      <p:sp>
        <p:nvSpPr>
          <p:cNvPr id="31" name="Text 26"/>
          <p:cNvSpPr/>
          <p:nvPr/>
        </p:nvSpPr>
        <p:spPr>
          <a:xfrm>
            <a:off x="2715685" y="3137892"/>
            <a:ext cx="282290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64748B"/>
                </a:solidFill>
              </a:rPr>
              <a:t>더보기 &gt;</a:t>
            </a:r>
            <a:endParaRPr lang="en-US" sz="534" dirty="0"/>
          </a:p>
        </p:txBody>
      </p:sp>
      <p:sp>
        <p:nvSpPr>
          <p:cNvPr id="32" name="Shape 27"/>
          <p:cNvSpPr/>
          <p:nvPr/>
        </p:nvSpPr>
        <p:spPr>
          <a:xfrm>
            <a:off x="1026300" y="3396853"/>
            <a:ext cx="217187" cy="132159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3" name="Text 28"/>
          <p:cNvSpPr/>
          <p:nvPr/>
        </p:nvSpPr>
        <p:spPr>
          <a:xfrm>
            <a:off x="1026300" y="3396853"/>
            <a:ext cx="217187" cy="132159"/>
          </a:xfrm>
          <a:prstGeom prst="rect">
            <a:avLst/>
          </a:prstGeom>
          <a:noFill/>
          <a:ln/>
        </p:spPr>
        <p:txBody>
          <a:bodyPr wrap="square" lIns="51054" tIns="17018" rIns="51054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FFFFFF"/>
                </a:solidFill>
              </a:rPr>
              <a:t>필독</a:t>
            </a:r>
            <a:endParaRPr lang="en-US" sz="516" dirty="0"/>
          </a:p>
        </p:txBody>
      </p:sp>
      <p:sp>
        <p:nvSpPr>
          <p:cNvPr id="34" name="Text 29"/>
          <p:cNvSpPr/>
          <p:nvPr/>
        </p:nvSpPr>
        <p:spPr>
          <a:xfrm>
            <a:off x="1300637" y="3396853"/>
            <a:ext cx="1170849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E293B"/>
                </a:solidFill>
              </a:rPr>
              <a:t>[안전] 동절기 콘크리트 타설 주의</a:t>
            </a:r>
            <a:endParaRPr lang="en-US" sz="621" dirty="0"/>
          </a:p>
        </p:txBody>
      </p:sp>
      <p:sp>
        <p:nvSpPr>
          <p:cNvPr id="35" name="Shape 30"/>
          <p:cNvSpPr/>
          <p:nvPr/>
        </p:nvSpPr>
        <p:spPr>
          <a:xfrm>
            <a:off x="1026300" y="3650456"/>
            <a:ext cx="217187" cy="132159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6" name="Text 31"/>
          <p:cNvSpPr/>
          <p:nvPr/>
        </p:nvSpPr>
        <p:spPr>
          <a:xfrm>
            <a:off x="1026300" y="3650456"/>
            <a:ext cx="217187" cy="132159"/>
          </a:xfrm>
          <a:prstGeom prst="rect">
            <a:avLst/>
          </a:prstGeom>
          <a:noFill/>
          <a:ln/>
        </p:spPr>
        <p:txBody>
          <a:bodyPr wrap="square" lIns="51054" tIns="17018" rIns="51054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FFFFFF"/>
                </a:solidFill>
              </a:rPr>
              <a:t>공지</a:t>
            </a:r>
            <a:endParaRPr lang="en-US" sz="516" dirty="0"/>
          </a:p>
        </p:txBody>
      </p:sp>
      <p:sp>
        <p:nvSpPr>
          <p:cNvPr id="37" name="Text 32"/>
          <p:cNvSpPr/>
          <p:nvPr/>
        </p:nvSpPr>
        <p:spPr>
          <a:xfrm>
            <a:off x="1300637" y="3650456"/>
            <a:ext cx="979001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E293B"/>
                </a:solidFill>
              </a:rPr>
              <a:t>설 연휴 기간 작업 일정 안내</a:t>
            </a:r>
            <a:endParaRPr lang="en-US" sz="621" dirty="0"/>
          </a:p>
        </p:txBody>
      </p:sp>
      <p:sp>
        <p:nvSpPr>
          <p:cNvPr id="38" name="Shape 33"/>
          <p:cNvSpPr/>
          <p:nvPr/>
        </p:nvSpPr>
        <p:spPr>
          <a:xfrm>
            <a:off x="4024303" y="1357313"/>
            <a:ext cx="4833919" cy="1011175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4124316" y="1480542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0" name="Text 35"/>
          <p:cNvSpPr/>
          <p:nvPr/>
        </p:nvSpPr>
        <p:spPr>
          <a:xfrm>
            <a:off x="4124316" y="1480542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1</a:t>
            </a:r>
            <a:endParaRPr lang="en-US" sz="534" dirty="0"/>
          </a:p>
        </p:txBody>
      </p:sp>
      <p:sp>
        <p:nvSpPr>
          <p:cNvPr id="41" name="Text 36"/>
          <p:cNvSpPr/>
          <p:nvPr/>
        </p:nvSpPr>
        <p:spPr>
          <a:xfrm>
            <a:off x="4395778" y="1457325"/>
            <a:ext cx="1668959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날씨 정보 (Weather Widget)</a:t>
            </a:r>
            <a:endParaRPr lang="en-US" sz="885" dirty="0"/>
          </a:p>
        </p:txBody>
      </p:sp>
      <p:sp>
        <p:nvSpPr>
          <p:cNvPr id="42" name="Text 37"/>
          <p:cNvSpPr/>
          <p:nvPr/>
        </p:nvSpPr>
        <p:spPr>
          <a:xfrm>
            <a:off x="4124316" y="1703784"/>
            <a:ext cx="463389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데이터 소스: 기상청 또는 OpenWeatherMap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갱신: 30분 캐싱 (Redis)</a:t>
            </a:r>
            <a:endParaRPr lang="en-US" sz="727" dirty="0"/>
          </a:p>
        </p:txBody>
      </p:sp>
      <p:sp>
        <p:nvSpPr>
          <p:cNvPr id="43" name="Shape 38"/>
          <p:cNvSpPr/>
          <p:nvPr/>
        </p:nvSpPr>
        <p:spPr>
          <a:xfrm>
            <a:off x="4124316" y="2080952"/>
            <a:ext cx="1987162" cy="173236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</p:sp>
      <p:sp>
        <p:nvSpPr>
          <p:cNvPr id="44" name="Text 39"/>
          <p:cNvSpPr/>
          <p:nvPr/>
        </p:nvSpPr>
        <p:spPr>
          <a:xfrm>
            <a:off x="4124316" y="2080952"/>
            <a:ext cx="1987162" cy="17323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GET /api/common/weather?lat={lat}&amp;lon={lon}</a:t>
            </a:r>
            <a:endParaRPr lang="en-US" sz="621" dirty="0"/>
          </a:p>
        </p:txBody>
      </p:sp>
      <p:sp>
        <p:nvSpPr>
          <p:cNvPr id="45" name="Shape 40"/>
          <p:cNvSpPr/>
          <p:nvPr/>
        </p:nvSpPr>
        <p:spPr>
          <a:xfrm>
            <a:off x="4024303" y="2439925"/>
            <a:ext cx="4833919" cy="1011175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4124316" y="2563155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7" name="Text 42"/>
          <p:cNvSpPr/>
          <p:nvPr/>
        </p:nvSpPr>
        <p:spPr>
          <a:xfrm>
            <a:off x="4124316" y="2563155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2</a:t>
            </a:r>
            <a:endParaRPr lang="en-US" sz="534" dirty="0"/>
          </a:p>
        </p:txBody>
      </p:sp>
      <p:sp>
        <p:nvSpPr>
          <p:cNvPr id="48" name="Text 43"/>
          <p:cNvSpPr/>
          <p:nvPr/>
        </p:nvSpPr>
        <p:spPr>
          <a:xfrm>
            <a:off x="4395778" y="2539938"/>
            <a:ext cx="1731439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금일 출역 현황 (Today's Stats)</a:t>
            </a:r>
            <a:endParaRPr lang="en-US" sz="885" dirty="0"/>
          </a:p>
        </p:txBody>
      </p:sp>
      <p:sp>
        <p:nvSpPr>
          <p:cNvPr id="49" name="Text 44"/>
          <p:cNvSpPr/>
          <p:nvPr/>
        </p:nvSpPr>
        <p:spPr>
          <a:xfrm>
            <a:off x="4124316" y="2786397"/>
            <a:ext cx="463389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집계: 당일 00:00~현재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승인 대기: 팀장 요청 중 미승인 건수</a:t>
            </a:r>
            <a:endParaRPr lang="en-US" sz="727" dirty="0"/>
          </a:p>
        </p:txBody>
      </p:sp>
      <p:sp>
        <p:nvSpPr>
          <p:cNvPr id="50" name="Shape 45"/>
          <p:cNvSpPr/>
          <p:nvPr/>
        </p:nvSpPr>
        <p:spPr>
          <a:xfrm>
            <a:off x="4124316" y="3163565"/>
            <a:ext cx="1313362" cy="173236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</p:sp>
      <p:sp>
        <p:nvSpPr>
          <p:cNvPr id="51" name="Text 46"/>
          <p:cNvSpPr/>
          <p:nvPr/>
        </p:nvSpPr>
        <p:spPr>
          <a:xfrm>
            <a:off x="4124316" y="3163565"/>
            <a:ext cx="1313362" cy="17323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GET /api/site/dashboard/stats</a:t>
            </a:r>
            <a:endParaRPr lang="en-US" sz="621" dirty="0"/>
          </a:p>
        </p:txBody>
      </p:sp>
      <p:sp>
        <p:nvSpPr>
          <p:cNvPr id="52" name="Shape 47"/>
          <p:cNvSpPr/>
          <p:nvPr/>
        </p:nvSpPr>
        <p:spPr>
          <a:xfrm>
            <a:off x="4024303" y="3522538"/>
            <a:ext cx="4833919" cy="1011175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53" name="Shape 48"/>
          <p:cNvSpPr/>
          <p:nvPr/>
        </p:nvSpPr>
        <p:spPr>
          <a:xfrm>
            <a:off x="4124316" y="3645768"/>
            <a:ext cx="142875" cy="14287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4" name="Text 49"/>
          <p:cNvSpPr/>
          <p:nvPr/>
        </p:nvSpPr>
        <p:spPr>
          <a:xfrm>
            <a:off x="4124316" y="3645768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3</a:t>
            </a:r>
            <a:endParaRPr lang="en-US" sz="534" dirty="0"/>
          </a:p>
        </p:txBody>
      </p:sp>
      <p:sp>
        <p:nvSpPr>
          <p:cNvPr id="55" name="Text 50"/>
          <p:cNvSpPr/>
          <p:nvPr/>
        </p:nvSpPr>
        <p:spPr>
          <a:xfrm>
            <a:off x="4395778" y="3622551"/>
            <a:ext cx="107898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공지사항 (Notices)</a:t>
            </a:r>
            <a:endParaRPr lang="en-US" sz="885" dirty="0"/>
          </a:p>
        </p:txBody>
      </p:sp>
      <p:sp>
        <p:nvSpPr>
          <p:cNvPr id="56" name="Text 51"/>
          <p:cNvSpPr/>
          <p:nvPr/>
        </p:nvSpPr>
        <p:spPr>
          <a:xfrm>
            <a:off x="4124316" y="3869010"/>
            <a:ext cx="463389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필터: 본사 전체 + 해당 현장 공지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UI: 최근 3건 노출(클릭 시 상세 팝업)</a:t>
            </a:r>
            <a:endParaRPr lang="en-US" sz="727" dirty="0"/>
          </a:p>
        </p:txBody>
      </p:sp>
      <p:sp>
        <p:nvSpPr>
          <p:cNvPr id="57" name="Shape 52"/>
          <p:cNvSpPr/>
          <p:nvPr/>
        </p:nvSpPr>
        <p:spPr>
          <a:xfrm>
            <a:off x="4124316" y="4246178"/>
            <a:ext cx="1256602" cy="173236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</p:sp>
      <p:sp>
        <p:nvSpPr>
          <p:cNvPr id="58" name="Text 53"/>
          <p:cNvSpPr/>
          <p:nvPr/>
        </p:nvSpPr>
        <p:spPr>
          <a:xfrm>
            <a:off x="4124316" y="4246178"/>
            <a:ext cx="1256602" cy="17323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GET /api/site/notices?limit=3</a:t>
            </a:r>
            <a:endParaRPr lang="en-US" sz="62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8001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1214438"/>
            <a:ext cx="85725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428625"/>
            <a:ext cx="857250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spc="-1" kern="0" dirty="0">
                <a:solidFill>
                  <a:srgbClr val="3B82F6"/>
                </a:solidFill>
              </a:rPr>
              <a:t>[현장] 실시간 출역 모니터링 (Mobile Web)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285750" y="935831"/>
            <a:ext cx="8572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GPS 및 안면인식 기반 실시간 출근/퇴근 현황 확인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850078" y="1300163"/>
            <a:ext cx="2371725" cy="3371850"/>
          </a:xfrm>
          <a:prstGeom prst="rect">
            <a:avLst/>
          </a:prstGeom>
          <a:solidFill>
            <a:srgbClr val="000000"/>
          </a:solidFill>
          <a:ln w="45720">
            <a:solidFill>
              <a:srgbClr val="33415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878903" y="2085975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6"/>
          <p:cNvSpPr/>
          <p:nvPr/>
        </p:nvSpPr>
        <p:spPr>
          <a:xfrm>
            <a:off x="2878903" y="2085975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10" name="Shape 7"/>
          <p:cNvSpPr/>
          <p:nvPr/>
        </p:nvSpPr>
        <p:spPr>
          <a:xfrm>
            <a:off x="2878903" y="2657475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8"/>
          <p:cNvSpPr/>
          <p:nvPr/>
        </p:nvSpPr>
        <p:spPr>
          <a:xfrm>
            <a:off x="2878903" y="2657475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12" name="Shape 9"/>
          <p:cNvSpPr/>
          <p:nvPr/>
        </p:nvSpPr>
        <p:spPr>
          <a:xfrm>
            <a:off x="2878903" y="3228975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3" name="Text 10"/>
          <p:cNvSpPr/>
          <p:nvPr/>
        </p:nvSpPr>
        <p:spPr>
          <a:xfrm>
            <a:off x="2878903" y="3228975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14" name="Shape 11"/>
          <p:cNvSpPr/>
          <p:nvPr/>
        </p:nvSpPr>
        <p:spPr>
          <a:xfrm>
            <a:off x="892941" y="1300163"/>
            <a:ext cx="2286000" cy="32861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Shape 12"/>
          <p:cNvSpPr/>
          <p:nvPr/>
        </p:nvSpPr>
        <p:spPr>
          <a:xfrm>
            <a:off x="892941" y="1300163"/>
            <a:ext cx="2286000" cy="307181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378" y="1396603"/>
            <a:ext cx="100013" cy="1143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631007" y="1371600"/>
            <a:ext cx="795551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실시간 출역 현황</a:t>
            </a:r>
            <a:endParaRPr lang="en-US" sz="784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3175" y="1396603"/>
            <a:ext cx="114300" cy="1143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892941" y="1607344"/>
            <a:ext cx="2286000" cy="2803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5"/>
          <p:cNvSpPr/>
          <p:nvPr/>
        </p:nvSpPr>
        <p:spPr>
          <a:xfrm>
            <a:off x="892941" y="1880592"/>
            <a:ext cx="228600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Text 16"/>
          <p:cNvSpPr/>
          <p:nvPr/>
        </p:nvSpPr>
        <p:spPr>
          <a:xfrm>
            <a:off x="892941" y="1607344"/>
            <a:ext cx="762009" cy="273248"/>
          </a:xfrm>
          <a:prstGeom prst="rect">
            <a:avLst/>
          </a:prstGeom>
          <a:noFill/>
          <a:ln/>
        </p:spPr>
        <p:txBody>
          <a:bodyPr wrap="square" lIns="0" tIns="68072" rIns="0" bIns="68072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B82F6"/>
                </a:solidFill>
              </a:rPr>
              <a:t>출근 (45)</a:t>
            </a:r>
            <a:endParaRPr lang="en-US" sz="683" dirty="0"/>
          </a:p>
        </p:txBody>
      </p:sp>
      <p:sp>
        <p:nvSpPr>
          <p:cNvPr id="22" name="Text 17"/>
          <p:cNvSpPr/>
          <p:nvPr/>
        </p:nvSpPr>
        <p:spPr>
          <a:xfrm>
            <a:off x="1654950" y="1607344"/>
            <a:ext cx="762009" cy="273248"/>
          </a:xfrm>
          <a:prstGeom prst="rect">
            <a:avLst/>
          </a:prstGeom>
          <a:noFill/>
          <a:ln/>
        </p:spPr>
        <p:txBody>
          <a:bodyPr wrap="square" lIns="0" tIns="68072" rIns="0" bIns="68072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4748B"/>
                </a:solidFill>
              </a:rPr>
              <a:t>퇴근 (0)</a:t>
            </a:r>
            <a:endParaRPr lang="en-US" sz="727" dirty="0"/>
          </a:p>
        </p:txBody>
      </p:sp>
      <p:sp>
        <p:nvSpPr>
          <p:cNvPr id="23" name="Text 18"/>
          <p:cNvSpPr/>
          <p:nvPr/>
        </p:nvSpPr>
        <p:spPr>
          <a:xfrm>
            <a:off x="2416959" y="1607344"/>
            <a:ext cx="762009" cy="273248"/>
          </a:xfrm>
          <a:prstGeom prst="rect">
            <a:avLst/>
          </a:prstGeom>
          <a:noFill/>
          <a:ln/>
        </p:spPr>
        <p:txBody>
          <a:bodyPr wrap="square" lIns="0" tIns="68072" rIns="0" bIns="68072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4748B"/>
                </a:solidFill>
              </a:rPr>
              <a:t>미출근 (5)</a:t>
            </a:r>
            <a:endParaRPr lang="en-US" sz="727" dirty="0"/>
          </a:p>
        </p:txBody>
      </p:sp>
      <p:sp>
        <p:nvSpPr>
          <p:cNvPr id="24" name="Shape 19"/>
          <p:cNvSpPr/>
          <p:nvPr/>
        </p:nvSpPr>
        <p:spPr>
          <a:xfrm>
            <a:off x="935803" y="1923455"/>
            <a:ext cx="2200275" cy="4054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0"/>
          <p:cNvSpPr/>
          <p:nvPr/>
        </p:nvSpPr>
        <p:spPr>
          <a:xfrm>
            <a:off x="992953" y="1997571"/>
            <a:ext cx="257175" cy="257175"/>
          </a:xfrm>
          <a:prstGeom prst="ellipse">
            <a:avLst/>
          </a:prstGeom>
          <a:solidFill>
            <a:srgbClr val="E2E8F0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535" y="2069009"/>
            <a:ext cx="100013" cy="1143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321566" y="1990427"/>
            <a:ext cx="1192755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E293B"/>
                </a:solidFill>
              </a:rPr>
              <a:t>김철수</a:t>
            </a:r>
            <a:endParaRPr lang="en-US" sz="683" dirty="0"/>
          </a:p>
        </p:txBody>
      </p:sp>
      <p:sp>
        <p:nvSpPr>
          <p:cNvPr id="28" name="Text 22"/>
          <p:cNvSpPr/>
          <p:nvPr/>
        </p:nvSpPr>
        <p:spPr>
          <a:xfrm>
            <a:off x="1321566" y="2135088"/>
            <a:ext cx="119275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조적공 | A팀</a:t>
            </a:r>
            <a:endParaRPr lang="en-US" sz="621" dirty="0"/>
          </a:p>
        </p:txBody>
      </p:sp>
      <p:sp>
        <p:nvSpPr>
          <p:cNvPr id="29" name="Text 23"/>
          <p:cNvSpPr/>
          <p:nvPr/>
        </p:nvSpPr>
        <p:spPr>
          <a:xfrm>
            <a:off x="2585758" y="1980605"/>
            <a:ext cx="49317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E293B"/>
                </a:solidFill>
              </a:rPr>
              <a:t>06:45</a:t>
            </a:r>
            <a:endParaRPr lang="en-US" sz="683" dirty="0"/>
          </a:p>
        </p:txBody>
      </p:sp>
      <p:sp>
        <p:nvSpPr>
          <p:cNvPr id="30" name="Shape 24"/>
          <p:cNvSpPr/>
          <p:nvPr/>
        </p:nvSpPr>
        <p:spPr>
          <a:xfrm>
            <a:off x="2585758" y="2144911"/>
            <a:ext cx="221121" cy="126802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1" name="Text 25"/>
          <p:cNvSpPr/>
          <p:nvPr/>
        </p:nvSpPr>
        <p:spPr>
          <a:xfrm>
            <a:off x="2585758" y="2144911"/>
            <a:ext cx="221121" cy="126802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166534"/>
                </a:solidFill>
              </a:rPr>
              <a:t>GPS</a:t>
            </a:r>
            <a:endParaRPr lang="en-US" sz="485" dirty="0"/>
          </a:p>
        </p:txBody>
      </p:sp>
      <p:sp>
        <p:nvSpPr>
          <p:cNvPr id="32" name="Shape 26"/>
          <p:cNvSpPr/>
          <p:nvPr/>
        </p:nvSpPr>
        <p:spPr>
          <a:xfrm>
            <a:off x="2835455" y="2144911"/>
            <a:ext cx="243474" cy="126802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3" name="Text 27"/>
          <p:cNvSpPr/>
          <p:nvPr/>
        </p:nvSpPr>
        <p:spPr>
          <a:xfrm>
            <a:off x="2835455" y="2144911"/>
            <a:ext cx="243474" cy="126802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166534"/>
                </a:solidFill>
              </a:rPr>
              <a:t>Face</a:t>
            </a:r>
            <a:endParaRPr lang="en-US" sz="485" dirty="0"/>
          </a:p>
        </p:txBody>
      </p:sp>
      <p:sp>
        <p:nvSpPr>
          <p:cNvPr id="34" name="Shape 28"/>
          <p:cNvSpPr/>
          <p:nvPr/>
        </p:nvSpPr>
        <p:spPr>
          <a:xfrm>
            <a:off x="935803" y="2386013"/>
            <a:ext cx="2200275" cy="4054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Shape 29"/>
          <p:cNvSpPr/>
          <p:nvPr/>
        </p:nvSpPr>
        <p:spPr>
          <a:xfrm>
            <a:off x="992953" y="2460129"/>
            <a:ext cx="257175" cy="257175"/>
          </a:xfrm>
          <a:prstGeom prst="ellipse">
            <a:avLst/>
          </a:prstGeom>
          <a:solidFill>
            <a:srgbClr val="E2E8F0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535" y="2531566"/>
            <a:ext cx="100013" cy="11430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1321566" y="2452985"/>
            <a:ext cx="1159827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E293B"/>
                </a:solidFill>
              </a:rPr>
              <a:t>이영희</a:t>
            </a:r>
            <a:endParaRPr lang="en-US" sz="683" dirty="0"/>
          </a:p>
        </p:txBody>
      </p:sp>
      <p:sp>
        <p:nvSpPr>
          <p:cNvPr id="38" name="Text 31"/>
          <p:cNvSpPr/>
          <p:nvPr/>
        </p:nvSpPr>
        <p:spPr>
          <a:xfrm>
            <a:off x="1321566" y="2597646"/>
            <a:ext cx="1159827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미장공 | B팀</a:t>
            </a:r>
            <a:endParaRPr lang="en-US" sz="621" dirty="0"/>
          </a:p>
        </p:txBody>
      </p:sp>
      <p:sp>
        <p:nvSpPr>
          <p:cNvPr id="39" name="Text 32"/>
          <p:cNvSpPr/>
          <p:nvPr/>
        </p:nvSpPr>
        <p:spPr>
          <a:xfrm>
            <a:off x="2552830" y="2443163"/>
            <a:ext cx="52609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E293B"/>
                </a:solidFill>
              </a:rPr>
              <a:t>06:52</a:t>
            </a:r>
            <a:endParaRPr lang="en-US" sz="683" dirty="0"/>
          </a:p>
        </p:txBody>
      </p:sp>
      <p:sp>
        <p:nvSpPr>
          <p:cNvPr id="40" name="Shape 33"/>
          <p:cNvSpPr/>
          <p:nvPr/>
        </p:nvSpPr>
        <p:spPr>
          <a:xfrm>
            <a:off x="2552830" y="2607469"/>
            <a:ext cx="254050" cy="126802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41" name="Text 34"/>
          <p:cNvSpPr/>
          <p:nvPr/>
        </p:nvSpPr>
        <p:spPr>
          <a:xfrm>
            <a:off x="2552830" y="2607469"/>
            <a:ext cx="254050" cy="126802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92400E"/>
                </a:solidFill>
              </a:rPr>
              <a:t>GPS?</a:t>
            </a:r>
            <a:endParaRPr lang="en-US" sz="485" dirty="0"/>
          </a:p>
        </p:txBody>
      </p:sp>
      <p:sp>
        <p:nvSpPr>
          <p:cNvPr id="42" name="Shape 35"/>
          <p:cNvSpPr/>
          <p:nvPr/>
        </p:nvSpPr>
        <p:spPr>
          <a:xfrm>
            <a:off x="2835455" y="2607469"/>
            <a:ext cx="243474" cy="126802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43" name="Text 36"/>
          <p:cNvSpPr/>
          <p:nvPr/>
        </p:nvSpPr>
        <p:spPr>
          <a:xfrm>
            <a:off x="2835455" y="2607469"/>
            <a:ext cx="243474" cy="126802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166534"/>
                </a:solidFill>
              </a:rPr>
              <a:t>Face</a:t>
            </a:r>
            <a:endParaRPr lang="en-US" sz="485" dirty="0"/>
          </a:p>
        </p:txBody>
      </p:sp>
      <p:sp>
        <p:nvSpPr>
          <p:cNvPr id="44" name="Shape 37"/>
          <p:cNvSpPr/>
          <p:nvPr/>
        </p:nvSpPr>
        <p:spPr>
          <a:xfrm>
            <a:off x="935803" y="2848570"/>
            <a:ext cx="2200275" cy="4054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Shape 38"/>
          <p:cNvSpPr/>
          <p:nvPr/>
        </p:nvSpPr>
        <p:spPr>
          <a:xfrm>
            <a:off x="992953" y="2922687"/>
            <a:ext cx="257175" cy="257175"/>
          </a:xfrm>
          <a:prstGeom prst="ellipse">
            <a:avLst/>
          </a:prstGeom>
          <a:solidFill>
            <a:srgbClr val="E2E8F0"/>
          </a:solidFill>
          <a:ln/>
        </p:spPr>
      </p:sp>
      <p:pic>
        <p:nvPicPr>
          <p:cNvPr id="4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1535" y="2994124"/>
            <a:ext cx="100013" cy="114300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1321566" y="2915543"/>
            <a:ext cx="1159827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E293B"/>
                </a:solidFill>
              </a:rPr>
              <a:t>박민수</a:t>
            </a:r>
            <a:endParaRPr lang="en-US" sz="683" dirty="0"/>
          </a:p>
        </p:txBody>
      </p:sp>
      <p:sp>
        <p:nvSpPr>
          <p:cNvPr id="48" name="Text 40"/>
          <p:cNvSpPr/>
          <p:nvPr/>
        </p:nvSpPr>
        <p:spPr>
          <a:xfrm>
            <a:off x="1321566" y="3060204"/>
            <a:ext cx="1159827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용접공 | A팀</a:t>
            </a:r>
            <a:endParaRPr lang="en-US" sz="621" dirty="0"/>
          </a:p>
        </p:txBody>
      </p:sp>
      <p:sp>
        <p:nvSpPr>
          <p:cNvPr id="49" name="Text 41"/>
          <p:cNvSpPr/>
          <p:nvPr/>
        </p:nvSpPr>
        <p:spPr>
          <a:xfrm>
            <a:off x="2552830" y="2905720"/>
            <a:ext cx="52609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E293B"/>
                </a:solidFill>
              </a:rPr>
              <a:t>07:01</a:t>
            </a:r>
            <a:endParaRPr lang="en-US" sz="683" dirty="0"/>
          </a:p>
        </p:txBody>
      </p:sp>
      <p:sp>
        <p:nvSpPr>
          <p:cNvPr id="50" name="Shape 42"/>
          <p:cNvSpPr/>
          <p:nvPr/>
        </p:nvSpPr>
        <p:spPr>
          <a:xfrm>
            <a:off x="2552830" y="3070027"/>
            <a:ext cx="221121" cy="126802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51" name="Text 43"/>
          <p:cNvSpPr/>
          <p:nvPr/>
        </p:nvSpPr>
        <p:spPr>
          <a:xfrm>
            <a:off x="2552830" y="3070027"/>
            <a:ext cx="221121" cy="126802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166534"/>
                </a:solidFill>
              </a:rPr>
              <a:t>GPS</a:t>
            </a:r>
            <a:endParaRPr lang="en-US" sz="485" dirty="0"/>
          </a:p>
        </p:txBody>
      </p:sp>
      <p:sp>
        <p:nvSpPr>
          <p:cNvPr id="52" name="Shape 44"/>
          <p:cNvSpPr/>
          <p:nvPr/>
        </p:nvSpPr>
        <p:spPr>
          <a:xfrm>
            <a:off x="2802527" y="3070027"/>
            <a:ext cx="276402" cy="126802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53" name="Text 45"/>
          <p:cNvSpPr/>
          <p:nvPr/>
        </p:nvSpPr>
        <p:spPr>
          <a:xfrm>
            <a:off x="2802527" y="3070027"/>
            <a:ext cx="276402" cy="126802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991B1B"/>
                </a:solidFill>
              </a:rPr>
              <a:t>Face?</a:t>
            </a:r>
            <a:endParaRPr lang="en-US" sz="485" dirty="0"/>
          </a:p>
        </p:txBody>
      </p:sp>
      <p:sp>
        <p:nvSpPr>
          <p:cNvPr id="54" name="Shape 46"/>
          <p:cNvSpPr/>
          <p:nvPr/>
        </p:nvSpPr>
        <p:spPr>
          <a:xfrm>
            <a:off x="3957610" y="1300163"/>
            <a:ext cx="4900613" cy="822592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55" name="Shape 47"/>
          <p:cNvSpPr/>
          <p:nvPr/>
        </p:nvSpPr>
        <p:spPr>
          <a:xfrm>
            <a:off x="4043335" y="1394817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6" name="Text 48"/>
          <p:cNvSpPr/>
          <p:nvPr/>
        </p:nvSpPr>
        <p:spPr>
          <a:xfrm>
            <a:off x="4043335" y="1394817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57" name="Text 49"/>
          <p:cNvSpPr/>
          <p:nvPr/>
        </p:nvSpPr>
        <p:spPr>
          <a:xfrm>
            <a:off x="4357660" y="1385888"/>
            <a:ext cx="174533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실시간 리스트 (Real-time List)</a:t>
            </a:r>
            <a:endParaRPr lang="en-US" sz="885" dirty="0"/>
          </a:p>
        </p:txBody>
      </p:sp>
      <p:sp>
        <p:nvSpPr>
          <p:cNvPr id="58" name="Text 50"/>
          <p:cNvSpPr/>
          <p:nvPr/>
        </p:nvSpPr>
        <p:spPr>
          <a:xfrm>
            <a:off x="4043335" y="1632347"/>
            <a:ext cx="4729163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갱신: 15초 Polling 또는 WebSocket • 정렬: 최근 출근 시간 순 • 탭: 출근/퇴근/미출근 (지각)</a:t>
            </a:r>
            <a:endParaRPr lang="en-US" sz="727" dirty="0"/>
          </a:p>
        </p:txBody>
      </p:sp>
      <p:sp>
        <p:nvSpPr>
          <p:cNvPr id="59" name="Shape 51"/>
          <p:cNvSpPr/>
          <p:nvPr/>
        </p:nvSpPr>
        <p:spPr>
          <a:xfrm>
            <a:off x="4043335" y="1835218"/>
            <a:ext cx="1851152" cy="187523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60" name="Text 52"/>
          <p:cNvSpPr/>
          <p:nvPr/>
        </p:nvSpPr>
        <p:spPr>
          <a:xfrm>
            <a:off x="4043335" y="1835218"/>
            <a:ext cx="1851152" cy="187523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GET /api/site/attendance/live?date={today}</a:t>
            </a:r>
            <a:endParaRPr lang="en-US" sz="621" dirty="0"/>
          </a:p>
        </p:txBody>
      </p:sp>
      <p:sp>
        <p:nvSpPr>
          <p:cNvPr id="61" name="Shape 53"/>
          <p:cNvSpPr/>
          <p:nvPr/>
        </p:nvSpPr>
        <p:spPr>
          <a:xfrm>
            <a:off x="3957610" y="2179904"/>
            <a:ext cx="4900613" cy="752215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62" name="Shape 54"/>
          <p:cNvSpPr/>
          <p:nvPr/>
        </p:nvSpPr>
        <p:spPr>
          <a:xfrm>
            <a:off x="4043335" y="2274559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3" name="Text 55"/>
          <p:cNvSpPr/>
          <p:nvPr/>
        </p:nvSpPr>
        <p:spPr>
          <a:xfrm>
            <a:off x="4043335" y="2274559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64" name="Text 56"/>
          <p:cNvSpPr/>
          <p:nvPr/>
        </p:nvSpPr>
        <p:spPr>
          <a:xfrm>
            <a:off x="4357660" y="2265629"/>
            <a:ext cx="167088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유효성 검증 로직 (Validation)</a:t>
            </a:r>
            <a:endParaRPr lang="en-US" sz="885" dirty="0"/>
          </a:p>
        </p:txBody>
      </p:sp>
      <p:sp>
        <p:nvSpPr>
          <p:cNvPr id="65" name="Text 57"/>
          <p:cNvSpPr/>
          <p:nvPr/>
        </p:nvSpPr>
        <p:spPr>
          <a:xfrm>
            <a:off x="4043335" y="2512089"/>
            <a:ext cx="472916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GPS: 현장 반경(Geofence) 500m 이내 (오차 허용) • Face: 유사도 0.85 이상 • 기준 미달 시 주황/빨강 배지로 표시</a:t>
            </a:r>
            <a:endParaRPr lang="en-US" sz="727" dirty="0"/>
          </a:p>
        </p:txBody>
      </p:sp>
      <p:sp>
        <p:nvSpPr>
          <p:cNvPr id="66" name="Shape 58"/>
          <p:cNvSpPr/>
          <p:nvPr/>
        </p:nvSpPr>
        <p:spPr>
          <a:xfrm>
            <a:off x="3957610" y="3003556"/>
            <a:ext cx="4900613" cy="982600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67" name="Shape 59"/>
          <p:cNvSpPr/>
          <p:nvPr/>
        </p:nvSpPr>
        <p:spPr>
          <a:xfrm>
            <a:off x="4043335" y="3098211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8" name="Text 60"/>
          <p:cNvSpPr/>
          <p:nvPr/>
        </p:nvSpPr>
        <p:spPr>
          <a:xfrm>
            <a:off x="4043335" y="3098211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69" name="Text 61"/>
          <p:cNvSpPr/>
          <p:nvPr/>
        </p:nvSpPr>
        <p:spPr>
          <a:xfrm>
            <a:off x="4357660" y="3089281"/>
            <a:ext cx="119844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예외 처리 및 수동 승인</a:t>
            </a:r>
            <a:endParaRPr lang="en-US" sz="885" dirty="0"/>
          </a:p>
        </p:txBody>
      </p:sp>
      <p:sp>
        <p:nvSpPr>
          <p:cNvPr id="70" name="Text 62"/>
          <p:cNvSpPr/>
          <p:nvPr/>
        </p:nvSpPr>
        <p:spPr>
          <a:xfrm>
            <a:off x="4043335" y="3335741"/>
            <a:ext cx="472916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카드 클릭 시 상세 팝업(지도, 사진) • 관리자가 GPS/Face 오류 건 수동 승인 가능 • 본인 아님/위치 이탈 시 반려 처리</a:t>
            </a:r>
            <a:endParaRPr lang="en-US" sz="727" dirty="0"/>
          </a:p>
        </p:txBody>
      </p:sp>
      <p:sp>
        <p:nvSpPr>
          <p:cNvPr id="71" name="Shape 63"/>
          <p:cNvSpPr/>
          <p:nvPr/>
        </p:nvSpPr>
        <p:spPr>
          <a:xfrm>
            <a:off x="4043335" y="3698621"/>
            <a:ext cx="1713133" cy="187523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72" name="Text 64"/>
          <p:cNvSpPr/>
          <p:nvPr/>
        </p:nvSpPr>
        <p:spPr>
          <a:xfrm>
            <a:off x="4043335" y="3698621"/>
            <a:ext cx="1713133" cy="187523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POST /api/site/attendance/{id}/approve</a:t>
            </a:r>
            <a:endParaRPr lang="en-US" sz="62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8715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1285875"/>
            <a:ext cx="85725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428625"/>
            <a:ext cx="857250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spc="-1" kern="0" dirty="0">
                <a:solidFill>
                  <a:srgbClr val="3B82F6"/>
                </a:solidFill>
              </a:rPr>
              <a:t>[현장] 출역 승인 및 반려 (Mobile Web)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285750" y="935831"/>
            <a:ext cx="8572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팀장 요청 건 검토 및 일괄 승인/반려 처리 프로세스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811988" y="1514475"/>
            <a:ext cx="2400300" cy="3471863"/>
          </a:xfrm>
          <a:prstGeom prst="rect">
            <a:avLst/>
          </a:prstGeom>
          <a:solidFill>
            <a:srgbClr val="000000"/>
          </a:solidFill>
          <a:ln w="54864">
            <a:solidFill>
              <a:srgbClr val="33415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840813" y="2214563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6"/>
          <p:cNvSpPr/>
          <p:nvPr/>
        </p:nvSpPr>
        <p:spPr>
          <a:xfrm>
            <a:off x="2840813" y="2214563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10" name="Shape 7"/>
          <p:cNvSpPr/>
          <p:nvPr/>
        </p:nvSpPr>
        <p:spPr>
          <a:xfrm>
            <a:off x="2840813" y="2786063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8"/>
          <p:cNvSpPr/>
          <p:nvPr/>
        </p:nvSpPr>
        <p:spPr>
          <a:xfrm>
            <a:off x="2840813" y="2786063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12" name="Shape 9"/>
          <p:cNvSpPr/>
          <p:nvPr/>
        </p:nvSpPr>
        <p:spPr>
          <a:xfrm>
            <a:off x="2840813" y="4300538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3" name="Text 10"/>
          <p:cNvSpPr/>
          <p:nvPr/>
        </p:nvSpPr>
        <p:spPr>
          <a:xfrm>
            <a:off x="2840813" y="4300538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14" name="Shape 11"/>
          <p:cNvSpPr/>
          <p:nvPr/>
        </p:nvSpPr>
        <p:spPr>
          <a:xfrm>
            <a:off x="869138" y="1571625"/>
            <a:ext cx="2286000" cy="3357563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Shape 12"/>
          <p:cNvSpPr/>
          <p:nvPr/>
        </p:nvSpPr>
        <p:spPr>
          <a:xfrm>
            <a:off x="869138" y="1571625"/>
            <a:ext cx="2286000" cy="33575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863" y="1682353"/>
            <a:ext cx="100013" cy="1143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659806" y="1657350"/>
            <a:ext cx="69037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출역 승인 관리</a:t>
            </a:r>
            <a:endParaRPr lang="en-US" sz="784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5113" y="1682353"/>
            <a:ext cx="114300" cy="1143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40575" y="1978819"/>
            <a:ext cx="882337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4155"/>
                </a:solidFill>
              </a:rPr>
              <a:t>A팀 (조적) - 3명 대기</a:t>
            </a:r>
            <a:endParaRPr lang="en-US" sz="683" dirty="0"/>
          </a:p>
        </p:txBody>
      </p:sp>
      <p:sp>
        <p:nvSpPr>
          <p:cNvPr id="20" name="Text 15"/>
          <p:cNvSpPr/>
          <p:nvPr/>
        </p:nvSpPr>
        <p:spPr>
          <a:xfrm>
            <a:off x="2745935" y="1987748"/>
            <a:ext cx="33776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3B82F6"/>
                </a:solidFill>
              </a:rPr>
              <a:t>전체 선택</a:t>
            </a:r>
            <a:endParaRPr lang="en-US" sz="584" dirty="0"/>
          </a:p>
        </p:txBody>
      </p:sp>
      <p:sp>
        <p:nvSpPr>
          <p:cNvPr id="21" name="Shape 16"/>
          <p:cNvSpPr/>
          <p:nvPr/>
        </p:nvSpPr>
        <p:spPr>
          <a:xfrm>
            <a:off x="940575" y="2180630"/>
            <a:ext cx="2143125" cy="428625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1012013" y="2302073"/>
            <a:ext cx="171450" cy="171450"/>
          </a:xfrm>
          <a:prstGeom prst="rect">
            <a:avLst/>
          </a:prstGeom>
          <a:solidFill>
            <a:srgbClr val="3B82F6"/>
          </a:solidFill>
          <a:ln w="18288">
            <a:solidFill>
              <a:srgbClr val="3B82F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588" y="2344936"/>
            <a:ext cx="85725" cy="85725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226325" y="2252067"/>
            <a:ext cx="1476105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E293B"/>
                </a:solidFill>
              </a:rPr>
              <a:t>김철수</a:t>
            </a:r>
            <a:endParaRPr lang="en-US" sz="683" dirty="0"/>
          </a:p>
        </p:txBody>
      </p:sp>
      <p:sp>
        <p:nvSpPr>
          <p:cNvPr id="25" name="Text 19"/>
          <p:cNvSpPr/>
          <p:nvPr/>
        </p:nvSpPr>
        <p:spPr>
          <a:xfrm>
            <a:off x="1226325" y="2396728"/>
            <a:ext cx="147610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조적공 | 1.0공수</a:t>
            </a:r>
            <a:endParaRPr lang="en-US" sz="621" dirty="0"/>
          </a:p>
        </p:txBody>
      </p:sp>
      <p:sp>
        <p:nvSpPr>
          <p:cNvPr id="26" name="Text 20"/>
          <p:cNvSpPr/>
          <p:nvPr/>
        </p:nvSpPr>
        <p:spPr>
          <a:xfrm>
            <a:off x="2773868" y="2324398"/>
            <a:ext cx="23839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B82F6"/>
                </a:solidFill>
              </a:rPr>
              <a:t>06:45</a:t>
            </a:r>
            <a:endParaRPr lang="en-US" sz="634" dirty="0"/>
          </a:p>
        </p:txBody>
      </p:sp>
      <p:sp>
        <p:nvSpPr>
          <p:cNvPr id="27" name="Shape 21"/>
          <p:cNvSpPr/>
          <p:nvPr/>
        </p:nvSpPr>
        <p:spPr>
          <a:xfrm>
            <a:off x="940575" y="2637830"/>
            <a:ext cx="2143125" cy="428625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1012013" y="2759273"/>
            <a:ext cx="171450" cy="171450"/>
          </a:xfrm>
          <a:prstGeom prst="rect">
            <a:avLst/>
          </a:prstGeom>
          <a:solidFill>
            <a:srgbClr val="3B82F6"/>
          </a:solidFill>
          <a:ln w="18288">
            <a:solidFill>
              <a:srgbClr val="3B82F6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588" y="2802136"/>
            <a:ext cx="85725" cy="85725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226325" y="2709267"/>
            <a:ext cx="1476105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E293B"/>
                </a:solidFill>
              </a:rPr>
              <a:t>이영희</a:t>
            </a:r>
            <a:endParaRPr lang="en-US" sz="683" dirty="0"/>
          </a:p>
        </p:txBody>
      </p:sp>
      <p:sp>
        <p:nvSpPr>
          <p:cNvPr id="31" name="Text 24"/>
          <p:cNvSpPr/>
          <p:nvPr/>
        </p:nvSpPr>
        <p:spPr>
          <a:xfrm>
            <a:off x="1226325" y="2853928"/>
            <a:ext cx="147610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미장공 | 1.0공수</a:t>
            </a:r>
            <a:endParaRPr lang="en-US" sz="621" dirty="0"/>
          </a:p>
        </p:txBody>
      </p:sp>
      <p:sp>
        <p:nvSpPr>
          <p:cNvPr id="32" name="Text 25"/>
          <p:cNvSpPr/>
          <p:nvPr/>
        </p:nvSpPr>
        <p:spPr>
          <a:xfrm>
            <a:off x="2773868" y="2781598"/>
            <a:ext cx="23839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B82F6"/>
                </a:solidFill>
              </a:rPr>
              <a:t>06:48</a:t>
            </a:r>
            <a:endParaRPr lang="en-US" sz="634" dirty="0"/>
          </a:p>
        </p:txBody>
      </p:sp>
      <p:sp>
        <p:nvSpPr>
          <p:cNvPr id="33" name="Shape 26"/>
          <p:cNvSpPr/>
          <p:nvPr/>
        </p:nvSpPr>
        <p:spPr>
          <a:xfrm>
            <a:off x="940575" y="3095030"/>
            <a:ext cx="2143125" cy="428625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1254900" y="3166467"/>
            <a:ext cx="144753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E293B"/>
                </a:solidFill>
              </a:rPr>
              <a:t>박민수</a:t>
            </a:r>
            <a:endParaRPr lang="en-US" sz="683" dirty="0"/>
          </a:p>
        </p:txBody>
      </p:sp>
      <p:sp>
        <p:nvSpPr>
          <p:cNvPr id="35" name="Text 28"/>
          <p:cNvSpPr/>
          <p:nvPr/>
        </p:nvSpPr>
        <p:spPr>
          <a:xfrm>
            <a:off x="1254900" y="3311128"/>
            <a:ext cx="144753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조공 | 0.5공수</a:t>
            </a:r>
            <a:endParaRPr lang="en-US" sz="621" dirty="0"/>
          </a:p>
        </p:txBody>
      </p:sp>
      <p:sp>
        <p:nvSpPr>
          <p:cNvPr id="36" name="Text 29"/>
          <p:cNvSpPr/>
          <p:nvPr/>
        </p:nvSpPr>
        <p:spPr>
          <a:xfrm>
            <a:off x="2773868" y="3238798"/>
            <a:ext cx="23839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B82F6"/>
                </a:solidFill>
              </a:rPr>
              <a:t>07:10</a:t>
            </a:r>
            <a:endParaRPr lang="en-US" sz="634" dirty="0"/>
          </a:p>
        </p:txBody>
      </p:sp>
      <p:sp>
        <p:nvSpPr>
          <p:cNvPr id="37" name="Shape 30"/>
          <p:cNvSpPr/>
          <p:nvPr/>
        </p:nvSpPr>
        <p:spPr>
          <a:xfrm>
            <a:off x="869138" y="4500563"/>
            <a:ext cx="2286000" cy="4286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Shape 31"/>
          <p:cNvSpPr/>
          <p:nvPr/>
        </p:nvSpPr>
        <p:spPr>
          <a:xfrm>
            <a:off x="869138" y="4500563"/>
            <a:ext cx="228600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9" name="Shape 32"/>
          <p:cNvSpPr/>
          <p:nvPr/>
        </p:nvSpPr>
        <p:spPr>
          <a:xfrm>
            <a:off x="940575" y="4579144"/>
            <a:ext cx="742950" cy="27860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0" name="Text 33"/>
          <p:cNvSpPr/>
          <p:nvPr/>
        </p:nvSpPr>
        <p:spPr>
          <a:xfrm>
            <a:off x="940575" y="4579144"/>
            <a:ext cx="742950" cy="278606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64748B"/>
                </a:solidFill>
              </a:rPr>
              <a:t>반려</a:t>
            </a:r>
            <a:endParaRPr lang="en-US" sz="683" dirty="0"/>
          </a:p>
        </p:txBody>
      </p:sp>
      <p:sp>
        <p:nvSpPr>
          <p:cNvPr id="41" name="Shape 34"/>
          <p:cNvSpPr/>
          <p:nvPr/>
        </p:nvSpPr>
        <p:spPr>
          <a:xfrm>
            <a:off x="1740675" y="4579144"/>
            <a:ext cx="1343025" cy="27860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2" name="Text 35"/>
          <p:cNvSpPr/>
          <p:nvPr/>
        </p:nvSpPr>
        <p:spPr>
          <a:xfrm>
            <a:off x="1740675" y="4579144"/>
            <a:ext cx="1343025" cy="278606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선택 승인 (2)</a:t>
            </a:r>
            <a:endParaRPr lang="en-US" sz="683" dirty="0"/>
          </a:p>
        </p:txBody>
      </p:sp>
      <p:sp>
        <p:nvSpPr>
          <p:cNvPr id="43" name="Shape 36"/>
          <p:cNvSpPr/>
          <p:nvPr/>
        </p:nvSpPr>
        <p:spPr>
          <a:xfrm>
            <a:off x="4024303" y="1523098"/>
            <a:ext cx="4833919" cy="912223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44" name="Shape 37"/>
          <p:cNvSpPr/>
          <p:nvPr/>
        </p:nvSpPr>
        <p:spPr>
          <a:xfrm>
            <a:off x="4110028" y="1624896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5" name="Text 38"/>
          <p:cNvSpPr/>
          <p:nvPr/>
        </p:nvSpPr>
        <p:spPr>
          <a:xfrm>
            <a:off x="4110028" y="1624896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46" name="Text 39"/>
          <p:cNvSpPr/>
          <p:nvPr/>
        </p:nvSpPr>
        <p:spPr>
          <a:xfrm>
            <a:off x="4424353" y="1615966"/>
            <a:ext cx="134503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팀별 그룹핑 (Grouping)</a:t>
            </a:r>
            <a:endParaRPr lang="en-US" sz="885" dirty="0"/>
          </a:p>
        </p:txBody>
      </p:sp>
      <p:sp>
        <p:nvSpPr>
          <p:cNvPr id="47" name="Text 40"/>
          <p:cNvSpPr/>
          <p:nvPr/>
        </p:nvSpPr>
        <p:spPr>
          <a:xfrm>
            <a:off x="4110028" y="1862426"/>
            <a:ext cx="4662469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정렬 기준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팀별 &gt; 요청 시간순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표시 정보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팀명, 직종, 대기 인원 수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기능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팀 단위 '전체 선택' 토글 제공</a:t>
            </a:r>
            <a:endParaRPr lang="en-US" sz="727" dirty="0"/>
          </a:p>
        </p:txBody>
      </p:sp>
      <p:sp>
        <p:nvSpPr>
          <p:cNvPr id="48" name="Shape 41"/>
          <p:cNvSpPr/>
          <p:nvPr/>
        </p:nvSpPr>
        <p:spPr>
          <a:xfrm>
            <a:off x="4024303" y="2542477"/>
            <a:ext cx="4833919" cy="1156897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49" name="Shape 42"/>
          <p:cNvSpPr/>
          <p:nvPr/>
        </p:nvSpPr>
        <p:spPr>
          <a:xfrm>
            <a:off x="4110028" y="2644276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0" name="Text 43"/>
          <p:cNvSpPr/>
          <p:nvPr/>
        </p:nvSpPr>
        <p:spPr>
          <a:xfrm>
            <a:off x="4110028" y="2644276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51" name="Text 44"/>
          <p:cNvSpPr/>
          <p:nvPr/>
        </p:nvSpPr>
        <p:spPr>
          <a:xfrm>
            <a:off x="4424353" y="2635346"/>
            <a:ext cx="180834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승인 대기 리스트 (Pending List)</a:t>
            </a:r>
            <a:endParaRPr lang="en-US" sz="885" dirty="0"/>
          </a:p>
        </p:txBody>
      </p:sp>
      <p:sp>
        <p:nvSpPr>
          <p:cNvPr id="52" name="Text 45"/>
          <p:cNvSpPr/>
          <p:nvPr/>
        </p:nvSpPr>
        <p:spPr>
          <a:xfrm>
            <a:off x="4110028" y="2881805"/>
            <a:ext cx="4662469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상태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팀장이 '작업일보' 제출 시 '승인 대기' 상태로 진입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데이터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공수(1.0/0.5), 출근 시간, 직종 자동 표시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체크박스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개별 선택/해제 가능</a:t>
            </a:r>
            <a:endParaRPr lang="en-US" sz="727" dirty="0"/>
          </a:p>
        </p:txBody>
      </p:sp>
      <p:sp>
        <p:nvSpPr>
          <p:cNvPr id="53" name="Shape 46"/>
          <p:cNvSpPr/>
          <p:nvPr/>
        </p:nvSpPr>
        <p:spPr>
          <a:xfrm>
            <a:off x="4110028" y="3418982"/>
            <a:ext cx="1490783" cy="187523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54" name="Text 47"/>
          <p:cNvSpPr/>
          <p:nvPr/>
        </p:nvSpPr>
        <p:spPr>
          <a:xfrm>
            <a:off x="4110028" y="3418982"/>
            <a:ext cx="1490783" cy="187523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GET /api/site/attendance/pending</a:t>
            </a:r>
            <a:endParaRPr lang="en-US" sz="621" dirty="0"/>
          </a:p>
        </p:txBody>
      </p:sp>
      <p:sp>
        <p:nvSpPr>
          <p:cNvPr id="55" name="Shape 48"/>
          <p:cNvSpPr/>
          <p:nvPr/>
        </p:nvSpPr>
        <p:spPr>
          <a:xfrm>
            <a:off x="4024303" y="3799387"/>
            <a:ext cx="4833919" cy="1156897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56" name="Shape 49"/>
          <p:cNvSpPr/>
          <p:nvPr/>
        </p:nvSpPr>
        <p:spPr>
          <a:xfrm>
            <a:off x="4110028" y="3901185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7" name="Text 50"/>
          <p:cNvSpPr/>
          <p:nvPr/>
        </p:nvSpPr>
        <p:spPr>
          <a:xfrm>
            <a:off x="4110028" y="3901185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58" name="Text 51"/>
          <p:cNvSpPr/>
          <p:nvPr/>
        </p:nvSpPr>
        <p:spPr>
          <a:xfrm>
            <a:off x="4424353" y="3892255"/>
            <a:ext cx="1698399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일괄 처리 액션 (Bulk Actions)</a:t>
            </a:r>
            <a:endParaRPr lang="en-US" sz="885" dirty="0"/>
          </a:p>
        </p:txBody>
      </p:sp>
      <p:sp>
        <p:nvSpPr>
          <p:cNvPr id="59" name="Text 52"/>
          <p:cNvSpPr/>
          <p:nvPr/>
        </p:nvSpPr>
        <p:spPr>
          <a:xfrm>
            <a:off x="4110028" y="4138715"/>
            <a:ext cx="4662469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승인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선택된 항목 일괄 '승인 완료' 처리 (정산 데이터 생성)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반려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클릭 시 '반려 사유' 입력 팝업 호출 (필수 입력)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알림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처리 결과 팀장에게 Push 알림 발송</a:t>
            </a:r>
            <a:endParaRPr lang="en-US" sz="727" dirty="0"/>
          </a:p>
        </p:txBody>
      </p:sp>
      <p:sp>
        <p:nvSpPr>
          <p:cNvPr id="60" name="Shape 53"/>
          <p:cNvSpPr/>
          <p:nvPr/>
        </p:nvSpPr>
        <p:spPr>
          <a:xfrm>
            <a:off x="4110028" y="4675891"/>
            <a:ext cx="1775389" cy="187523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61" name="Text 54"/>
          <p:cNvSpPr/>
          <p:nvPr/>
        </p:nvSpPr>
        <p:spPr>
          <a:xfrm>
            <a:off x="4110028" y="4675891"/>
            <a:ext cx="1775389" cy="187523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POST /api/site/attendance/batch-process</a:t>
            </a:r>
            <a:endParaRPr lang="en-US" sz="62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8143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1228725"/>
            <a:ext cx="85725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428625"/>
            <a:ext cx="857250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spc="-1" kern="0" dirty="0">
                <a:solidFill>
                  <a:srgbClr val="3B82F6"/>
                </a:solidFill>
              </a:rPr>
              <a:t>[현장] 팀 편성 및 작업 배정 (Mobile Web)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285750" y="935831"/>
            <a:ext cx="8572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드래그 앤 드롭으로 간편한 일용직 근로자 팀 배정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835791" y="1371600"/>
            <a:ext cx="2400300" cy="3114675"/>
          </a:xfrm>
          <a:prstGeom prst="rect">
            <a:avLst/>
          </a:prstGeom>
          <a:solidFill>
            <a:srgbClr val="000000"/>
          </a:solidFill>
          <a:ln w="54864">
            <a:solidFill>
              <a:srgbClr val="33415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893191" y="1914525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6"/>
          <p:cNvSpPr/>
          <p:nvPr/>
        </p:nvSpPr>
        <p:spPr>
          <a:xfrm>
            <a:off x="2893191" y="1914525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10" name="Shape 7"/>
          <p:cNvSpPr/>
          <p:nvPr/>
        </p:nvSpPr>
        <p:spPr>
          <a:xfrm>
            <a:off x="2893191" y="2657475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8"/>
          <p:cNvSpPr/>
          <p:nvPr/>
        </p:nvSpPr>
        <p:spPr>
          <a:xfrm>
            <a:off x="2893191" y="2657475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12" name="Shape 9"/>
          <p:cNvSpPr/>
          <p:nvPr/>
        </p:nvSpPr>
        <p:spPr>
          <a:xfrm>
            <a:off x="2893191" y="3514725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3" name="Text 10"/>
          <p:cNvSpPr/>
          <p:nvPr/>
        </p:nvSpPr>
        <p:spPr>
          <a:xfrm>
            <a:off x="2893191" y="3514725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14" name="Shape 11"/>
          <p:cNvSpPr/>
          <p:nvPr/>
        </p:nvSpPr>
        <p:spPr>
          <a:xfrm>
            <a:off x="892941" y="1371600"/>
            <a:ext cx="2286000" cy="300037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Shape 12"/>
          <p:cNvSpPr/>
          <p:nvPr/>
        </p:nvSpPr>
        <p:spPr>
          <a:xfrm>
            <a:off x="892941" y="1371600"/>
            <a:ext cx="2286000" cy="33575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666" y="1482328"/>
            <a:ext cx="100013" cy="1143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655815" y="1457325"/>
            <a:ext cx="58522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팀 편성 관리</a:t>
            </a:r>
            <a:endParaRPr lang="en-US" sz="784" dirty="0"/>
          </a:p>
        </p:txBody>
      </p:sp>
      <p:sp>
        <p:nvSpPr>
          <p:cNvPr id="18" name="Text 14"/>
          <p:cNvSpPr/>
          <p:nvPr/>
        </p:nvSpPr>
        <p:spPr>
          <a:xfrm>
            <a:off x="2818181" y="1468041"/>
            <a:ext cx="275034" cy="142875"/>
          </a:xfrm>
          <a:prstGeom prst="rect">
            <a:avLst/>
          </a:prstGeom>
          <a:noFill/>
          <a:ln/>
        </p:spPr>
        <p:txBody>
          <a:bodyPr wrap="none" lIns="51054" tIns="8509" rIns="51054" bIns="8509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50" b="1" dirty="0">
                <a:solidFill>
                  <a:srgbClr val="FFFFFF"/>
                </a:solidFill>
              </a:rPr>
              <a:t>저장</a:t>
            </a:r>
            <a:endParaRPr lang="en-US" sz="650" dirty="0"/>
          </a:p>
        </p:txBody>
      </p:sp>
      <p:sp>
        <p:nvSpPr>
          <p:cNvPr id="19" name="Shape 15"/>
          <p:cNvSpPr/>
          <p:nvPr/>
        </p:nvSpPr>
        <p:spPr>
          <a:xfrm>
            <a:off x="892941" y="1707356"/>
            <a:ext cx="2286000" cy="79117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Shape 16"/>
          <p:cNvSpPr/>
          <p:nvPr/>
        </p:nvSpPr>
        <p:spPr>
          <a:xfrm>
            <a:off x="892941" y="2491383"/>
            <a:ext cx="2286000" cy="7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1" name="Text 17"/>
          <p:cNvSpPr/>
          <p:nvPr/>
        </p:nvSpPr>
        <p:spPr>
          <a:xfrm>
            <a:off x="978666" y="1793081"/>
            <a:ext cx="54607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4748B"/>
                </a:solidFill>
              </a:rPr>
              <a:t>미배정 인원 (3)</a:t>
            </a:r>
            <a:endParaRPr lang="en-US" sz="584" dirty="0"/>
          </a:p>
        </p:txBody>
      </p:sp>
      <p:sp>
        <p:nvSpPr>
          <p:cNvPr id="22" name="Text 18"/>
          <p:cNvSpPr/>
          <p:nvPr/>
        </p:nvSpPr>
        <p:spPr>
          <a:xfrm>
            <a:off x="2777747" y="1793081"/>
            <a:ext cx="31546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3B82F6"/>
                </a:solidFill>
              </a:rPr>
              <a:t>전체보기</a:t>
            </a:r>
            <a:endParaRPr lang="en-US" sz="584" dirty="0"/>
          </a:p>
        </p:txBody>
      </p:sp>
      <p:sp>
        <p:nvSpPr>
          <p:cNvPr id="23" name="Shape 19"/>
          <p:cNvSpPr/>
          <p:nvPr/>
        </p:nvSpPr>
        <p:spPr>
          <a:xfrm>
            <a:off x="978666" y="1977033"/>
            <a:ext cx="657225" cy="392906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1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1050103" y="2034183"/>
            <a:ext cx="50006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E293B"/>
                </a:solidFill>
              </a:rPr>
              <a:t>이영희</a:t>
            </a:r>
            <a:endParaRPr lang="en-US" sz="634" dirty="0"/>
          </a:p>
        </p:txBody>
      </p:sp>
      <p:sp>
        <p:nvSpPr>
          <p:cNvPr id="25" name="Text 21"/>
          <p:cNvSpPr/>
          <p:nvPr/>
        </p:nvSpPr>
        <p:spPr>
          <a:xfrm>
            <a:off x="1050103" y="2184202"/>
            <a:ext cx="50006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4748B"/>
                </a:solidFill>
              </a:rPr>
              <a:t>미장</a:t>
            </a:r>
            <a:endParaRPr lang="en-US" sz="568" dirty="0"/>
          </a:p>
        </p:txBody>
      </p:sp>
      <p:sp>
        <p:nvSpPr>
          <p:cNvPr id="26" name="Shape 22"/>
          <p:cNvSpPr/>
          <p:nvPr/>
        </p:nvSpPr>
        <p:spPr>
          <a:xfrm>
            <a:off x="1678753" y="1977033"/>
            <a:ext cx="657225" cy="392906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1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1750191" y="2034183"/>
            <a:ext cx="50006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E293B"/>
                </a:solidFill>
              </a:rPr>
              <a:t>박민수</a:t>
            </a:r>
            <a:endParaRPr lang="en-US" sz="634" dirty="0"/>
          </a:p>
        </p:txBody>
      </p:sp>
      <p:sp>
        <p:nvSpPr>
          <p:cNvPr id="28" name="Text 24"/>
          <p:cNvSpPr/>
          <p:nvPr/>
        </p:nvSpPr>
        <p:spPr>
          <a:xfrm>
            <a:off x="1750191" y="2184202"/>
            <a:ext cx="50006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4748B"/>
                </a:solidFill>
              </a:rPr>
              <a:t>용접</a:t>
            </a:r>
            <a:endParaRPr lang="en-US" sz="568" dirty="0"/>
          </a:p>
        </p:txBody>
      </p:sp>
      <p:sp>
        <p:nvSpPr>
          <p:cNvPr id="29" name="Shape 25"/>
          <p:cNvSpPr/>
          <p:nvPr/>
        </p:nvSpPr>
        <p:spPr>
          <a:xfrm>
            <a:off x="2378841" y="1977033"/>
            <a:ext cx="657225" cy="392906"/>
          </a:xfrm>
          <a:prstGeom prst="rect">
            <a:avLst/>
          </a:prstGeom>
          <a:solidFill>
            <a:srgbClr val="FFFFFF">
              <a:alpha val="50000"/>
            </a:srgbClr>
          </a:solidFill>
          <a:ln w="9144">
            <a:solidFill>
              <a:srgbClr val="CBD5E1">
                <a:alpha val="50000"/>
              </a:srgbClr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2450278" y="2034183"/>
            <a:ext cx="50006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E293B"/>
                </a:solidFill>
              </a:rPr>
              <a:t>김철수</a:t>
            </a:r>
            <a:endParaRPr lang="en-US" sz="634" dirty="0"/>
          </a:p>
        </p:txBody>
      </p:sp>
      <p:sp>
        <p:nvSpPr>
          <p:cNvPr id="31" name="Text 27"/>
          <p:cNvSpPr/>
          <p:nvPr/>
        </p:nvSpPr>
        <p:spPr>
          <a:xfrm>
            <a:off x="2450278" y="2184202"/>
            <a:ext cx="50006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4748B"/>
                </a:solidFill>
              </a:rPr>
              <a:t>조적</a:t>
            </a:r>
            <a:endParaRPr lang="en-US" sz="568" dirty="0"/>
          </a:p>
        </p:txBody>
      </p:sp>
      <p:sp>
        <p:nvSpPr>
          <p:cNvPr id="32" name="Shape 28"/>
          <p:cNvSpPr/>
          <p:nvPr/>
        </p:nvSpPr>
        <p:spPr>
          <a:xfrm rot="300000">
            <a:off x="1550166" y="2443163"/>
            <a:ext cx="500063" cy="264319"/>
          </a:xfrm>
          <a:prstGeom prst="rect">
            <a:avLst/>
          </a:prstGeom>
          <a:solidFill>
            <a:srgbClr val="FFFFFF"/>
          </a:solidFill>
          <a:ln w="18288">
            <a:solidFill>
              <a:srgbClr val="3B82F6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 rot="300000">
            <a:off x="1529261" y="2422524"/>
            <a:ext cx="525066" cy="1425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E293B"/>
                </a:solidFill>
              </a:rPr>
              <a:t>김철수</a:t>
            </a:r>
            <a:endParaRPr lang="en-US" sz="634" dirty="0"/>
          </a:p>
        </p:txBody>
      </p:sp>
      <p:sp>
        <p:nvSpPr>
          <p:cNvPr id="34" name="Text 30"/>
          <p:cNvSpPr/>
          <p:nvPr/>
        </p:nvSpPr>
        <p:spPr>
          <a:xfrm rot="300000">
            <a:off x="1516512" y="2579487"/>
            <a:ext cx="525065" cy="120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4748B"/>
                </a:solidFill>
              </a:rPr>
              <a:t>조적</a:t>
            </a:r>
            <a:endParaRPr lang="en-US" sz="568" dirty="0"/>
          </a:p>
        </p:txBody>
      </p:sp>
      <p:sp>
        <p:nvSpPr>
          <p:cNvPr id="35" name="Shape 31"/>
          <p:cNvSpPr/>
          <p:nvPr/>
        </p:nvSpPr>
        <p:spPr>
          <a:xfrm>
            <a:off x="964378" y="2548533"/>
            <a:ext cx="2143125" cy="666155"/>
          </a:xfrm>
          <a:prstGeom prst="rect">
            <a:avLst/>
          </a:prstGeom>
          <a:solidFill>
            <a:srgbClr val="EFF6FF"/>
          </a:solidFill>
          <a:ln w="18288">
            <a:solidFill>
              <a:srgbClr val="3B82F6"/>
            </a:solidFill>
            <a:prstDash val="dash"/>
          </a:ln>
        </p:spPr>
      </p:sp>
      <p:sp>
        <p:nvSpPr>
          <p:cNvPr id="36" name="Text 32"/>
          <p:cNvSpPr/>
          <p:nvPr/>
        </p:nvSpPr>
        <p:spPr>
          <a:xfrm>
            <a:off x="1035816" y="2619970"/>
            <a:ext cx="622902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E293B"/>
                </a:solidFill>
              </a:rPr>
              <a:t>A팀 (골조공사)</a:t>
            </a:r>
            <a:endParaRPr lang="en-US" sz="683" dirty="0"/>
          </a:p>
        </p:txBody>
      </p:sp>
      <p:sp>
        <p:nvSpPr>
          <p:cNvPr id="37" name="Text 33"/>
          <p:cNvSpPr/>
          <p:nvPr/>
        </p:nvSpPr>
        <p:spPr>
          <a:xfrm>
            <a:off x="2780426" y="2628900"/>
            <a:ext cx="25564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3B82F6"/>
                </a:solidFill>
              </a:rPr>
              <a:t>5 / 8명</a:t>
            </a:r>
            <a:endParaRPr lang="en-US" sz="584" dirty="0"/>
          </a:p>
        </p:txBody>
      </p:sp>
      <p:sp>
        <p:nvSpPr>
          <p:cNvPr id="38" name="Shape 34"/>
          <p:cNvSpPr/>
          <p:nvPr/>
        </p:nvSpPr>
        <p:spPr>
          <a:xfrm>
            <a:off x="1035816" y="2871788"/>
            <a:ext cx="331208" cy="2428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9" name="Text 35"/>
          <p:cNvSpPr/>
          <p:nvPr/>
        </p:nvSpPr>
        <p:spPr>
          <a:xfrm>
            <a:off x="1035816" y="2871788"/>
            <a:ext cx="331208" cy="242888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4748B"/>
                </a:solidFill>
              </a:rPr>
              <a:t>최반장</a:t>
            </a:r>
            <a:endParaRPr lang="en-US" sz="568" dirty="0"/>
          </a:p>
        </p:txBody>
      </p:sp>
      <p:sp>
        <p:nvSpPr>
          <p:cNvPr id="40" name="Shape 36"/>
          <p:cNvSpPr/>
          <p:nvPr/>
        </p:nvSpPr>
        <p:spPr>
          <a:xfrm>
            <a:off x="1409886" y="2871788"/>
            <a:ext cx="331208" cy="2428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1" name="Text 37"/>
          <p:cNvSpPr/>
          <p:nvPr/>
        </p:nvSpPr>
        <p:spPr>
          <a:xfrm>
            <a:off x="1409886" y="2871788"/>
            <a:ext cx="331208" cy="242888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4748B"/>
                </a:solidFill>
              </a:rPr>
              <a:t>정우성</a:t>
            </a:r>
            <a:endParaRPr lang="en-US" sz="568" dirty="0"/>
          </a:p>
        </p:txBody>
      </p:sp>
      <p:sp>
        <p:nvSpPr>
          <p:cNvPr id="42" name="Shape 38"/>
          <p:cNvSpPr/>
          <p:nvPr/>
        </p:nvSpPr>
        <p:spPr>
          <a:xfrm>
            <a:off x="1783956" y="2871788"/>
            <a:ext cx="331208" cy="2428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3" name="Text 39"/>
          <p:cNvSpPr/>
          <p:nvPr/>
        </p:nvSpPr>
        <p:spPr>
          <a:xfrm>
            <a:off x="1783956" y="2871788"/>
            <a:ext cx="331208" cy="242888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4748B"/>
                </a:solidFill>
              </a:rPr>
              <a:t>강동원</a:t>
            </a:r>
            <a:endParaRPr lang="en-US" sz="568" dirty="0"/>
          </a:p>
        </p:txBody>
      </p:sp>
      <p:sp>
        <p:nvSpPr>
          <p:cNvPr id="44" name="Shape 40"/>
          <p:cNvSpPr/>
          <p:nvPr/>
        </p:nvSpPr>
        <p:spPr>
          <a:xfrm>
            <a:off x="2158026" y="2871788"/>
            <a:ext cx="177505" cy="2428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5" name="Text 41"/>
          <p:cNvSpPr/>
          <p:nvPr/>
        </p:nvSpPr>
        <p:spPr>
          <a:xfrm>
            <a:off x="2158026" y="2871788"/>
            <a:ext cx="177505" cy="242888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4748B"/>
                </a:solidFill>
              </a:rPr>
              <a:t>...</a:t>
            </a:r>
            <a:endParaRPr lang="en-US" sz="568" dirty="0"/>
          </a:p>
        </p:txBody>
      </p:sp>
      <p:sp>
        <p:nvSpPr>
          <p:cNvPr id="46" name="Shape 42"/>
          <p:cNvSpPr/>
          <p:nvPr/>
        </p:nvSpPr>
        <p:spPr>
          <a:xfrm>
            <a:off x="964378" y="3243263"/>
            <a:ext cx="2143125" cy="651867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1035816" y="3314700"/>
            <a:ext cx="621088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E293B"/>
                </a:solidFill>
              </a:rPr>
              <a:t>B팀 (마감공사)</a:t>
            </a:r>
            <a:endParaRPr lang="en-US" sz="683" dirty="0"/>
          </a:p>
        </p:txBody>
      </p:sp>
      <p:sp>
        <p:nvSpPr>
          <p:cNvPr id="48" name="Text 44"/>
          <p:cNvSpPr/>
          <p:nvPr/>
        </p:nvSpPr>
        <p:spPr>
          <a:xfrm>
            <a:off x="2780426" y="3323630"/>
            <a:ext cx="25564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3B82F6"/>
                </a:solidFill>
              </a:rPr>
              <a:t>2 / 5명</a:t>
            </a:r>
            <a:endParaRPr lang="en-US" sz="584" dirty="0"/>
          </a:p>
        </p:txBody>
      </p:sp>
      <p:sp>
        <p:nvSpPr>
          <p:cNvPr id="49" name="Shape 45"/>
          <p:cNvSpPr/>
          <p:nvPr/>
        </p:nvSpPr>
        <p:spPr>
          <a:xfrm>
            <a:off x="1035816" y="3566517"/>
            <a:ext cx="331208" cy="2428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0" name="Text 46"/>
          <p:cNvSpPr/>
          <p:nvPr/>
        </p:nvSpPr>
        <p:spPr>
          <a:xfrm>
            <a:off x="1035816" y="3566517"/>
            <a:ext cx="331208" cy="242888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4748B"/>
                </a:solidFill>
              </a:rPr>
              <a:t>박반장</a:t>
            </a:r>
            <a:endParaRPr lang="en-US" sz="568" dirty="0"/>
          </a:p>
        </p:txBody>
      </p:sp>
      <p:sp>
        <p:nvSpPr>
          <p:cNvPr id="51" name="Shape 47"/>
          <p:cNvSpPr/>
          <p:nvPr/>
        </p:nvSpPr>
        <p:spPr>
          <a:xfrm>
            <a:off x="1409886" y="3566517"/>
            <a:ext cx="331208" cy="2428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2" name="Text 48"/>
          <p:cNvSpPr/>
          <p:nvPr/>
        </p:nvSpPr>
        <p:spPr>
          <a:xfrm>
            <a:off x="1409886" y="3566517"/>
            <a:ext cx="331208" cy="242888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4748B"/>
                </a:solidFill>
              </a:rPr>
              <a:t>조인성</a:t>
            </a:r>
            <a:endParaRPr lang="en-US" sz="568" dirty="0"/>
          </a:p>
        </p:txBody>
      </p:sp>
      <p:sp>
        <p:nvSpPr>
          <p:cNvPr id="53" name="Shape 49"/>
          <p:cNvSpPr/>
          <p:nvPr/>
        </p:nvSpPr>
        <p:spPr>
          <a:xfrm>
            <a:off x="3957610" y="1371600"/>
            <a:ext cx="4900613" cy="867184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4043335" y="1466255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5" name="Text 51"/>
          <p:cNvSpPr/>
          <p:nvPr/>
        </p:nvSpPr>
        <p:spPr>
          <a:xfrm>
            <a:off x="4043335" y="1466255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56" name="Text 52"/>
          <p:cNvSpPr/>
          <p:nvPr/>
        </p:nvSpPr>
        <p:spPr>
          <a:xfrm>
            <a:off x="4343372" y="1457325"/>
            <a:ext cx="188357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미배정 인원 리스트 (Unassigned)</a:t>
            </a:r>
            <a:endParaRPr lang="en-US" sz="885" dirty="0"/>
          </a:p>
        </p:txBody>
      </p:sp>
      <p:sp>
        <p:nvSpPr>
          <p:cNvPr id="57" name="Text 53"/>
          <p:cNvSpPr/>
          <p:nvPr/>
        </p:nvSpPr>
        <p:spPr>
          <a:xfrm>
            <a:off x="4043335" y="1703784"/>
            <a:ext cx="4729163" cy="4349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대상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금일 출역 승인되었으나 팀이 없는 근로자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필터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직종별(조적, 미장, 용접 등) 필터링 제공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UI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가로 스크롤 칩 형태, 드래그 가능 표시</a:t>
            </a:r>
            <a:endParaRPr lang="en-US" sz="727" dirty="0"/>
          </a:p>
        </p:txBody>
      </p:sp>
      <p:sp>
        <p:nvSpPr>
          <p:cNvPr id="58" name="Shape 54"/>
          <p:cNvSpPr/>
          <p:nvPr/>
        </p:nvSpPr>
        <p:spPr>
          <a:xfrm>
            <a:off x="3957610" y="2310222"/>
            <a:ext cx="4900613" cy="867184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59" name="Shape 55"/>
          <p:cNvSpPr/>
          <p:nvPr/>
        </p:nvSpPr>
        <p:spPr>
          <a:xfrm>
            <a:off x="4043335" y="2404876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0" name="Text 56"/>
          <p:cNvSpPr/>
          <p:nvPr/>
        </p:nvSpPr>
        <p:spPr>
          <a:xfrm>
            <a:off x="4043335" y="2404876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61" name="Text 57"/>
          <p:cNvSpPr/>
          <p:nvPr/>
        </p:nvSpPr>
        <p:spPr>
          <a:xfrm>
            <a:off x="4343372" y="2395947"/>
            <a:ext cx="162227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드래그 앤 드롭 (Interaction)</a:t>
            </a:r>
            <a:endParaRPr lang="en-US" sz="885" dirty="0"/>
          </a:p>
        </p:txBody>
      </p:sp>
      <p:sp>
        <p:nvSpPr>
          <p:cNvPr id="62" name="Text 58"/>
          <p:cNvSpPr/>
          <p:nvPr/>
        </p:nvSpPr>
        <p:spPr>
          <a:xfrm>
            <a:off x="4043335" y="2642406"/>
            <a:ext cx="4729163" cy="4349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동작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롱프레스(0.5초) 후 드래그 시작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피드백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드롭 가능한 팀 영역 진입 시 점선 테두리 및 배경색 변경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제약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팀 정원 초과 시 드롭 불가 (Toast 메시지 노출)</a:t>
            </a:r>
            <a:endParaRPr lang="en-US" sz="727" dirty="0"/>
          </a:p>
        </p:txBody>
      </p:sp>
      <p:sp>
        <p:nvSpPr>
          <p:cNvPr id="63" name="Shape 59"/>
          <p:cNvSpPr/>
          <p:nvPr/>
        </p:nvSpPr>
        <p:spPr>
          <a:xfrm>
            <a:off x="3957610" y="3248844"/>
            <a:ext cx="4900613" cy="966862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64" name="Shape 60"/>
          <p:cNvSpPr/>
          <p:nvPr/>
        </p:nvSpPr>
        <p:spPr>
          <a:xfrm>
            <a:off x="4043335" y="3343498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5" name="Text 61"/>
          <p:cNvSpPr/>
          <p:nvPr/>
        </p:nvSpPr>
        <p:spPr>
          <a:xfrm>
            <a:off x="4043335" y="3343498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66" name="Text 62"/>
          <p:cNvSpPr/>
          <p:nvPr/>
        </p:nvSpPr>
        <p:spPr>
          <a:xfrm>
            <a:off x="4343372" y="3334569"/>
            <a:ext cx="92840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배정 저장 및 알림</a:t>
            </a:r>
            <a:endParaRPr lang="en-US" sz="885" dirty="0"/>
          </a:p>
        </p:txBody>
      </p:sp>
      <p:sp>
        <p:nvSpPr>
          <p:cNvPr id="67" name="Text 63"/>
          <p:cNvSpPr/>
          <p:nvPr/>
        </p:nvSpPr>
        <p:spPr>
          <a:xfrm>
            <a:off x="4043335" y="3581028"/>
            <a:ext cx="4729163" cy="289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저장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우측 상단 '저장' 버튼 클릭 시 일괄 반영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알림</a:t>
            </a:r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배정된 팀장에게 "새로운 팀원이 배정되었습니다" 푸시 발송</a:t>
            </a:r>
            <a:endParaRPr lang="en-US" sz="727" dirty="0"/>
          </a:p>
        </p:txBody>
      </p:sp>
      <p:sp>
        <p:nvSpPr>
          <p:cNvPr id="68" name="Shape 64"/>
          <p:cNvSpPr/>
          <p:nvPr/>
        </p:nvSpPr>
        <p:spPr>
          <a:xfrm>
            <a:off x="4043335" y="3928170"/>
            <a:ext cx="1264025" cy="187523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69" name="Text 65"/>
          <p:cNvSpPr/>
          <p:nvPr/>
        </p:nvSpPr>
        <p:spPr>
          <a:xfrm>
            <a:off x="4043335" y="3928170"/>
            <a:ext cx="1264025" cy="187523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POST /api/site/teams/assign</a:t>
            </a:r>
            <a:endParaRPr lang="en-US" sz="621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8715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1285875"/>
            <a:ext cx="85725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428625"/>
            <a:ext cx="857250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spc="-1" kern="0" dirty="0">
                <a:solidFill>
                  <a:srgbClr val="3B82F6"/>
                </a:solidFill>
              </a:rPr>
              <a:t>[현장] 근로계약 관리 및 서명 요청 (Mobile Web)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285750" y="935831"/>
            <a:ext cx="8572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현장 소속 근로자의 계약 상태 확인 및 카카오톡 서명 요청 발송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823903" y="1557338"/>
            <a:ext cx="2400300" cy="3400425"/>
          </a:xfrm>
          <a:prstGeom prst="rect">
            <a:avLst/>
          </a:prstGeom>
          <a:solidFill>
            <a:srgbClr val="000000"/>
          </a:solidFill>
          <a:ln w="54864">
            <a:solidFill>
              <a:srgbClr val="33415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852728" y="2185988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6"/>
          <p:cNvSpPr/>
          <p:nvPr/>
        </p:nvSpPr>
        <p:spPr>
          <a:xfrm>
            <a:off x="2852728" y="2185988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10" name="Shape 7"/>
          <p:cNvSpPr/>
          <p:nvPr/>
        </p:nvSpPr>
        <p:spPr>
          <a:xfrm>
            <a:off x="2852728" y="3043238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8"/>
          <p:cNvSpPr/>
          <p:nvPr/>
        </p:nvSpPr>
        <p:spPr>
          <a:xfrm>
            <a:off x="2852728" y="3043238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12" name="Shape 9"/>
          <p:cNvSpPr/>
          <p:nvPr/>
        </p:nvSpPr>
        <p:spPr>
          <a:xfrm>
            <a:off x="2852728" y="4157663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3" name="Text 10"/>
          <p:cNvSpPr/>
          <p:nvPr/>
        </p:nvSpPr>
        <p:spPr>
          <a:xfrm>
            <a:off x="2852728" y="4157663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14" name="Shape 11"/>
          <p:cNvSpPr/>
          <p:nvPr/>
        </p:nvSpPr>
        <p:spPr>
          <a:xfrm>
            <a:off x="881053" y="1614488"/>
            <a:ext cx="2286000" cy="32861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Shape 12"/>
          <p:cNvSpPr/>
          <p:nvPr/>
        </p:nvSpPr>
        <p:spPr>
          <a:xfrm>
            <a:off x="881053" y="1614488"/>
            <a:ext cx="2286000" cy="307181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491" y="1710928"/>
            <a:ext cx="100013" cy="1143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686567" y="1685925"/>
            <a:ext cx="660657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근로계약 관리</a:t>
            </a:r>
            <a:endParaRPr lang="en-US" sz="784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1288" y="1710928"/>
            <a:ext cx="114300" cy="1143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881053" y="1921669"/>
            <a:ext cx="2286000" cy="42505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5"/>
          <p:cNvSpPr/>
          <p:nvPr/>
        </p:nvSpPr>
        <p:spPr>
          <a:xfrm>
            <a:off x="881053" y="2339578"/>
            <a:ext cx="228600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Text 16"/>
          <p:cNvSpPr/>
          <p:nvPr/>
        </p:nvSpPr>
        <p:spPr>
          <a:xfrm>
            <a:off x="1187621" y="1978819"/>
            <a:ext cx="14865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E293B"/>
                </a:solidFill>
              </a:rPr>
              <a:t>45</a:t>
            </a:r>
            <a:endParaRPr lang="en-US" sz="885" dirty="0"/>
          </a:p>
        </p:txBody>
      </p:sp>
      <p:sp>
        <p:nvSpPr>
          <p:cNvPr id="22" name="Text 17"/>
          <p:cNvSpPr/>
          <p:nvPr/>
        </p:nvSpPr>
        <p:spPr>
          <a:xfrm>
            <a:off x="1187621" y="2168128"/>
            <a:ext cx="14865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4748B"/>
                </a:solidFill>
              </a:rPr>
              <a:t>전체</a:t>
            </a:r>
            <a:endParaRPr lang="en-US" sz="568" dirty="0"/>
          </a:p>
        </p:txBody>
      </p:sp>
      <p:sp>
        <p:nvSpPr>
          <p:cNvPr id="23" name="Text 18"/>
          <p:cNvSpPr/>
          <p:nvPr/>
        </p:nvSpPr>
        <p:spPr>
          <a:xfrm>
            <a:off x="1835107" y="1978819"/>
            <a:ext cx="30963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0B981"/>
                </a:solidFill>
              </a:rPr>
              <a:t>40</a:t>
            </a:r>
            <a:endParaRPr lang="en-US" sz="885" dirty="0"/>
          </a:p>
        </p:txBody>
      </p:sp>
      <p:sp>
        <p:nvSpPr>
          <p:cNvPr id="24" name="Text 19"/>
          <p:cNvSpPr/>
          <p:nvPr/>
        </p:nvSpPr>
        <p:spPr>
          <a:xfrm>
            <a:off x="1835107" y="2168128"/>
            <a:ext cx="30963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4748B"/>
                </a:solidFill>
              </a:rPr>
              <a:t>체결 완료</a:t>
            </a:r>
            <a:endParaRPr lang="en-US" sz="568" dirty="0"/>
          </a:p>
        </p:txBody>
      </p:sp>
      <p:sp>
        <p:nvSpPr>
          <p:cNvPr id="25" name="Text 20"/>
          <p:cNvSpPr/>
          <p:nvPr/>
        </p:nvSpPr>
        <p:spPr>
          <a:xfrm>
            <a:off x="2643578" y="1978819"/>
            <a:ext cx="21690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F4444"/>
                </a:solidFill>
              </a:rPr>
              <a:t>5</a:t>
            </a:r>
            <a:endParaRPr lang="en-US" sz="885" dirty="0"/>
          </a:p>
        </p:txBody>
      </p:sp>
      <p:sp>
        <p:nvSpPr>
          <p:cNvPr id="26" name="Text 21"/>
          <p:cNvSpPr/>
          <p:nvPr/>
        </p:nvSpPr>
        <p:spPr>
          <a:xfrm>
            <a:off x="2643578" y="2168128"/>
            <a:ext cx="21690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64748B"/>
                </a:solidFill>
              </a:rPr>
              <a:t>미체결</a:t>
            </a:r>
            <a:endParaRPr lang="en-US" sz="568" dirty="0"/>
          </a:p>
        </p:txBody>
      </p:sp>
      <p:sp>
        <p:nvSpPr>
          <p:cNvPr id="27" name="Shape 22"/>
          <p:cNvSpPr/>
          <p:nvPr/>
        </p:nvSpPr>
        <p:spPr>
          <a:xfrm>
            <a:off x="952491" y="2411016"/>
            <a:ext cx="2143125" cy="600075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1023928" y="2489597"/>
            <a:ext cx="631636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1E293B"/>
                </a:solidFill>
              </a:rPr>
              <a:t>김철수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 | 조적공</a:t>
            </a:r>
            <a:endParaRPr lang="en-US" sz="734" dirty="0"/>
          </a:p>
        </p:txBody>
      </p:sp>
      <p:sp>
        <p:nvSpPr>
          <p:cNvPr id="29" name="Shape 24"/>
          <p:cNvSpPr/>
          <p:nvPr/>
        </p:nvSpPr>
        <p:spPr>
          <a:xfrm>
            <a:off x="2692971" y="2482453"/>
            <a:ext cx="331208" cy="17145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0" name="Text 25"/>
          <p:cNvSpPr/>
          <p:nvPr/>
        </p:nvSpPr>
        <p:spPr>
          <a:xfrm>
            <a:off x="2692971" y="2482453"/>
            <a:ext cx="331208" cy="171450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991B1B"/>
                </a:solidFill>
              </a:rPr>
              <a:t>미체결</a:t>
            </a:r>
            <a:endParaRPr lang="en-US" sz="534" dirty="0"/>
          </a:p>
        </p:txBody>
      </p:sp>
      <p:sp>
        <p:nvSpPr>
          <p:cNvPr id="31" name="Shape 26"/>
          <p:cNvSpPr/>
          <p:nvPr/>
        </p:nvSpPr>
        <p:spPr>
          <a:xfrm>
            <a:off x="1023928" y="2696766"/>
            <a:ext cx="2000250" cy="2286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2" name="Text 27"/>
          <p:cNvSpPr/>
          <p:nvPr/>
        </p:nvSpPr>
        <p:spPr>
          <a:xfrm>
            <a:off x="1023928" y="2696766"/>
            <a:ext cx="2000250" cy="228600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서명 요청 (알림톡)</a:t>
            </a:r>
            <a:endParaRPr lang="en-US" sz="584" dirty="0"/>
          </a:p>
        </p:txBody>
      </p:sp>
      <p:sp>
        <p:nvSpPr>
          <p:cNvPr id="33" name="Shape 28"/>
          <p:cNvSpPr/>
          <p:nvPr/>
        </p:nvSpPr>
        <p:spPr>
          <a:xfrm>
            <a:off x="952491" y="3053953"/>
            <a:ext cx="2143125" cy="614363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1023928" y="3132534"/>
            <a:ext cx="631636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1E293B"/>
                </a:solidFill>
              </a:rPr>
              <a:t>이영희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 | 미장공</a:t>
            </a:r>
            <a:endParaRPr lang="en-US" sz="734" dirty="0"/>
          </a:p>
        </p:txBody>
      </p:sp>
      <p:sp>
        <p:nvSpPr>
          <p:cNvPr id="35" name="Shape 30"/>
          <p:cNvSpPr/>
          <p:nvPr/>
        </p:nvSpPr>
        <p:spPr>
          <a:xfrm>
            <a:off x="2600241" y="3125391"/>
            <a:ext cx="423937" cy="17145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6" name="Text 31"/>
          <p:cNvSpPr/>
          <p:nvPr/>
        </p:nvSpPr>
        <p:spPr>
          <a:xfrm>
            <a:off x="2600241" y="3125391"/>
            <a:ext cx="423937" cy="171450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166534"/>
                </a:solidFill>
              </a:rPr>
              <a:t>체결 완료</a:t>
            </a:r>
            <a:endParaRPr lang="en-US" sz="534" dirty="0"/>
          </a:p>
        </p:txBody>
      </p:sp>
      <p:sp>
        <p:nvSpPr>
          <p:cNvPr id="37" name="Shape 32"/>
          <p:cNvSpPr/>
          <p:nvPr/>
        </p:nvSpPr>
        <p:spPr>
          <a:xfrm>
            <a:off x="1023928" y="3339703"/>
            <a:ext cx="2000250" cy="242888"/>
          </a:xfrm>
          <a:prstGeom prst="rect">
            <a:avLst/>
          </a:prstGeom>
          <a:solidFill>
            <a:srgbClr val="F1F5F9"/>
          </a:solidFill>
          <a:ln w="9144">
            <a:solidFill>
              <a:srgbClr val="CBD5E1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1023928" y="3339703"/>
            <a:ext cx="2000250" cy="242888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475569"/>
                </a:solidFill>
              </a:rPr>
              <a:t>계약서 보기</a:t>
            </a:r>
            <a:endParaRPr lang="en-US" sz="584" dirty="0"/>
          </a:p>
        </p:txBody>
      </p:sp>
      <p:sp>
        <p:nvSpPr>
          <p:cNvPr id="39" name="Shape 34"/>
          <p:cNvSpPr/>
          <p:nvPr/>
        </p:nvSpPr>
        <p:spPr>
          <a:xfrm>
            <a:off x="952491" y="3696891"/>
            <a:ext cx="2143125" cy="614363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1023928" y="3775472"/>
            <a:ext cx="631636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1E293B"/>
                </a:solidFill>
              </a:rPr>
              <a:t>박민수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 | 용접공</a:t>
            </a:r>
            <a:endParaRPr lang="en-US" sz="734" dirty="0"/>
          </a:p>
        </p:txBody>
      </p:sp>
      <p:sp>
        <p:nvSpPr>
          <p:cNvPr id="41" name="Shape 36"/>
          <p:cNvSpPr/>
          <p:nvPr/>
        </p:nvSpPr>
        <p:spPr>
          <a:xfrm>
            <a:off x="2692971" y="3768328"/>
            <a:ext cx="331208" cy="17145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42" name="Text 37"/>
          <p:cNvSpPr/>
          <p:nvPr/>
        </p:nvSpPr>
        <p:spPr>
          <a:xfrm>
            <a:off x="2692971" y="3768328"/>
            <a:ext cx="331208" cy="171450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92400E"/>
                </a:solidFill>
              </a:rPr>
              <a:t>요청중</a:t>
            </a:r>
            <a:endParaRPr lang="en-US" sz="534" dirty="0"/>
          </a:p>
        </p:txBody>
      </p:sp>
      <p:sp>
        <p:nvSpPr>
          <p:cNvPr id="43" name="Shape 38"/>
          <p:cNvSpPr/>
          <p:nvPr/>
        </p:nvSpPr>
        <p:spPr>
          <a:xfrm>
            <a:off x="1023928" y="3982641"/>
            <a:ext cx="2000250" cy="242888"/>
          </a:xfrm>
          <a:prstGeom prst="rect">
            <a:avLst/>
          </a:prstGeom>
          <a:solidFill>
            <a:srgbClr val="FFF7ED"/>
          </a:solidFill>
          <a:ln w="9144">
            <a:solidFill>
              <a:srgbClr val="FFEDD5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1023928" y="3982641"/>
            <a:ext cx="2000250" cy="242888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C2410C"/>
                </a:solidFill>
              </a:rPr>
              <a:t>재발송</a:t>
            </a:r>
            <a:endParaRPr lang="en-US" sz="584" dirty="0"/>
          </a:p>
        </p:txBody>
      </p:sp>
      <p:sp>
        <p:nvSpPr>
          <p:cNvPr id="45" name="Shape 40"/>
          <p:cNvSpPr/>
          <p:nvPr/>
        </p:nvSpPr>
        <p:spPr>
          <a:xfrm>
            <a:off x="881053" y="4529138"/>
            <a:ext cx="2286000" cy="3714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Shape 41"/>
          <p:cNvSpPr/>
          <p:nvPr/>
        </p:nvSpPr>
        <p:spPr>
          <a:xfrm>
            <a:off x="881053" y="4529138"/>
            <a:ext cx="228600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7" name="Shape 42"/>
          <p:cNvSpPr/>
          <p:nvPr/>
        </p:nvSpPr>
        <p:spPr>
          <a:xfrm>
            <a:off x="938203" y="4593431"/>
            <a:ext cx="2171700" cy="250031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8" name="Text 43"/>
          <p:cNvSpPr/>
          <p:nvPr/>
        </p:nvSpPr>
        <p:spPr>
          <a:xfrm>
            <a:off x="938203" y="4593431"/>
            <a:ext cx="2171700" cy="25003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미체결 인원 일괄 요청 (5명)</a:t>
            </a:r>
            <a:endParaRPr lang="en-US" sz="683" dirty="0"/>
          </a:p>
        </p:txBody>
      </p:sp>
      <p:sp>
        <p:nvSpPr>
          <p:cNvPr id="49" name="Shape 44"/>
          <p:cNvSpPr/>
          <p:nvPr/>
        </p:nvSpPr>
        <p:spPr>
          <a:xfrm>
            <a:off x="3990956" y="1766878"/>
            <a:ext cx="4867294" cy="869361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4062394" y="1854389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1" name="Text 46"/>
          <p:cNvSpPr/>
          <p:nvPr/>
        </p:nvSpPr>
        <p:spPr>
          <a:xfrm>
            <a:off x="4062394" y="1854389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52" name="Text 47"/>
          <p:cNvSpPr/>
          <p:nvPr/>
        </p:nvSpPr>
        <p:spPr>
          <a:xfrm>
            <a:off x="4376719" y="1845459"/>
            <a:ext cx="227294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계약 현황 대시보드 (Status Dashboard)</a:t>
            </a:r>
            <a:endParaRPr lang="en-US" sz="885" dirty="0"/>
          </a:p>
        </p:txBody>
      </p:sp>
      <p:sp>
        <p:nvSpPr>
          <p:cNvPr id="53" name="Text 48"/>
          <p:cNvSpPr/>
          <p:nvPr/>
        </p:nvSpPr>
        <p:spPr>
          <a:xfrm>
            <a:off x="4062394" y="2077631"/>
            <a:ext cx="4724419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집계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해당 현장 소속 근로자의 계약 상태 실시간 카운트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필터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미체결/요청중/체결완료 상태별 필터링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정렬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미체결 인원 우선 노출 (Action 필요 항목 상단 배치)</a:t>
            </a:r>
            <a:endParaRPr lang="en-US" sz="727" dirty="0"/>
          </a:p>
        </p:txBody>
      </p:sp>
      <p:sp>
        <p:nvSpPr>
          <p:cNvPr id="54" name="Shape 49"/>
          <p:cNvSpPr/>
          <p:nvPr/>
        </p:nvSpPr>
        <p:spPr>
          <a:xfrm>
            <a:off x="3990956" y="2700533"/>
            <a:ext cx="4867294" cy="1099747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55" name="Shape 50"/>
          <p:cNvSpPr/>
          <p:nvPr/>
        </p:nvSpPr>
        <p:spPr>
          <a:xfrm>
            <a:off x="4062394" y="2788044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6" name="Text 51"/>
          <p:cNvSpPr/>
          <p:nvPr/>
        </p:nvSpPr>
        <p:spPr>
          <a:xfrm>
            <a:off x="4062394" y="2788044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57" name="Text 52"/>
          <p:cNvSpPr/>
          <p:nvPr/>
        </p:nvSpPr>
        <p:spPr>
          <a:xfrm>
            <a:off x="4376719" y="2779114"/>
            <a:ext cx="217583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서명 요청 프로세스 (Request Process)</a:t>
            </a:r>
            <a:endParaRPr lang="en-US" sz="885" dirty="0"/>
          </a:p>
        </p:txBody>
      </p:sp>
      <p:sp>
        <p:nvSpPr>
          <p:cNvPr id="58" name="Text 53"/>
          <p:cNvSpPr/>
          <p:nvPr/>
        </p:nvSpPr>
        <p:spPr>
          <a:xfrm>
            <a:off x="4062394" y="3011286"/>
            <a:ext cx="4724419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채널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카카오톡 알림톡 (비즈니스 채널) 발송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내용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"근로계약서 서명 요청" 메시지 및 고유 링크(Deep Link) 포함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유효기간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링크 유효기간 24시간 설정 (보안 강화)</a:t>
            </a:r>
            <a:endParaRPr lang="en-US" sz="727" dirty="0"/>
          </a:p>
        </p:txBody>
      </p:sp>
      <p:sp>
        <p:nvSpPr>
          <p:cNvPr id="59" name="Shape 54"/>
          <p:cNvSpPr/>
          <p:nvPr/>
        </p:nvSpPr>
        <p:spPr>
          <a:xfrm>
            <a:off x="4062394" y="3534175"/>
            <a:ext cx="1437373" cy="187523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60" name="Text 55"/>
          <p:cNvSpPr/>
          <p:nvPr/>
        </p:nvSpPr>
        <p:spPr>
          <a:xfrm>
            <a:off x="4062394" y="3534175"/>
            <a:ext cx="1437373" cy="187523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POST /api/site/contracts/request</a:t>
            </a:r>
            <a:endParaRPr lang="en-US" sz="621" dirty="0"/>
          </a:p>
        </p:txBody>
      </p:sp>
      <p:sp>
        <p:nvSpPr>
          <p:cNvPr id="61" name="Shape 56"/>
          <p:cNvSpPr/>
          <p:nvPr/>
        </p:nvSpPr>
        <p:spPr>
          <a:xfrm>
            <a:off x="3990956" y="3857430"/>
            <a:ext cx="4867294" cy="869361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62" name="Shape 57"/>
          <p:cNvSpPr/>
          <p:nvPr/>
        </p:nvSpPr>
        <p:spPr>
          <a:xfrm>
            <a:off x="4062394" y="3944941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3" name="Text 58"/>
          <p:cNvSpPr/>
          <p:nvPr/>
        </p:nvSpPr>
        <p:spPr>
          <a:xfrm>
            <a:off x="4062394" y="3944941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64" name="Text 59"/>
          <p:cNvSpPr/>
          <p:nvPr/>
        </p:nvSpPr>
        <p:spPr>
          <a:xfrm>
            <a:off x="4376719" y="3936011"/>
            <a:ext cx="1364456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일괄 처리 (Bulk Action)</a:t>
            </a:r>
            <a:endParaRPr lang="en-US" sz="885" dirty="0"/>
          </a:p>
        </p:txBody>
      </p:sp>
      <p:sp>
        <p:nvSpPr>
          <p:cNvPr id="65" name="Text 60"/>
          <p:cNvSpPr/>
          <p:nvPr/>
        </p:nvSpPr>
        <p:spPr>
          <a:xfrm>
            <a:off x="4062394" y="4168183"/>
            <a:ext cx="4724419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대상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'미체결' 상태인 모든 근로자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제한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1일 최대 3회 발송 제한 (스팸 방지)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피드백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발송 성공/실패 건수 Toast 메시지 표시</a:t>
            </a:r>
            <a:endParaRPr lang="en-US" sz="727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7207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8143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1228725"/>
            <a:ext cx="85725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428625"/>
            <a:ext cx="857250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spc="-1" kern="0" dirty="0">
                <a:solidFill>
                  <a:srgbClr val="3B82F6"/>
                </a:solidFill>
              </a:rPr>
              <a:t>[현장] 노무비 명세서 조회 (Mobile Web)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285750" y="935831"/>
            <a:ext cx="8572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근로자별 월간 예상 노무비 조회 및 명세서 발송 관리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817931" y="1357313"/>
            <a:ext cx="2400300" cy="3543300"/>
          </a:xfrm>
          <a:prstGeom prst="rect">
            <a:avLst/>
          </a:prstGeom>
          <a:solidFill>
            <a:srgbClr val="000000"/>
          </a:solidFill>
          <a:ln w="54864">
            <a:solidFill>
              <a:srgbClr val="33415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846756" y="2336006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6"/>
          <p:cNvSpPr/>
          <p:nvPr/>
        </p:nvSpPr>
        <p:spPr>
          <a:xfrm>
            <a:off x="2846756" y="2336006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10" name="Shape 7"/>
          <p:cNvSpPr/>
          <p:nvPr/>
        </p:nvSpPr>
        <p:spPr>
          <a:xfrm>
            <a:off x="2846756" y="2907506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8"/>
          <p:cNvSpPr/>
          <p:nvPr/>
        </p:nvSpPr>
        <p:spPr>
          <a:xfrm>
            <a:off x="2846756" y="2907506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12" name="Shape 9"/>
          <p:cNvSpPr/>
          <p:nvPr/>
        </p:nvSpPr>
        <p:spPr>
          <a:xfrm>
            <a:off x="2846756" y="3479006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3" name="Text 10"/>
          <p:cNvSpPr/>
          <p:nvPr/>
        </p:nvSpPr>
        <p:spPr>
          <a:xfrm>
            <a:off x="2846756" y="3479006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14" name="Shape 11"/>
          <p:cNvSpPr/>
          <p:nvPr/>
        </p:nvSpPr>
        <p:spPr>
          <a:xfrm>
            <a:off x="875081" y="1407319"/>
            <a:ext cx="2286000" cy="3429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Shape 12"/>
          <p:cNvSpPr/>
          <p:nvPr/>
        </p:nvSpPr>
        <p:spPr>
          <a:xfrm>
            <a:off x="875081" y="1407319"/>
            <a:ext cx="2286000" cy="378619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238" y="1539478"/>
            <a:ext cx="100013" cy="1143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733169" y="1514475"/>
            <a:ext cx="55551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노무비 관리</a:t>
            </a:r>
            <a:endParaRPr lang="en-US" sz="784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9597" y="1539478"/>
            <a:ext cx="114300" cy="1143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875081" y="1785938"/>
            <a:ext cx="2286000" cy="36790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5"/>
          <p:cNvSpPr/>
          <p:nvPr/>
        </p:nvSpPr>
        <p:spPr>
          <a:xfrm>
            <a:off x="875081" y="2146697"/>
            <a:ext cx="2286000" cy="7144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4513" y="1902023"/>
            <a:ext cx="80367" cy="1285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99180" y="1871663"/>
            <a:ext cx="63780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E293B"/>
                </a:solidFill>
              </a:rPr>
              <a:t>2024년 1월</a:t>
            </a:r>
            <a:endParaRPr lang="en-US" sz="885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1283" y="1902023"/>
            <a:ext cx="80367" cy="128588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875081" y="2146697"/>
            <a:ext cx="2286000" cy="478631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5" name="Shape 18"/>
          <p:cNvSpPr/>
          <p:nvPr/>
        </p:nvSpPr>
        <p:spPr>
          <a:xfrm>
            <a:off x="875081" y="2618184"/>
            <a:ext cx="2286000" cy="7144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26" name="Text 19"/>
          <p:cNvSpPr/>
          <p:nvPr/>
        </p:nvSpPr>
        <p:spPr>
          <a:xfrm>
            <a:off x="960806" y="2232422"/>
            <a:ext cx="4755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64748B"/>
                </a:solidFill>
              </a:rPr>
              <a:t>총 지급 대상</a:t>
            </a:r>
            <a:endParaRPr lang="en-US" sz="674" dirty="0"/>
          </a:p>
        </p:txBody>
      </p:sp>
      <p:sp>
        <p:nvSpPr>
          <p:cNvPr id="27" name="Text 20"/>
          <p:cNvSpPr/>
          <p:nvPr/>
        </p:nvSpPr>
        <p:spPr>
          <a:xfrm>
            <a:off x="960806" y="2368153"/>
            <a:ext cx="47550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E293B"/>
                </a:solidFill>
              </a:rPr>
              <a:t>45명</a:t>
            </a:r>
            <a:endParaRPr lang="en-US" sz="784" dirty="0"/>
          </a:p>
        </p:txBody>
      </p:sp>
      <p:sp>
        <p:nvSpPr>
          <p:cNvPr id="28" name="Text 21"/>
          <p:cNvSpPr/>
          <p:nvPr/>
        </p:nvSpPr>
        <p:spPr>
          <a:xfrm>
            <a:off x="2307934" y="2232422"/>
            <a:ext cx="76742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64748B"/>
                </a:solidFill>
              </a:rPr>
              <a:t>예상 지급 총액</a:t>
            </a:r>
            <a:endParaRPr lang="en-US" sz="674" dirty="0"/>
          </a:p>
        </p:txBody>
      </p:sp>
      <p:sp>
        <p:nvSpPr>
          <p:cNvPr id="29" name="Text 22"/>
          <p:cNvSpPr/>
          <p:nvPr/>
        </p:nvSpPr>
        <p:spPr>
          <a:xfrm>
            <a:off x="2307934" y="2368153"/>
            <a:ext cx="767423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B82F6"/>
                </a:solidFill>
              </a:rPr>
              <a:t>125,400,000원</a:t>
            </a:r>
            <a:endParaRPr lang="en-US" sz="784" dirty="0"/>
          </a:p>
        </p:txBody>
      </p:sp>
      <p:sp>
        <p:nvSpPr>
          <p:cNvPr id="30" name="Shape 23"/>
          <p:cNvSpPr/>
          <p:nvPr/>
        </p:nvSpPr>
        <p:spPr>
          <a:xfrm>
            <a:off x="917944" y="2661047"/>
            <a:ext cx="2200275" cy="771525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1003669" y="2769096"/>
            <a:ext cx="29576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1E293B"/>
                </a:solidFill>
              </a:rPr>
              <a:t>김철수</a:t>
            </a:r>
            <a:endParaRPr lang="en-US" sz="734" dirty="0"/>
          </a:p>
        </p:txBody>
      </p:sp>
      <p:sp>
        <p:nvSpPr>
          <p:cNvPr id="32" name="Shape 25"/>
          <p:cNvSpPr/>
          <p:nvPr/>
        </p:nvSpPr>
        <p:spPr>
          <a:xfrm>
            <a:off x="1356587" y="2769096"/>
            <a:ext cx="322334" cy="155377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3" name="Text 26"/>
          <p:cNvSpPr/>
          <p:nvPr/>
        </p:nvSpPr>
        <p:spPr>
          <a:xfrm>
            <a:off x="1356587" y="2769096"/>
            <a:ext cx="322334" cy="155377"/>
          </a:xfrm>
          <a:prstGeom prst="rect">
            <a:avLst/>
          </a:prstGeom>
          <a:noFill/>
          <a:ln/>
        </p:spPr>
        <p:txBody>
          <a:bodyPr wrap="square" lIns="51054" tIns="17018" rIns="51054" bIns="17018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조적공</a:t>
            </a:r>
            <a:endParaRPr lang="en-US" sz="621" dirty="0"/>
          </a:p>
        </p:txBody>
      </p:sp>
      <p:sp>
        <p:nvSpPr>
          <p:cNvPr id="34" name="Shape 27"/>
          <p:cNvSpPr/>
          <p:nvPr/>
        </p:nvSpPr>
        <p:spPr>
          <a:xfrm>
            <a:off x="2408588" y="2746772"/>
            <a:ext cx="623906" cy="20002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5" name="Text 28"/>
          <p:cNvSpPr/>
          <p:nvPr/>
        </p:nvSpPr>
        <p:spPr>
          <a:xfrm>
            <a:off x="2408588" y="2746772"/>
            <a:ext cx="623906" cy="200025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명세서 발송</a:t>
            </a:r>
            <a:endParaRPr lang="en-US" sz="584" dirty="0"/>
          </a:p>
        </p:txBody>
      </p:sp>
      <p:sp>
        <p:nvSpPr>
          <p:cNvPr id="36" name="Text 29"/>
          <p:cNvSpPr/>
          <p:nvPr/>
        </p:nvSpPr>
        <p:spPr>
          <a:xfrm>
            <a:off x="1003669" y="2989659"/>
            <a:ext cx="99780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475569"/>
                </a:solidFill>
              </a:rPr>
              <a:t>25.0 공수 (단가 250,000)</a:t>
            </a:r>
            <a:endParaRPr lang="en-US" sz="674" dirty="0"/>
          </a:p>
        </p:txBody>
      </p:sp>
      <p:sp>
        <p:nvSpPr>
          <p:cNvPr id="37" name="Text 30"/>
          <p:cNvSpPr/>
          <p:nvPr/>
        </p:nvSpPr>
        <p:spPr>
          <a:xfrm>
            <a:off x="1003669" y="3182541"/>
            <a:ext cx="34178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475569"/>
                </a:solidFill>
              </a:rPr>
              <a:t>실지급액</a:t>
            </a:r>
            <a:endParaRPr lang="en-US" sz="674" dirty="0"/>
          </a:p>
        </p:txBody>
      </p:sp>
      <p:sp>
        <p:nvSpPr>
          <p:cNvPr id="38" name="Text 31"/>
          <p:cNvSpPr/>
          <p:nvPr/>
        </p:nvSpPr>
        <p:spPr>
          <a:xfrm>
            <a:off x="2397203" y="3168253"/>
            <a:ext cx="635291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E293B"/>
                </a:solidFill>
              </a:rPr>
              <a:t>6,052,100원</a:t>
            </a:r>
            <a:endParaRPr lang="en-US" sz="784" dirty="0"/>
          </a:p>
        </p:txBody>
      </p:sp>
      <p:sp>
        <p:nvSpPr>
          <p:cNvPr id="39" name="Shape 32"/>
          <p:cNvSpPr/>
          <p:nvPr/>
        </p:nvSpPr>
        <p:spPr>
          <a:xfrm>
            <a:off x="917944" y="3475434"/>
            <a:ext cx="2200275" cy="742950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1003669" y="3569196"/>
            <a:ext cx="29576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1E293B"/>
                </a:solidFill>
              </a:rPr>
              <a:t>이영희</a:t>
            </a:r>
            <a:endParaRPr lang="en-US" sz="734" dirty="0"/>
          </a:p>
        </p:txBody>
      </p:sp>
      <p:sp>
        <p:nvSpPr>
          <p:cNvPr id="41" name="Shape 34"/>
          <p:cNvSpPr/>
          <p:nvPr/>
        </p:nvSpPr>
        <p:spPr>
          <a:xfrm>
            <a:off x="1356587" y="3569196"/>
            <a:ext cx="322334" cy="155377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2" name="Text 35"/>
          <p:cNvSpPr/>
          <p:nvPr/>
        </p:nvSpPr>
        <p:spPr>
          <a:xfrm>
            <a:off x="1356587" y="3569196"/>
            <a:ext cx="322334" cy="155377"/>
          </a:xfrm>
          <a:prstGeom prst="rect">
            <a:avLst/>
          </a:prstGeom>
          <a:noFill/>
          <a:ln/>
        </p:spPr>
        <p:txBody>
          <a:bodyPr wrap="square" lIns="51054" tIns="17018" rIns="51054" bIns="17018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미장공</a:t>
            </a:r>
            <a:endParaRPr lang="en-US" sz="621" dirty="0"/>
          </a:p>
        </p:txBody>
      </p:sp>
      <p:sp>
        <p:nvSpPr>
          <p:cNvPr id="43" name="Shape 36"/>
          <p:cNvSpPr/>
          <p:nvPr/>
        </p:nvSpPr>
        <p:spPr>
          <a:xfrm>
            <a:off x="2594130" y="3561159"/>
            <a:ext cx="438364" cy="171450"/>
          </a:xfrm>
          <a:prstGeom prst="rect">
            <a:avLst/>
          </a:prstGeom>
          <a:solidFill>
            <a:srgbClr val="DCFCE7"/>
          </a:solidFill>
          <a:ln/>
        </p:spPr>
      </p:sp>
      <p:pic>
        <p:nvPicPr>
          <p:cNvPr id="4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51280" y="3607594"/>
            <a:ext cx="78581" cy="78581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2758436" y="3589734"/>
            <a:ext cx="21690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166534"/>
                </a:solidFill>
              </a:rPr>
              <a:t>발송됨</a:t>
            </a:r>
            <a:endParaRPr lang="en-US" sz="534" dirty="0"/>
          </a:p>
        </p:txBody>
      </p:sp>
      <p:sp>
        <p:nvSpPr>
          <p:cNvPr id="46" name="Text 38"/>
          <p:cNvSpPr/>
          <p:nvPr/>
        </p:nvSpPr>
        <p:spPr>
          <a:xfrm>
            <a:off x="1003669" y="3775472"/>
            <a:ext cx="99780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475569"/>
                </a:solidFill>
              </a:rPr>
              <a:t>22.5 공수 (단가 230,000)</a:t>
            </a:r>
            <a:endParaRPr lang="en-US" sz="674" dirty="0"/>
          </a:p>
        </p:txBody>
      </p:sp>
      <p:sp>
        <p:nvSpPr>
          <p:cNvPr id="47" name="Text 39"/>
          <p:cNvSpPr/>
          <p:nvPr/>
        </p:nvSpPr>
        <p:spPr>
          <a:xfrm>
            <a:off x="1003669" y="3968353"/>
            <a:ext cx="34178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475569"/>
                </a:solidFill>
              </a:rPr>
              <a:t>실지급액</a:t>
            </a:r>
            <a:endParaRPr lang="en-US" sz="674" dirty="0"/>
          </a:p>
        </p:txBody>
      </p:sp>
      <p:sp>
        <p:nvSpPr>
          <p:cNvPr id="48" name="Text 40"/>
          <p:cNvSpPr/>
          <p:nvPr/>
        </p:nvSpPr>
        <p:spPr>
          <a:xfrm>
            <a:off x="2397203" y="3954066"/>
            <a:ext cx="635291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E293B"/>
                </a:solidFill>
              </a:rPr>
              <a:t>4,980,500원</a:t>
            </a:r>
            <a:endParaRPr lang="en-US" sz="784" dirty="0"/>
          </a:p>
        </p:txBody>
      </p:sp>
      <p:sp>
        <p:nvSpPr>
          <p:cNvPr id="49" name="Shape 41"/>
          <p:cNvSpPr/>
          <p:nvPr/>
        </p:nvSpPr>
        <p:spPr>
          <a:xfrm>
            <a:off x="4007616" y="1437373"/>
            <a:ext cx="4850606" cy="1142609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50" name="Shape 42"/>
          <p:cNvSpPr/>
          <p:nvPr/>
        </p:nvSpPr>
        <p:spPr>
          <a:xfrm>
            <a:off x="4093341" y="1539171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1" name="Text 43"/>
          <p:cNvSpPr/>
          <p:nvPr/>
        </p:nvSpPr>
        <p:spPr>
          <a:xfrm>
            <a:off x="4093341" y="1539171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52" name="Text 44"/>
          <p:cNvSpPr/>
          <p:nvPr/>
        </p:nvSpPr>
        <p:spPr>
          <a:xfrm>
            <a:off x="4407666" y="1530241"/>
            <a:ext cx="238852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월간 집계 데이터 (Monthly Aggregation)</a:t>
            </a:r>
            <a:endParaRPr lang="en-US" sz="885" dirty="0"/>
          </a:p>
        </p:txBody>
      </p:sp>
      <p:sp>
        <p:nvSpPr>
          <p:cNvPr id="53" name="Text 45"/>
          <p:cNvSpPr/>
          <p:nvPr/>
        </p:nvSpPr>
        <p:spPr>
          <a:xfrm>
            <a:off x="4093341" y="1776701"/>
            <a:ext cx="4679156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집계 기준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해당 월 1일 ~ 말일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포함 대상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'출역 승인' 완료된 건만 합산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데이터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총 인원, 총 공수, 총 예상 지급액 (세전/세후)</a:t>
            </a:r>
            <a:endParaRPr lang="en-US" sz="727" dirty="0"/>
          </a:p>
        </p:txBody>
      </p:sp>
      <p:sp>
        <p:nvSpPr>
          <p:cNvPr id="54" name="Shape 46"/>
          <p:cNvSpPr/>
          <p:nvPr/>
        </p:nvSpPr>
        <p:spPr>
          <a:xfrm>
            <a:off x="4093341" y="2299590"/>
            <a:ext cx="2232394" cy="187523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55" name="Text 47"/>
          <p:cNvSpPr/>
          <p:nvPr/>
        </p:nvSpPr>
        <p:spPr>
          <a:xfrm>
            <a:off x="4093341" y="2299590"/>
            <a:ext cx="2232394" cy="187523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GET /api/site/wages/monthly?year=2024&amp;month=01</a:t>
            </a:r>
            <a:endParaRPr lang="en-US" sz="621" dirty="0"/>
          </a:p>
        </p:txBody>
      </p:sp>
      <p:sp>
        <p:nvSpPr>
          <p:cNvPr id="56" name="Shape 48"/>
          <p:cNvSpPr/>
          <p:nvPr/>
        </p:nvSpPr>
        <p:spPr>
          <a:xfrm>
            <a:off x="4007616" y="2651420"/>
            <a:ext cx="4850606" cy="912223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57" name="Shape 49"/>
          <p:cNvSpPr/>
          <p:nvPr/>
        </p:nvSpPr>
        <p:spPr>
          <a:xfrm>
            <a:off x="4093341" y="2753218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8" name="Text 50"/>
          <p:cNvSpPr/>
          <p:nvPr/>
        </p:nvSpPr>
        <p:spPr>
          <a:xfrm>
            <a:off x="4093341" y="2753218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59" name="Text 51"/>
          <p:cNvSpPr/>
          <p:nvPr/>
        </p:nvSpPr>
        <p:spPr>
          <a:xfrm>
            <a:off x="4407666" y="2744288"/>
            <a:ext cx="162266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급여 계산 로직 (Calculation)</a:t>
            </a:r>
            <a:endParaRPr lang="en-US" sz="885" dirty="0"/>
          </a:p>
        </p:txBody>
      </p:sp>
      <p:sp>
        <p:nvSpPr>
          <p:cNvPr id="60" name="Text 52"/>
          <p:cNvSpPr/>
          <p:nvPr/>
        </p:nvSpPr>
        <p:spPr>
          <a:xfrm>
            <a:off x="4093341" y="2990748"/>
            <a:ext cx="4679156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총 급여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= (총 공수 × 일 단가)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공제액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= 소득세(3.3%) + 고용보험(0.9%) 등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실지급액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= 총 급여 - 공제액 합계 (원 단위 절사)</a:t>
            </a:r>
            <a:endParaRPr lang="en-US" sz="727" dirty="0"/>
          </a:p>
        </p:txBody>
      </p:sp>
      <p:sp>
        <p:nvSpPr>
          <p:cNvPr id="61" name="Shape 53"/>
          <p:cNvSpPr/>
          <p:nvPr/>
        </p:nvSpPr>
        <p:spPr>
          <a:xfrm>
            <a:off x="4007616" y="3642224"/>
            <a:ext cx="4850606" cy="1142609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62" name="Shape 54"/>
          <p:cNvSpPr/>
          <p:nvPr/>
        </p:nvSpPr>
        <p:spPr>
          <a:xfrm>
            <a:off x="4093341" y="3744023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3" name="Text 55"/>
          <p:cNvSpPr/>
          <p:nvPr/>
        </p:nvSpPr>
        <p:spPr>
          <a:xfrm>
            <a:off x="4093341" y="3744023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64" name="Text 56"/>
          <p:cNvSpPr/>
          <p:nvPr/>
        </p:nvSpPr>
        <p:spPr>
          <a:xfrm>
            <a:off x="4407666" y="3735093"/>
            <a:ext cx="126338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명세서 발송 (Sending)</a:t>
            </a:r>
            <a:endParaRPr lang="en-US" sz="885" dirty="0"/>
          </a:p>
        </p:txBody>
      </p:sp>
      <p:sp>
        <p:nvSpPr>
          <p:cNvPr id="65" name="Text 57"/>
          <p:cNvSpPr/>
          <p:nvPr/>
        </p:nvSpPr>
        <p:spPr>
          <a:xfrm>
            <a:off x="4093341" y="3981552"/>
            <a:ext cx="4679156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채널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카카오톡 알림톡 또는 SMS (LMS)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내용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상세 내역 조회 링크 포함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상태 변경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미발송 → 발송 중 → 발송 완료 (타임스탬프 기록)</a:t>
            </a:r>
            <a:endParaRPr lang="en-US" sz="727" dirty="0"/>
          </a:p>
        </p:txBody>
      </p:sp>
      <p:sp>
        <p:nvSpPr>
          <p:cNvPr id="66" name="Shape 58"/>
          <p:cNvSpPr/>
          <p:nvPr/>
        </p:nvSpPr>
        <p:spPr>
          <a:xfrm>
            <a:off x="4093341" y="4504441"/>
            <a:ext cx="1381981" cy="187523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67" name="Text 59"/>
          <p:cNvSpPr/>
          <p:nvPr/>
        </p:nvSpPr>
        <p:spPr>
          <a:xfrm>
            <a:off x="4093341" y="4504441"/>
            <a:ext cx="1381981" cy="187523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POST /api/site/wages/{id}/send</a:t>
            </a:r>
            <a:endParaRPr lang="en-US" sz="621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8636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8715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1285875"/>
            <a:ext cx="85725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428625"/>
            <a:ext cx="857250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spc="-1" kern="0" dirty="0">
                <a:solidFill>
                  <a:srgbClr val="3B82F6"/>
                </a:solidFill>
              </a:rPr>
              <a:t>[팀장] 팀 관리 대시보드 (Mobile App)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285750" y="935831"/>
            <a:ext cx="8572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팀원 출석율 및 작업 진행 현황 실시간 모니터링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82213" y="1500188"/>
            <a:ext cx="2400300" cy="3364706"/>
          </a:xfrm>
          <a:prstGeom prst="rect">
            <a:avLst/>
          </a:prstGeom>
          <a:solidFill>
            <a:srgbClr val="000000"/>
          </a:solidFill>
          <a:ln w="54864">
            <a:solidFill>
              <a:srgbClr val="33415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811038" y="2357438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6"/>
          <p:cNvSpPr/>
          <p:nvPr/>
        </p:nvSpPr>
        <p:spPr>
          <a:xfrm>
            <a:off x="2811038" y="2357438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10" name="Shape 7"/>
          <p:cNvSpPr/>
          <p:nvPr/>
        </p:nvSpPr>
        <p:spPr>
          <a:xfrm>
            <a:off x="2811038" y="3071813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8"/>
          <p:cNvSpPr/>
          <p:nvPr/>
        </p:nvSpPr>
        <p:spPr>
          <a:xfrm>
            <a:off x="2811038" y="3071813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12" name="Shape 9"/>
          <p:cNvSpPr/>
          <p:nvPr/>
        </p:nvSpPr>
        <p:spPr>
          <a:xfrm>
            <a:off x="2811038" y="4079081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3" name="Text 10"/>
          <p:cNvSpPr/>
          <p:nvPr/>
        </p:nvSpPr>
        <p:spPr>
          <a:xfrm>
            <a:off x="2811038" y="4079081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14" name="Shape 11"/>
          <p:cNvSpPr/>
          <p:nvPr/>
        </p:nvSpPr>
        <p:spPr>
          <a:xfrm>
            <a:off x="839363" y="1500188"/>
            <a:ext cx="2286000" cy="325040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Shape 12"/>
          <p:cNvSpPr/>
          <p:nvPr/>
        </p:nvSpPr>
        <p:spPr>
          <a:xfrm>
            <a:off x="839363" y="1500188"/>
            <a:ext cx="2286000" cy="360759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3"/>
          <p:cNvSpPr/>
          <p:nvPr/>
        </p:nvSpPr>
        <p:spPr>
          <a:xfrm>
            <a:off x="946519" y="1585913"/>
            <a:ext cx="80085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A팀 (골조공사)</a:t>
            </a:r>
            <a:endParaRPr lang="en-US" sz="885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5692" y="1616273"/>
            <a:ext cx="112514" cy="12858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925088" y="1946672"/>
            <a:ext cx="211455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4748B"/>
                </a:solidFill>
              </a:rPr>
              <a:t>2024년 1월 25일 (목)</a:t>
            </a:r>
            <a:endParaRPr lang="en-US" sz="727" dirty="0"/>
          </a:p>
        </p:txBody>
      </p:sp>
      <p:sp>
        <p:nvSpPr>
          <p:cNvPr id="19" name="Shape 15"/>
          <p:cNvSpPr/>
          <p:nvPr/>
        </p:nvSpPr>
        <p:spPr>
          <a:xfrm>
            <a:off x="925088" y="2191345"/>
            <a:ext cx="666741" cy="53220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6"/>
          <p:cNvSpPr/>
          <p:nvPr/>
        </p:nvSpPr>
        <p:spPr>
          <a:xfrm>
            <a:off x="982238" y="2262783"/>
            <a:ext cx="55244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총원</a:t>
            </a:r>
            <a:endParaRPr lang="en-US" sz="621" dirty="0"/>
          </a:p>
        </p:txBody>
      </p:sp>
      <p:sp>
        <p:nvSpPr>
          <p:cNvPr id="21" name="Text 17"/>
          <p:cNvSpPr/>
          <p:nvPr/>
        </p:nvSpPr>
        <p:spPr>
          <a:xfrm>
            <a:off x="982238" y="2418159"/>
            <a:ext cx="55244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E293B"/>
                </a:solidFill>
              </a:rPr>
              <a:t>10</a:t>
            </a:r>
            <a:endParaRPr lang="en-US" sz="1193" dirty="0"/>
          </a:p>
        </p:txBody>
      </p:sp>
      <p:sp>
        <p:nvSpPr>
          <p:cNvPr id="22" name="Shape 18"/>
          <p:cNvSpPr/>
          <p:nvPr/>
        </p:nvSpPr>
        <p:spPr>
          <a:xfrm>
            <a:off x="1648978" y="2191345"/>
            <a:ext cx="666741" cy="53220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19"/>
          <p:cNvSpPr/>
          <p:nvPr/>
        </p:nvSpPr>
        <p:spPr>
          <a:xfrm>
            <a:off x="1706128" y="2262783"/>
            <a:ext cx="55244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출근</a:t>
            </a:r>
            <a:endParaRPr lang="en-US" sz="621" dirty="0"/>
          </a:p>
        </p:txBody>
      </p:sp>
      <p:sp>
        <p:nvSpPr>
          <p:cNvPr id="24" name="Text 20"/>
          <p:cNvSpPr/>
          <p:nvPr/>
        </p:nvSpPr>
        <p:spPr>
          <a:xfrm>
            <a:off x="1706128" y="2418159"/>
            <a:ext cx="55244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0B981"/>
                </a:solidFill>
              </a:rPr>
              <a:t>8</a:t>
            </a:r>
            <a:endParaRPr lang="en-US" sz="1193" dirty="0"/>
          </a:p>
        </p:txBody>
      </p:sp>
      <p:sp>
        <p:nvSpPr>
          <p:cNvPr id="25" name="Shape 21"/>
          <p:cNvSpPr/>
          <p:nvPr/>
        </p:nvSpPr>
        <p:spPr>
          <a:xfrm>
            <a:off x="2372869" y="2191345"/>
            <a:ext cx="666741" cy="53220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2"/>
          <p:cNvSpPr/>
          <p:nvPr/>
        </p:nvSpPr>
        <p:spPr>
          <a:xfrm>
            <a:off x="2430019" y="2262783"/>
            <a:ext cx="55244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결근</a:t>
            </a:r>
            <a:endParaRPr lang="en-US" sz="621" dirty="0"/>
          </a:p>
        </p:txBody>
      </p:sp>
      <p:sp>
        <p:nvSpPr>
          <p:cNvPr id="27" name="Text 23"/>
          <p:cNvSpPr/>
          <p:nvPr/>
        </p:nvSpPr>
        <p:spPr>
          <a:xfrm>
            <a:off x="2430019" y="2418159"/>
            <a:ext cx="55244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F4444"/>
                </a:solidFill>
              </a:rPr>
              <a:t>2</a:t>
            </a:r>
            <a:endParaRPr lang="en-US" sz="1193" dirty="0"/>
          </a:p>
        </p:txBody>
      </p:sp>
      <p:sp>
        <p:nvSpPr>
          <p:cNvPr id="28" name="Shape 24"/>
          <p:cNvSpPr/>
          <p:nvPr/>
        </p:nvSpPr>
        <p:spPr>
          <a:xfrm>
            <a:off x="925088" y="2794992"/>
            <a:ext cx="2114550" cy="6000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5"/>
          <p:cNvSpPr/>
          <p:nvPr/>
        </p:nvSpPr>
        <p:spPr>
          <a:xfrm>
            <a:off x="1010813" y="2880717"/>
            <a:ext cx="194310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4155"/>
                </a:solidFill>
              </a:rPr>
              <a:t>금일 작업 진행률</a:t>
            </a:r>
            <a:endParaRPr lang="en-US" sz="683" dirty="0"/>
          </a:p>
        </p:txBody>
      </p:sp>
      <p:sp>
        <p:nvSpPr>
          <p:cNvPr id="30" name="Shape 26"/>
          <p:cNvSpPr/>
          <p:nvPr/>
        </p:nvSpPr>
        <p:spPr>
          <a:xfrm>
            <a:off x="1010813" y="3082528"/>
            <a:ext cx="1943100" cy="57150"/>
          </a:xfrm>
          <a:prstGeom prst="roundRect">
            <a:avLst/>
          </a:prstGeom>
          <a:solidFill>
            <a:srgbClr val="E2E8F0"/>
          </a:solidFill>
          <a:ln/>
        </p:spPr>
      </p:sp>
      <p:sp>
        <p:nvSpPr>
          <p:cNvPr id="31" name="Text 27"/>
          <p:cNvSpPr/>
          <p:nvPr/>
        </p:nvSpPr>
        <p:spPr>
          <a:xfrm>
            <a:off x="1010813" y="3182541"/>
            <a:ext cx="194310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목표 대비 80% 달성</a:t>
            </a:r>
            <a:endParaRPr lang="en-US" sz="621" dirty="0"/>
          </a:p>
        </p:txBody>
      </p:sp>
      <p:sp>
        <p:nvSpPr>
          <p:cNvPr id="32" name="Shape 28"/>
          <p:cNvSpPr/>
          <p:nvPr/>
        </p:nvSpPr>
        <p:spPr>
          <a:xfrm>
            <a:off x="925088" y="3523655"/>
            <a:ext cx="1028700" cy="6304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29"/>
          <p:cNvSpPr/>
          <p:nvPr/>
        </p:nvSpPr>
        <p:spPr>
          <a:xfrm>
            <a:off x="1310850" y="3609380"/>
            <a:ext cx="257175" cy="257175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2288" y="3680817"/>
            <a:ext cx="114300" cy="11430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1150395" y="3923705"/>
            <a:ext cx="578086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4155"/>
                </a:solidFill>
              </a:rPr>
              <a:t>작업일보 작성</a:t>
            </a:r>
            <a:endParaRPr lang="en-US" sz="683" dirty="0"/>
          </a:p>
        </p:txBody>
      </p:sp>
      <p:sp>
        <p:nvSpPr>
          <p:cNvPr id="36" name="Shape 31"/>
          <p:cNvSpPr/>
          <p:nvPr/>
        </p:nvSpPr>
        <p:spPr>
          <a:xfrm>
            <a:off x="2010938" y="3523655"/>
            <a:ext cx="1028700" cy="6304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Shape 32"/>
          <p:cNvSpPr/>
          <p:nvPr/>
        </p:nvSpPr>
        <p:spPr>
          <a:xfrm>
            <a:off x="2396700" y="3609380"/>
            <a:ext cx="257175" cy="257175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8138" y="3680817"/>
            <a:ext cx="114300" cy="114300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2236245" y="3923705"/>
            <a:ext cx="578086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4155"/>
                </a:solidFill>
              </a:rPr>
              <a:t>팀원 출역확인</a:t>
            </a:r>
            <a:endParaRPr lang="en-US" sz="683" dirty="0"/>
          </a:p>
        </p:txBody>
      </p:sp>
      <p:sp>
        <p:nvSpPr>
          <p:cNvPr id="40" name="Shape 34"/>
          <p:cNvSpPr/>
          <p:nvPr/>
        </p:nvSpPr>
        <p:spPr>
          <a:xfrm>
            <a:off x="925088" y="4211241"/>
            <a:ext cx="1028700" cy="6304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hape 35"/>
          <p:cNvSpPr/>
          <p:nvPr/>
        </p:nvSpPr>
        <p:spPr>
          <a:xfrm>
            <a:off x="1310850" y="4296966"/>
            <a:ext cx="257175" cy="257175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8000" y="4368403"/>
            <a:ext cx="142875" cy="114300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1242399" y="4611291"/>
            <a:ext cx="39405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4155"/>
                </a:solidFill>
              </a:rPr>
              <a:t>팀원 관리</a:t>
            </a:r>
            <a:endParaRPr lang="en-US" sz="683" dirty="0"/>
          </a:p>
        </p:txBody>
      </p:sp>
      <p:sp>
        <p:nvSpPr>
          <p:cNvPr id="44" name="Shape 37"/>
          <p:cNvSpPr/>
          <p:nvPr/>
        </p:nvSpPr>
        <p:spPr>
          <a:xfrm>
            <a:off x="2010938" y="4211241"/>
            <a:ext cx="1028700" cy="6304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Shape 38"/>
          <p:cNvSpPr/>
          <p:nvPr/>
        </p:nvSpPr>
        <p:spPr>
          <a:xfrm>
            <a:off x="2396700" y="4296966"/>
            <a:ext cx="257175" cy="257175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4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8138" y="4368403"/>
            <a:ext cx="114300" cy="114300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2341252" y="4611291"/>
            <a:ext cx="368071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4155"/>
                </a:solidFill>
              </a:rPr>
              <a:t>공지사항</a:t>
            </a:r>
            <a:endParaRPr lang="en-US" sz="683" dirty="0"/>
          </a:p>
        </p:txBody>
      </p:sp>
      <p:sp>
        <p:nvSpPr>
          <p:cNvPr id="48" name="Shape 40"/>
          <p:cNvSpPr/>
          <p:nvPr/>
        </p:nvSpPr>
        <p:spPr>
          <a:xfrm>
            <a:off x="4107628" y="1500188"/>
            <a:ext cx="4750594" cy="1126927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49" name="Shape 41"/>
          <p:cNvSpPr/>
          <p:nvPr/>
        </p:nvSpPr>
        <p:spPr>
          <a:xfrm>
            <a:off x="4193353" y="1594842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0" name="Text 42"/>
          <p:cNvSpPr/>
          <p:nvPr/>
        </p:nvSpPr>
        <p:spPr>
          <a:xfrm>
            <a:off x="4193353" y="1594842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51" name="Text 43"/>
          <p:cNvSpPr/>
          <p:nvPr/>
        </p:nvSpPr>
        <p:spPr>
          <a:xfrm>
            <a:off x="4507678" y="1585913"/>
            <a:ext cx="176358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팀 현황 요약 (Team Overview)</a:t>
            </a:r>
            <a:endParaRPr lang="en-US" sz="885" dirty="0"/>
          </a:p>
        </p:txBody>
      </p:sp>
      <p:sp>
        <p:nvSpPr>
          <p:cNvPr id="52" name="Text 44"/>
          <p:cNvSpPr/>
          <p:nvPr/>
        </p:nvSpPr>
        <p:spPr>
          <a:xfrm>
            <a:off x="4193353" y="1832372"/>
            <a:ext cx="4579144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데이터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본인 소속 팀(A팀)의 금일 배정 인원 기준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출근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현장 출역 승인 완료된 인원 수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결근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미출근 또는 반려된 인원 수</a:t>
            </a:r>
            <a:endParaRPr lang="en-US" sz="727" dirty="0"/>
          </a:p>
        </p:txBody>
      </p:sp>
      <p:sp>
        <p:nvSpPr>
          <p:cNvPr id="53" name="Shape 45"/>
          <p:cNvSpPr/>
          <p:nvPr/>
        </p:nvSpPr>
        <p:spPr>
          <a:xfrm>
            <a:off x="4193353" y="2339578"/>
            <a:ext cx="1392696" cy="187523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54" name="Text 46"/>
          <p:cNvSpPr/>
          <p:nvPr/>
        </p:nvSpPr>
        <p:spPr>
          <a:xfrm>
            <a:off x="4193353" y="2339578"/>
            <a:ext cx="1392696" cy="187523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GET /api/team/dashboard/stats</a:t>
            </a:r>
            <a:endParaRPr lang="en-US" sz="621" dirty="0"/>
          </a:p>
        </p:txBody>
      </p:sp>
      <p:sp>
        <p:nvSpPr>
          <p:cNvPr id="55" name="Shape 47"/>
          <p:cNvSpPr/>
          <p:nvPr/>
        </p:nvSpPr>
        <p:spPr>
          <a:xfrm>
            <a:off x="4107628" y="2684264"/>
            <a:ext cx="4750594" cy="732234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56" name="Shape 48"/>
          <p:cNvSpPr/>
          <p:nvPr/>
        </p:nvSpPr>
        <p:spPr>
          <a:xfrm>
            <a:off x="4193353" y="2778919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7" name="Text 49"/>
          <p:cNvSpPr/>
          <p:nvPr/>
        </p:nvSpPr>
        <p:spPr>
          <a:xfrm>
            <a:off x="4193353" y="2778919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58" name="Text 50"/>
          <p:cNvSpPr/>
          <p:nvPr/>
        </p:nvSpPr>
        <p:spPr>
          <a:xfrm>
            <a:off x="4507678" y="2769989"/>
            <a:ext cx="167562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작업 진행률 (Work Progress)</a:t>
            </a:r>
            <a:endParaRPr lang="en-US" sz="885" dirty="0"/>
          </a:p>
        </p:txBody>
      </p:sp>
      <p:sp>
        <p:nvSpPr>
          <p:cNvPr id="59" name="Text 51"/>
          <p:cNvSpPr/>
          <p:nvPr/>
        </p:nvSpPr>
        <p:spPr>
          <a:xfrm>
            <a:off x="4193353" y="3016448"/>
            <a:ext cx="4579144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입력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작업일보 작성 시 입력한 진행률 연동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표시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전일 대비 증가량 또는 금일 목표치 시각화</a:t>
            </a:r>
            <a:endParaRPr lang="en-US" sz="727" dirty="0"/>
          </a:p>
        </p:txBody>
      </p:sp>
      <p:sp>
        <p:nvSpPr>
          <p:cNvPr id="60" name="Shape 52"/>
          <p:cNvSpPr/>
          <p:nvPr/>
        </p:nvSpPr>
        <p:spPr>
          <a:xfrm>
            <a:off x="4107628" y="3487936"/>
            <a:ext cx="4750594" cy="882253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61" name="Shape 53"/>
          <p:cNvSpPr/>
          <p:nvPr/>
        </p:nvSpPr>
        <p:spPr>
          <a:xfrm>
            <a:off x="4193353" y="3582591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2" name="Text 54"/>
          <p:cNvSpPr/>
          <p:nvPr/>
        </p:nvSpPr>
        <p:spPr>
          <a:xfrm>
            <a:off x="4193353" y="3582591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63" name="Text 55"/>
          <p:cNvSpPr/>
          <p:nvPr/>
        </p:nvSpPr>
        <p:spPr>
          <a:xfrm>
            <a:off x="4507678" y="3573661"/>
            <a:ext cx="139211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퀵 메뉴 (Quick Actions)</a:t>
            </a:r>
            <a:endParaRPr lang="en-US" sz="885" dirty="0"/>
          </a:p>
        </p:txBody>
      </p:sp>
      <p:sp>
        <p:nvSpPr>
          <p:cNvPr id="64" name="Text 56"/>
          <p:cNvSpPr/>
          <p:nvPr/>
        </p:nvSpPr>
        <p:spPr>
          <a:xfrm>
            <a:off x="4193353" y="3820120"/>
            <a:ext cx="4579144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작업일보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금일 일보 미작성 시 '작성 필요' 배지 노출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출역확인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팀원들의 출퇴근 시간 상세 조회 화면 이동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팀원관리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팀원 연락처 조회 및 전화 걸기 기능</a:t>
            </a:r>
            <a:endParaRPr lang="en-US" sz="727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71450" y="428625"/>
            <a:ext cx="8801100" cy="8143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171450" y="1228725"/>
            <a:ext cx="88011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171450" y="428625"/>
            <a:ext cx="880110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spc="-1" kern="0" dirty="0">
                <a:solidFill>
                  <a:srgbClr val="3B82F6"/>
                </a:solidFill>
              </a:rPr>
              <a:t>[팀장] 작업일보 작성 및 사진 첨부 (Mobile App)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171450" y="935831"/>
            <a:ext cx="88011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금일 작업 내용 기록 및 현장 사진 증빙 업로드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45322" y="1371600"/>
            <a:ext cx="2400300" cy="3543300"/>
          </a:xfrm>
          <a:prstGeom prst="rect">
            <a:avLst/>
          </a:prstGeom>
          <a:solidFill>
            <a:srgbClr val="000000"/>
          </a:solidFill>
          <a:ln w="54864">
            <a:solidFill>
              <a:srgbClr val="33415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802722" y="2371725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6"/>
          <p:cNvSpPr/>
          <p:nvPr/>
        </p:nvSpPr>
        <p:spPr>
          <a:xfrm>
            <a:off x="2802722" y="2371725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10" name="Shape 7"/>
          <p:cNvSpPr/>
          <p:nvPr/>
        </p:nvSpPr>
        <p:spPr>
          <a:xfrm>
            <a:off x="2802722" y="3228975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8"/>
          <p:cNvSpPr/>
          <p:nvPr/>
        </p:nvSpPr>
        <p:spPr>
          <a:xfrm>
            <a:off x="2802722" y="3228975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12" name="Shape 9"/>
          <p:cNvSpPr/>
          <p:nvPr/>
        </p:nvSpPr>
        <p:spPr>
          <a:xfrm>
            <a:off x="2802722" y="3943350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3" name="Text 10"/>
          <p:cNvSpPr/>
          <p:nvPr/>
        </p:nvSpPr>
        <p:spPr>
          <a:xfrm>
            <a:off x="2802722" y="3943350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14" name="Shape 11"/>
          <p:cNvSpPr/>
          <p:nvPr/>
        </p:nvSpPr>
        <p:spPr>
          <a:xfrm>
            <a:off x="802472" y="1371600"/>
            <a:ext cx="2286000" cy="3429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Shape 12"/>
          <p:cNvSpPr/>
          <p:nvPr/>
        </p:nvSpPr>
        <p:spPr>
          <a:xfrm>
            <a:off x="802472" y="1371600"/>
            <a:ext cx="2286000" cy="33575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197" y="1482328"/>
            <a:ext cx="100013" cy="1143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527618" y="1457325"/>
            <a:ext cx="660657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작업일보 작성</a:t>
            </a:r>
            <a:endParaRPr lang="en-US" sz="784" dirty="0"/>
          </a:p>
        </p:txBody>
      </p:sp>
      <p:sp>
        <p:nvSpPr>
          <p:cNvPr id="18" name="Text 14"/>
          <p:cNvSpPr/>
          <p:nvPr/>
        </p:nvSpPr>
        <p:spPr>
          <a:xfrm>
            <a:off x="2727685" y="1468041"/>
            <a:ext cx="275034" cy="142875"/>
          </a:xfrm>
          <a:prstGeom prst="rect">
            <a:avLst/>
          </a:prstGeom>
          <a:noFill/>
          <a:ln/>
        </p:spPr>
        <p:txBody>
          <a:bodyPr wrap="none" lIns="51054" tIns="8509" rIns="51054" bIns="8509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50" b="1" dirty="0">
                <a:solidFill>
                  <a:srgbClr val="FFFFFF"/>
                </a:solidFill>
              </a:rPr>
              <a:t>제출</a:t>
            </a:r>
            <a:endParaRPr lang="en-US" sz="650" dirty="0"/>
          </a:p>
        </p:txBody>
      </p:sp>
      <p:sp>
        <p:nvSpPr>
          <p:cNvPr id="19" name="Shape 15"/>
          <p:cNvSpPr/>
          <p:nvPr/>
        </p:nvSpPr>
        <p:spPr>
          <a:xfrm>
            <a:off x="888197" y="1793081"/>
            <a:ext cx="2114550" cy="292894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634" y="1891308"/>
            <a:ext cx="82153" cy="92869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41788" y="1873448"/>
            <a:ext cx="66420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64748B"/>
                </a:solidFill>
              </a:rPr>
              <a:t>2024.01.25 (목)</a:t>
            </a:r>
            <a:endParaRPr lang="en-US" sz="674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4474" y="1891308"/>
            <a:ext cx="116086" cy="9286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2560560" y="1873448"/>
            <a:ext cx="37074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64748B"/>
                </a:solidFill>
              </a:rPr>
              <a:t>맑음 5°C</a:t>
            </a:r>
            <a:endParaRPr lang="en-US" sz="674" dirty="0"/>
          </a:p>
        </p:txBody>
      </p:sp>
      <p:sp>
        <p:nvSpPr>
          <p:cNvPr id="24" name="Text 18"/>
          <p:cNvSpPr/>
          <p:nvPr/>
        </p:nvSpPr>
        <p:spPr>
          <a:xfrm>
            <a:off x="888197" y="2171700"/>
            <a:ext cx="211455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4155"/>
                </a:solidFill>
              </a:rPr>
              <a:t>작업 내용 </a:t>
            </a:r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F4444"/>
                </a:solidFill>
              </a:rPr>
              <a:t>*</a:t>
            </a:r>
            <a:endParaRPr lang="en-US" sz="683" dirty="0"/>
          </a:p>
        </p:txBody>
      </p:sp>
      <p:sp>
        <p:nvSpPr>
          <p:cNvPr id="25" name="Text 19"/>
          <p:cNvSpPr/>
          <p:nvPr/>
        </p:nvSpPr>
        <p:spPr>
          <a:xfrm>
            <a:off x="888197" y="2930723"/>
            <a:ext cx="211455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4155"/>
                </a:solidFill>
              </a:rPr>
              <a:t>총 투입 공수</a:t>
            </a:r>
            <a:endParaRPr lang="en-US" sz="683" dirty="0"/>
          </a:p>
        </p:txBody>
      </p:sp>
      <p:sp>
        <p:nvSpPr>
          <p:cNvPr id="26" name="Shape 20"/>
          <p:cNvSpPr/>
          <p:nvPr/>
        </p:nvSpPr>
        <p:spPr>
          <a:xfrm>
            <a:off x="888197" y="3132534"/>
            <a:ext cx="1191946" cy="357188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945347" y="3189684"/>
            <a:ext cx="228600" cy="228600"/>
          </a:xfrm>
          <a:prstGeom prst="ellipse">
            <a:avLst/>
          </a:prstGeom>
          <a:solidFill>
            <a:srgbClr val="F1F5F9"/>
          </a:solidFill>
          <a:ln w="9144">
            <a:solidFill>
              <a:srgbClr val="CBD5E1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2497" y="3246834"/>
            <a:ext cx="100013" cy="11430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245384" y="3226296"/>
            <a:ext cx="16494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E293B"/>
                </a:solidFill>
              </a:rPr>
              <a:t>8.5</a:t>
            </a:r>
            <a:endParaRPr lang="en-US" sz="784" dirty="0"/>
          </a:p>
        </p:txBody>
      </p:sp>
      <p:sp>
        <p:nvSpPr>
          <p:cNvPr id="30" name="Shape 23"/>
          <p:cNvSpPr/>
          <p:nvPr/>
        </p:nvSpPr>
        <p:spPr>
          <a:xfrm>
            <a:off x="1496058" y="3189684"/>
            <a:ext cx="228600" cy="228600"/>
          </a:xfrm>
          <a:prstGeom prst="ellipse">
            <a:avLst/>
          </a:prstGeom>
          <a:solidFill>
            <a:srgbClr val="F1F5F9"/>
          </a:solidFill>
          <a:ln w="9144">
            <a:solidFill>
              <a:srgbClr val="CBD5E1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3208" y="3239691"/>
            <a:ext cx="100013" cy="1143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796095" y="3224510"/>
            <a:ext cx="184035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4748B"/>
                </a:solidFill>
              </a:rPr>
              <a:t>공수</a:t>
            </a:r>
            <a:endParaRPr lang="en-US" sz="727" dirty="0"/>
          </a:p>
        </p:txBody>
      </p:sp>
      <p:sp>
        <p:nvSpPr>
          <p:cNvPr id="33" name="Text 25"/>
          <p:cNvSpPr/>
          <p:nvPr/>
        </p:nvSpPr>
        <p:spPr>
          <a:xfrm>
            <a:off x="888197" y="3561159"/>
            <a:ext cx="211455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4155"/>
                </a:solidFill>
              </a:rPr>
              <a:t>현장 사진 (2/5)</a:t>
            </a:r>
            <a:endParaRPr lang="en-US" sz="683" dirty="0"/>
          </a:p>
        </p:txBody>
      </p:sp>
      <p:sp>
        <p:nvSpPr>
          <p:cNvPr id="34" name="Shape 26"/>
          <p:cNvSpPr/>
          <p:nvPr/>
        </p:nvSpPr>
        <p:spPr>
          <a:xfrm>
            <a:off x="888197" y="3762970"/>
            <a:ext cx="442913" cy="442913"/>
          </a:xfrm>
          <a:prstGeom prst="rect">
            <a:avLst/>
          </a:prstGeom>
          <a:solidFill>
            <a:srgbClr val="EFF6FF"/>
          </a:solidFill>
          <a:ln w="9144">
            <a:solidFill>
              <a:srgbClr val="3B82F6"/>
            </a:solidFill>
            <a:prstDash val="dash"/>
          </a:ln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8216" y="3835301"/>
            <a:ext cx="128588" cy="128588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1023621" y="3992463"/>
            <a:ext cx="15774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B82F6"/>
                </a:solidFill>
              </a:rPr>
              <a:t>추가</a:t>
            </a:r>
            <a:endParaRPr lang="en-US" sz="621" dirty="0"/>
          </a:p>
        </p:txBody>
      </p:sp>
      <p:sp>
        <p:nvSpPr>
          <p:cNvPr id="37" name="Shape 28"/>
          <p:cNvSpPr/>
          <p:nvPr/>
        </p:nvSpPr>
        <p:spPr>
          <a:xfrm>
            <a:off x="1373972" y="3762970"/>
            <a:ext cx="428625" cy="428625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8" name="Shape 29"/>
          <p:cNvSpPr/>
          <p:nvPr/>
        </p:nvSpPr>
        <p:spPr>
          <a:xfrm>
            <a:off x="1674009" y="3777258"/>
            <a:ext cx="114300" cy="114300"/>
          </a:xfrm>
          <a:prstGeom prst="ellipse">
            <a:avLst/>
          </a:prstGeom>
          <a:solidFill>
            <a:srgbClr val="000000">
              <a:alpha val="50000"/>
            </a:srgbClr>
          </a:solidFill>
          <a:ln/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08835" y="3798689"/>
            <a:ext cx="44648" cy="71438"/>
          </a:xfrm>
          <a:prstGeom prst="rect">
            <a:avLst/>
          </a:prstGeom>
        </p:spPr>
      </p:pic>
      <p:sp>
        <p:nvSpPr>
          <p:cNvPr id="40" name="Shape 30"/>
          <p:cNvSpPr/>
          <p:nvPr/>
        </p:nvSpPr>
        <p:spPr>
          <a:xfrm>
            <a:off x="1859747" y="3762970"/>
            <a:ext cx="428625" cy="428625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1" name="Shape 31"/>
          <p:cNvSpPr/>
          <p:nvPr/>
        </p:nvSpPr>
        <p:spPr>
          <a:xfrm>
            <a:off x="2159784" y="3777258"/>
            <a:ext cx="114300" cy="114300"/>
          </a:xfrm>
          <a:prstGeom prst="ellipse">
            <a:avLst/>
          </a:prstGeom>
          <a:solidFill>
            <a:srgbClr val="000000">
              <a:alpha val="50000"/>
            </a:srgbClr>
          </a:solidFill>
          <a:ln/>
        </p:spPr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94610" y="3798689"/>
            <a:ext cx="44648" cy="71438"/>
          </a:xfrm>
          <a:prstGeom prst="rect">
            <a:avLst/>
          </a:prstGeom>
        </p:spPr>
      </p:pic>
      <p:sp>
        <p:nvSpPr>
          <p:cNvPr id="43" name="Shape 32"/>
          <p:cNvSpPr/>
          <p:nvPr/>
        </p:nvSpPr>
        <p:spPr>
          <a:xfrm>
            <a:off x="4005244" y="1371600"/>
            <a:ext cx="4967306" cy="752215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44" name="Shape 33"/>
          <p:cNvSpPr/>
          <p:nvPr/>
        </p:nvSpPr>
        <p:spPr>
          <a:xfrm>
            <a:off x="4090969" y="1466255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5" name="Text 34"/>
          <p:cNvSpPr/>
          <p:nvPr/>
        </p:nvSpPr>
        <p:spPr>
          <a:xfrm>
            <a:off x="4090969" y="1466255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46" name="Text 35"/>
          <p:cNvSpPr/>
          <p:nvPr/>
        </p:nvSpPr>
        <p:spPr>
          <a:xfrm>
            <a:off x="4405294" y="1457325"/>
            <a:ext cx="180499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작업 내용 입력 (Content Input)</a:t>
            </a:r>
            <a:endParaRPr lang="en-US" sz="885" dirty="0"/>
          </a:p>
        </p:txBody>
      </p:sp>
      <p:sp>
        <p:nvSpPr>
          <p:cNvPr id="47" name="Text 36"/>
          <p:cNvSpPr/>
          <p:nvPr/>
        </p:nvSpPr>
        <p:spPr>
          <a:xfrm>
            <a:off x="4090969" y="1703784"/>
            <a:ext cx="4795856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필수 입력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최소 10자 이상 입력 검사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자동 저장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입력 중 로컬에 임시 저장</a:t>
            </a:r>
            <a:endParaRPr lang="en-US" sz="727" dirty="0"/>
          </a:p>
        </p:txBody>
      </p:sp>
      <p:sp>
        <p:nvSpPr>
          <p:cNvPr id="48" name="Shape 37"/>
          <p:cNvSpPr/>
          <p:nvPr/>
        </p:nvSpPr>
        <p:spPr>
          <a:xfrm>
            <a:off x="4005244" y="2223827"/>
            <a:ext cx="4967306" cy="752215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49" name="Shape 38"/>
          <p:cNvSpPr/>
          <p:nvPr/>
        </p:nvSpPr>
        <p:spPr>
          <a:xfrm>
            <a:off x="4090969" y="2318482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0" name="Text 39"/>
          <p:cNvSpPr/>
          <p:nvPr/>
        </p:nvSpPr>
        <p:spPr>
          <a:xfrm>
            <a:off x="4090969" y="2318482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51" name="Text 40"/>
          <p:cNvSpPr/>
          <p:nvPr/>
        </p:nvSpPr>
        <p:spPr>
          <a:xfrm>
            <a:off x="4405294" y="2309552"/>
            <a:ext cx="132293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공수 입력 (Man-hours)</a:t>
            </a:r>
            <a:endParaRPr lang="en-US" sz="885" dirty="0"/>
          </a:p>
        </p:txBody>
      </p:sp>
      <p:sp>
        <p:nvSpPr>
          <p:cNvPr id="52" name="Text 41"/>
          <p:cNvSpPr/>
          <p:nvPr/>
        </p:nvSpPr>
        <p:spPr>
          <a:xfrm>
            <a:off x="4090969" y="2556011"/>
            <a:ext cx="4795856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기본값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승인된 팀원 공수 합계 자동 계산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수정 가능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수동 조정 허용</a:t>
            </a:r>
            <a:endParaRPr lang="en-US" sz="727" dirty="0"/>
          </a:p>
        </p:txBody>
      </p:sp>
      <p:sp>
        <p:nvSpPr>
          <p:cNvPr id="53" name="Shape 42"/>
          <p:cNvSpPr/>
          <p:nvPr/>
        </p:nvSpPr>
        <p:spPr>
          <a:xfrm>
            <a:off x="4005244" y="3076054"/>
            <a:ext cx="4967306" cy="982600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54" name="Shape 43"/>
          <p:cNvSpPr/>
          <p:nvPr/>
        </p:nvSpPr>
        <p:spPr>
          <a:xfrm>
            <a:off x="4090969" y="3170709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5" name="Text 44"/>
          <p:cNvSpPr/>
          <p:nvPr/>
        </p:nvSpPr>
        <p:spPr>
          <a:xfrm>
            <a:off x="4090969" y="3170709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56" name="Text 45"/>
          <p:cNvSpPr/>
          <p:nvPr/>
        </p:nvSpPr>
        <p:spPr>
          <a:xfrm>
            <a:off x="4405294" y="3161779"/>
            <a:ext cx="161571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사진 업로드 (Photo Upload)</a:t>
            </a:r>
            <a:endParaRPr lang="en-US" sz="885" dirty="0"/>
          </a:p>
        </p:txBody>
      </p:sp>
      <p:sp>
        <p:nvSpPr>
          <p:cNvPr id="57" name="Text 46"/>
          <p:cNvSpPr/>
          <p:nvPr/>
        </p:nvSpPr>
        <p:spPr>
          <a:xfrm>
            <a:off x="4090969" y="3408238"/>
            <a:ext cx="4795856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제한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최대 5장, 장당 10MB 이하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전송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Multipart/form-data → S3 업로드</a:t>
            </a:r>
            <a:endParaRPr lang="en-US" sz="727" dirty="0"/>
          </a:p>
        </p:txBody>
      </p:sp>
      <p:sp>
        <p:nvSpPr>
          <p:cNvPr id="58" name="Shape 47"/>
          <p:cNvSpPr/>
          <p:nvPr/>
        </p:nvSpPr>
        <p:spPr>
          <a:xfrm>
            <a:off x="4090969" y="3771119"/>
            <a:ext cx="1084622" cy="187523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59" name="Text 48"/>
          <p:cNvSpPr/>
          <p:nvPr/>
        </p:nvSpPr>
        <p:spPr>
          <a:xfrm>
            <a:off x="4090969" y="3771119"/>
            <a:ext cx="1084622" cy="187523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POST /api/team/reports</a:t>
            </a:r>
            <a:endParaRPr lang="en-US" sz="621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7207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8429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1257300"/>
            <a:ext cx="85725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428625"/>
            <a:ext cx="857250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spc="-1" kern="0" dirty="0">
                <a:solidFill>
                  <a:srgbClr val="3B82F6"/>
                </a:solidFill>
              </a:rPr>
              <a:t>[팀장] 팀원 출역 확인 (Mobile App)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285750" y="935831"/>
            <a:ext cx="8572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팀원들의 실시간 출근 현황 조회 및 미출근자 연락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826861" y="1471613"/>
            <a:ext cx="2400300" cy="3400425"/>
          </a:xfrm>
          <a:prstGeom prst="rect">
            <a:avLst/>
          </a:prstGeom>
          <a:solidFill>
            <a:srgbClr val="000000"/>
          </a:solidFill>
          <a:ln w="54864">
            <a:solidFill>
              <a:srgbClr val="33415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855686" y="2378869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6"/>
          <p:cNvSpPr/>
          <p:nvPr/>
        </p:nvSpPr>
        <p:spPr>
          <a:xfrm>
            <a:off x="2855686" y="2378869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10" name="Shape 7"/>
          <p:cNvSpPr/>
          <p:nvPr/>
        </p:nvSpPr>
        <p:spPr>
          <a:xfrm>
            <a:off x="2855686" y="3093244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8"/>
          <p:cNvSpPr/>
          <p:nvPr/>
        </p:nvSpPr>
        <p:spPr>
          <a:xfrm>
            <a:off x="2855686" y="3093244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12" name="Shape 9"/>
          <p:cNvSpPr/>
          <p:nvPr/>
        </p:nvSpPr>
        <p:spPr>
          <a:xfrm>
            <a:off x="2855686" y="3807619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3" name="Text 10"/>
          <p:cNvSpPr/>
          <p:nvPr/>
        </p:nvSpPr>
        <p:spPr>
          <a:xfrm>
            <a:off x="2855686" y="3807619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14" name="Shape 11"/>
          <p:cNvSpPr/>
          <p:nvPr/>
        </p:nvSpPr>
        <p:spPr>
          <a:xfrm>
            <a:off x="884011" y="1521619"/>
            <a:ext cx="2286000" cy="32861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Shape 12"/>
          <p:cNvSpPr/>
          <p:nvPr/>
        </p:nvSpPr>
        <p:spPr>
          <a:xfrm>
            <a:off x="884011" y="1521619"/>
            <a:ext cx="2286000" cy="33575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736" y="1632347"/>
            <a:ext cx="100013" cy="1143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674679" y="1607344"/>
            <a:ext cx="69037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팀원 출역 현황</a:t>
            </a:r>
            <a:endParaRPr lang="en-US" sz="784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986" y="1632347"/>
            <a:ext cx="114300" cy="1143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884011" y="1857375"/>
            <a:ext cx="2286000" cy="3429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5"/>
          <p:cNvSpPr/>
          <p:nvPr/>
        </p:nvSpPr>
        <p:spPr>
          <a:xfrm>
            <a:off x="884011" y="2193131"/>
            <a:ext cx="2286000" cy="7144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9548" y="1968103"/>
            <a:ext cx="71438" cy="1143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26710" y="1943100"/>
            <a:ext cx="800574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E293B"/>
                </a:solidFill>
              </a:rPr>
              <a:t>2024.01.25 (목)</a:t>
            </a:r>
            <a:endParaRPr lang="en-US" sz="784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3009" y="1968103"/>
            <a:ext cx="71438" cy="114300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884011" y="2193131"/>
            <a:ext cx="2286000" cy="28575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5" name="Shape 18"/>
          <p:cNvSpPr/>
          <p:nvPr/>
        </p:nvSpPr>
        <p:spPr>
          <a:xfrm>
            <a:off x="884011" y="2471738"/>
            <a:ext cx="2286000" cy="7144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26" name="Text 19"/>
          <p:cNvSpPr/>
          <p:nvPr/>
        </p:nvSpPr>
        <p:spPr>
          <a:xfrm>
            <a:off x="969736" y="2264569"/>
            <a:ext cx="41263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34155"/>
                </a:solidFill>
              </a:rPr>
              <a:t>총원: 10명</a:t>
            </a:r>
            <a:endParaRPr lang="en-US" sz="634" dirty="0"/>
          </a:p>
        </p:txBody>
      </p:sp>
      <p:sp>
        <p:nvSpPr>
          <p:cNvPr id="27" name="Text 20"/>
          <p:cNvSpPr/>
          <p:nvPr/>
        </p:nvSpPr>
        <p:spPr>
          <a:xfrm>
            <a:off x="2417239" y="2264569"/>
            <a:ext cx="66704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0B981"/>
                </a:solidFill>
              </a:rPr>
              <a:t>출근 8</a:t>
            </a:r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34155"/>
                </a:solidFill>
              </a:rPr>
              <a:t> / </a:t>
            </a:r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EF4444"/>
                </a:solidFill>
              </a:rPr>
              <a:t>미출근 2</a:t>
            </a:r>
            <a:endParaRPr lang="en-US" sz="634" dirty="0"/>
          </a:p>
        </p:txBody>
      </p:sp>
      <p:sp>
        <p:nvSpPr>
          <p:cNvPr id="28" name="Shape 21"/>
          <p:cNvSpPr/>
          <p:nvPr/>
        </p:nvSpPr>
        <p:spPr>
          <a:xfrm>
            <a:off x="941161" y="2528888"/>
            <a:ext cx="2171700" cy="496491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26886" y="2614613"/>
            <a:ext cx="78835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1E293B"/>
                </a:solidFill>
              </a:rPr>
              <a:t>김철수</a:t>
            </a:r>
            <a:endParaRPr lang="en-US" sz="734" dirty="0"/>
          </a:p>
        </p:txBody>
      </p:sp>
      <p:sp>
        <p:nvSpPr>
          <p:cNvPr id="30" name="Text 23"/>
          <p:cNvSpPr/>
          <p:nvPr/>
        </p:nvSpPr>
        <p:spPr>
          <a:xfrm>
            <a:off x="1026886" y="2798564"/>
            <a:ext cx="78835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06:45 출근 (안면인식)</a:t>
            </a:r>
            <a:endParaRPr lang="en-US" sz="621" dirty="0"/>
          </a:p>
        </p:txBody>
      </p:sp>
      <p:sp>
        <p:nvSpPr>
          <p:cNvPr id="31" name="Shape 24"/>
          <p:cNvSpPr/>
          <p:nvPr/>
        </p:nvSpPr>
        <p:spPr>
          <a:xfrm>
            <a:off x="2555649" y="2678013"/>
            <a:ext cx="471488" cy="183952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2" name="Text 25"/>
          <p:cNvSpPr/>
          <p:nvPr/>
        </p:nvSpPr>
        <p:spPr>
          <a:xfrm>
            <a:off x="2555649" y="2678013"/>
            <a:ext cx="471488" cy="183952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66534"/>
                </a:solidFill>
              </a:rPr>
              <a:t>정상</a:t>
            </a:r>
            <a:endParaRPr lang="en-US" sz="584" dirty="0"/>
          </a:p>
        </p:txBody>
      </p:sp>
      <p:sp>
        <p:nvSpPr>
          <p:cNvPr id="33" name="Shape 26"/>
          <p:cNvSpPr/>
          <p:nvPr/>
        </p:nvSpPr>
        <p:spPr>
          <a:xfrm>
            <a:off x="941161" y="3068241"/>
            <a:ext cx="2171700" cy="496491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1026886" y="3153966"/>
            <a:ext cx="78835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1E293B"/>
                </a:solidFill>
              </a:rPr>
              <a:t>이영희</a:t>
            </a:r>
            <a:endParaRPr lang="en-US" sz="734" dirty="0"/>
          </a:p>
        </p:txBody>
      </p:sp>
      <p:sp>
        <p:nvSpPr>
          <p:cNvPr id="35" name="Text 28"/>
          <p:cNvSpPr/>
          <p:nvPr/>
        </p:nvSpPr>
        <p:spPr>
          <a:xfrm>
            <a:off x="1026886" y="3337917"/>
            <a:ext cx="78835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06:52 출근 (안면인식)</a:t>
            </a:r>
            <a:endParaRPr lang="en-US" sz="621" dirty="0"/>
          </a:p>
        </p:txBody>
      </p:sp>
      <p:sp>
        <p:nvSpPr>
          <p:cNvPr id="36" name="Shape 29"/>
          <p:cNvSpPr/>
          <p:nvPr/>
        </p:nvSpPr>
        <p:spPr>
          <a:xfrm>
            <a:off x="2555649" y="3217366"/>
            <a:ext cx="471488" cy="183952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7" name="Text 30"/>
          <p:cNvSpPr/>
          <p:nvPr/>
        </p:nvSpPr>
        <p:spPr>
          <a:xfrm>
            <a:off x="2555649" y="3217366"/>
            <a:ext cx="471488" cy="183952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66534"/>
                </a:solidFill>
              </a:rPr>
              <a:t>정상</a:t>
            </a:r>
            <a:endParaRPr lang="en-US" sz="584" dirty="0"/>
          </a:p>
        </p:txBody>
      </p:sp>
      <p:sp>
        <p:nvSpPr>
          <p:cNvPr id="38" name="Shape 31"/>
          <p:cNvSpPr/>
          <p:nvPr/>
        </p:nvSpPr>
        <p:spPr>
          <a:xfrm>
            <a:off x="941161" y="3607594"/>
            <a:ext cx="2171700" cy="496491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1026886" y="3693319"/>
            <a:ext cx="51778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1E293B"/>
                </a:solidFill>
              </a:rPr>
              <a:t>박민수</a:t>
            </a:r>
            <a:endParaRPr lang="en-US" sz="734" dirty="0"/>
          </a:p>
        </p:txBody>
      </p:sp>
      <p:sp>
        <p:nvSpPr>
          <p:cNvPr id="40" name="Text 33"/>
          <p:cNvSpPr/>
          <p:nvPr/>
        </p:nvSpPr>
        <p:spPr>
          <a:xfrm>
            <a:off x="1026886" y="3877270"/>
            <a:ext cx="51778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F4444"/>
                </a:solidFill>
              </a:rPr>
              <a:t>출근 기록 없음</a:t>
            </a:r>
            <a:endParaRPr lang="en-US" sz="621" dirty="0"/>
          </a:p>
        </p:txBody>
      </p:sp>
      <p:sp>
        <p:nvSpPr>
          <p:cNvPr id="41" name="Shape 34"/>
          <p:cNvSpPr/>
          <p:nvPr/>
        </p:nvSpPr>
        <p:spPr>
          <a:xfrm>
            <a:off x="2212749" y="3756720"/>
            <a:ext cx="471488" cy="183952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42" name="Text 35"/>
          <p:cNvSpPr/>
          <p:nvPr/>
        </p:nvSpPr>
        <p:spPr>
          <a:xfrm>
            <a:off x="2212749" y="3756720"/>
            <a:ext cx="471488" cy="183952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991B1B"/>
                </a:solidFill>
              </a:rPr>
              <a:t>미출근</a:t>
            </a:r>
            <a:endParaRPr lang="en-US" sz="584" dirty="0"/>
          </a:p>
        </p:txBody>
      </p:sp>
      <p:sp>
        <p:nvSpPr>
          <p:cNvPr id="43" name="Shape 36"/>
          <p:cNvSpPr/>
          <p:nvPr/>
        </p:nvSpPr>
        <p:spPr>
          <a:xfrm>
            <a:off x="2755674" y="3712964"/>
            <a:ext cx="271463" cy="271463"/>
          </a:xfrm>
          <a:prstGeom prst="ellipse">
            <a:avLst/>
          </a:prstGeom>
          <a:solidFill>
            <a:srgbClr val="EFF6FF"/>
          </a:solidFill>
          <a:ln w="9144">
            <a:solidFill>
              <a:srgbClr val="DBEAFE"/>
            </a:solidFill>
            <a:prstDash val="solid"/>
          </a:ln>
        </p:spPr>
      </p:sp>
      <p:pic>
        <p:nvPicPr>
          <p:cNvPr id="4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41399" y="3791545"/>
            <a:ext cx="114300" cy="114300"/>
          </a:xfrm>
          <a:prstGeom prst="rect">
            <a:avLst/>
          </a:prstGeom>
        </p:spPr>
      </p:pic>
      <p:sp>
        <p:nvSpPr>
          <p:cNvPr id="45" name="Shape 37"/>
          <p:cNvSpPr/>
          <p:nvPr/>
        </p:nvSpPr>
        <p:spPr>
          <a:xfrm>
            <a:off x="3982613" y="1633240"/>
            <a:ext cx="4875609" cy="1126927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46" name="Shape 38"/>
          <p:cNvSpPr/>
          <p:nvPr/>
        </p:nvSpPr>
        <p:spPr>
          <a:xfrm>
            <a:off x="4068338" y="1735038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7" name="Text 39"/>
          <p:cNvSpPr/>
          <p:nvPr/>
        </p:nvSpPr>
        <p:spPr>
          <a:xfrm>
            <a:off x="4068338" y="1735038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48" name="Text 40"/>
          <p:cNvSpPr/>
          <p:nvPr/>
        </p:nvSpPr>
        <p:spPr>
          <a:xfrm>
            <a:off x="4368375" y="1726109"/>
            <a:ext cx="201537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실시간 출역 리스트 (Real-time List)</a:t>
            </a:r>
            <a:endParaRPr lang="en-US" sz="885" dirty="0"/>
          </a:p>
        </p:txBody>
      </p:sp>
      <p:sp>
        <p:nvSpPr>
          <p:cNvPr id="49" name="Text 41"/>
          <p:cNvSpPr/>
          <p:nvPr/>
        </p:nvSpPr>
        <p:spPr>
          <a:xfrm>
            <a:off x="4068338" y="1972568"/>
            <a:ext cx="4704159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정렬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미출근 인원 상단 노출 &gt; 출근 시간순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상태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정상(녹색), 지각(노랑), 미출근(빨강)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출처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현장 안면인식 단말기 또는 GPS 앱 출근 데이터</a:t>
            </a:r>
            <a:endParaRPr lang="en-US" sz="727" dirty="0"/>
          </a:p>
        </p:txBody>
      </p:sp>
      <p:sp>
        <p:nvSpPr>
          <p:cNvPr id="50" name="Shape 42"/>
          <p:cNvSpPr/>
          <p:nvPr/>
        </p:nvSpPr>
        <p:spPr>
          <a:xfrm>
            <a:off x="4068338" y="2479774"/>
            <a:ext cx="2125573" cy="187523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51" name="Text 43"/>
          <p:cNvSpPr/>
          <p:nvPr/>
        </p:nvSpPr>
        <p:spPr>
          <a:xfrm>
            <a:off x="4068338" y="2479774"/>
            <a:ext cx="2125573" cy="187523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GET /api/team/attendance/daily?date=2024-01-25</a:t>
            </a:r>
            <a:endParaRPr lang="en-US" sz="621" dirty="0"/>
          </a:p>
        </p:txBody>
      </p:sp>
      <p:sp>
        <p:nvSpPr>
          <p:cNvPr id="52" name="Shape 44"/>
          <p:cNvSpPr/>
          <p:nvPr/>
        </p:nvSpPr>
        <p:spPr>
          <a:xfrm>
            <a:off x="3982613" y="2831604"/>
            <a:ext cx="4875609" cy="882253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53" name="Shape 45"/>
          <p:cNvSpPr/>
          <p:nvPr/>
        </p:nvSpPr>
        <p:spPr>
          <a:xfrm>
            <a:off x="4068338" y="2933402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4" name="Text 46"/>
          <p:cNvSpPr/>
          <p:nvPr/>
        </p:nvSpPr>
        <p:spPr>
          <a:xfrm>
            <a:off x="4068338" y="2933402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55" name="Text 47"/>
          <p:cNvSpPr/>
          <p:nvPr/>
        </p:nvSpPr>
        <p:spPr>
          <a:xfrm>
            <a:off x="4368375" y="2924473"/>
            <a:ext cx="154254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연락하기 (Contact Action)</a:t>
            </a:r>
            <a:endParaRPr lang="en-US" sz="885" dirty="0"/>
          </a:p>
        </p:txBody>
      </p:sp>
      <p:sp>
        <p:nvSpPr>
          <p:cNvPr id="56" name="Text 48"/>
          <p:cNvSpPr/>
          <p:nvPr/>
        </p:nvSpPr>
        <p:spPr>
          <a:xfrm>
            <a:off x="4068338" y="3170932"/>
            <a:ext cx="4704159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대상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'미출근' 또는 '지각' 상태인 팀원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기능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전화 아이콘 클릭 시 시스템 다이얼러 호출 (tel: scheme)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목적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출근 여부 및 위치 파악</a:t>
            </a:r>
            <a:endParaRPr lang="en-US" sz="727" dirty="0"/>
          </a:p>
        </p:txBody>
      </p:sp>
      <p:sp>
        <p:nvSpPr>
          <p:cNvPr id="57" name="Shape 49"/>
          <p:cNvSpPr/>
          <p:nvPr/>
        </p:nvSpPr>
        <p:spPr>
          <a:xfrm>
            <a:off x="3982613" y="3792438"/>
            <a:ext cx="4875609" cy="882253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58" name="Shape 50"/>
          <p:cNvSpPr/>
          <p:nvPr/>
        </p:nvSpPr>
        <p:spPr>
          <a:xfrm>
            <a:off x="4068338" y="3894237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9" name="Text 51"/>
          <p:cNvSpPr/>
          <p:nvPr/>
        </p:nvSpPr>
        <p:spPr>
          <a:xfrm>
            <a:off x="4068338" y="3894237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60" name="Text 52"/>
          <p:cNvSpPr/>
          <p:nvPr/>
        </p:nvSpPr>
        <p:spPr>
          <a:xfrm>
            <a:off x="4368375" y="3885307"/>
            <a:ext cx="213006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수기 정정 요청 (Correction Request)</a:t>
            </a:r>
            <a:endParaRPr lang="en-US" sz="885" dirty="0"/>
          </a:p>
        </p:txBody>
      </p:sp>
      <p:sp>
        <p:nvSpPr>
          <p:cNvPr id="61" name="Text 53"/>
          <p:cNvSpPr/>
          <p:nvPr/>
        </p:nvSpPr>
        <p:spPr>
          <a:xfrm>
            <a:off x="4068338" y="4131766"/>
            <a:ext cx="4704159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상황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기기 오류로 출근 기록이 누락된 경우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방법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해당 인원 롱프레스 &gt; '수기 출근 요청' 팝업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승인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현장 관리자 승인 후 반영</a:t>
            </a:r>
            <a:endParaRPr lang="en-US" sz="727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577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8143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1228725"/>
            <a:ext cx="85725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428625"/>
            <a:ext cx="857250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spc="-1" kern="0" dirty="0">
                <a:solidFill>
                  <a:srgbClr val="3B82F6"/>
                </a:solidFill>
              </a:rPr>
              <a:t>[노무자] 개인 대시보드 (Mobile App)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285750" y="935831"/>
            <a:ext cx="8572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나의 이번 달 총 공수, 예상 급여, 최근 출역 현장 조회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829847" y="1300163"/>
            <a:ext cx="2400300" cy="3829050"/>
          </a:xfrm>
          <a:prstGeom prst="rect">
            <a:avLst/>
          </a:prstGeom>
          <a:solidFill>
            <a:srgbClr val="000000"/>
          </a:solidFill>
          <a:ln w="54864">
            <a:solidFill>
              <a:srgbClr val="33415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887247" y="2371725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6"/>
          <p:cNvSpPr/>
          <p:nvPr/>
        </p:nvSpPr>
        <p:spPr>
          <a:xfrm>
            <a:off x="2887247" y="2371725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10" name="Shape 7"/>
          <p:cNvSpPr/>
          <p:nvPr/>
        </p:nvSpPr>
        <p:spPr>
          <a:xfrm>
            <a:off x="2887247" y="3443288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8"/>
          <p:cNvSpPr/>
          <p:nvPr/>
        </p:nvSpPr>
        <p:spPr>
          <a:xfrm>
            <a:off x="2887247" y="3443288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12" name="Shape 9"/>
          <p:cNvSpPr/>
          <p:nvPr/>
        </p:nvSpPr>
        <p:spPr>
          <a:xfrm>
            <a:off x="2887247" y="4200525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3" name="Text 10"/>
          <p:cNvSpPr/>
          <p:nvPr/>
        </p:nvSpPr>
        <p:spPr>
          <a:xfrm>
            <a:off x="2887247" y="4200525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14" name="Shape 11"/>
          <p:cNvSpPr/>
          <p:nvPr/>
        </p:nvSpPr>
        <p:spPr>
          <a:xfrm>
            <a:off x="886997" y="1300163"/>
            <a:ext cx="2286000" cy="371475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5" name="Shape 12"/>
          <p:cNvSpPr/>
          <p:nvPr/>
        </p:nvSpPr>
        <p:spPr>
          <a:xfrm>
            <a:off x="886997" y="1300163"/>
            <a:ext cx="2286000" cy="346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972722" y="1385888"/>
            <a:ext cx="68345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E293B"/>
                </a:solidFill>
              </a:rPr>
              <a:t>SmartCON</a:t>
            </a:r>
            <a:endParaRPr lang="en-US" sz="885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4758" y="1409105"/>
            <a:ext cx="112514" cy="12858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987010" y="1746647"/>
            <a:ext cx="20859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E293B"/>
                </a:solidFill>
              </a:rPr>
              <a:t>김철수님,</a:t>
            </a:r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E293B"/>
                </a:solidFill>
              </a:rPr>
              <a:t>
</a:t>
            </a:r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E293B"/>
                </a:solidFill>
              </a:rPr>
              <a:t>오늘도 안전작업하세요!</a:t>
            </a:r>
            <a:endParaRPr lang="en-US" sz="987" dirty="0"/>
          </a:p>
        </p:txBody>
      </p:sp>
      <p:sp>
        <p:nvSpPr>
          <p:cNvPr id="19" name="Text 15"/>
          <p:cNvSpPr/>
          <p:nvPr/>
        </p:nvSpPr>
        <p:spPr>
          <a:xfrm>
            <a:off x="987010" y="2175272"/>
            <a:ext cx="2085975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4748B"/>
                </a:solidFill>
              </a:rPr>
              <a:t>조적공 | A팀</a:t>
            </a:r>
            <a:endParaRPr lang="en-US" sz="727" dirty="0"/>
          </a:p>
        </p:txBody>
      </p:sp>
      <p:sp>
        <p:nvSpPr>
          <p:cNvPr id="20" name="Shape 16"/>
          <p:cNvSpPr/>
          <p:nvPr/>
        </p:nvSpPr>
        <p:spPr>
          <a:xfrm>
            <a:off x="987010" y="2434233"/>
            <a:ext cx="2085975" cy="96083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7"/>
          <p:cNvSpPr/>
          <p:nvPr/>
        </p:nvSpPr>
        <p:spPr>
          <a:xfrm>
            <a:off x="1101310" y="2548533"/>
            <a:ext cx="1857375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>
                    <a:alpha val="90000"/>
                  </a:srgbClr>
                </a:solidFill>
              </a:rPr>
              <a:t>2024년 1월 누적</a:t>
            </a:r>
            <a:endParaRPr lang="en-US" sz="727" dirty="0"/>
          </a:p>
        </p:txBody>
      </p:sp>
      <p:sp>
        <p:nvSpPr>
          <p:cNvPr id="22" name="Text 18"/>
          <p:cNvSpPr/>
          <p:nvPr/>
        </p:nvSpPr>
        <p:spPr>
          <a:xfrm>
            <a:off x="1101310" y="2750344"/>
            <a:ext cx="404264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</a:rPr>
              <a:t>18.5</a:t>
            </a:r>
            <a:endParaRPr lang="en-US" sz="1397" dirty="0"/>
          </a:p>
        </p:txBody>
      </p:sp>
      <p:sp>
        <p:nvSpPr>
          <p:cNvPr id="23" name="Text 19"/>
          <p:cNvSpPr/>
          <p:nvPr/>
        </p:nvSpPr>
        <p:spPr>
          <a:xfrm>
            <a:off x="2774649" y="2850356"/>
            <a:ext cx="184035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공수</a:t>
            </a:r>
            <a:endParaRPr lang="en-US" sz="683" dirty="0"/>
          </a:p>
        </p:txBody>
      </p:sp>
      <p:sp>
        <p:nvSpPr>
          <p:cNvPr id="24" name="Text 20"/>
          <p:cNvSpPr/>
          <p:nvPr/>
        </p:nvSpPr>
        <p:spPr>
          <a:xfrm>
            <a:off x="1101310" y="3080742"/>
            <a:ext cx="1857375" cy="200025"/>
          </a:xfrm>
          <a:prstGeom prst="rect">
            <a:avLst/>
          </a:prstGeom>
          <a:noFill/>
          <a:ln/>
        </p:spPr>
        <p:txBody>
          <a:bodyPr wrap="square" lIns="0" tIns="68072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FFFFFF">
                    <a:alpha val="80000"/>
                  </a:srgbClr>
                </a:solidFill>
              </a:rPr>
              <a:t>예상 급여: </a:t>
            </a:r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>
                    <a:alpha val="80000"/>
                  </a:srgbClr>
                </a:solidFill>
              </a:rPr>
              <a:t>3,250,000원</a:t>
            </a:r>
            <a:endParaRPr lang="en-US" sz="674" dirty="0"/>
          </a:p>
        </p:txBody>
      </p:sp>
      <p:sp>
        <p:nvSpPr>
          <p:cNvPr id="25" name="Text 21"/>
          <p:cNvSpPr/>
          <p:nvPr/>
        </p:nvSpPr>
        <p:spPr>
          <a:xfrm>
            <a:off x="987010" y="3509367"/>
            <a:ext cx="208597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4155"/>
                </a:solidFill>
              </a:rPr>
              <a:t>최근 출역 현장</a:t>
            </a:r>
            <a:endParaRPr lang="en-US" sz="784" dirty="0"/>
          </a:p>
        </p:txBody>
      </p:sp>
      <p:sp>
        <p:nvSpPr>
          <p:cNvPr id="26" name="Shape 22"/>
          <p:cNvSpPr/>
          <p:nvPr/>
        </p:nvSpPr>
        <p:spPr>
          <a:xfrm>
            <a:off x="987010" y="3730823"/>
            <a:ext cx="2085975" cy="482203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1072735" y="3821906"/>
            <a:ext cx="285750" cy="285750"/>
          </a:xfrm>
          <a:prstGeom prst="rect">
            <a:avLst/>
          </a:prstGeom>
          <a:solidFill>
            <a:srgbClr val="EFF6FF"/>
          </a:solidFill>
          <a:ln/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7389" y="3900488"/>
            <a:ext cx="96441" cy="128588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1429922" y="3816548"/>
            <a:ext cx="14144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1E293B"/>
                </a:solidFill>
              </a:rPr>
              <a:t>강남 오피스텔 신축공사</a:t>
            </a:r>
            <a:endParaRPr lang="en-US" sz="734" dirty="0"/>
          </a:p>
        </p:txBody>
      </p:sp>
      <p:sp>
        <p:nvSpPr>
          <p:cNvPr id="30" name="Text 25"/>
          <p:cNvSpPr/>
          <p:nvPr/>
        </p:nvSpPr>
        <p:spPr>
          <a:xfrm>
            <a:off x="1429922" y="3986213"/>
            <a:ext cx="141446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0B981"/>
                </a:solidFill>
              </a:rPr>
              <a:t>● 금일 출역 승인됨</a:t>
            </a:r>
            <a:endParaRPr lang="en-US" sz="584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5822" y="3907631"/>
            <a:ext cx="71438" cy="114300"/>
          </a:xfrm>
          <a:prstGeom prst="rect">
            <a:avLst/>
          </a:prstGeom>
        </p:spPr>
      </p:pic>
      <p:sp>
        <p:nvSpPr>
          <p:cNvPr id="32" name="Shape 26"/>
          <p:cNvSpPr/>
          <p:nvPr/>
        </p:nvSpPr>
        <p:spPr>
          <a:xfrm>
            <a:off x="987010" y="4313039"/>
            <a:ext cx="657225" cy="498277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3114" y="4398764"/>
            <a:ext cx="125016" cy="142875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107309" y="4584502"/>
            <a:ext cx="41662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475569"/>
                </a:solidFill>
              </a:rPr>
              <a:t>출역 캘린더</a:t>
            </a:r>
            <a:endParaRPr lang="en-US" sz="584" dirty="0"/>
          </a:p>
        </p:txBody>
      </p:sp>
      <p:sp>
        <p:nvSpPr>
          <p:cNvPr id="35" name="Shape 28"/>
          <p:cNvSpPr/>
          <p:nvPr/>
        </p:nvSpPr>
        <p:spPr>
          <a:xfrm>
            <a:off x="1701385" y="4313039"/>
            <a:ext cx="657225" cy="498277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49630" y="4398764"/>
            <a:ext cx="160734" cy="142875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832818" y="4584502"/>
            <a:ext cx="394357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475569"/>
                </a:solidFill>
              </a:rPr>
              <a:t>근로계약서</a:t>
            </a:r>
            <a:endParaRPr lang="en-US" sz="584" dirty="0"/>
          </a:p>
        </p:txBody>
      </p:sp>
      <p:sp>
        <p:nvSpPr>
          <p:cNvPr id="38" name="Shape 30"/>
          <p:cNvSpPr/>
          <p:nvPr/>
        </p:nvSpPr>
        <p:spPr>
          <a:xfrm>
            <a:off x="2415760" y="4313039"/>
            <a:ext cx="657225" cy="498277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90794" y="4398764"/>
            <a:ext cx="107156" cy="142875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2547193" y="4584502"/>
            <a:ext cx="394357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475569"/>
                </a:solidFill>
              </a:rPr>
              <a:t>급여명세서</a:t>
            </a:r>
            <a:endParaRPr lang="en-US" sz="584" dirty="0"/>
          </a:p>
        </p:txBody>
      </p:sp>
      <p:sp>
        <p:nvSpPr>
          <p:cNvPr id="41" name="Shape 32"/>
          <p:cNvSpPr/>
          <p:nvPr/>
        </p:nvSpPr>
        <p:spPr>
          <a:xfrm>
            <a:off x="3974297" y="1300163"/>
            <a:ext cx="4883925" cy="996888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42" name="Text 33"/>
          <p:cNvSpPr/>
          <p:nvPr/>
        </p:nvSpPr>
        <p:spPr>
          <a:xfrm>
            <a:off x="4060022" y="1393031"/>
            <a:ext cx="735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1</a:t>
            </a:r>
            <a:endParaRPr lang="en-US" sz="885" dirty="0"/>
          </a:p>
        </p:txBody>
      </p:sp>
      <p:sp>
        <p:nvSpPr>
          <p:cNvPr id="43" name="Text 34"/>
          <p:cNvSpPr/>
          <p:nvPr/>
        </p:nvSpPr>
        <p:spPr>
          <a:xfrm>
            <a:off x="4276455" y="1385888"/>
            <a:ext cx="2204126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월간 요약 데이터 (Monthly Summary)</a:t>
            </a:r>
            <a:endParaRPr lang="en-US" sz="885" dirty="0"/>
          </a:p>
        </p:txBody>
      </p:sp>
      <p:sp>
        <p:nvSpPr>
          <p:cNvPr id="44" name="Text 35"/>
          <p:cNvSpPr/>
          <p:nvPr/>
        </p:nvSpPr>
        <p:spPr>
          <a:xfrm>
            <a:off x="4060022" y="1632347"/>
            <a:ext cx="471247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공수 합계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이달 '승인' 공수 합산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예상 급여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(총 공수 × 단가) - 공제</a:t>
            </a:r>
            <a:endParaRPr lang="en-US" sz="727" dirty="0"/>
          </a:p>
        </p:txBody>
      </p:sp>
      <p:sp>
        <p:nvSpPr>
          <p:cNvPr id="45" name="Shape 36"/>
          <p:cNvSpPr/>
          <p:nvPr/>
        </p:nvSpPr>
        <p:spPr>
          <a:xfrm>
            <a:off x="4060022" y="2009515"/>
            <a:ext cx="1658801" cy="187523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46" name="Text 37"/>
          <p:cNvSpPr/>
          <p:nvPr/>
        </p:nvSpPr>
        <p:spPr>
          <a:xfrm>
            <a:off x="4060022" y="2009515"/>
            <a:ext cx="1658801" cy="187523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GET /api/worker/dashboard/summary</a:t>
            </a:r>
            <a:endParaRPr lang="en-US" sz="621" dirty="0"/>
          </a:p>
        </p:txBody>
      </p:sp>
      <p:sp>
        <p:nvSpPr>
          <p:cNvPr id="47" name="Shape 38"/>
          <p:cNvSpPr/>
          <p:nvPr/>
        </p:nvSpPr>
        <p:spPr>
          <a:xfrm>
            <a:off x="3974297" y="2354200"/>
            <a:ext cx="4883925" cy="752215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48" name="Text 39"/>
          <p:cNvSpPr/>
          <p:nvPr/>
        </p:nvSpPr>
        <p:spPr>
          <a:xfrm>
            <a:off x="4060022" y="2447069"/>
            <a:ext cx="735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2</a:t>
            </a:r>
            <a:endParaRPr lang="en-US" sz="885" dirty="0"/>
          </a:p>
        </p:txBody>
      </p:sp>
      <p:sp>
        <p:nvSpPr>
          <p:cNvPr id="49" name="Text 40"/>
          <p:cNvSpPr/>
          <p:nvPr/>
        </p:nvSpPr>
        <p:spPr>
          <a:xfrm>
            <a:off x="4276455" y="2439925"/>
            <a:ext cx="161585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최근 현장 정보 (Recent Site)</a:t>
            </a:r>
            <a:endParaRPr lang="en-US" sz="885" dirty="0"/>
          </a:p>
        </p:txBody>
      </p:sp>
      <p:sp>
        <p:nvSpPr>
          <p:cNvPr id="50" name="Text 41"/>
          <p:cNvSpPr/>
          <p:nvPr/>
        </p:nvSpPr>
        <p:spPr>
          <a:xfrm>
            <a:off x="4060022" y="2686385"/>
            <a:ext cx="471247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표시 기준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최근 출역 또는 배정 현장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상태 표시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요청 / 승인 / 반려</a:t>
            </a:r>
            <a:endParaRPr lang="en-US" sz="727" dirty="0"/>
          </a:p>
        </p:txBody>
      </p:sp>
      <p:sp>
        <p:nvSpPr>
          <p:cNvPr id="51" name="Shape 42"/>
          <p:cNvSpPr/>
          <p:nvPr/>
        </p:nvSpPr>
        <p:spPr>
          <a:xfrm>
            <a:off x="3974297" y="3177853"/>
            <a:ext cx="4883925" cy="752215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52" name="Text 43"/>
          <p:cNvSpPr/>
          <p:nvPr/>
        </p:nvSpPr>
        <p:spPr>
          <a:xfrm>
            <a:off x="4060022" y="3270721"/>
            <a:ext cx="735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3</a:t>
            </a:r>
            <a:endParaRPr lang="en-US" sz="885" dirty="0"/>
          </a:p>
        </p:txBody>
      </p:sp>
      <p:sp>
        <p:nvSpPr>
          <p:cNvPr id="53" name="Text 44"/>
          <p:cNvSpPr/>
          <p:nvPr/>
        </p:nvSpPr>
        <p:spPr>
          <a:xfrm>
            <a:off x="4276455" y="3263578"/>
            <a:ext cx="133900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퀵 메뉴 (Quick Access)</a:t>
            </a:r>
            <a:endParaRPr lang="en-US" sz="885" dirty="0"/>
          </a:p>
        </p:txBody>
      </p:sp>
      <p:sp>
        <p:nvSpPr>
          <p:cNvPr id="54" name="Text 45"/>
          <p:cNvSpPr/>
          <p:nvPr/>
        </p:nvSpPr>
        <p:spPr>
          <a:xfrm>
            <a:off x="4060022" y="3510037"/>
            <a:ext cx="471247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출역 캘린더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월별 출역 내역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근로계약서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전자계약서 보기</a:t>
            </a:r>
            <a:endParaRPr lang="en-US" sz="727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8715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1285875"/>
            <a:ext cx="85725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428625"/>
            <a:ext cx="857250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spc="-1" kern="0" dirty="0">
                <a:solidFill>
                  <a:srgbClr val="3B82F6"/>
                </a:solidFill>
              </a:rPr>
              <a:t>[노무자] 안면 데이터 등록 (Mobile App)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285750" y="935831"/>
            <a:ext cx="8572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카메라를 통해 본인의 얼굴을 촬영하고 안면 인식 데이터를 등록하는 가이드 화면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82213" y="1443038"/>
            <a:ext cx="2400300" cy="3400425"/>
          </a:xfrm>
          <a:prstGeom prst="rect">
            <a:avLst/>
          </a:prstGeom>
          <a:solidFill>
            <a:srgbClr val="000000"/>
          </a:solidFill>
          <a:ln w="54864">
            <a:solidFill>
              <a:srgbClr val="33415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711025" y="2571750"/>
            <a:ext cx="200025" cy="20002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6"/>
          <p:cNvSpPr/>
          <p:nvPr/>
        </p:nvSpPr>
        <p:spPr>
          <a:xfrm>
            <a:off x="2711025" y="2571750"/>
            <a:ext cx="2000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1</a:t>
            </a:r>
            <a:endParaRPr lang="en-US" sz="683" dirty="0"/>
          </a:p>
        </p:txBody>
      </p:sp>
      <p:sp>
        <p:nvSpPr>
          <p:cNvPr id="10" name="Shape 7"/>
          <p:cNvSpPr/>
          <p:nvPr/>
        </p:nvSpPr>
        <p:spPr>
          <a:xfrm>
            <a:off x="2711025" y="3657600"/>
            <a:ext cx="200025" cy="20002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8"/>
          <p:cNvSpPr/>
          <p:nvPr/>
        </p:nvSpPr>
        <p:spPr>
          <a:xfrm>
            <a:off x="2711025" y="3657600"/>
            <a:ext cx="2000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2</a:t>
            </a:r>
            <a:endParaRPr lang="en-US" sz="683" dirty="0"/>
          </a:p>
        </p:txBody>
      </p:sp>
      <p:sp>
        <p:nvSpPr>
          <p:cNvPr id="12" name="Shape 9"/>
          <p:cNvSpPr/>
          <p:nvPr/>
        </p:nvSpPr>
        <p:spPr>
          <a:xfrm>
            <a:off x="2711025" y="4300538"/>
            <a:ext cx="200025" cy="20002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3" name="Text 10"/>
          <p:cNvSpPr/>
          <p:nvPr/>
        </p:nvSpPr>
        <p:spPr>
          <a:xfrm>
            <a:off x="2711025" y="4300538"/>
            <a:ext cx="2000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3</a:t>
            </a:r>
            <a:endParaRPr lang="en-US" sz="683" dirty="0"/>
          </a:p>
        </p:txBody>
      </p:sp>
      <p:sp>
        <p:nvSpPr>
          <p:cNvPr id="14" name="Shape 11"/>
          <p:cNvSpPr/>
          <p:nvPr/>
        </p:nvSpPr>
        <p:spPr>
          <a:xfrm>
            <a:off x="839363" y="1500188"/>
            <a:ext cx="2286000" cy="328612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5" name="Shape 12"/>
          <p:cNvSpPr/>
          <p:nvPr/>
        </p:nvSpPr>
        <p:spPr>
          <a:xfrm>
            <a:off x="839363" y="1500188"/>
            <a:ext cx="2286000" cy="378619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519" y="1632347"/>
            <a:ext cx="100013" cy="1143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750023" y="1607344"/>
            <a:ext cx="450363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안면 등록</a:t>
            </a:r>
            <a:endParaRPr lang="en-US" sz="784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3879" y="1632347"/>
            <a:ext cx="114300" cy="1143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46873" y="3743325"/>
            <a:ext cx="870979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가이드 라인 안에</a:t>
            </a:r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
</a:t>
            </a:r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얼굴을 맞춰주세요</a:t>
            </a:r>
            <a:endParaRPr lang="en-US" sz="784" dirty="0"/>
          </a:p>
        </p:txBody>
      </p:sp>
      <p:sp>
        <p:nvSpPr>
          <p:cNvPr id="20" name="Shape 15"/>
          <p:cNvSpPr/>
          <p:nvPr/>
        </p:nvSpPr>
        <p:spPr>
          <a:xfrm>
            <a:off x="839363" y="4071938"/>
            <a:ext cx="2286000" cy="7143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1" name="Shape 16"/>
          <p:cNvSpPr/>
          <p:nvPr/>
        </p:nvSpPr>
        <p:spPr>
          <a:xfrm>
            <a:off x="1725188" y="4171950"/>
            <a:ext cx="514350" cy="514350"/>
          </a:xfrm>
          <a:prstGeom prst="ellipse">
            <a:avLst/>
          </a:prstGeom>
          <a:solidFill>
            <a:srgbClr val="FFFFFF"/>
          </a:solidFill>
          <a:ln w="27432">
            <a:solidFill>
              <a:srgbClr val="CBD5E1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107628" y="1515368"/>
            <a:ext cx="4750594" cy="957263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193353" y="1608237"/>
            <a:ext cx="200025" cy="20002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4" name="Text 19"/>
          <p:cNvSpPr/>
          <p:nvPr/>
        </p:nvSpPr>
        <p:spPr>
          <a:xfrm>
            <a:off x="4193353" y="1608237"/>
            <a:ext cx="2000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1</a:t>
            </a:r>
            <a:endParaRPr lang="en-US" sz="683" dirty="0"/>
          </a:p>
        </p:txBody>
      </p:sp>
      <p:sp>
        <p:nvSpPr>
          <p:cNvPr id="25" name="Text 20"/>
          <p:cNvSpPr/>
          <p:nvPr/>
        </p:nvSpPr>
        <p:spPr>
          <a:xfrm>
            <a:off x="4550541" y="1613595"/>
            <a:ext cx="218858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카메라 가이드 및 권한 (Camera Guide)</a:t>
            </a:r>
            <a:endParaRPr lang="en-US" sz="885" dirty="0"/>
          </a:p>
        </p:txBody>
      </p:sp>
      <p:sp>
        <p:nvSpPr>
          <p:cNvPr id="26" name="Text 21"/>
          <p:cNvSpPr/>
          <p:nvPr/>
        </p:nvSpPr>
        <p:spPr>
          <a:xfrm>
            <a:off x="4193353" y="1865412"/>
            <a:ext cx="4579144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CBD5E1"/>
                </a:solidFill>
              </a:rPr>
              <a:t>권한 요청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: 앱 최초 실행 시 카메라 접근 권한 획득 필수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CBD5E1"/>
                </a:solidFill>
              </a:rPr>
              <a:t>가이드 오버레이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: 얼굴 위치를 유도하는 타원형 가이드 표시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CBD5E1"/>
                </a:solidFill>
              </a:rPr>
              <a:t>조도 감지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: 너무 어두운 경우 "밝은 곳으로 이동해주세요" 안내</a:t>
            </a:r>
            <a:endParaRPr lang="en-US" sz="780" dirty="0"/>
          </a:p>
        </p:txBody>
      </p:sp>
      <p:sp>
        <p:nvSpPr>
          <p:cNvPr id="27" name="Shape 22"/>
          <p:cNvSpPr/>
          <p:nvPr/>
        </p:nvSpPr>
        <p:spPr>
          <a:xfrm>
            <a:off x="4107628" y="2522637"/>
            <a:ext cx="4750594" cy="957263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4193353" y="2615505"/>
            <a:ext cx="200025" cy="20002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9" name="Text 24"/>
          <p:cNvSpPr/>
          <p:nvPr/>
        </p:nvSpPr>
        <p:spPr>
          <a:xfrm>
            <a:off x="4193353" y="2615505"/>
            <a:ext cx="2000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2</a:t>
            </a:r>
            <a:endParaRPr lang="en-US" sz="683" dirty="0"/>
          </a:p>
        </p:txBody>
      </p:sp>
      <p:sp>
        <p:nvSpPr>
          <p:cNvPr id="30" name="Text 25"/>
          <p:cNvSpPr/>
          <p:nvPr/>
        </p:nvSpPr>
        <p:spPr>
          <a:xfrm>
            <a:off x="4550541" y="2620863"/>
            <a:ext cx="1909139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이미지 품질 검사 (Quality Check)</a:t>
            </a:r>
            <a:endParaRPr lang="en-US" sz="885" dirty="0"/>
          </a:p>
        </p:txBody>
      </p:sp>
      <p:sp>
        <p:nvSpPr>
          <p:cNvPr id="31" name="Text 26"/>
          <p:cNvSpPr/>
          <p:nvPr/>
        </p:nvSpPr>
        <p:spPr>
          <a:xfrm>
            <a:off x="4193353" y="2872680"/>
            <a:ext cx="4579144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CBD5E1"/>
                </a:solidFill>
              </a:rPr>
              <a:t>자동 감지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: 얼굴이 가이드 내에 위치하고 눈을 떴을 때 자동 촬영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CBD5E1"/>
                </a:solidFill>
              </a:rPr>
              <a:t>유효성 검사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: 얼굴 크기(Pixel), 기울기(Pose), 선명도(Blur) 실시간 체크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CBD5E1"/>
                </a:solidFill>
              </a:rPr>
              <a:t>피드백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: "조금 더 가까이 와주세요", "고개를 바로 해주세요"</a:t>
            </a:r>
            <a:endParaRPr lang="en-US" sz="780" dirty="0"/>
          </a:p>
        </p:txBody>
      </p:sp>
      <p:sp>
        <p:nvSpPr>
          <p:cNvPr id="32" name="Shape 27"/>
          <p:cNvSpPr/>
          <p:nvPr/>
        </p:nvSpPr>
        <p:spPr>
          <a:xfrm>
            <a:off x="4107628" y="3529905"/>
            <a:ext cx="4750594" cy="1226939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4193353" y="3622774"/>
            <a:ext cx="200025" cy="20002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4" name="Text 29"/>
          <p:cNvSpPr/>
          <p:nvPr/>
        </p:nvSpPr>
        <p:spPr>
          <a:xfrm>
            <a:off x="4193353" y="3622774"/>
            <a:ext cx="2000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3</a:t>
            </a:r>
            <a:endParaRPr lang="en-US" sz="683" dirty="0"/>
          </a:p>
        </p:txBody>
      </p:sp>
      <p:sp>
        <p:nvSpPr>
          <p:cNvPr id="35" name="Text 30"/>
          <p:cNvSpPr/>
          <p:nvPr/>
        </p:nvSpPr>
        <p:spPr>
          <a:xfrm>
            <a:off x="4550541" y="3628132"/>
            <a:ext cx="262898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임베딩 추출 및 업로드 (Embedding &amp; Upload)</a:t>
            </a:r>
            <a:endParaRPr lang="en-US" sz="885" dirty="0"/>
          </a:p>
        </p:txBody>
      </p:sp>
      <p:sp>
        <p:nvSpPr>
          <p:cNvPr id="36" name="Text 31"/>
          <p:cNvSpPr/>
          <p:nvPr/>
        </p:nvSpPr>
        <p:spPr>
          <a:xfrm>
            <a:off x="4193353" y="3879949"/>
            <a:ext cx="4579144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CBD5E1"/>
                </a:solidFill>
              </a:rPr>
              <a:t>전처리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: FaceNet 모델 호환을 위한 이미지 리사이징 (160x160)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CBD5E1"/>
                </a:solidFill>
              </a:rPr>
              <a:t>데이터 전송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: 원본 이미지는 S3에 저장, 추출된 128D 벡터는 DB 저장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CBD5E1"/>
                </a:solidFill>
              </a:rPr>
              <a:t>보안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CBD5E1"/>
                </a:solidFill>
              </a:rPr>
              <a:t>: 전송 구간 암호화 (SSL/TLS)</a:t>
            </a:r>
            <a:endParaRPr lang="en-US" sz="780" dirty="0"/>
          </a:p>
        </p:txBody>
      </p:sp>
      <p:sp>
        <p:nvSpPr>
          <p:cNvPr id="37" name="Shape 32"/>
          <p:cNvSpPr/>
          <p:nvPr/>
        </p:nvSpPr>
        <p:spPr>
          <a:xfrm>
            <a:off x="4193353" y="4465737"/>
            <a:ext cx="1647276" cy="198239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4193353" y="4465737"/>
            <a:ext cx="1647276" cy="198239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10B981"/>
                </a:solidFill>
              </a:rPr>
              <a:t>POST /api/worker/face-registration</a:t>
            </a:r>
            <a:endParaRPr lang="en-US" sz="674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8161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8715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1285875"/>
            <a:ext cx="85725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428625"/>
            <a:ext cx="857250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spc="-1" kern="0" dirty="0">
                <a:solidFill>
                  <a:srgbClr val="3B82F6"/>
                </a:solidFill>
              </a:rPr>
              <a:t>[노무자] 전자 근로계약 서명 (Mobile App)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285750" y="935831"/>
            <a:ext cx="8572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모바일 화면에서 근로계약서를 확인하고 서명 패드에 직접 서명하는 기능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835791" y="1500188"/>
            <a:ext cx="2400300" cy="3371850"/>
          </a:xfrm>
          <a:prstGeom prst="rect">
            <a:avLst/>
          </a:prstGeom>
          <a:solidFill>
            <a:srgbClr val="000000"/>
          </a:solidFill>
          <a:ln w="54864">
            <a:solidFill>
              <a:srgbClr val="33415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864616" y="2214563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6"/>
          <p:cNvSpPr/>
          <p:nvPr/>
        </p:nvSpPr>
        <p:spPr>
          <a:xfrm>
            <a:off x="2864616" y="2214563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10" name="Shape 7"/>
          <p:cNvSpPr/>
          <p:nvPr/>
        </p:nvSpPr>
        <p:spPr>
          <a:xfrm>
            <a:off x="2864616" y="3586163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8"/>
          <p:cNvSpPr/>
          <p:nvPr/>
        </p:nvSpPr>
        <p:spPr>
          <a:xfrm>
            <a:off x="2864616" y="3586163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12" name="Shape 9"/>
          <p:cNvSpPr/>
          <p:nvPr/>
        </p:nvSpPr>
        <p:spPr>
          <a:xfrm>
            <a:off x="2864616" y="4157663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3" name="Text 10"/>
          <p:cNvSpPr/>
          <p:nvPr/>
        </p:nvSpPr>
        <p:spPr>
          <a:xfrm>
            <a:off x="2864616" y="4157663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14" name="Shape 11"/>
          <p:cNvSpPr/>
          <p:nvPr/>
        </p:nvSpPr>
        <p:spPr>
          <a:xfrm>
            <a:off x="892941" y="1500188"/>
            <a:ext cx="2286000" cy="325755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5" name="Shape 12"/>
          <p:cNvSpPr/>
          <p:nvPr/>
        </p:nvSpPr>
        <p:spPr>
          <a:xfrm>
            <a:off x="892941" y="1500188"/>
            <a:ext cx="2286000" cy="378619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097" y="1632347"/>
            <a:ext cx="100013" cy="1143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698454" y="1607344"/>
            <a:ext cx="660657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전자계약 서명</a:t>
            </a:r>
            <a:endParaRPr lang="en-US" sz="784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7457" y="1632347"/>
            <a:ext cx="114300" cy="1143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950091" y="1935956"/>
            <a:ext cx="2171700" cy="1500188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1021528" y="2007394"/>
            <a:ext cx="202882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1E293B"/>
                </a:solidFill>
              </a:rPr>
              <a:t>표준근로계약서 (일용직)</a:t>
            </a:r>
            <a:endParaRPr lang="en-US" sz="683" dirty="0"/>
          </a:p>
        </p:txBody>
      </p:sp>
      <p:sp>
        <p:nvSpPr>
          <p:cNvPr id="21" name="Text 16"/>
          <p:cNvSpPr/>
          <p:nvPr/>
        </p:nvSpPr>
        <p:spPr>
          <a:xfrm>
            <a:off x="1021528" y="2253128"/>
            <a:ext cx="2028825" cy="16458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334155"/>
                </a:solidFill>
              </a:rPr>
              <a:t>1. 근로계약기간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 2024년 01월 25일 부터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 2024년 01월 25일 까지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334155"/>
                </a:solidFill>
              </a:rPr>
              <a:t>2. 근무장소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 서울시 강남구 역삼동 SmartCON 현장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334155"/>
                </a:solidFill>
              </a:rPr>
              <a:t>3. 업무의 내용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 조적 공사 및 관련 업무 보조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334155"/>
                </a:solidFill>
              </a:rPr>
              <a:t>4. 근로시간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 07:00 부터 16:00 까지 (휴게시간 1시간)</a:t>
            </a:r>
            <a:endParaRPr lang="en-US" sz="584" dirty="0"/>
          </a:p>
        </p:txBody>
      </p:sp>
      <p:sp>
        <p:nvSpPr>
          <p:cNvPr id="22" name="Shape 17"/>
          <p:cNvSpPr/>
          <p:nvPr/>
        </p:nvSpPr>
        <p:spPr>
          <a:xfrm>
            <a:off x="892941" y="3493294"/>
            <a:ext cx="2286000" cy="12644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18"/>
          <p:cNvSpPr/>
          <p:nvPr/>
        </p:nvSpPr>
        <p:spPr>
          <a:xfrm>
            <a:off x="892941" y="3493294"/>
            <a:ext cx="228600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4" name="Text 19"/>
          <p:cNvSpPr/>
          <p:nvPr/>
        </p:nvSpPr>
        <p:spPr>
          <a:xfrm>
            <a:off x="978666" y="3586163"/>
            <a:ext cx="21145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34155"/>
                </a:solidFill>
              </a:rPr>
              <a:t>서명 입력</a:t>
            </a:r>
            <a:endParaRPr lang="en-US" sz="634" dirty="0"/>
          </a:p>
        </p:txBody>
      </p:sp>
      <p:sp>
        <p:nvSpPr>
          <p:cNvPr id="25" name="Shape 20"/>
          <p:cNvSpPr/>
          <p:nvPr/>
        </p:nvSpPr>
        <p:spPr>
          <a:xfrm>
            <a:off x="978666" y="3779044"/>
            <a:ext cx="2114550" cy="557213"/>
          </a:xfrm>
          <a:prstGeom prst="rect">
            <a:avLst/>
          </a:prstGeom>
          <a:solidFill>
            <a:srgbClr val="F1F5F9"/>
          </a:solidFill>
          <a:ln w="9144">
            <a:solidFill>
              <a:srgbClr val="94A3B8"/>
            </a:solidFill>
            <a:prstDash val="dash"/>
          </a:ln>
        </p:spPr>
      </p:sp>
      <p:sp>
        <p:nvSpPr>
          <p:cNvPr id="26" name="Text 21"/>
          <p:cNvSpPr/>
          <p:nvPr/>
        </p:nvSpPr>
        <p:spPr>
          <a:xfrm>
            <a:off x="1654866" y="3992463"/>
            <a:ext cx="762121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94A3B8"/>
                </a:solidFill>
              </a:rPr>
              <a:t>여기에 서명하세요</a:t>
            </a:r>
            <a:endParaRPr lang="en-US" sz="727" dirty="0"/>
          </a:p>
        </p:txBody>
      </p:sp>
      <p:sp>
        <p:nvSpPr>
          <p:cNvPr id="27" name="Shape 22"/>
          <p:cNvSpPr/>
          <p:nvPr/>
        </p:nvSpPr>
        <p:spPr>
          <a:xfrm>
            <a:off x="978666" y="4393406"/>
            <a:ext cx="2114550" cy="27860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Text 23"/>
          <p:cNvSpPr/>
          <p:nvPr/>
        </p:nvSpPr>
        <p:spPr>
          <a:xfrm>
            <a:off x="978666" y="4393406"/>
            <a:ext cx="2114550" cy="278606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서명 제출 및 계약 완료</a:t>
            </a:r>
            <a:endParaRPr lang="en-US" sz="683" dirty="0"/>
          </a:p>
        </p:txBody>
      </p:sp>
      <p:sp>
        <p:nvSpPr>
          <p:cNvPr id="29" name="Shape 24"/>
          <p:cNvSpPr/>
          <p:nvPr/>
        </p:nvSpPr>
        <p:spPr>
          <a:xfrm>
            <a:off x="3957610" y="1500188"/>
            <a:ext cx="4900613" cy="969373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4071910" y="1623417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1" name="Text 26"/>
          <p:cNvSpPr/>
          <p:nvPr/>
        </p:nvSpPr>
        <p:spPr>
          <a:xfrm>
            <a:off x="4071910" y="1623417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32" name="Text 27"/>
          <p:cNvSpPr/>
          <p:nvPr/>
        </p:nvSpPr>
        <p:spPr>
          <a:xfrm>
            <a:off x="4386235" y="1614488"/>
            <a:ext cx="177684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계약서 뷰어 (Contract Viewer)</a:t>
            </a:r>
            <a:endParaRPr lang="en-US" sz="885" dirty="0"/>
          </a:p>
        </p:txBody>
      </p:sp>
      <p:sp>
        <p:nvSpPr>
          <p:cNvPr id="33" name="Text 28"/>
          <p:cNvSpPr/>
          <p:nvPr/>
        </p:nvSpPr>
        <p:spPr>
          <a:xfrm>
            <a:off x="4071910" y="1860947"/>
            <a:ext cx="4672013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데이터 바인딩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근로자 정보(이름, 단가, 공종)가 매핑된 HTML 렌더링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필수 확인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스크롤을 끝까지 내려야 서명 영역 활성화 (Read Check)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형식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모바일 가독성을 고려한 반응형 웹뷰(WebView) 사용</a:t>
            </a:r>
            <a:endParaRPr lang="en-US" sz="727" dirty="0"/>
          </a:p>
        </p:txBody>
      </p:sp>
      <p:sp>
        <p:nvSpPr>
          <p:cNvPr id="34" name="Shape 29"/>
          <p:cNvSpPr/>
          <p:nvPr/>
        </p:nvSpPr>
        <p:spPr>
          <a:xfrm>
            <a:off x="3957610" y="2569573"/>
            <a:ext cx="4900613" cy="969373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4071910" y="2692803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6" name="Text 31"/>
          <p:cNvSpPr/>
          <p:nvPr/>
        </p:nvSpPr>
        <p:spPr>
          <a:xfrm>
            <a:off x="4071910" y="2692803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37" name="Text 32"/>
          <p:cNvSpPr/>
          <p:nvPr/>
        </p:nvSpPr>
        <p:spPr>
          <a:xfrm>
            <a:off x="4386235" y="2683873"/>
            <a:ext cx="152622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서명 패드 (Signature Pad)</a:t>
            </a:r>
            <a:endParaRPr lang="en-US" sz="885" dirty="0"/>
          </a:p>
        </p:txBody>
      </p:sp>
      <p:sp>
        <p:nvSpPr>
          <p:cNvPr id="38" name="Text 33"/>
          <p:cNvSpPr/>
          <p:nvPr/>
        </p:nvSpPr>
        <p:spPr>
          <a:xfrm>
            <a:off x="4071910" y="2930333"/>
            <a:ext cx="4672013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기술 스택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HTML5 Canvas API + Touch Event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기능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서명 그리기, 지우기(Reset), 이미지 추출(Base64 PNG)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유효성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빈 서명 제출 방지 (최소 획수 또는 픽셀 감지)</a:t>
            </a:r>
            <a:endParaRPr lang="en-US" sz="727" dirty="0"/>
          </a:p>
        </p:txBody>
      </p:sp>
      <p:sp>
        <p:nvSpPr>
          <p:cNvPr id="39" name="Shape 34"/>
          <p:cNvSpPr/>
          <p:nvPr/>
        </p:nvSpPr>
        <p:spPr>
          <a:xfrm>
            <a:off x="3957610" y="3638959"/>
            <a:ext cx="4900613" cy="1214047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4071910" y="3762189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1" name="Text 36"/>
          <p:cNvSpPr/>
          <p:nvPr/>
        </p:nvSpPr>
        <p:spPr>
          <a:xfrm>
            <a:off x="4071910" y="3762189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42" name="Text 37"/>
          <p:cNvSpPr/>
          <p:nvPr/>
        </p:nvSpPr>
        <p:spPr>
          <a:xfrm>
            <a:off x="4386235" y="3753259"/>
            <a:ext cx="206102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PDF 생성 및 저장 (PDF Generation)</a:t>
            </a:r>
            <a:endParaRPr lang="en-US" sz="885" dirty="0"/>
          </a:p>
        </p:txBody>
      </p:sp>
      <p:sp>
        <p:nvSpPr>
          <p:cNvPr id="43" name="Text 38"/>
          <p:cNvSpPr/>
          <p:nvPr/>
        </p:nvSpPr>
        <p:spPr>
          <a:xfrm>
            <a:off x="4071910" y="3999719"/>
            <a:ext cx="4672013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프로세스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서명 이미지 + 계약서 템플릿 합성 (Server-side)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저장소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AWS S3 (Private Bucket)에 PDF 파일 업로드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보안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파일 암호화 및 접근 로그 기록 (Audit Trail)</a:t>
            </a:r>
            <a:endParaRPr lang="en-US" sz="727" dirty="0"/>
          </a:p>
        </p:txBody>
      </p:sp>
      <p:sp>
        <p:nvSpPr>
          <p:cNvPr id="44" name="Shape 39"/>
          <p:cNvSpPr/>
          <p:nvPr/>
        </p:nvSpPr>
        <p:spPr>
          <a:xfrm>
            <a:off x="4071910" y="4536895"/>
            <a:ext cx="1611725" cy="187523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4071910" y="4536895"/>
            <a:ext cx="1611725" cy="187523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POST /api/worker/contracts/{id}/sign</a:t>
            </a:r>
            <a:endParaRPr lang="en-US" sz="621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8001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1214438"/>
            <a:ext cx="85725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428625"/>
            <a:ext cx="857250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spc="-1" kern="0" dirty="0">
                <a:solidFill>
                  <a:srgbClr val="3B82F6"/>
                </a:solidFill>
              </a:rPr>
              <a:t>[노무자] 월간 출역 캘린더 (Mobile App)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285750" y="935831"/>
            <a:ext cx="8572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일별 공수 확인 및 월간 예상 급여 실시간 조회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835791" y="1443038"/>
            <a:ext cx="2400300" cy="3471863"/>
          </a:xfrm>
          <a:prstGeom prst="rect">
            <a:avLst/>
          </a:prstGeom>
          <a:solidFill>
            <a:srgbClr val="000000"/>
          </a:solidFill>
          <a:ln w="54864">
            <a:solidFill>
              <a:srgbClr val="33415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864616" y="2428875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6"/>
          <p:cNvSpPr/>
          <p:nvPr/>
        </p:nvSpPr>
        <p:spPr>
          <a:xfrm>
            <a:off x="2864616" y="2428875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10" name="Shape 7"/>
          <p:cNvSpPr/>
          <p:nvPr/>
        </p:nvSpPr>
        <p:spPr>
          <a:xfrm>
            <a:off x="2864616" y="3214688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8"/>
          <p:cNvSpPr/>
          <p:nvPr/>
        </p:nvSpPr>
        <p:spPr>
          <a:xfrm>
            <a:off x="2864616" y="3214688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12" name="Shape 9"/>
          <p:cNvSpPr/>
          <p:nvPr/>
        </p:nvSpPr>
        <p:spPr>
          <a:xfrm>
            <a:off x="2864616" y="4429125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3" name="Text 10"/>
          <p:cNvSpPr/>
          <p:nvPr/>
        </p:nvSpPr>
        <p:spPr>
          <a:xfrm>
            <a:off x="2864616" y="4429125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14" name="Shape 11"/>
          <p:cNvSpPr/>
          <p:nvPr/>
        </p:nvSpPr>
        <p:spPr>
          <a:xfrm>
            <a:off x="892941" y="1500188"/>
            <a:ext cx="2286000" cy="3357563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Shape 12"/>
          <p:cNvSpPr/>
          <p:nvPr/>
        </p:nvSpPr>
        <p:spPr>
          <a:xfrm>
            <a:off x="892941" y="1500188"/>
            <a:ext cx="2286000" cy="33575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666" y="1610916"/>
            <a:ext cx="100013" cy="1143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751028" y="1585913"/>
            <a:ext cx="55551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출역 캘린더</a:t>
            </a:r>
            <a:endParaRPr lang="en-US" sz="784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888" y="1610916"/>
            <a:ext cx="114300" cy="1143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892941" y="1835944"/>
            <a:ext cx="2286000" cy="3536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5"/>
          <p:cNvSpPr/>
          <p:nvPr/>
        </p:nvSpPr>
        <p:spPr>
          <a:xfrm>
            <a:off x="892941" y="2182416"/>
            <a:ext cx="2286000" cy="7144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9837" y="1944886"/>
            <a:ext cx="80367" cy="1285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94504" y="1921669"/>
            <a:ext cx="48287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E293B"/>
                </a:solidFill>
              </a:rPr>
              <a:t>2024.01</a:t>
            </a:r>
            <a:endParaRPr lang="en-US" sz="885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1677" y="1944886"/>
            <a:ext cx="80367" cy="128588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892941" y="2182416"/>
            <a:ext cx="2286000" cy="191095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18"/>
          <p:cNvSpPr/>
          <p:nvPr/>
        </p:nvSpPr>
        <p:spPr>
          <a:xfrm>
            <a:off x="950091" y="2239566"/>
            <a:ext cx="31022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EF4444"/>
                </a:solidFill>
              </a:rPr>
              <a:t>일</a:t>
            </a:r>
            <a:endParaRPr lang="en-US" sz="621" dirty="0"/>
          </a:p>
        </p:txBody>
      </p:sp>
      <p:sp>
        <p:nvSpPr>
          <p:cNvPr id="26" name="Text 19"/>
          <p:cNvSpPr/>
          <p:nvPr/>
        </p:nvSpPr>
        <p:spPr>
          <a:xfrm>
            <a:off x="1260314" y="2239566"/>
            <a:ext cx="31025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월</a:t>
            </a:r>
            <a:endParaRPr lang="en-US" sz="621" dirty="0"/>
          </a:p>
        </p:txBody>
      </p:sp>
      <p:sp>
        <p:nvSpPr>
          <p:cNvPr id="27" name="Text 20"/>
          <p:cNvSpPr/>
          <p:nvPr/>
        </p:nvSpPr>
        <p:spPr>
          <a:xfrm>
            <a:off x="1570565" y="2239566"/>
            <a:ext cx="31025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화</a:t>
            </a:r>
            <a:endParaRPr lang="en-US" sz="621" dirty="0"/>
          </a:p>
        </p:txBody>
      </p:sp>
      <p:sp>
        <p:nvSpPr>
          <p:cNvPr id="28" name="Text 21"/>
          <p:cNvSpPr/>
          <p:nvPr/>
        </p:nvSpPr>
        <p:spPr>
          <a:xfrm>
            <a:off x="1880815" y="2239566"/>
            <a:ext cx="31022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수</a:t>
            </a:r>
            <a:endParaRPr lang="en-US" sz="621" dirty="0"/>
          </a:p>
        </p:txBody>
      </p:sp>
      <p:sp>
        <p:nvSpPr>
          <p:cNvPr id="29" name="Text 22"/>
          <p:cNvSpPr/>
          <p:nvPr/>
        </p:nvSpPr>
        <p:spPr>
          <a:xfrm>
            <a:off x="2191038" y="2239566"/>
            <a:ext cx="31025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목</a:t>
            </a:r>
            <a:endParaRPr lang="en-US" sz="621" dirty="0"/>
          </a:p>
        </p:txBody>
      </p:sp>
      <p:sp>
        <p:nvSpPr>
          <p:cNvPr id="30" name="Text 23"/>
          <p:cNvSpPr/>
          <p:nvPr/>
        </p:nvSpPr>
        <p:spPr>
          <a:xfrm>
            <a:off x="2501289" y="2239566"/>
            <a:ext cx="31025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4748B"/>
                </a:solidFill>
              </a:rPr>
              <a:t>금</a:t>
            </a:r>
            <a:endParaRPr lang="en-US" sz="621" dirty="0"/>
          </a:p>
        </p:txBody>
      </p:sp>
      <p:sp>
        <p:nvSpPr>
          <p:cNvPr id="31" name="Text 24"/>
          <p:cNvSpPr/>
          <p:nvPr/>
        </p:nvSpPr>
        <p:spPr>
          <a:xfrm>
            <a:off x="2811540" y="2239566"/>
            <a:ext cx="31022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B82F6"/>
                </a:solidFill>
              </a:rPr>
              <a:t>토</a:t>
            </a:r>
            <a:endParaRPr lang="en-US" sz="621" dirty="0"/>
          </a:p>
        </p:txBody>
      </p:sp>
      <p:sp>
        <p:nvSpPr>
          <p:cNvPr id="32" name="Text 25"/>
          <p:cNvSpPr/>
          <p:nvPr/>
        </p:nvSpPr>
        <p:spPr>
          <a:xfrm>
            <a:off x="950091" y="2423517"/>
            <a:ext cx="285750" cy="314325"/>
          </a:xfrm>
          <a:prstGeom prst="rect">
            <a:avLst/>
          </a:prstGeom>
          <a:noFill/>
          <a:ln/>
        </p:spPr>
        <p:txBody>
          <a:bodyPr wrap="square" lIns="0" tIns="34036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CBD5E1"/>
                </a:solidFill>
              </a:rPr>
              <a:t>31</a:t>
            </a:r>
            <a:endParaRPr lang="en-US" sz="621" dirty="0"/>
          </a:p>
        </p:txBody>
      </p:sp>
      <p:sp>
        <p:nvSpPr>
          <p:cNvPr id="33" name="Text 26"/>
          <p:cNvSpPr/>
          <p:nvPr/>
        </p:nvSpPr>
        <p:spPr>
          <a:xfrm>
            <a:off x="1382762" y="2452092"/>
            <a:ext cx="4905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1</a:t>
            </a:r>
            <a:endParaRPr lang="en-US" sz="621" dirty="0"/>
          </a:p>
        </p:txBody>
      </p:sp>
      <p:sp>
        <p:nvSpPr>
          <p:cNvPr id="34" name="Shape 27"/>
          <p:cNvSpPr/>
          <p:nvPr/>
        </p:nvSpPr>
        <p:spPr>
          <a:xfrm>
            <a:off x="1321566" y="2582466"/>
            <a:ext cx="171450" cy="155377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5" name="Text 28"/>
          <p:cNvSpPr/>
          <p:nvPr/>
        </p:nvSpPr>
        <p:spPr>
          <a:xfrm>
            <a:off x="1321566" y="2582466"/>
            <a:ext cx="17145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FFFFFF"/>
                </a:solidFill>
              </a:rPr>
              <a:t>1.0</a:t>
            </a:r>
            <a:endParaRPr lang="en-US" sz="485" dirty="0"/>
          </a:p>
        </p:txBody>
      </p:sp>
      <p:sp>
        <p:nvSpPr>
          <p:cNvPr id="36" name="Text 29"/>
          <p:cNvSpPr/>
          <p:nvPr/>
        </p:nvSpPr>
        <p:spPr>
          <a:xfrm>
            <a:off x="1697087" y="2452092"/>
            <a:ext cx="4905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2</a:t>
            </a:r>
            <a:endParaRPr lang="en-US" sz="621" dirty="0"/>
          </a:p>
        </p:txBody>
      </p:sp>
      <p:sp>
        <p:nvSpPr>
          <p:cNvPr id="37" name="Shape 30"/>
          <p:cNvSpPr/>
          <p:nvPr/>
        </p:nvSpPr>
        <p:spPr>
          <a:xfrm>
            <a:off x="1635891" y="2582466"/>
            <a:ext cx="171450" cy="155377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8" name="Text 31"/>
          <p:cNvSpPr/>
          <p:nvPr/>
        </p:nvSpPr>
        <p:spPr>
          <a:xfrm>
            <a:off x="1635891" y="2582466"/>
            <a:ext cx="17145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FFFFFF"/>
                </a:solidFill>
              </a:rPr>
              <a:t>1.0</a:t>
            </a:r>
            <a:endParaRPr lang="en-US" sz="485" dirty="0"/>
          </a:p>
        </p:txBody>
      </p:sp>
      <p:sp>
        <p:nvSpPr>
          <p:cNvPr id="39" name="Text 32"/>
          <p:cNvSpPr/>
          <p:nvPr/>
        </p:nvSpPr>
        <p:spPr>
          <a:xfrm>
            <a:off x="2011412" y="2452092"/>
            <a:ext cx="4905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3</a:t>
            </a:r>
            <a:endParaRPr lang="en-US" sz="621" dirty="0"/>
          </a:p>
        </p:txBody>
      </p:sp>
      <p:sp>
        <p:nvSpPr>
          <p:cNvPr id="40" name="Shape 33"/>
          <p:cNvSpPr/>
          <p:nvPr/>
        </p:nvSpPr>
        <p:spPr>
          <a:xfrm>
            <a:off x="1950216" y="2582466"/>
            <a:ext cx="171450" cy="155377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1" name="Text 34"/>
          <p:cNvSpPr/>
          <p:nvPr/>
        </p:nvSpPr>
        <p:spPr>
          <a:xfrm>
            <a:off x="1950216" y="2582466"/>
            <a:ext cx="17145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FFFFFF"/>
                </a:solidFill>
              </a:rPr>
              <a:t>1.0</a:t>
            </a:r>
            <a:endParaRPr lang="en-US" sz="485" dirty="0"/>
          </a:p>
        </p:txBody>
      </p:sp>
      <p:sp>
        <p:nvSpPr>
          <p:cNvPr id="42" name="Text 35"/>
          <p:cNvSpPr/>
          <p:nvPr/>
        </p:nvSpPr>
        <p:spPr>
          <a:xfrm>
            <a:off x="2325737" y="2452092"/>
            <a:ext cx="4905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4</a:t>
            </a:r>
            <a:endParaRPr lang="en-US" sz="621" dirty="0"/>
          </a:p>
        </p:txBody>
      </p:sp>
      <p:sp>
        <p:nvSpPr>
          <p:cNvPr id="43" name="Shape 36"/>
          <p:cNvSpPr/>
          <p:nvPr/>
        </p:nvSpPr>
        <p:spPr>
          <a:xfrm>
            <a:off x="2264541" y="2582466"/>
            <a:ext cx="171450" cy="155377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4" name="Text 37"/>
          <p:cNvSpPr/>
          <p:nvPr/>
        </p:nvSpPr>
        <p:spPr>
          <a:xfrm>
            <a:off x="2264541" y="2582466"/>
            <a:ext cx="17145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FFFFFF"/>
                </a:solidFill>
              </a:rPr>
              <a:t>0.5</a:t>
            </a:r>
            <a:endParaRPr lang="en-US" sz="485" dirty="0"/>
          </a:p>
        </p:txBody>
      </p:sp>
      <p:sp>
        <p:nvSpPr>
          <p:cNvPr id="45" name="Text 38"/>
          <p:cNvSpPr/>
          <p:nvPr/>
        </p:nvSpPr>
        <p:spPr>
          <a:xfrm>
            <a:off x="2640062" y="2452092"/>
            <a:ext cx="4905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5</a:t>
            </a:r>
            <a:endParaRPr lang="en-US" sz="621" dirty="0"/>
          </a:p>
        </p:txBody>
      </p:sp>
      <p:sp>
        <p:nvSpPr>
          <p:cNvPr id="46" name="Shape 39"/>
          <p:cNvSpPr/>
          <p:nvPr/>
        </p:nvSpPr>
        <p:spPr>
          <a:xfrm>
            <a:off x="2578866" y="2582466"/>
            <a:ext cx="171450" cy="155377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7" name="Text 40"/>
          <p:cNvSpPr/>
          <p:nvPr/>
        </p:nvSpPr>
        <p:spPr>
          <a:xfrm>
            <a:off x="2578866" y="2582466"/>
            <a:ext cx="17145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FFFFFF"/>
                </a:solidFill>
              </a:rPr>
              <a:t>1.0</a:t>
            </a:r>
            <a:endParaRPr lang="en-US" sz="485" dirty="0"/>
          </a:p>
        </p:txBody>
      </p:sp>
      <p:sp>
        <p:nvSpPr>
          <p:cNvPr id="48" name="Text 41"/>
          <p:cNvSpPr/>
          <p:nvPr/>
        </p:nvSpPr>
        <p:spPr>
          <a:xfrm>
            <a:off x="2836041" y="2423517"/>
            <a:ext cx="285750" cy="314325"/>
          </a:xfrm>
          <a:prstGeom prst="rect">
            <a:avLst/>
          </a:prstGeom>
          <a:noFill/>
          <a:ln/>
        </p:spPr>
        <p:txBody>
          <a:bodyPr wrap="square" lIns="0" tIns="34036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6</a:t>
            </a:r>
            <a:endParaRPr lang="en-US" sz="621" dirty="0"/>
          </a:p>
        </p:txBody>
      </p:sp>
      <p:sp>
        <p:nvSpPr>
          <p:cNvPr id="49" name="Text 42"/>
          <p:cNvSpPr/>
          <p:nvPr/>
        </p:nvSpPr>
        <p:spPr>
          <a:xfrm>
            <a:off x="950091" y="2766417"/>
            <a:ext cx="285750" cy="314325"/>
          </a:xfrm>
          <a:prstGeom prst="rect">
            <a:avLst/>
          </a:prstGeom>
          <a:noFill/>
          <a:ln/>
        </p:spPr>
        <p:txBody>
          <a:bodyPr wrap="square" lIns="0" tIns="34036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7</a:t>
            </a:r>
            <a:endParaRPr lang="en-US" sz="621" dirty="0"/>
          </a:p>
        </p:txBody>
      </p:sp>
      <p:sp>
        <p:nvSpPr>
          <p:cNvPr id="50" name="Text 43"/>
          <p:cNvSpPr/>
          <p:nvPr/>
        </p:nvSpPr>
        <p:spPr>
          <a:xfrm>
            <a:off x="1382762" y="2794992"/>
            <a:ext cx="4905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8</a:t>
            </a:r>
            <a:endParaRPr lang="en-US" sz="621" dirty="0"/>
          </a:p>
        </p:txBody>
      </p:sp>
      <p:sp>
        <p:nvSpPr>
          <p:cNvPr id="51" name="Shape 44"/>
          <p:cNvSpPr/>
          <p:nvPr/>
        </p:nvSpPr>
        <p:spPr>
          <a:xfrm>
            <a:off x="1321566" y="2925366"/>
            <a:ext cx="171450" cy="155377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2" name="Text 45"/>
          <p:cNvSpPr/>
          <p:nvPr/>
        </p:nvSpPr>
        <p:spPr>
          <a:xfrm>
            <a:off x="1321566" y="2925366"/>
            <a:ext cx="17145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FFFFFF"/>
                </a:solidFill>
              </a:rPr>
              <a:t>1.0</a:t>
            </a:r>
            <a:endParaRPr lang="en-US" sz="485" dirty="0"/>
          </a:p>
        </p:txBody>
      </p:sp>
      <p:sp>
        <p:nvSpPr>
          <p:cNvPr id="53" name="Text 46"/>
          <p:cNvSpPr/>
          <p:nvPr/>
        </p:nvSpPr>
        <p:spPr>
          <a:xfrm>
            <a:off x="1697087" y="2794992"/>
            <a:ext cx="4905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9</a:t>
            </a:r>
            <a:endParaRPr lang="en-US" sz="621" dirty="0"/>
          </a:p>
        </p:txBody>
      </p:sp>
      <p:sp>
        <p:nvSpPr>
          <p:cNvPr id="54" name="Shape 47"/>
          <p:cNvSpPr/>
          <p:nvPr/>
        </p:nvSpPr>
        <p:spPr>
          <a:xfrm>
            <a:off x="1635891" y="2925366"/>
            <a:ext cx="171450" cy="155377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5" name="Text 48"/>
          <p:cNvSpPr/>
          <p:nvPr/>
        </p:nvSpPr>
        <p:spPr>
          <a:xfrm>
            <a:off x="1635891" y="2925366"/>
            <a:ext cx="17145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FFFFFF"/>
                </a:solidFill>
              </a:rPr>
              <a:t>1.0</a:t>
            </a:r>
            <a:endParaRPr lang="en-US" sz="485" dirty="0"/>
          </a:p>
        </p:txBody>
      </p:sp>
      <p:sp>
        <p:nvSpPr>
          <p:cNvPr id="56" name="Text 49"/>
          <p:cNvSpPr/>
          <p:nvPr/>
        </p:nvSpPr>
        <p:spPr>
          <a:xfrm>
            <a:off x="1986883" y="2794992"/>
            <a:ext cx="9808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3B82F6"/>
                </a:solidFill>
              </a:rPr>
              <a:t>10</a:t>
            </a:r>
            <a:endParaRPr lang="en-US" sz="584" dirty="0"/>
          </a:p>
        </p:txBody>
      </p:sp>
      <p:sp>
        <p:nvSpPr>
          <p:cNvPr id="57" name="Shape 50"/>
          <p:cNvSpPr/>
          <p:nvPr/>
        </p:nvSpPr>
        <p:spPr>
          <a:xfrm>
            <a:off x="1950216" y="2925366"/>
            <a:ext cx="171450" cy="155377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8" name="Text 51"/>
          <p:cNvSpPr/>
          <p:nvPr/>
        </p:nvSpPr>
        <p:spPr>
          <a:xfrm>
            <a:off x="1950216" y="2925366"/>
            <a:ext cx="17145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FFFFFF"/>
                </a:solidFill>
              </a:rPr>
              <a:t>1.0</a:t>
            </a:r>
            <a:endParaRPr lang="en-US" sz="485" dirty="0"/>
          </a:p>
        </p:txBody>
      </p:sp>
      <p:sp>
        <p:nvSpPr>
          <p:cNvPr id="59" name="Text 52"/>
          <p:cNvSpPr/>
          <p:nvPr/>
        </p:nvSpPr>
        <p:spPr>
          <a:xfrm>
            <a:off x="2207391" y="2766417"/>
            <a:ext cx="285750" cy="314325"/>
          </a:xfrm>
          <a:prstGeom prst="rect">
            <a:avLst/>
          </a:prstGeom>
          <a:noFill/>
          <a:ln/>
        </p:spPr>
        <p:txBody>
          <a:bodyPr wrap="square" lIns="0" tIns="34036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11</a:t>
            </a:r>
            <a:endParaRPr lang="en-US" sz="621" dirty="0"/>
          </a:p>
        </p:txBody>
      </p:sp>
      <p:sp>
        <p:nvSpPr>
          <p:cNvPr id="60" name="Text 53"/>
          <p:cNvSpPr/>
          <p:nvPr/>
        </p:nvSpPr>
        <p:spPr>
          <a:xfrm>
            <a:off x="2521716" y="2766417"/>
            <a:ext cx="285750" cy="314325"/>
          </a:xfrm>
          <a:prstGeom prst="rect">
            <a:avLst/>
          </a:prstGeom>
          <a:noFill/>
          <a:ln/>
        </p:spPr>
        <p:txBody>
          <a:bodyPr wrap="square" lIns="0" tIns="34036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12</a:t>
            </a:r>
            <a:endParaRPr lang="en-US" sz="621" dirty="0"/>
          </a:p>
        </p:txBody>
      </p:sp>
      <p:sp>
        <p:nvSpPr>
          <p:cNvPr id="61" name="Text 54"/>
          <p:cNvSpPr/>
          <p:nvPr/>
        </p:nvSpPr>
        <p:spPr>
          <a:xfrm>
            <a:off x="2836041" y="2766417"/>
            <a:ext cx="285750" cy="314325"/>
          </a:xfrm>
          <a:prstGeom prst="rect">
            <a:avLst/>
          </a:prstGeom>
          <a:noFill/>
          <a:ln/>
        </p:spPr>
        <p:txBody>
          <a:bodyPr wrap="square" lIns="0" tIns="34036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34155"/>
                </a:solidFill>
              </a:rPr>
              <a:t>13</a:t>
            </a:r>
            <a:endParaRPr lang="en-US" sz="621" dirty="0"/>
          </a:p>
        </p:txBody>
      </p:sp>
      <p:sp>
        <p:nvSpPr>
          <p:cNvPr id="62" name="Shape 55"/>
          <p:cNvSpPr/>
          <p:nvPr/>
        </p:nvSpPr>
        <p:spPr>
          <a:xfrm>
            <a:off x="892941" y="4093369"/>
            <a:ext cx="2286000" cy="76438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3" name="Shape 56"/>
          <p:cNvSpPr/>
          <p:nvPr/>
        </p:nvSpPr>
        <p:spPr>
          <a:xfrm>
            <a:off x="892941" y="4093369"/>
            <a:ext cx="228600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4" name="Text 57"/>
          <p:cNvSpPr/>
          <p:nvPr/>
        </p:nvSpPr>
        <p:spPr>
          <a:xfrm>
            <a:off x="964378" y="4171950"/>
            <a:ext cx="302047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4748B"/>
                </a:solidFill>
              </a:rPr>
              <a:t>총 공수</a:t>
            </a:r>
            <a:endParaRPr lang="en-US" sz="727" dirty="0"/>
          </a:p>
        </p:txBody>
      </p:sp>
      <p:sp>
        <p:nvSpPr>
          <p:cNvPr id="65" name="Text 58"/>
          <p:cNvSpPr/>
          <p:nvPr/>
        </p:nvSpPr>
        <p:spPr>
          <a:xfrm>
            <a:off x="2754557" y="4171950"/>
            <a:ext cx="352946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E293B"/>
                </a:solidFill>
              </a:rPr>
              <a:t>7.5 공수</a:t>
            </a:r>
            <a:endParaRPr lang="en-US" sz="683" dirty="0"/>
          </a:p>
        </p:txBody>
      </p:sp>
      <p:sp>
        <p:nvSpPr>
          <p:cNvPr id="66" name="Text 59"/>
          <p:cNvSpPr/>
          <p:nvPr/>
        </p:nvSpPr>
        <p:spPr>
          <a:xfrm>
            <a:off x="964378" y="4359473"/>
            <a:ext cx="302047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4748B"/>
                </a:solidFill>
              </a:rPr>
              <a:t>일 단가</a:t>
            </a:r>
            <a:endParaRPr lang="en-US" sz="727" dirty="0"/>
          </a:p>
        </p:txBody>
      </p:sp>
      <p:sp>
        <p:nvSpPr>
          <p:cNvPr id="67" name="Text 60"/>
          <p:cNvSpPr/>
          <p:nvPr/>
        </p:nvSpPr>
        <p:spPr>
          <a:xfrm>
            <a:off x="2645420" y="4359473"/>
            <a:ext cx="462083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4748B"/>
                </a:solidFill>
              </a:rPr>
              <a:t>250,000원</a:t>
            </a:r>
            <a:endParaRPr lang="en-US" sz="727" dirty="0"/>
          </a:p>
        </p:txBody>
      </p:sp>
      <p:sp>
        <p:nvSpPr>
          <p:cNvPr id="68" name="Text 61"/>
          <p:cNvSpPr/>
          <p:nvPr/>
        </p:nvSpPr>
        <p:spPr>
          <a:xfrm>
            <a:off x="964378" y="4597003"/>
            <a:ext cx="50664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E293B"/>
                </a:solidFill>
              </a:rPr>
              <a:t>예상 급여</a:t>
            </a:r>
            <a:endParaRPr lang="en-US" sz="885" dirty="0"/>
          </a:p>
        </p:txBody>
      </p:sp>
      <p:sp>
        <p:nvSpPr>
          <p:cNvPr id="69" name="Text 62"/>
          <p:cNvSpPr/>
          <p:nvPr/>
        </p:nvSpPr>
        <p:spPr>
          <a:xfrm>
            <a:off x="2392793" y="4597003"/>
            <a:ext cx="71471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B82F6"/>
                </a:solidFill>
              </a:rPr>
              <a:t>1,875,000원</a:t>
            </a:r>
            <a:endParaRPr lang="en-US" sz="885" dirty="0"/>
          </a:p>
        </p:txBody>
      </p:sp>
      <p:sp>
        <p:nvSpPr>
          <p:cNvPr id="70" name="Shape 63"/>
          <p:cNvSpPr/>
          <p:nvPr/>
        </p:nvSpPr>
        <p:spPr>
          <a:xfrm>
            <a:off x="3957610" y="1488272"/>
            <a:ext cx="4900613" cy="1242622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71" name="Shape 64"/>
          <p:cNvSpPr/>
          <p:nvPr/>
        </p:nvSpPr>
        <p:spPr>
          <a:xfrm>
            <a:off x="4071910" y="1618645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2" name="Text 65"/>
          <p:cNvSpPr/>
          <p:nvPr/>
        </p:nvSpPr>
        <p:spPr>
          <a:xfrm>
            <a:off x="4071910" y="1618645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1</a:t>
            </a:r>
            <a:endParaRPr lang="en-US" sz="584" dirty="0"/>
          </a:p>
        </p:txBody>
      </p:sp>
      <p:sp>
        <p:nvSpPr>
          <p:cNvPr id="73" name="Text 66"/>
          <p:cNvSpPr/>
          <p:nvPr/>
        </p:nvSpPr>
        <p:spPr>
          <a:xfrm>
            <a:off x="4386235" y="1609716"/>
            <a:ext cx="178030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캘린더 렌더링 (Calendar View)</a:t>
            </a:r>
            <a:endParaRPr lang="en-US" sz="885" dirty="0"/>
          </a:p>
        </p:txBody>
      </p:sp>
      <p:sp>
        <p:nvSpPr>
          <p:cNvPr id="74" name="Text 67"/>
          <p:cNvSpPr/>
          <p:nvPr/>
        </p:nvSpPr>
        <p:spPr>
          <a:xfrm>
            <a:off x="4071910" y="1870463"/>
            <a:ext cx="4672013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라이브러리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react-calendar 또는 커스텀 Grid 구현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표시 데이터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날짜별 공수(1.0, 0.5) 배지 표시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색상 구분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1.0(녹색), 0.5(주황), 결근/휴무(표시 없음)</a:t>
            </a:r>
            <a:endParaRPr lang="en-US" sz="727" dirty="0"/>
          </a:p>
        </p:txBody>
      </p:sp>
      <p:sp>
        <p:nvSpPr>
          <p:cNvPr id="75" name="Shape 68"/>
          <p:cNvSpPr/>
          <p:nvPr/>
        </p:nvSpPr>
        <p:spPr>
          <a:xfrm>
            <a:off x="4071910" y="2421927"/>
            <a:ext cx="2571080" cy="187523"/>
          </a:xfrm>
          <a:prstGeom prst="rect">
            <a:avLst/>
          </a:prstGeom>
          <a:solidFill>
            <a:srgbClr val="10B981">
              <a:alpha val="10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76" name="Text 69"/>
          <p:cNvSpPr/>
          <p:nvPr/>
        </p:nvSpPr>
        <p:spPr>
          <a:xfrm>
            <a:off x="4071910" y="2421927"/>
            <a:ext cx="2571080" cy="187523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10B981"/>
                </a:solidFill>
              </a:rPr>
              <a:t>GET /api/worker/attendance/monthly?year=2024&amp;month=01</a:t>
            </a:r>
            <a:endParaRPr lang="en-US" sz="621" dirty="0"/>
          </a:p>
        </p:txBody>
      </p:sp>
      <p:sp>
        <p:nvSpPr>
          <p:cNvPr id="77" name="Shape 70"/>
          <p:cNvSpPr/>
          <p:nvPr/>
        </p:nvSpPr>
        <p:spPr>
          <a:xfrm>
            <a:off x="3957610" y="2802331"/>
            <a:ext cx="4900613" cy="983661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78" name="Shape 71"/>
          <p:cNvSpPr/>
          <p:nvPr/>
        </p:nvSpPr>
        <p:spPr>
          <a:xfrm>
            <a:off x="4071910" y="2932705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9" name="Text 72"/>
          <p:cNvSpPr/>
          <p:nvPr/>
        </p:nvSpPr>
        <p:spPr>
          <a:xfrm>
            <a:off x="4071910" y="2932705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2</a:t>
            </a:r>
            <a:endParaRPr lang="en-US" sz="584" dirty="0"/>
          </a:p>
        </p:txBody>
      </p:sp>
      <p:sp>
        <p:nvSpPr>
          <p:cNvPr id="80" name="Text 73"/>
          <p:cNvSpPr/>
          <p:nvPr/>
        </p:nvSpPr>
        <p:spPr>
          <a:xfrm>
            <a:off x="4386235" y="2923775"/>
            <a:ext cx="163820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일별 상세 조회 (Daily Detail)</a:t>
            </a:r>
            <a:endParaRPr lang="en-US" sz="885" dirty="0"/>
          </a:p>
        </p:txBody>
      </p:sp>
      <p:sp>
        <p:nvSpPr>
          <p:cNvPr id="81" name="Text 74"/>
          <p:cNvSpPr/>
          <p:nvPr/>
        </p:nvSpPr>
        <p:spPr>
          <a:xfrm>
            <a:off x="4071910" y="3184522"/>
            <a:ext cx="4672013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인터랙션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날짜 터치 시 하단 바텀시트(Bottom Sheet) 호출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상세 정보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현장명, 출/퇴근 시간, 작업 내용, 공수 인정 내역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이의 제기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공수 불일치 시 '정정 요청' 버튼 활성화</a:t>
            </a:r>
            <a:endParaRPr lang="en-US" sz="727" dirty="0"/>
          </a:p>
        </p:txBody>
      </p:sp>
      <p:sp>
        <p:nvSpPr>
          <p:cNvPr id="82" name="Shape 75"/>
          <p:cNvSpPr/>
          <p:nvPr/>
        </p:nvSpPr>
        <p:spPr>
          <a:xfrm>
            <a:off x="3957610" y="3864573"/>
            <a:ext cx="4900613" cy="983661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83" name="Shape 76"/>
          <p:cNvSpPr/>
          <p:nvPr/>
        </p:nvSpPr>
        <p:spPr>
          <a:xfrm>
            <a:off x="4071910" y="3994947"/>
            <a:ext cx="171450" cy="17145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4" name="Text 77"/>
          <p:cNvSpPr/>
          <p:nvPr/>
        </p:nvSpPr>
        <p:spPr>
          <a:xfrm>
            <a:off x="4071910" y="3994947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3</a:t>
            </a:r>
            <a:endParaRPr lang="en-US" sz="584" dirty="0"/>
          </a:p>
        </p:txBody>
      </p:sp>
      <p:sp>
        <p:nvSpPr>
          <p:cNvPr id="85" name="Text 78"/>
          <p:cNvSpPr/>
          <p:nvPr/>
        </p:nvSpPr>
        <p:spPr>
          <a:xfrm>
            <a:off x="4386235" y="3986017"/>
            <a:ext cx="206641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8FAFC"/>
                </a:solidFill>
              </a:rPr>
              <a:t>급여 시뮬레이션 (Wage Estimation)</a:t>
            </a:r>
            <a:endParaRPr lang="en-US" sz="885" dirty="0"/>
          </a:p>
        </p:txBody>
      </p:sp>
      <p:sp>
        <p:nvSpPr>
          <p:cNvPr id="86" name="Text 79"/>
          <p:cNvSpPr/>
          <p:nvPr/>
        </p:nvSpPr>
        <p:spPr>
          <a:xfrm>
            <a:off x="4071910" y="4246764"/>
            <a:ext cx="4672013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계산식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∑(일별 공수 × 해당일 계약 단가)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세금 공제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'예상 수령액' 토글 시 소득세/주민세 공제 후 금액 표시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 •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CBD5E1"/>
                </a:solidFill>
              </a:rPr>
              <a:t>갱신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CBD5E1"/>
                </a:solidFill>
              </a:rPr>
              <a:t>: 출역 승인 상태 변경 시 실시간 반영</a:t>
            </a:r>
            <a:endParaRPr lang="en-US" sz="727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8715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1285875"/>
            <a:ext cx="8572500" cy="14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428625"/>
            <a:ext cx="857250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spc="-1" kern="0" dirty="0">
                <a:solidFill>
                  <a:srgbClr val="3B82F6"/>
                </a:solidFill>
              </a:rPr>
              <a:t>기술 명세 및 최종 점검 리스트</a:t>
            </a:r>
            <a:endParaRPr lang="en-US" sz="2121" dirty="0"/>
          </a:p>
        </p:txBody>
      </p:sp>
      <p:sp>
        <p:nvSpPr>
          <p:cNvPr id="6" name="Text 3"/>
          <p:cNvSpPr/>
          <p:nvPr/>
        </p:nvSpPr>
        <p:spPr>
          <a:xfrm>
            <a:off x="285750" y="935831"/>
            <a:ext cx="8572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안정적인 서비스 런칭을 위한 백엔드, 프론트엔드, 인프라 필수 점검 항목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85750" y="1571625"/>
            <a:ext cx="2714625" cy="2950369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1743075"/>
            <a:ext cx="357188" cy="357188"/>
          </a:xfrm>
          <a:prstGeom prst="rect">
            <a:avLst/>
          </a:prstGeom>
          <a:solidFill>
            <a:srgbClr val="3B82F6">
              <a:alpha val="10000"/>
            </a:srgbClr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069" y="1835944"/>
            <a:ext cx="171450" cy="1714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21544" y="1814513"/>
            <a:ext cx="151441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8FAFC"/>
                </a:solidFill>
              </a:rPr>
              <a:t>Backend &amp; Security</a:t>
            </a:r>
            <a:endParaRPr lang="en-US" sz="109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428875"/>
            <a:ext cx="114300" cy="1143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57225" y="2400300"/>
            <a:ext cx="21717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2E8F0"/>
                </a:solidFill>
              </a:rPr>
              <a:t>멀티테넌트 데이터 격리</a:t>
            </a:r>
            <a:endParaRPr lang="en-US" sz="784" dirty="0"/>
          </a:p>
        </p:txBody>
      </p:sp>
      <p:sp>
        <p:nvSpPr>
          <p:cNvPr id="13" name="Text 8"/>
          <p:cNvSpPr/>
          <p:nvPr/>
        </p:nvSpPr>
        <p:spPr>
          <a:xfrm>
            <a:off x="657225" y="2593181"/>
            <a:ext cx="2171700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Hibernate Filter 적용 및 TenantID 누락 방지 테스트 완료</a:t>
            </a:r>
            <a:endParaRPr lang="en-US" sz="674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938928"/>
            <a:ext cx="114300" cy="1143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57225" y="2910353"/>
            <a:ext cx="204035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2E8F0"/>
                </a:solidFill>
              </a:rPr>
              <a:t>개인정보 암호화 (PII)</a:t>
            </a:r>
            <a:endParaRPr lang="en-US" sz="784" dirty="0"/>
          </a:p>
        </p:txBody>
      </p:sp>
      <p:sp>
        <p:nvSpPr>
          <p:cNvPr id="16" name="Text 10"/>
          <p:cNvSpPr/>
          <p:nvPr/>
        </p:nvSpPr>
        <p:spPr>
          <a:xfrm>
            <a:off x="657225" y="3103234"/>
            <a:ext cx="2040350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주민번호, 계좌번호 DB 저장 시 AES-256 암호화 적용</a:t>
            </a:r>
            <a:endParaRPr lang="en-US" sz="674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318970"/>
            <a:ext cx="114300" cy="1143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57225" y="3290395"/>
            <a:ext cx="214072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2E8F0"/>
                </a:solidFill>
              </a:rPr>
              <a:t>API 인증 및 권한 (RBAC)</a:t>
            </a:r>
            <a:endParaRPr lang="en-US" sz="784" dirty="0"/>
          </a:p>
        </p:txBody>
      </p:sp>
      <p:sp>
        <p:nvSpPr>
          <p:cNvPr id="19" name="Text 12"/>
          <p:cNvSpPr/>
          <p:nvPr/>
        </p:nvSpPr>
        <p:spPr>
          <a:xfrm>
            <a:off x="657225" y="3483276"/>
            <a:ext cx="2140725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JWT 토큰 만료 처리 및 역할별(Role) API 접근 제어 검증</a:t>
            </a:r>
            <a:endParaRPr lang="en-US" sz="674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699011"/>
            <a:ext cx="114300" cy="1143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57225" y="3670436"/>
            <a:ext cx="165735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2E8F0"/>
                </a:solidFill>
              </a:rPr>
              <a:t>대용량 트래픽 처리</a:t>
            </a:r>
            <a:endParaRPr lang="en-US" sz="784" dirty="0"/>
          </a:p>
        </p:txBody>
      </p:sp>
      <p:sp>
        <p:nvSpPr>
          <p:cNvPr id="22" name="Text 14"/>
          <p:cNvSpPr/>
          <p:nvPr/>
        </p:nvSpPr>
        <p:spPr>
          <a:xfrm>
            <a:off x="657225" y="3863318"/>
            <a:ext cx="1657350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Redis 캐싱 적용 (공통 코드, 대시보드 통계)</a:t>
            </a:r>
            <a:endParaRPr lang="en-US" sz="674" dirty="0"/>
          </a:p>
        </p:txBody>
      </p:sp>
      <p:sp>
        <p:nvSpPr>
          <p:cNvPr id="23" name="Shape 15"/>
          <p:cNvSpPr/>
          <p:nvPr/>
        </p:nvSpPr>
        <p:spPr>
          <a:xfrm>
            <a:off x="3214688" y="1571625"/>
            <a:ext cx="2714625" cy="2950369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24" name="Shape 16"/>
          <p:cNvSpPr/>
          <p:nvPr/>
        </p:nvSpPr>
        <p:spPr>
          <a:xfrm>
            <a:off x="3386138" y="1743075"/>
            <a:ext cx="357188" cy="357188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00438" y="1835944"/>
            <a:ext cx="128588" cy="17145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3850481" y="1814513"/>
            <a:ext cx="114210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8FAFC"/>
                </a:solidFill>
              </a:rPr>
              <a:t>Frontend &amp; UX</a:t>
            </a:r>
            <a:endParaRPr lang="en-US" sz="109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86138" y="2428875"/>
            <a:ext cx="114300" cy="11430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3586163" y="2400300"/>
            <a:ext cx="21717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2E8F0"/>
                </a:solidFill>
              </a:rPr>
              <a:t>크로스 브라우징</a:t>
            </a:r>
            <a:endParaRPr lang="en-US" sz="784" dirty="0"/>
          </a:p>
        </p:txBody>
      </p:sp>
      <p:sp>
        <p:nvSpPr>
          <p:cNvPr id="29" name="Text 19"/>
          <p:cNvSpPr/>
          <p:nvPr/>
        </p:nvSpPr>
        <p:spPr>
          <a:xfrm>
            <a:off x="3586163" y="2593181"/>
            <a:ext cx="2171700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Chrome, Safari, Samsung Internet 모바일 호환성 점검</a:t>
            </a:r>
            <a:endParaRPr lang="en-US" sz="674" dirty="0"/>
          </a:p>
        </p:txBody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86138" y="2938928"/>
            <a:ext cx="114300" cy="114300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3586163" y="2910353"/>
            <a:ext cx="216999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2E8F0"/>
                </a:solidFill>
              </a:rPr>
              <a:t>이미지 최적화</a:t>
            </a:r>
            <a:endParaRPr lang="en-US" sz="784" dirty="0"/>
          </a:p>
        </p:txBody>
      </p:sp>
      <p:sp>
        <p:nvSpPr>
          <p:cNvPr id="32" name="Text 21"/>
          <p:cNvSpPr/>
          <p:nvPr/>
        </p:nvSpPr>
        <p:spPr>
          <a:xfrm>
            <a:off x="3586163" y="3103234"/>
            <a:ext cx="2169998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작업일보 사진 업로드 시 클라이언트 측 압축 (Max 1MB)</a:t>
            </a:r>
            <a:endParaRPr lang="en-US" sz="674" dirty="0"/>
          </a:p>
        </p:txBody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86138" y="3318970"/>
            <a:ext cx="114300" cy="114300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3586163" y="3290395"/>
            <a:ext cx="21717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2E8F0"/>
                </a:solidFill>
              </a:rPr>
              <a:t>예외 처리 UX</a:t>
            </a:r>
            <a:endParaRPr lang="en-US" sz="784" dirty="0"/>
          </a:p>
        </p:txBody>
      </p:sp>
      <p:sp>
        <p:nvSpPr>
          <p:cNvPr id="35" name="Text 23"/>
          <p:cNvSpPr/>
          <p:nvPr/>
        </p:nvSpPr>
        <p:spPr>
          <a:xfrm>
            <a:off x="3586163" y="3483276"/>
            <a:ext cx="2171700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네트워크 오류, API 실패 시 Toast 메시지 및 재시도 버튼 제공</a:t>
            </a:r>
            <a:endParaRPr lang="en-US" sz="674" dirty="0"/>
          </a:p>
        </p:txBody>
      </p:sp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86138" y="3829022"/>
            <a:ext cx="114300" cy="114300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3586163" y="3800447"/>
            <a:ext cx="190196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2E8F0"/>
                </a:solidFill>
              </a:rPr>
              <a:t>전자서명 (Canvas)</a:t>
            </a:r>
            <a:endParaRPr lang="en-US" sz="784" dirty="0"/>
          </a:p>
        </p:txBody>
      </p:sp>
      <p:sp>
        <p:nvSpPr>
          <p:cNvPr id="38" name="Text 25"/>
          <p:cNvSpPr/>
          <p:nvPr/>
        </p:nvSpPr>
        <p:spPr>
          <a:xfrm>
            <a:off x="3586163" y="3993328"/>
            <a:ext cx="1901968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모바일 터치 서명 감도 조정 및 이미지 변환 테스트</a:t>
            </a:r>
            <a:endParaRPr lang="en-US" sz="674" dirty="0"/>
          </a:p>
        </p:txBody>
      </p:sp>
      <p:sp>
        <p:nvSpPr>
          <p:cNvPr id="39" name="Shape 26"/>
          <p:cNvSpPr/>
          <p:nvPr/>
        </p:nvSpPr>
        <p:spPr>
          <a:xfrm>
            <a:off x="6143625" y="1571625"/>
            <a:ext cx="2714625" cy="2950369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40" name="Shape 27"/>
          <p:cNvSpPr/>
          <p:nvPr/>
        </p:nvSpPr>
        <p:spPr>
          <a:xfrm>
            <a:off x="6315075" y="1743075"/>
            <a:ext cx="357188" cy="357188"/>
          </a:xfrm>
          <a:prstGeom prst="rect">
            <a:avLst/>
          </a:prstGeom>
          <a:solidFill>
            <a:srgbClr val="F59E0B">
              <a:alpha val="10000"/>
            </a:srgbClr>
          </a:solidFill>
          <a:ln/>
        </p:spPr>
      </p:sp>
      <p:pic>
        <p:nvPicPr>
          <p:cNvPr id="4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07944" y="1835944"/>
            <a:ext cx="171450" cy="171450"/>
          </a:xfrm>
          <a:prstGeom prst="rect">
            <a:avLst/>
          </a:prstGeom>
        </p:spPr>
      </p:pic>
      <p:sp>
        <p:nvSpPr>
          <p:cNvPr id="42" name="Text 28"/>
          <p:cNvSpPr/>
          <p:nvPr/>
        </p:nvSpPr>
        <p:spPr>
          <a:xfrm>
            <a:off x="6779419" y="1814513"/>
            <a:ext cx="118611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8FAFC"/>
                </a:solidFill>
              </a:rPr>
              <a:t>DevOps &amp; Infra</a:t>
            </a:r>
            <a:endParaRPr lang="en-US" sz="1090" dirty="0"/>
          </a:p>
        </p:txBody>
      </p:sp>
      <p:pic>
        <p:nvPicPr>
          <p:cNvPr id="4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15075" y="2428875"/>
            <a:ext cx="114300" cy="114300"/>
          </a:xfrm>
          <a:prstGeom prst="rect">
            <a:avLst/>
          </a:prstGeom>
        </p:spPr>
      </p:pic>
      <p:sp>
        <p:nvSpPr>
          <p:cNvPr id="44" name="Text 29"/>
          <p:cNvSpPr/>
          <p:nvPr/>
        </p:nvSpPr>
        <p:spPr>
          <a:xfrm>
            <a:off x="6515100" y="2400300"/>
            <a:ext cx="21717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2E8F0"/>
                </a:solidFill>
              </a:rPr>
              <a:t>CI/CD 파이프라인</a:t>
            </a:r>
            <a:endParaRPr lang="en-US" sz="784" dirty="0"/>
          </a:p>
        </p:txBody>
      </p:sp>
      <p:sp>
        <p:nvSpPr>
          <p:cNvPr id="45" name="Text 30"/>
          <p:cNvSpPr/>
          <p:nvPr/>
        </p:nvSpPr>
        <p:spPr>
          <a:xfrm>
            <a:off x="6515100" y="2593181"/>
            <a:ext cx="2171700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GitHub Actions 빌드/배포 자동화 및 Docker 이미지 최적화</a:t>
            </a:r>
            <a:endParaRPr lang="en-US" sz="674" dirty="0"/>
          </a:p>
        </p:txBody>
      </p:sp>
      <p:pic>
        <p:nvPicPr>
          <p:cNvPr id="46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15075" y="2938928"/>
            <a:ext cx="114300" cy="114300"/>
          </a:xfrm>
          <a:prstGeom prst="rect">
            <a:avLst/>
          </a:prstGeom>
        </p:spPr>
      </p:pic>
      <p:sp>
        <p:nvSpPr>
          <p:cNvPr id="47" name="Text 31"/>
          <p:cNvSpPr/>
          <p:nvPr/>
        </p:nvSpPr>
        <p:spPr>
          <a:xfrm>
            <a:off x="6515100" y="2910353"/>
            <a:ext cx="2067641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2E8F0"/>
                </a:solidFill>
              </a:rPr>
              <a:t>스토리지 보안 (S3)</a:t>
            </a:r>
            <a:endParaRPr lang="en-US" sz="784" dirty="0"/>
          </a:p>
        </p:txBody>
      </p:sp>
      <p:sp>
        <p:nvSpPr>
          <p:cNvPr id="48" name="Text 32"/>
          <p:cNvSpPr/>
          <p:nvPr/>
        </p:nvSpPr>
        <p:spPr>
          <a:xfrm>
            <a:off x="6515100" y="3103234"/>
            <a:ext cx="2067641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근로계약서 PDF 및 개인 서류 접근 권한(Private) 설정</a:t>
            </a:r>
            <a:endParaRPr lang="en-US" sz="674" dirty="0"/>
          </a:p>
        </p:txBody>
      </p:sp>
      <p:pic>
        <p:nvPicPr>
          <p:cNvPr id="49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15075" y="3318970"/>
            <a:ext cx="114300" cy="114300"/>
          </a:xfrm>
          <a:prstGeom prst="rect">
            <a:avLst/>
          </a:prstGeom>
        </p:spPr>
      </p:pic>
      <p:sp>
        <p:nvSpPr>
          <p:cNvPr id="50" name="Text 33"/>
          <p:cNvSpPr/>
          <p:nvPr/>
        </p:nvSpPr>
        <p:spPr>
          <a:xfrm>
            <a:off x="6515100" y="3290395"/>
            <a:ext cx="1909111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2E8F0"/>
                </a:solidFill>
              </a:rPr>
              <a:t>로깅 및 모니터링</a:t>
            </a:r>
            <a:endParaRPr lang="en-US" sz="784" dirty="0"/>
          </a:p>
        </p:txBody>
      </p:sp>
      <p:sp>
        <p:nvSpPr>
          <p:cNvPr id="51" name="Text 34"/>
          <p:cNvSpPr/>
          <p:nvPr/>
        </p:nvSpPr>
        <p:spPr>
          <a:xfrm>
            <a:off x="6515100" y="3483276"/>
            <a:ext cx="1909111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API 요청/응답 로그 적재 및 에러 알림(Slack) 연동</a:t>
            </a:r>
            <a:endParaRPr lang="en-US" sz="674" dirty="0"/>
          </a:p>
        </p:txBody>
      </p:sp>
      <p:pic>
        <p:nvPicPr>
          <p:cNvPr id="52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15075" y="3699011"/>
            <a:ext cx="114300" cy="114300"/>
          </a:xfrm>
          <a:prstGeom prst="rect">
            <a:avLst/>
          </a:prstGeom>
        </p:spPr>
      </p:pic>
      <p:sp>
        <p:nvSpPr>
          <p:cNvPr id="53" name="Text 35"/>
          <p:cNvSpPr/>
          <p:nvPr/>
        </p:nvSpPr>
        <p:spPr>
          <a:xfrm>
            <a:off x="6515100" y="3670436"/>
            <a:ext cx="145127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2E8F0"/>
                </a:solidFill>
              </a:rPr>
              <a:t>SSL 인증서</a:t>
            </a:r>
            <a:endParaRPr lang="en-US" sz="784" dirty="0"/>
          </a:p>
        </p:txBody>
      </p:sp>
      <p:sp>
        <p:nvSpPr>
          <p:cNvPr id="54" name="Text 36"/>
          <p:cNvSpPr/>
          <p:nvPr/>
        </p:nvSpPr>
        <p:spPr>
          <a:xfrm>
            <a:off x="6515100" y="3863318"/>
            <a:ext cx="1451270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94A3B8"/>
                </a:solidFill>
              </a:rPr>
              <a:t>HTTPS 적용 및 도메인 연결 상태 확인</a:t>
            </a:r>
            <a:endParaRPr lang="en-US" sz="674" dirty="0"/>
          </a:p>
        </p:txBody>
      </p:sp>
      <p:sp>
        <p:nvSpPr>
          <p:cNvPr id="55" name="Shape 37"/>
          <p:cNvSpPr/>
          <p:nvPr/>
        </p:nvSpPr>
        <p:spPr>
          <a:xfrm>
            <a:off x="285750" y="4593431"/>
            <a:ext cx="8572500" cy="550069"/>
          </a:xfrm>
          <a:prstGeom prst="rect">
            <a:avLst/>
          </a:prstGeom>
          <a:solidFill>
            <a:srgbClr val="1E293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56" name="Text 38"/>
          <p:cNvSpPr/>
          <p:nvPr/>
        </p:nvSpPr>
        <p:spPr>
          <a:xfrm>
            <a:off x="500063" y="4797921"/>
            <a:ext cx="111958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CBD5E1"/>
                </a:solidFill>
              </a:rPr>
              <a:t>Target Launch Date:</a:t>
            </a:r>
            <a:endParaRPr lang="en-US" sz="784" dirty="0"/>
          </a:p>
        </p:txBody>
      </p:sp>
      <p:sp>
        <p:nvSpPr>
          <p:cNvPr id="57" name="Text 39"/>
          <p:cNvSpPr/>
          <p:nvPr/>
        </p:nvSpPr>
        <p:spPr>
          <a:xfrm>
            <a:off x="1726806" y="4778276"/>
            <a:ext cx="114202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0B981"/>
                </a:solidFill>
              </a:rPr>
              <a:t>2024. 02. 16 (Fri)</a:t>
            </a:r>
            <a:endParaRPr lang="en-US" sz="987" dirty="0"/>
          </a:p>
        </p:txBody>
      </p:sp>
      <p:sp>
        <p:nvSpPr>
          <p:cNvPr id="58" name="Shape 40"/>
          <p:cNvSpPr/>
          <p:nvPr/>
        </p:nvSpPr>
        <p:spPr>
          <a:xfrm>
            <a:off x="6966691" y="4750594"/>
            <a:ext cx="1677246" cy="250031"/>
          </a:xfrm>
          <a:prstGeom prst="roundRect">
            <a:avLst/>
          </a:prstGeom>
          <a:solidFill>
            <a:srgbClr val="3B82F6"/>
          </a:solidFill>
          <a:ln/>
        </p:spPr>
      </p:sp>
      <p:sp>
        <p:nvSpPr>
          <p:cNvPr id="59" name="Text 41"/>
          <p:cNvSpPr/>
          <p:nvPr/>
        </p:nvSpPr>
        <p:spPr>
          <a:xfrm>
            <a:off x="6966691" y="4750594"/>
            <a:ext cx="1677246" cy="250031"/>
          </a:xfrm>
          <a:prstGeom prst="rect">
            <a:avLst/>
          </a:prstGeom>
          <a:noFill/>
          <a:ln/>
        </p:spPr>
        <p:txBody>
          <a:bodyPr wrap="square" lIns="170053" tIns="68072" rIns="170053" bIns="68072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READY FOR DEVELOPMENT</a:t>
            </a:r>
            <a:endParaRPr lang="en-US" sz="68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2026-01-19T07:03:44Z</dcterms:created>
  <dcterms:modified xsi:type="dcterms:W3CDTF">2026-01-19T07:03:44Z</dcterms:modified>
</cp:coreProperties>
</file>