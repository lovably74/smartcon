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96474" y="1214103"/>
            <a:ext cx="3951052" cy="2715295"/>
          </a:xfrm>
          <a:prstGeom prst="rect">
            <a:avLst/>
          </a:prstGeom>
          <a:solidFill>
            <a:srgbClr val="0F172A">
              <a:alpha val="7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960805" y="1649871"/>
            <a:ext cx="3222389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0B981"/>
                </a:solidFill>
              </a:rPr>
              <a:t>SmartCON </a:t>
            </a:r>
            <a:pPr algn="ctr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0B981"/>
                </a:solidFill>
              </a:rPr>
              <a:t>Lite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2960805" y="2280307"/>
            <a:ext cx="322238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94A3B8"/>
                </a:solidFill>
              </a:rPr>
              <a:t>전체 화면 UI 명세 및 구현 가이드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2960805" y="2941104"/>
            <a:ext cx="322238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초급 풀스택 개발자를 위한 화면별 상세 UI 요소 매핑 및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
</a:t>
            </a:r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BD5E1"/>
                </a:solidFill>
              </a:rPr>
              <a:t> 프론트엔드/백엔드 핵심 로직 구현 명세서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805" y="3501665"/>
            <a:ext cx="142875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75118" y="3481127"/>
            <a:ext cx="505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Manus AI</a:t>
            </a:r>
            <a:endParaRPr lang="en-US" sz="83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479" y="3501665"/>
            <a:ext cx="100013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51929" y="3481127"/>
            <a:ext cx="6437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2026. 01. 19</a:t>
            </a:r>
            <a:endParaRPr lang="en-US" sz="83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701" y="3501665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81439" y="3481127"/>
            <a:ext cx="11017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E2E8F0"/>
                </a:solidFill>
              </a:rPr>
              <a:t>v1.0 Integrated Spec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6611485" y="4755952"/>
            <a:ext cx="661439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611485" y="4755952"/>
            <a:ext cx="661439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Spring Boot</a:t>
            </a:r>
            <a:endParaRPr lang="en-US" sz="621" dirty="0"/>
          </a:p>
        </p:txBody>
      </p:sp>
      <p:sp>
        <p:nvSpPr>
          <p:cNvPr id="15" name="Shape 9"/>
          <p:cNvSpPr/>
          <p:nvPr/>
        </p:nvSpPr>
        <p:spPr>
          <a:xfrm>
            <a:off x="7358649" y="4755952"/>
            <a:ext cx="407612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358649" y="4755952"/>
            <a:ext cx="407612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React</a:t>
            </a:r>
            <a:endParaRPr lang="en-US" sz="621" dirty="0"/>
          </a:p>
        </p:txBody>
      </p:sp>
      <p:sp>
        <p:nvSpPr>
          <p:cNvPr id="17" name="Shape 11"/>
          <p:cNvSpPr/>
          <p:nvPr/>
        </p:nvSpPr>
        <p:spPr>
          <a:xfrm>
            <a:off x="7851986" y="4755952"/>
            <a:ext cx="311507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851986" y="4755952"/>
            <a:ext cx="311507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JPA</a:t>
            </a:r>
            <a:endParaRPr lang="en-US" sz="621" dirty="0"/>
          </a:p>
        </p:txBody>
      </p:sp>
      <p:sp>
        <p:nvSpPr>
          <p:cNvPr id="19" name="Shape 13"/>
          <p:cNvSpPr/>
          <p:nvPr/>
        </p:nvSpPr>
        <p:spPr>
          <a:xfrm>
            <a:off x="8249217" y="4755952"/>
            <a:ext cx="466158" cy="21609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249217" y="4755952"/>
            <a:ext cx="466158" cy="21609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MySQL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53262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로그인 화면 (Login)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85775" y="99340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사업자번호 기반 인증 및 JWT 토큰 발급 프로세스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85775" y="1311297"/>
            <a:ext cx="2571750" cy="27860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9128" y="1815824"/>
            <a:ext cx="15050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SmartCON Admin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85788" y="2121219"/>
            <a:ext cx="2471738" cy="328613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788" y="2121219"/>
            <a:ext cx="2471738" cy="32861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사업자번호 (10자리)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2857500" y="2042638"/>
            <a:ext cx="185738" cy="18573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0" y="2042638"/>
            <a:ext cx="185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85788" y="2499838"/>
            <a:ext cx="2471738" cy="328613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788" y="2499838"/>
            <a:ext cx="2471738" cy="328613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비밀번호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2857500" y="2421257"/>
            <a:ext cx="185738" cy="18573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0" y="2421257"/>
            <a:ext cx="185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585788" y="2878457"/>
            <a:ext cx="2371725" cy="3143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1613901" y="2953466"/>
            <a:ext cx="315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로그인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2857500" y="2792732"/>
            <a:ext cx="185738" cy="18573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2857500" y="2792732"/>
            <a:ext cx="185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85788" y="3249932"/>
            <a:ext cx="2371725" cy="314325"/>
          </a:xfrm>
          <a:prstGeom prst="rect">
            <a:avLst/>
          </a:prstGeom>
          <a:solidFill>
            <a:srgbClr val="FEE500"/>
          </a:solidFill>
          <a:ln/>
        </p:spPr>
      </p:sp>
      <p:sp>
        <p:nvSpPr>
          <p:cNvPr id="20" name="Text 17"/>
          <p:cNvSpPr/>
          <p:nvPr/>
        </p:nvSpPr>
        <p:spPr>
          <a:xfrm>
            <a:off x="1482607" y="3334764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카카오 로그인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2857500" y="3164207"/>
            <a:ext cx="185738" cy="18573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2857500" y="3164207"/>
            <a:ext cx="18573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3128963" y="1311297"/>
            <a:ext cx="5643563" cy="614363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128963" y="1311297"/>
            <a:ext cx="28575" cy="61436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2"/>
          <p:cNvSpPr/>
          <p:nvPr/>
        </p:nvSpPr>
        <p:spPr>
          <a:xfrm>
            <a:off x="3214688" y="1368447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3"/>
          <p:cNvSpPr/>
          <p:nvPr/>
        </p:nvSpPr>
        <p:spPr>
          <a:xfrm>
            <a:off x="3214688" y="1368447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27" name="Text 24"/>
          <p:cNvSpPr/>
          <p:nvPr/>
        </p:nvSpPr>
        <p:spPr>
          <a:xfrm>
            <a:off x="3429000" y="1369340"/>
            <a:ext cx="9429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사업자번호 입력 필드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3214688" y="1568472"/>
            <a:ext cx="642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Validation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3886200" y="1568472"/>
            <a:ext cx="4800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숫자만 입력 가능, 10자리 길이 체크 (Regex: /^\\d{10}$/)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3214688" y="1732778"/>
            <a:ext cx="642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Event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3886200" y="1732778"/>
            <a:ext cx="4800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onChange (자동 하이픈 포맷팅 적용)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3128963" y="1982809"/>
            <a:ext cx="5643563" cy="760809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128963" y="1982809"/>
            <a:ext cx="28575" cy="76080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1"/>
          <p:cNvSpPr/>
          <p:nvPr/>
        </p:nvSpPr>
        <p:spPr>
          <a:xfrm>
            <a:off x="3214688" y="2039959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2"/>
          <p:cNvSpPr/>
          <p:nvPr/>
        </p:nvSpPr>
        <p:spPr>
          <a:xfrm>
            <a:off x="3214688" y="2039959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3429000" y="2040852"/>
            <a:ext cx="520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로그인 버튼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3214688" y="2239984"/>
            <a:ext cx="642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3886200" y="2239984"/>
            <a:ext cx="48006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/api/v1/auth/login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214688" y="2395361"/>
            <a:ext cx="642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3886200" y="2395361"/>
            <a:ext cx="48006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"bizNo": "1234567890", "password": "***" }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3214688" y="2550737"/>
            <a:ext cx="642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3886200" y="2550737"/>
            <a:ext cx="4800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성공 시 응답 헤더의 AccessToken을 LocalStorage에 저장하고 대시보드로 이동</a:t>
            </a:r>
            <a:endParaRPr lang="en-US" sz="674" dirty="0"/>
          </a:p>
        </p:txBody>
      </p:sp>
      <p:sp>
        <p:nvSpPr>
          <p:cNvPr id="43" name="Shape 40"/>
          <p:cNvSpPr/>
          <p:nvPr/>
        </p:nvSpPr>
        <p:spPr>
          <a:xfrm>
            <a:off x="3128963" y="2800769"/>
            <a:ext cx="5643563" cy="605433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3128963" y="2800769"/>
            <a:ext cx="28575" cy="60543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42"/>
          <p:cNvSpPr/>
          <p:nvPr/>
        </p:nvSpPr>
        <p:spPr>
          <a:xfrm>
            <a:off x="3214688" y="2857919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43"/>
          <p:cNvSpPr/>
          <p:nvPr/>
        </p:nvSpPr>
        <p:spPr>
          <a:xfrm>
            <a:off x="3214688" y="2857919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47" name="Text 44"/>
          <p:cNvSpPr/>
          <p:nvPr/>
        </p:nvSpPr>
        <p:spPr>
          <a:xfrm>
            <a:off x="3429000" y="2858812"/>
            <a:ext cx="10148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소셜 로그인 (OAuth2)</a:t>
            </a:r>
            <a:endParaRPr lang="en-US" sz="734" dirty="0"/>
          </a:p>
        </p:txBody>
      </p:sp>
      <p:sp>
        <p:nvSpPr>
          <p:cNvPr id="48" name="Text 45"/>
          <p:cNvSpPr/>
          <p:nvPr/>
        </p:nvSpPr>
        <p:spPr>
          <a:xfrm>
            <a:off x="3214688" y="3057944"/>
            <a:ext cx="6429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3886200" y="3057944"/>
            <a:ext cx="48006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/oauth2/authorization/kakao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3214688" y="3213320"/>
            <a:ext cx="6429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Flow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3886200" y="3213320"/>
            <a:ext cx="48006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리다이렉트 URL에서 토큰 파싱 후 로그인 처리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현장 관리 (Site Management)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현장 목록 조회, 개설, 설정 변경 및 상태 관리 UI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54147"/>
            <a:ext cx="8286750" cy="13340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4350" y="1339872"/>
            <a:ext cx="2228850" cy="300038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432740"/>
            <a:ext cx="100013" cy="1000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1410416"/>
            <a:ext cx="56647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현장명 검색...</a:t>
            </a:r>
            <a:endParaRPr lang="en-US" sz="727" dirty="0"/>
          </a:p>
        </p:txBody>
      </p:sp>
      <p:sp>
        <p:nvSpPr>
          <p:cNvPr id="9" name="Shape 5"/>
          <p:cNvSpPr/>
          <p:nvPr/>
        </p:nvSpPr>
        <p:spPr>
          <a:xfrm>
            <a:off x="2614613" y="128272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2614613" y="128272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7663569" y="1339872"/>
            <a:ext cx="966081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8"/>
          <p:cNvSpPr/>
          <p:nvPr/>
        </p:nvSpPr>
        <p:spPr>
          <a:xfrm>
            <a:off x="7806444" y="1400594"/>
            <a:ext cx="6803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+ 새 현장 개설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8515350" y="128272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0"/>
          <p:cNvSpPr/>
          <p:nvPr/>
        </p:nvSpPr>
        <p:spPr>
          <a:xfrm>
            <a:off x="8515350" y="128272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5" name="Shape 11"/>
          <p:cNvSpPr/>
          <p:nvPr/>
        </p:nvSpPr>
        <p:spPr>
          <a:xfrm>
            <a:off x="514350" y="1682772"/>
            <a:ext cx="3462124" cy="2589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2"/>
          <p:cNvSpPr/>
          <p:nvPr/>
        </p:nvSpPr>
        <p:spPr>
          <a:xfrm>
            <a:off x="514350" y="1682772"/>
            <a:ext cx="3462124" cy="25896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현장명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3976474" y="1682772"/>
            <a:ext cx="2151022" cy="2589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4"/>
          <p:cNvSpPr/>
          <p:nvPr/>
        </p:nvSpPr>
        <p:spPr>
          <a:xfrm>
            <a:off x="3976474" y="1682772"/>
            <a:ext cx="2151022" cy="25896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현장소장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6127496" y="1682772"/>
            <a:ext cx="1433271" cy="2589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6"/>
          <p:cNvSpPr/>
          <p:nvPr/>
        </p:nvSpPr>
        <p:spPr>
          <a:xfrm>
            <a:off x="6127496" y="1682772"/>
            <a:ext cx="1433271" cy="25896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상태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7560766" y="1682772"/>
            <a:ext cx="1068884" cy="2589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18"/>
          <p:cNvSpPr/>
          <p:nvPr/>
        </p:nvSpPr>
        <p:spPr>
          <a:xfrm>
            <a:off x="7560766" y="1682772"/>
            <a:ext cx="1068884" cy="25896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설정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514350" y="1941733"/>
            <a:ext cx="3462124" cy="26253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강남 A타워 신축공사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3976474" y="1941733"/>
            <a:ext cx="2151022" cy="26253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김철수 소장</a:t>
            </a:r>
            <a:endParaRPr lang="en-US" sz="727" dirty="0"/>
          </a:p>
        </p:txBody>
      </p:sp>
      <p:sp>
        <p:nvSpPr>
          <p:cNvPr id="25" name="Shape 21"/>
          <p:cNvSpPr/>
          <p:nvPr/>
        </p:nvSpPr>
        <p:spPr>
          <a:xfrm>
            <a:off x="6184646" y="1999776"/>
            <a:ext cx="285750" cy="142875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6" name="Shape 22"/>
          <p:cNvSpPr/>
          <p:nvPr/>
        </p:nvSpPr>
        <p:spPr>
          <a:xfrm>
            <a:off x="6384671" y="194262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3"/>
          <p:cNvSpPr/>
          <p:nvPr/>
        </p:nvSpPr>
        <p:spPr>
          <a:xfrm>
            <a:off x="6384671" y="19426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5</a:t>
            </a:r>
            <a:endParaRPr lang="en-US" sz="683" dirty="0"/>
          </a:p>
        </p:txBody>
      </p:sp>
      <p:sp>
        <p:nvSpPr>
          <p:cNvPr id="28" name="Shape 24"/>
          <p:cNvSpPr/>
          <p:nvPr/>
        </p:nvSpPr>
        <p:spPr>
          <a:xfrm>
            <a:off x="6341808" y="2014063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916" y="2021207"/>
            <a:ext cx="100013" cy="10001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601075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6"/>
          <p:cNvSpPr/>
          <p:nvPr/>
        </p:nvSpPr>
        <p:spPr>
          <a:xfrm>
            <a:off x="8601075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32" name="Text 27"/>
          <p:cNvSpPr/>
          <p:nvPr/>
        </p:nvSpPr>
        <p:spPr>
          <a:xfrm>
            <a:off x="514350" y="2204265"/>
            <a:ext cx="3462124" cy="2661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판교 데이터센터</a:t>
            </a:r>
            <a:endParaRPr lang="en-US" sz="727" dirty="0"/>
          </a:p>
        </p:txBody>
      </p:sp>
      <p:sp>
        <p:nvSpPr>
          <p:cNvPr id="33" name="Text 28"/>
          <p:cNvSpPr/>
          <p:nvPr/>
        </p:nvSpPr>
        <p:spPr>
          <a:xfrm>
            <a:off x="3976474" y="2204265"/>
            <a:ext cx="2151022" cy="26610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이영희 소장</a:t>
            </a:r>
            <a:endParaRPr lang="en-US" sz="727" dirty="0"/>
          </a:p>
        </p:txBody>
      </p:sp>
      <p:sp>
        <p:nvSpPr>
          <p:cNvPr id="34" name="Shape 29"/>
          <p:cNvSpPr/>
          <p:nvPr/>
        </p:nvSpPr>
        <p:spPr>
          <a:xfrm>
            <a:off x="6184646" y="2265880"/>
            <a:ext cx="285750" cy="142875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5" name="Shape 30"/>
          <p:cNvSpPr/>
          <p:nvPr/>
        </p:nvSpPr>
        <p:spPr>
          <a:xfrm>
            <a:off x="6341808" y="2280168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916" y="2287312"/>
            <a:ext cx="100013" cy="100013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572000" y="182854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2"/>
          <p:cNvSpPr/>
          <p:nvPr/>
        </p:nvSpPr>
        <p:spPr>
          <a:xfrm>
            <a:off x="4572000" y="182854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9" name="Shape 33"/>
          <p:cNvSpPr/>
          <p:nvPr/>
        </p:nvSpPr>
        <p:spPr>
          <a:xfrm>
            <a:off x="428625" y="2616817"/>
            <a:ext cx="4100513" cy="74295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428625" y="2616817"/>
            <a:ext cx="28575" cy="7429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Shape 35"/>
          <p:cNvSpPr/>
          <p:nvPr/>
        </p:nvSpPr>
        <p:spPr>
          <a:xfrm>
            <a:off x="514350" y="268914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6"/>
          <p:cNvSpPr/>
          <p:nvPr/>
        </p:nvSpPr>
        <p:spPr>
          <a:xfrm>
            <a:off x="514350" y="268914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3" name="Text 37"/>
          <p:cNvSpPr/>
          <p:nvPr/>
        </p:nvSpPr>
        <p:spPr>
          <a:xfrm>
            <a:off x="714375" y="2688255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현장 목록 테이블</a:t>
            </a:r>
            <a:endParaRPr lang="en-US" sz="683" dirty="0"/>
          </a:p>
        </p:txBody>
      </p:sp>
      <p:sp>
        <p:nvSpPr>
          <p:cNvPr id="44" name="Text 38"/>
          <p:cNvSpPr/>
          <p:nvPr/>
        </p:nvSpPr>
        <p:spPr>
          <a:xfrm>
            <a:off x="514350" y="2875778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45" name="Text 39"/>
          <p:cNvSpPr/>
          <p:nvPr/>
        </p:nvSpPr>
        <p:spPr>
          <a:xfrm>
            <a:off x="1107281" y="2875778"/>
            <a:ext cx="33361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React Query useQuery 사용, 페이지네이션 처리</a:t>
            </a:r>
            <a:endParaRPr lang="en-US" sz="621" dirty="0"/>
          </a:p>
        </p:txBody>
      </p:sp>
      <p:sp>
        <p:nvSpPr>
          <p:cNvPr id="46" name="Text 40"/>
          <p:cNvSpPr/>
          <p:nvPr/>
        </p:nvSpPr>
        <p:spPr>
          <a:xfrm>
            <a:off x="514350" y="3024011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47" name="Text 41"/>
          <p:cNvSpPr/>
          <p:nvPr/>
        </p:nvSpPr>
        <p:spPr>
          <a:xfrm>
            <a:off x="1107281" y="3024011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/api/v1/sites?page=0&amp;size=10</a:t>
            </a:r>
            <a:endParaRPr lang="en-US" sz="621" dirty="0"/>
          </a:p>
        </p:txBody>
      </p:sp>
      <p:sp>
        <p:nvSpPr>
          <p:cNvPr id="48" name="Text 42"/>
          <p:cNvSpPr/>
          <p:nvPr/>
        </p:nvSpPr>
        <p:spPr>
          <a:xfrm>
            <a:off x="514350" y="3161528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Backend</a:t>
            </a:r>
            <a:endParaRPr lang="en-US" sz="584" dirty="0"/>
          </a:p>
        </p:txBody>
      </p:sp>
      <p:sp>
        <p:nvSpPr>
          <p:cNvPr id="49" name="Text 43"/>
          <p:cNvSpPr/>
          <p:nvPr/>
        </p:nvSpPr>
        <p:spPr>
          <a:xfrm>
            <a:off x="1107281" y="3161528"/>
            <a:ext cx="33361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Hibernate Filter로 tenant_id 자동 적용</a:t>
            </a:r>
            <a:endParaRPr lang="en-US" sz="621" dirty="0"/>
          </a:p>
        </p:txBody>
      </p:sp>
      <p:sp>
        <p:nvSpPr>
          <p:cNvPr id="50" name="Shape 44"/>
          <p:cNvSpPr/>
          <p:nvPr/>
        </p:nvSpPr>
        <p:spPr>
          <a:xfrm>
            <a:off x="4614863" y="2616817"/>
            <a:ext cx="4100513" cy="74295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4614863" y="2616817"/>
            <a:ext cx="28575" cy="7429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2" name="Shape 46"/>
          <p:cNvSpPr/>
          <p:nvPr/>
        </p:nvSpPr>
        <p:spPr>
          <a:xfrm>
            <a:off x="4700588" y="268914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47"/>
          <p:cNvSpPr/>
          <p:nvPr/>
        </p:nvSpPr>
        <p:spPr>
          <a:xfrm>
            <a:off x="4700588" y="268914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4" name="Text 48"/>
          <p:cNvSpPr/>
          <p:nvPr/>
        </p:nvSpPr>
        <p:spPr>
          <a:xfrm>
            <a:off x="4900613" y="2688255"/>
            <a:ext cx="722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새 현장 개설 버튼</a:t>
            </a:r>
            <a:endParaRPr lang="en-US" sz="683" dirty="0"/>
          </a:p>
        </p:txBody>
      </p:sp>
      <p:sp>
        <p:nvSpPr>
          <p:cNvPr id="55" name="Text 49"/>
          <p:cNvSpPr/>
          <p:nvPr/>
        </p:nvSpPr>
        <p:spPr>
          <a:xfrm>
            <a:off x="4700588" y="2875778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Event</a:t>
            </a:r>
            <a:endParaRPr lang="en-US" sz="584" dirty="0"/>
          </a:p>
        </p:txBody>
      </p:sp>
      <p:sp>
        <p:nvSpPr>
          <p:cNvPr id="56" name="Text 50"/>
          <p:cNvSpPr/>
          <p:nvPr/>
        </p:nvSpPr>
        <p:spPr>
          <a:xfrm>
            <a:off x="5293519" y="2875778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onClick -&gt; Open Modal</a:t>
            </a:r>
            <a:endParaRPr lang="en-US" sz="621" dirty="0"/>
          </a:p>
        </p:txBody>
      </p:sp>
      <p:sp>
        <p:nvSpPr>
          <p:cNvPr id="57" name="Text 51"/>
          <p:cNvSpPr/>
          <p:nvPr/>
        </p:nvSpPr>
        <p:spPr>
          <a:xfrm>
            <a:off x="4700588" y="3013295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58" name="Text 52"/>
          <p:cNvSpPr/>
          <p:nvPr/>
        </p:nvSpPr>
        <p:spPr>
          <a:xfrm>
            <a:off x="5293519" y="3013295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/api/v1/sites</a:t>
            </a:r>
            <a:endParaRPr lang="en-US" sz="621" dirty="0"/>
          </a:p>
        </p:txBody>
      </p:sp>
      <p:sp>
        <p:nvSpPr>
          <p:cNvPr id="59" name="Text 53"/>
          <p:cNvSpPr/>
          <p:nvPr/>
        </p:nvSpPr>
        <p:spPr>
          <a:xfrm>
            <a:off x="4700588" y="3150812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Backend</a:t>
            </a:r>
            <a:endParaRPr lang="en-US" sz="584" dirty="0"/>
          </a:p>
        </p:txBody>
      </p:sp>
      <p:sp>
        <p:nvSpPr>
          <p:cNvPr id="60" name="Text 54"/>
          <p:cNvSpPr/>
          <p:nvPr/>
        </p:nvSpPr>
        <p:spPr>
          <a:xfrm>
            <a:off x="5293519" y="3150812"/>
            <a:ext cx="33361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@PrePersist로 tenant_id 주입</a:t>
            </a:r>
            <a:endParaRPr lang="en-US" sz="621" dirty="0"/>
          </a:p>
        </p:txBody>
      </p:sp>
      <p:sp>
        <p:nvSpPr>
          <p:cNvPr id="61" name="Shape 55"/>
          <p:cNvSpPr/>
          <p:nvPr/>
        </p:nvSpPr>
        <p:spPr>
          <a:xfrm>
            <a:off x="428625" y="3445492"/>
            <a:ext cx="4100513" cy="594717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2" name="Shape 56"/>
          <p:cNvSpPr/>
          <p:nvPr/>
        </p:nvSpPr>
        <p:spPr>
          <a:xfrm>
            <a:off x="428625" y="3445492"/>
            <a:ext cx="28575" cy="594717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3" name="Shape 57"/>
          <p:cNvSpPr/>
          <p:nvPr/>
        </p:nvSpPr>
        <p:spPr>
          <a:xfrm>
            <a:off x="514350" y="351782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4" name="Text 58"/>
          <p:cNvSpPr/>
          <p:nvPr/>
        </p:nvSpPr>
        <p:spPr>
          <a:xfrm>
            <a:off x="514350" y="351782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5" name="Text 59"/>
          <p:cNvSpPr/>
          <p:nvPr/>
        </p:nvSpPr>
        <p:spPr>
          <a:xfrm>
            <a:off x="714375" y="3516930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현장명 검색 필드</a:t>
            </a:r>
            <a:endParaRPr lang="en-US" sz="683" dirty="0"/>
          </a:p>
        </p:txBody>
      </p:sp>
      <p:sp>
        <p:nvSpPr>
          <p:cNvPr id="66" name="Text 60"/>
          <p:cNvSpPr/>
          <p:nvPr/>
        </p:nvSpPr>
        <p:spPr>
          <a:xfrm>
            <a:off x="514350" y="3704453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Event</a:t>
            </a:r>
            <a:endParaRPr lang="en-US" sz="584" dirty="0"/>
          </a:p>
        </p:txBody>
      </p:sp>
      <p:sp>
        <p:nvSpPr>
          <p:cNvPr id="67" name="Text 61"/>
          <p:cNvSpPr/>
          <p:nvPr/>
        </p:nvSpPr>
        <p:spPr>
          <a:xfrm>
            <a:off x="1107281" y="3704453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onChange (Debounce 500ms)</a:t>
            </a:r>
            <a:endParaRPr lang="en-US" sz="621" dirty="0"/>
          </a:p>
        </p:txBody>
      </p:sp>
      <p:sp>
        <p:nvSpPr>
          <p:cNvPr id="68" name="Text 62"/>
          <p:cNvSpPr/>
          <p:nvPr/>
        </p:nvSpPr>
        <p:spPr>
          <a:xfrm>
            <a:off x="514350" y="3841970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69" name="Text 63"/>
          <p:cNvSpPr/>
          <p:nvPr/>
        </p:nvSpPr>
        <p:spPr>
          <a:xfrm>
            <a:off x="1107281" y="3841970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/api/v1/sites?name={keyword}</a:t>
            </a:r>
            <a:endParaRPr lang="en-US" sz="621" dirty="0"/>
          </a:p>
        </p:txBody>
      </p:sp>
      <p:sp>
        <p:nvSpPr>
          <p:cNvPr id="70" name="Shape 64"/>
          <p:cNvSpPr/>
          <p:nvPr/>
        </p:nvSpPr>
        <p:spPr>
          <a:xfrm>
            <a:off x="4614863" y="3445492"/>
            <a:ext cx="4100513" cy="594717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1" name="Shape 65"/>
          <p:cNvSpPr/>
          <p:nvPr/>
        </p:nvSpPr>
        <p:spPr>
          <a:xfrm>
            <a:off x="4614863" y="3445492"/>
            <a:ext cx="28575" cy="594717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2" name="Shape 66"/>
          <p:cNvSpPr/>
          <p:nvPr/>
        </p:nvSpPr>
        <p:spPr>
          <a:xfrm>
            <a:off x="4700588" y="351782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67"/>
          <p:cNvSpPr/>
          <p:nvPr/>
        </p:nvSpPr>
        <p:spPr>
          <a:xfrm>
            <a:off x="4700588" y="351782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5</a:t>
            </a:r>
            <a:endParaRPr lang="en-US" sz="534" dirty="0"/>
          </a:p>
        </p:txBody>
      </p:sp>
      <p:sp>
        <p:nvSpPr>
          <p:cNvPr id="74" name="Text 68"/>
          <p:cNvSpPr/>
          <p:nvPr/>
        </p:nvSpPr>
        <p:spPr>
          <a:xfrm>
            <a:off x="4900613" y="3516930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상태 토글 스위치</a:t>
            </a:r>
            <a:endParaRPr lang="en-US" sz="683" dirty="0"/>
          </a:p>
        </p:txBody>
      </p:sp>
      <p:sp>
        <p:nvSpPr>
          <p:cNvPr id="75" name="Text 69"/>
          <p:cNvSpPr/>
          <p:nvPr/>
        </p:nvSpPr>
        <p:spPr>
          <a:xfrm>
            <a:off x="4700588" y="3704453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76" name="Text 70"/>
          <p:cNvSpPr/>
          <p:nvPr/>
        </p:nvSpPr>
        <p:spPr>
          <a:xfrm>
            <a:off x="5293519" y="3704453"/>
            <a:ext cx="333613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Optimistic Update (낙관적 업데이트)</a:t>
            </a:r>
            <a:endParaRPr lang="en-US" sz="621" dirty="0"/>
          </a:p>
        </p:txBody>
      </p:sp>
      <p:sp>
        <p:nvSpPr>
          <p:cNvPr id="77" name="Text 71"/>
          <p:cNvSpPr/>
          <p:nvPr/>
        </p:nvSpPr>
        <p:spPr>
          <a:xfrm>
            <a:off x="4700588" y="3852686"/>
            <a:ext cx="5715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78" name="Text 72"/>
          <p:cNvSpPr/>
          <p:nvPr/>
        </p:nvSpPr>
        <p:spPr>
          <a:xfrm>
            <a:off x="5293519" y="3852686"/>
            <a:ext cx="33361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PATCH /api/v1/sites/{id}/status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2867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통합 대시보드 (Dashboard)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286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전사 현황판 및 실시간 통계 차트 구현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397022"/>
            <a:ext cx="8286750" cy="24332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063" y="1468459"/>
            <a:ext cx="2657475" cy="70449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80037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전체 현장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71500" y="1860417"/>
            <a:ext cx="3940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12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800350" y="1677832"/>
            <a:ext cx="285750" cy="28575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3" y="1763557"/>
            <a:ext cx="85725" cy="1143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043238" y="14113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8"/>
          <p:cNvSpPr/>
          <p:nvPr/>
        </p:nvSpPr>
        <p:spPr>
          <a:xfrm>
            <a:off x="3043238" y="14113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3243263" y="1468459"/>
            <a:ext cx="2657475" cy="70449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14700" y="1680037"/>
            <a:ext cx="44115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총 노무자</a:t>
            </a:r>
            <a:endParaRPr lang="en-US" sz="683" dirty="0"/>
          </a:p>
        </p:txBody>
      </p:sp>
      <p:sp>
        <p:nvSpPr>
          <p:cNvPr id="15" name="Text 11"/>
          <p:cNvSpPr/>
          <p:nvPr/>
        </p:nvSpPr>
        <p:spPr>
          <a:xfrm>
            <a:off x="3314700" y="1860417"/>
            <a:ext cx="44115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1,240</a:t>
            </a:r>
            <a:endParaRPr lang="en-US" sz="1193" dirty="0"/>
          </a:p>
        </p:txBody>
      </p:sp>
      <p:sp>
        <p:nvSpPr>
          <p:cNvPr id="16" name="Shape 12"/>
          <p:cNvSpPr/>
          <p:nvPr/>
        </p:nvSpPr>
        <p:spPr>
          <a:xfrm>
            <a:off x="5543550" y="1677832"/>
            <a:ext cx="285750" cy="28575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988" y="1763557"/>
            <a:ext cx="142875" cy="1143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986463" y="1468459"/>
            <a:ext cx="2657475" cy="70449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057900" y="1672893"/>
            <a:ext cx="49755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금일 출역률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6057900" y="1853273"/>
            <a:ext cx="4975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87.5%</a:t>
            </a:r>
            <a:endParaRPr lang="en-US" sz="1193" dirty="0"/>
          </a:p>
        </p:txBody>
      </p:sp>
      <p:sp>
        <p:nvSpPr>
          <p:cNvPr id="21" name="Shape 16"/>
          <p:cNvSpPr/>
          <p:nvPr/>
        </p:nvSpPr>
        <p:spPr>
          <a:xfrm>
            <a:off x="8286750" y="1670689"/>
            <a:ext cx="285750" cy="28575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75" y="1756414"/>
            <a:ext cx="114300" cy="1143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0063" y="2230106"/>
            <a:ext cx="5372100" cy="1500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71500" y="2301543"/>
            <a:ext cx="522922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주간 출역 추세</a:t>
            </a:r>
            <a:endParaRPr lang="en-US" sz="683" dirty="0"/>
          </a:p>
        </p:txBody>
      </p:sp>
      <p:sp>
        <p:nvSpPr>
          <p:cNvPr id="25" name="Shape 19"/>
          <p:cNvSpPr/>
          <p:nvPr/>
        </p:nvSpPr>
        <p:spPr>
          <a:xfrm>
            <a:off x="5757863" y="217295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0"/>
          <p:cNvSpPr/>
          <p:nvPr/>
        </p:nvSpPr>
        <p:spPr>
          <a:xfrm>
            <a:off x="5757863" y="21729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7" name="Shape 21"/>
          <p:cNvSpPr/>
          <p:nvPr/>
        </p:nvSpPr>
        <p:spPr>
          <a:xfrm>
            <a:off x="5957888" y="2230106"/>
            <a:ext cx="2686050" cy="1500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029325" y="2301543"/>
            <a:ext cx="25431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실시간 출역 로그</a:t>
            </a:r>
            <a:endParaRPr lang="en-US" sz="683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325" y="2503354"/>
            <a:ext cx="300038" cy="3000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0" y="2531929"/>
            <a:ext cx="19556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김철수 (목공)</a:t>
            </a:r>
            <a:endParaRPr lang="en-US" sz="634" dirty="0"/>
          </a:p>
        </p:txBody>
      </p:sp>
      <p:sp>
        <p:nvSpPr>
          <p:cNvPr id="31" name="Text 24"/>
          <p:cNvSpPr/>
          <p:nvPr/>
        </p:nvSpPr>
        <p:spPr>
          <a:xfrm>
            <a:off x="6400800" y="2667660"/>
            <a:ext cx="19556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10:42:15 AM</a:t>
            </a:r>
            <a:endParaRPr lang="en-US" sz="568" dirty="0"/>
          </a:p>
        </p:txBody>
      </p:sp>
      <p:sp>
        <p:nvSpPr>
          <p:cNvPr id="32" name="Text 25"/>
          <p:cNvSpPr/>
          <p:nvPr/>
        </p:nvSpPr>
        <p:spPr>
          <a:xfrm>
            <a:off x="8427895" y="2596223"/>
            <a:ext cx="1446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출근</a:t>
            </a:r>
            <a:endParaRPr lang="en-US" sz="568" dirty="0"/>
          </a:p>
        </p:txBody>
      </p:sp>
      <p:sp>
        <p:nvSpPr>
          <p:cNvPr id="33" name="Text 26"/>
          <p:cNvSpPr/>
          <p:nvPr/>
        </p:nvSpPr>
        <p:spPr>
          <a:xfrm>
            <a:off x="6400800" y="2953410"/>
            <a:ext cx="19556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이영희 (전기)</a:t>
            </a:r>
            <a:endParaRPr lang="en-US" sz="634" dirty="0"/>
          </a:p>
        </p:txBody>
      </p:sp>
      <p:sp>
        <p:nvSpPr>
          <p:cNvPr id="34" name="Text 27"/>
          <p:cNvSpPr/>
          <p:nvPr/>
        </p:nvSpPr>
        <p:spPr>
          <a:xfrm>
            <a:off x="6400800" y="3089142"/>
            <a:ext cx="19556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10:40:05 AM</a:t>
            </a:r>
            <a:endParaRPr lang="en-US" sz="568" dirty="0"/>
          </a:p>
        </p:txBody>
      </p:sp>
      <p:sp>
        <p:nvSpPr>
          <p:cNvPr id="35" name="Text 28"/>
          <p:cNvSpPr/>
          <p:nvPr/>
        </p:nvSpPr>
        <p:spPr>
          <a:xfrm>
            <a:off x="8427895" y="3017704"/>
            <a:ext cx="1446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출근</a:t>
            </a:r>
            <a:endParaRPr lang="en-US" sz="568" dirty="0"/>
          </a:p>
        </p:txBody>
      </p:sp>
      <p:sp>
        <p:nvSpPr>
          <p:cNvPr id="36" name="Shape 29"/>
          <p:cNvSpPr/>
          <p:nvPr/>
        </p:nvSpPr>
        <p:spPr>
          <a:xfrm>
            <a:off x="8529638" y="217295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0"/>
          <p:cNvSpPr/>
          <p:nvPr/>
        </p:nvSpPr>
        <p:spPr>
          <a:xfrm>
            <a:off x="8529638" y="21729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8" name="Shape 31"/>
          <p:cNvSpPr/>
          <p:nvPr/>
        </p:nvSpPr>
        <p:spPr>
          <a:xfrm>
            <a:off x="428625" y="3944606"/>
            <a:ext cx="2705081" cy="760809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428625" y="3944606"/>
            <a:ext cx="28575" cy="76080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Shape 33"/>
          <p:cNvSpPr/>
          <p:nvPr/>
        </p:nvSpPr>
        <p:spPr>
          <a:xfrm>
            <a:off x="500063" y="401693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4"/>
          <p:cNvSpPr/>
          <p:nvPr/>
        </p:nvSpPr>
        <p:spPr>
          <a:xfrm>
            <a:off x="500063" y="401693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2" name="Text 35"/>
          <p:cNvSpPr/>
          <p:nvPr/>
        </p:nvSpPr>
        <p:spPr>
          <a:xfrm>
            <a:off x="700088" y="4016043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요약 통계 카드</a:t>
            </a:r>
            <a:endParaRPr lang="en-US" sz="683" dirty="0"/>
          </a:p>
        </p:txBody>
      </p:sp>
      <p:sp>
        <p:nvSpPr>
          <p:cNvPr id="43" name="Text 36"/>
          <p:cNvSpPr/>
          <p:nvPr/>
        </p:nvSpPr>
        <p:spPr>
          <a:xfrm>
            <a:off x="500063" y="4217854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44" name="Text 37"/>
          <p:cNvSpPr/>
          <p:nvPr/>
        </p:nvSpPr>
        <p:spPr>
          <a:xfrm>
            <a:off x="1028700" y="4217854"/>
            <a:ext cx="20335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/api/v1/stats/summary</a:t>
            </a:r>
            <a:endParaRPr lang="en-US" sz="621" dirty="0"/>
          </a:p>
        </p:txBody>
      </p:sp>
      <p:sp>
        <p:nvSpPr>
          <p:cNvPr id="45" name="Text 38"/>
          <p:cNvSpPr/>
          <p:nvPr/>
        </p:nvSpPr>
        <p:spPr>
          <a:xfrm>
            <a:off x="500063" y="4362515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1028700" y="4362515"/>
            <a:ext cx="20335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Redis 캐싱 (TTL 5분) 적용하여 DB 부하 감소</a:t>
            </a:r>
            <a:endParaRPr lang="en-US" sz="621" dirty="0"/>
          </a:p>
        </p:txBody>
      </p:sp>
      <p:sp>
        <p:nvSpPr>
          <p:cNvPr id="47" name="Text 40"/>
          <p:cNvSpPr/>
          <p:nvPr/>
        </p:nvSpPr>
        <p:spPr>
          <a:xfrm>
            <a:off x="500063" y="4517892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Data</a:t>
            </a:r>
            <a:endParaRPr lang="en-US" sz="584" dirty="0"/>
          </a:p>
        </p:txBody>
      </p:sp>
      <p:sp>
        <p:nvSpPr>
          <p:cNvPr id="48" name="Text 41"/>
          <p:cNvSpPr/>
          <p:nvPr/>
        </p:nvSpPr>
        <p:spPr>
          <a:xfrm>
            <a:off x="1028700" y="4517892"/>
            <a:ext cx="20335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{ totalSites, totalWorkers, todayRate }</a:t>
            </a:r>
            <a:endParaRPr lang="en-US" sz="621" dirty="0"/>
          </a:p>
        </p:txBody>
      </p:sp>
      <p:sp>
        <p:nvSpPr>
          <p:cNvPr id="49" name="Shape 42"/>
          <p:cNvSpPr/>
          <p:nvPr/>
        </p:nvSpPr>
        <p:spPr>
          <a:xfrm>
            <a:off x="3219431" y="3944606"/>
            <a:ext cx="2705109" cy="760809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3219431" y="3944606"/>
            <a:ext cx="28575" cy="76080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1" name="Shape 44"/>
          <p:cNvSpPr/>
          <p:nvPr/>
        </p:nvSpPr>
        <p:spPr>
          <a:xfrm>
            <a:off x="3290869" y="401693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2" name="Text 45"/>
          <p:cNvSpPr/>
          <p:nvPr/>
        </p:nvSpPr>
        <p:spPr>
          <a:xfrm>
            <a:off x="3290869" y="401693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3" name="Text 46"/>
          <p:cNvSpPr/>
          <p:nvPr/>
        </p:nvSpPr>
        <p:spPr>
          <a:xfrm>
            <a:off x="3490894" y="4016043"/>
            <a:ext cx="81410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주간 출역 추세 차트</a:t>
            </a:r>
            <a:endParaRPr lang="en-US" sz="683" dirty="0"/>
          </a:p>
        </p:txBody>
      </p:sp>
      <p:sp>
        <p:nvSpPr>
          <p:cNvPr id="54" name="Text 47"/>
          <p:cNvSpPr/>
          <p:nvPr/>
        </p:nvSpPr>
        <p:spPr>
          <a:xfrm>
            <a:off x="3290869" y="4217854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Lib</a:t>
            </a:r>
            <a:endParaRPr lang="en-US" sz="584" dirty="0"/>
          </a:p>
        </p:txBody>
      </p:sp>
      <p:sp>
        <p:nvSpPr>
          <p:cNvPr id="55" name="Text 48"/>
          <p:cNvSpPr/>
          <p:nvPr/>
        </p:nvSpPr>
        <p:spPr>
          <a:xfrm>
            <a:off x="3819506" y="4217854"/>
            <a:ext cx="20335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Chart.js (Line/Bar Chart)</a:t>
            </a:r>
            <a:endParaRPr lang="en-US" sz="621" dirty="0"/>
          </a:p>
        </p:txBody>
      </p:sp>
      <p:sp>
        <p:nvSpPr>
          <p:cNvPr id="56" name="Text 49"/>
          <p:cNvSpPr/>
          <p:nvPr/>
        </p:nvSpPr>
        <p:spPr>
          <a:xfrm>
            <a:off x="3290869" y="4362515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57" name="Text 50"/>
          <p:cNvSpPr/>
          <p:nvPr/>
        </p:nvSpPr>
        <p:spPr>
          <a:xfrm>
            <a:off x="3819506" y="4362515"/>
            <a:ext cx="203359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/api/v1/stats/weekly-trend</a:t>
            </a:r>
            <a:endParaRPr lang="en-US" sz="621" dirty="0"/>
          </a:p>
        </p:txBody>
      </p:sp>
      <p:sp>
        <p:nvSpPr>
          <p:cNvPr id="58" name="Text 51"/>
          <p:cNvSpPr/>
          <p:nvPr/>
        </p:nvSpPr>
        <p:spPr>
          <a:xfrm>
            <a:off x="3290869" y="4507176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Query</a:t>
            </a:r>
            <a:endParaRPr lang="en-US" sz="584" dirty="0"/>
          </a:p>
        </p:txBody>
      </p:sp>
      <p:sp>
        <p:nvSpPr>
          <p:cNvPr id="59" name="Text 52"/>
          <p:cNvSpPr/>
          <p:nvPr/>
        </p:nvSpPr>
        <p:spPr>
          <a:xfrm>
            <a:off x="3819506" y="4507176"/>
            <a:ext cx="20335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GROUP BY date (최근 7일)</a:t>
            </a:r>
            <a:endParaRPr lang="en-US" sz="621" dirty="0"/>
          </a:p>
        </p:txBody>
      </p:sp>
      <p:sp>
        <p:nvSpPr>
          <p:cNvPr id="60" name="Shape 53"/>
          <p:cNvSpPr/>
          <p:nvPr/>
        </p:nvSpPr>
        <p:spPr>
          <a:xfrm>
            <a:off x="6010266" y="3944606"/>
            <a:ext cx="2705081" cy="760809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1" name="Shape 54"/>
          <p:cNvSpPr/>
          <p:nvPr/>
        </p:nvSpPr>
        <p:spPr>
          <a:xfrm>
            <a:off x="6010266" y="3944606"/>
            <a:ext cx="28575" cy="760809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2" name="Shape 55"/>
          <p:cNvSpPr/>
          <p:nvPr/>
        </p:nvSpPr>
        <p:spPr>
          <a:xfrm>
            <a:off x="6081703" y="401693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6"/>
          <p:cNvSpPr/>
          <p:nvPr/>
        </p:nvSpPr>
        <p:spPr>
          <a:xfrm>
            <a:off x="6081703" y="401693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4" name="Text 57"/>
          <p:cNvSpPr/>
          <p:nvPr/>
        </p:nvSpPr>
        <p:spPr>
          <a:xfrm>
            <a:off x="6281728" y="4016043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실시간 출역 로그</a:t>
            </a:r>
            <a:endParaRPr lang="en-US" sz="683" dirty="0"/>
          </a:p>
        </p:txBody>
      </p:sp>
      <p:sp>
        <p:nvSpPr>
          <p:cNvPr id="65" name="Text 58"/>
          <p:cNvSpPr/>
          <p:nvPr/>
        </p:nvSpPr>
        <p:spPr>
          <a:xfrm>
            <a:off x="6081703" y="4217854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Tech</a:t>
            </a:r>
            <a:endParaRPr lang="en-US" sz="584" dirty="0"/>
          </a:p>
        </p:txBody>
      </p:sp>
      <p:sp>
        <p:nvSpPr>
          <p:cNvPr id="66" name="Text 59"/>
          <p:cNvSpPr/>
          <p:nvPr/>
        </p:nvSpPr>
        <p:spPr>
          <a:xfrm>
            <a:off x="6610341" y="4217854"/>
            <a:ext cx="20335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WebSocket (STOMP) or Polling (5s)</a:t>
            </a:r>
            <a:endParaRPr lang="en-US" sz="621" dirty="0"/>
          </a:p>
        </p:txBody>
      </p:sp>
      <p:sp>
        <p:nvSpPr>
          <p:cNvPr id="67" name="Text 60"/>
          <p:cNvSpPr/>
          <p:nvPr/>
        </p:nvSpPr>
        <p:spPr>
          <a:xfrm>
            <a:off x="6081703" y="4362515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Topic</a:t>
            </a:r>
            <a:endParaRPr lang="en-US" sz="584" dirty="0"/>
          </a:p>
        </p:txBody>
      </p:sp>
      <p:sp>
        <p:nvSpPr>
          <p:cNvPr id="68" name="Text 61"/>
          <p:cNvSpPr/>
          <p:nvPr/>
        </p:nvSpPr>
        <p:spPr>
          <a:xfrm>
            <a:off x="6610341" y="4362515"/>
            <a:ext cx="20335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/topic/dashboard/live-logs</a:t>
            </a:r>
            <a:endParaRPr lang="en-US" sz="621" dirty="0"/>
          </a:p>
        </p:txBody>
      </p:sp>
      <p:sp>
        <p:nvSpPr>
          <p:cNvPr id="69" name="Text 62"/>
          <p:cNvSpPr/>
          <p:nvPr/>
        </p:nvSpPr>
        <p:spPr>
          <a:xfrm>
            <a:off x="6081703" y="4507176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UX</a:t>
            </a:r>
            <a:endParaRPr lang="en-US" sz="584" dirty="0"/>
          </a:p>
        </p:txBody>
      </p:sp>
      <p:sp>
        <p:nvSpPr>
          <p:cNvPr id="70" name="Text 63"/>
          <p:cNvSpPr/>
          <p:nvPr/>
        </p:nvSpPr>
        <p:spPr>
          <a:xfrm>
            <a:off x="6610341" y="4507176"/>
            <a:ext cx="20335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새 로그 수신 시 상단에 애니메이션 추가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511266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[본사] 노무자 조회 및 정산 (Worker &amp; Settlement)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51126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전사 노무자 이력 조회 및 월간 급여 정산 프로세스 명세</a:t>
            </a:r>
            <a:endParaRPr lang="en-US" sz="942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272338" y="725509"/>
            <a:ext cx="1443038" cy="5286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1254147"/>
            <a:ext cx="8286750" cy="16502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42925" y="1368447"/>
            <a:ext cx="1157288" cy="271463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4363" y="1429169"/>
            <a:ext cx="513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2026년 01월</a:t>
            </a:r>
            <a:endParaRPr lang="en-US" sz="67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334" y="1450600"/>
            <a:ext cx="82153" cy="9286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585913" y="12970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6"/>
          <p:cNvSpPr/>
          <p:nvPr/>
        </p:nvSpPr>
        <p:spPr>
          <a:xfrm>
            <a:off x="1585913" y="12970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1757363" y="1368447"/>
            <a:ext cx="1157288" cy="271463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28800" y="1429169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전체 현장</a:t>
            </a:r>
            <a:endParaRPr lang="en-US" sz="67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772" y="1450600"/>
            <a:ext cx="82153" cy="92869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467" y="1450600"/>
            <a:ext cx="69652" cy="928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69" y="1429169"/>
            <a:ext cx="5367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엑셀 다운로드</a:t>
            </a:r>
            <a:endParaRPr lang="en-US" sz="634" dirty="0"/>
          </a:p>
        </p:txBody>
      </p:sp>
      <p:sp>
        <p:nvSpPr>
          <p:cNvPr id="17" name="Shape 10"/>
          <p:cNvSpPr/>
          <p:nvPr/>
        </p:nvSpPr>
        <p:spPr>
          <a:xfrm>
            <a:off x="7497198" y="130415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1"/>
          <p:cNvSpPr/>
          <p:nvPr/>
        </p:nvSpPr>
        <p:spPr>
          <a:xfrm>
            <a:off x="7497198" y="13041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19" name="Shape 12"/>
          <p:cNvSpPr/>
          <p:nvPr/>
        </p:nvSpPr>
        <p:spPr>
          <a:xfrm>
            <a:off x="7675792" y="1368447"/>
            <a:ext cx="925283" cy="25717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948" y="1450600"/>
            <a:ext cx="92869" cy="9286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32967" y="1429169"/>
            <a:ext cx="5609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일괄 정산 실행</a:t>
            </a:r>
            <a:endParaRPr lang="en-US" sz="634" dirty="0"/>
          </a:p>
        </p:txBody>
      </p:sp>
      <p:sp>
        <p:nvSpPr>
          <p:cNvPr id="22" name="Shape 14"/>
          <p:cNvSpPr/>
          <p:nvPr/>
        </p:nvSpPr>
        <p:spPr>
          <a:xfrm>
            <a:off x="8501063" y="12970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5"/>
          <p:cNvSpPr/>
          <p:nvPr/>
        </p:nvSpPr>
        <p:spPr>
          <a:xfrm>
            <a:off x="8501063" y="12970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4" name="Shape 16"/>
          <p:cNvSpPr/>
          <p:nvPr/>
        </p:nvSpPr>
        <p:spPr>
          <a:xfrm>
            <a:off x="542925" y="1711347"/>
            <a:ext cx="597843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Shape 17"/>
          <p:cNvSpPr/>
          <p:nvPr/>
        </p:nvSpPr>
        <p:spPr>
          <a:xfrm>
            <a:off x="1140768" y="1711347"/>
            <a:ext cx="1060261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18"/>
          <p:cNvSpPr/>
          <p:nvPr/>
        </p:nvSpPr>
        <p:spPr>
          <a:xfrm>
            <a:off x="1140768" y="1711347"/>
            <a:ext cx="1060261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노무자명</a:t>
            </a:r>
            <a:endParaRPr lang="en-US" sz="634" dirty="0"/>
          </a:p>
        </p:txBody>
      </p:sp>
      <p:sp>
        <p:nvSpPr>
          <p:cNvPr id="27" name="Shape 19"/>
          <p:cNvSpPr/>
          <p:nvPr/>
        </p:nvSpPr>
        <p:spPr>
          <a:xfrm>
            <a:off x="2201028" y="1711347"/>
            <a:ext cx="1254286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0"/>
          <p:cNvSpPr/>
          <p:nvPr/>
        </p:nvSpPr>
        <p:spPr>
          <a:xfrm>
            <a:off x="2201028" y="1711347"/>
            <a:ext cx="125428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소속 현장</a:t>
            </a:r>
            <a:endParaRPr lang="en-US" sz="634" dirty="0"/>
          </a:p>
        </p:txBody>
      </p:sp>
      <p:sp>
        <p:nvSpPr>
          <p:cNvPr id="29" name="Shape 21"/>
          <p:cNvSpPr/>
          <p:nvPr/>
        </p:nvSpPr>
        <p:spPr>
          <a:xfrm>
            <a:off x="3455315" y="1711347"/>
            <a:ext cx="917749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2"/>
          <p:cNvSpPr/>
          <p:nvPr/>
        </p:nvSpPr>
        <p:spPr>
          <a:xfrm>
            <a:off x="3455315" y="1711347"/>
            <a:ext cx="917749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총 공수</a:t>
            </a:r>
            <a:endParaRPr lang="en-US" sz="634" dirty="0"/>
          </a:p>
        </p:txBody>
      </p:sp>
      <p:sp>
        <p:nvSpPr>
          <p:cNvPr id="31" name="Shape 23"/>
          <p:cNvSpPr/>
          <p:nvPr/>
        </p:nvSpPr>
        <p:spPr>
          <a:xfrm>
            <a:off x="4373063" y="1711347"/>
            <a:ext cx="1444516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4"/>
          <p:cNvSpPr/>
          <p:nvPr/>
        </p:nvSpPr>
        <p:spPr>
          <a:xfrm>
            <a:off x="4373063" y="1711347"/>
            <a:ext cx="144451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지급 예정액</a:t>
            </a:r>
            <a:endParaRPr lang="en-US" sz="634" dirty="0"/>
          </a:p>
        </p:txBody>
      </p:sp>
      <p:sp>
        <p:nvSpPr>
          <p:cNvPr id="33" name="Shape 25"/>
          <p:cNvSpPr/>
          <p:nvPr/>
        </p:nvSpPr>
        <p:spPr>
          <a:xfrm>
            <a:off x="5817580" y="1711347"/>
            <a:ext cx="1579690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6"/>
          <p:cNvSpPr/>
          <p:nvPr/>
        </p:nvSpPr>
        <p:spPr>
          <a:xfrm>
            <a:off x="5817580" y="1711347"/>
            <a:ext cx="157969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계좌 정보</a:t>
            </a:r>
            <a:endParaRPr lang="en-US" sz="634" dirty="0"/>
          </a:p>
        </p:txBody>
      </p:sp>
      <p:sp>
        <p:nvSpPr>
          <p:cNvPr id="35" name="Shape 27"/>
          <p:cNvSpPr/>
          <p:nvPr/>
        </p:nvSpPr>
        <p:spPr>
          <a:xfrm>
            <a:off x="7397269" y="1711347"/>
            <a:ext cx="1203806" cy="25717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28"/>
          <p:cNvSpPr/>
          <p:nvPr/>
        </p:nvSpPr>
        <p:spPr>
          <a:xfrm>
            <a:off x="7397269" y="1711347"/>
            <a:ext cx="120380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2E8F0"/>
                </a:solidFill>
              </a:rPr>
              <a:t>상태</a:t>
            </a:r>
            <a:endParaRPr lang="en-US" sz="634" dirty="0"/>
          </a:p>
        </p:txBody>
      </p:sp>
      <p:sp>
        <p:nvSpPr>
          <p:cNvPr id="37" name="Text 29"/>
          <p:cNvSpPr/>
          <p:nvPr/>
        </p:nvSpPr>
        <p:spPr>
          <a:xfrm>
            <a:off x="1140768" y="1968522"/>
            <a:ext cx="1060261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홍길동</a:t>
            </a:r>
            <a:endParaRPr lang="en-US" sz="674" dirty="0"/>
          </a:p>
        </p:txBody>
      </p:sp>
      <p:sp>
        <p:nvSpPr>
          <p:cNvPr id="38" name="Text 30"/>
          <p:cNvSpPr/>
          <p:nvPr/>
        </p:nvSpPr>
        <p:spPr>
          <a:xfrm>
            <a:off x="2201028" y="1968522"/>
            <a:ext cx="125428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강남 A타워</a:t>
            </a:r>
            <a:endParaRPr lang="en-US" sz="674" dirty="0"/>
          </a:p>
        </p:txBody>
      </p:sp>
      <p:sp>
        <p:nvSpPr>
          <p:cNvPr id="39" name="Text 31"/>
          <p:cNvSpPr/>
          <p:nvPr/>
        </p:nvSpPr>
        <p:spPr>
          <a:xfrm>
            <a:off x="3455315" y="1968522"/>
            <a:ext cx="917749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22.5</a:t>
            </a:r>
            <a:endParaRPr lang="en-US" sz="674" dirty="0"/>
          </a:p>
        </p:txBody>
      </p:sp>
      <p:sp>
        <p:nvSpPr>
          <p:cNvPr id="40" name="Text 32"/>
          <p:cNvSpPr/>
          <p:nvPr/>
        </p:nvSpPr>
        <p:spPr>
          <a:xfrm>
            <a:off x="4373063" y="1968522"/>
            <a:ext cx="1444516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3,375,000원</a:t>
            </a:r>
            <a:endParaRPr lang="en-US" sz="674" dirty="0"/>
          </a:p>
        </p:txBody>
      </p:sp>
      <p:sp>
        <p:nvSpPr>
          <p:cNvPr id="41" name="Text 33"/>
          <p:cNvSpPr/>
          <p:nvPr/>
        </p:nvSpPr>
        <p:spPr>
          <a:xfrm>
            <a:off x="5817580" y="1968522"/>
            <a:ext cx="1579690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국민 123-45...</a:t>
            </a:r>
            <a:endParaRPr lang="en-US" sz="674" dirty="0"/>
          </a:p>
        </p:txBody>
      </p:sp>
      <p:sp>
        <p:nvSpPr>
          <p:cNvPr id="42" name="Shape 34"/>
          <p:cNvSpPr/>
          <p:nvPr/>
        </p:nvSpPr>
        <p:spPr>
          <a:xfrm>
            <a:off x="7454419" y="2019421"/>
            <a:ext cx="403482" cy="164306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7454419" y="2019421"/>
            <a:ext cx="40348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지급대기</a:t>
            </a:r>
            <a:endParaRPr lang="en-US" sz="534" dirty="0"/>
          </a:p>
        </p:txBody>
      </p:sp>
      <p:sp>
        <p:nvSpPr>
          <p:cNvPr id="44" name="Text 36"/>
          <p:cNvSpPr/>
          <p:nvPr/>
        </p:nvSpPr>
        <p:spPr>
          <a:xfrm>
            <a:off x="1140768" y="2229269"/>
            <a:ext cx="1060261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김철수</a:t>
            </a:r>
            <a:endParaRPr lang="en-US" sz="674" dirty="0"/>
          </a:p>
        </p:txBody>
      </p:sp>
      <p:sp>
        <p:nvSpPr>
          <p:cNvPr id="45" name="Text 37"/>
          <p:cNvSpPr/>
          <p:nvPr/>
        </p:nvSpPr>
        <p:spPr>
          <a:xfrm>
            <a:off x="2201028" y="2229269"/>
            <a:ext cx="125428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판교 센터</a:t>
            </a:r>
            <a:endParaRPr lang="en-US" sz="674" dirty="0"/>
          </a:p>
        </p:txBody>
      </p:sp>
      <p:sp>
        <p:nvSpPr>
          <p:cNvPr id="46" name="Text 38"/>
          <p:cNvSpPr/>
          <p:nvPr/>
        </p:nvSpPr>
        <p:spPr>
          <a:xfrm>
            <a:off x="3455315" y="2229269"/>
            <a:ext cx="917749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20.0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4373063" y="2229269"/>
            <a:ext cx="144451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3,000,000원</a:t>
            </a:r>
            <a:endParaRPr lang="en-US" sz="674" dirty="0"/>
          </a:p>
        </p:txBody>
      </p:sp>
      <p:sp>
        <p:nvSpPr>
          <p:cNvPr id="48" name="Text 40"/>
          <p:cNvSpPr/>
          <p:nvPr/>
        </p:nvSpPr>
        <p:spPr>
          <a:xfrm>
            <a:off x="5817580" y="2229269"/>
            <a:ext cx="157969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신한 110-22...</a:t>
            </a:r>
            <a:endParaRPr lang="en-US" sz="674" dirty="0"/>
          </a:p>
        </p:txBody>
      </p:sp>
      <p:sp>
        <p:nvSpPr>
          <p:cNvPr id="49" name="Shape 41"/>
          <p:cNvSpPr/>
          <p:nvPr/>
        </p:nvSpPr>
        <p:spPr>
          <a:xfrm>
            <a:off x="7454419" y="2283740"/>
            <a:ext cx="403482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0" name="Text 42"/>
          <p:cNvSpPr/>
          <p:nvPr/>
        </p:nvSpPr>
        <p:spPr>
          <a:xfrm>
            <a:off x="7454419" y="2283740"/>
            <a:ext cx="40348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지급완료</a:t>
            </a:r>
            <a:endParaRPr lang="en-US" sz="534" dirty="0"/>
          </a:p>
        </p:txBody>
      </p:sp>
      <p:sp>
        <p:nvSpPr>
          <p:cNvPr id="51" name="Text 43"/>
          <p:cNvSpPr/>
          <p:nvPr/>
        </p:nvSpPr>
        <p:spPr>
          <a:xfrm>
            <a:off x="1140768" y="2493587"/>
            <a:ext cx="1060261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이영희</a:t>
            </a:r>
            <a:endParaRPr lang="en-US" sz="674" dirty="0"/>
          </a:p>
        </p:txBody>
      </p:sp>
      <p:sp>
        <p:nvSpPr>
          <p:cNvPr id="52" name="Text 44"/>
          <p:cNvSpPr/>
          <p:nvPr/>
        </p:nvSpPr>
        <p:spPr>
          <a:xfrm>
            <a:off x="2201028" y="2493587"/>
            <a:ext cx="125428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강남 A타워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3455315" y="2493587"/>
            <a:ext cx="917749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18.5</a:t>
            </a:r>
            <a:endParaRPr lang="en-US" sz="674" dirty="0"/>
          </a:p>
        </p:txBody>
      </p:sp>
      <p:sp>
        <p:nvSpPr>
          <p:cNvPr id="54" name="Text 46"/>
          <p:cNvSpPr/>
          <p:nvPr/>
        </p:nvSpPr>
        <p:spPr>
          <a:xfrm>
            <a:off x="4373063" y="2493587"/>
            <a:ext cx="1444516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2,775,000원</a:t>
            </a:r>
            <a:endParaRPr lang="en-US" sz="674" dirty="0"/>
          </a:p>
        </p:txBody>
      </p:sp>
      <p:sp>
        <p:nvSpPr>
          <p:cNvPr id="55" name="Text 47"/>
          <p:cNvSpPr/>
          <p:nvPr/>
        </p:nvSpPr>
        <p:spPr>
          <a:xfrm>
            <a:off x="5817580" y="2493587"/>
            <a:ext cx="1579690" cy="26431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우리 1002-3...</a:t>
            </a:r>
            <a:endParaRPr lang="en-US" sz="674" dirty="0"/>
          </a:p>
        </p:txBody>
      </p:sp>
      <p:sp>
        <p:nvSpPr>
          <p:cNvPr id="56" name="Shape 48"/>
          <p:cNvSpPr/>
          <p:nvPr/>
        </p:nvSpPr>
        <p:spPr>
          <a:xfrm>
            <a:off x="7454419" y="2548058"/>
            <a:ext cx="403482" cy="164306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7" name="Text 49"/>
          <p:cNvSpPr/>
          <p:nvPr/>
        </p:nvSpPr>
        <p:spPr>
          <a:xfrm>
            <a:off x="7454419" y="2548058"/>
            <a:ext cx="403482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지급대기</a:t>
            </a:r>
            <a:endParaRPr lang="en-US" sz="534" dirty="0"/>
          </a:p>
        </p:txBody>
      </p:sp>
      <p:sp>
        <p:nvSpPr>
          <p:cNvPr id="58" name="Shape 50"/>
          <p:cNvSpPr/>
          <p:nvPr/>
        </p:nvSpPr>
        <p:spPr>
          <a:xfrm>
            <a:off x="4572000" y="206496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1"/>
          <p:cNvSpPr/>
          <p:nvPr/>
        </p:nvSpPr>
        <p:spPr>
          <a:xfrm>
            <a:off x="4572000" y="206496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60" name="Shape 52"/>
          <p:cNvSpPr/>
          <p:nvPr/>
        </p:nvSpPr>
        <p:spPr>
          <a:xfrm>
            <a:off x="428625" y="2932928"/>
            <a:ext cx="2007394" cy="1054708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1" name="Shape 53"/>
          <p:cNvSpPr/>
          <p:nvPr/>
        </p:nvSpPr>
        <p:spPr>
          <a:xfrm>
            <a:off x="428625" y="2932928"/>
            <a:ext cx="2007394" cy="21431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2" name="Shape 54"/>
          <p:cNvSpPr/>
          <p:nvPr/>
        </p:nvSpPr>
        <p:spPr>
          <a:xfrm>
            <a:off x="514350" y="301954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514350" y="301954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4" name="Text 56"/>
          <p:cNvSpPr/>
          <p:nvPr/>
        </p:nvSpPr>
        <p:spPr>
          <a:xfrm>
            <a:off x="714375" y="3018653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검색 필터</a:t>
            </a:r>
            <a:endParaRPr lang="en-US" sz="683" dirty="0"/>
          </a:p>
        </p:txBody>
      </p:sp>
      <p:sp>
        <p:nvSpPr>
          <p:cNvPr id="65" name="Text 57"/>
          <p:cNvSpPr/>
          <p:nvPr/>
        </p:nvSpPr>
        <p:spPr>
          <a:xfrm>
            <a:off x="514350" y="3222250"/>
            <a:ext cx="17804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월(YYYY-MM) 및 현장 ID를 기준으로 정산 대상 데</a:t>
            </a:r>
            <a:endParaRPr lang="en-US" sz="621" dirty="0"/>
          </a:p>
        </p:txBody>
      </p:sp>
      <p:sp>
        <p:nvSpPr>
          <p:cNvPr id="66" name="Text 58"/>
          <p:cNvSpPr/>
          <p:nvPr/>
        </p:nvSpPr>
        <p:spPr>
          <a:xfrm>
            <a:off x="514350" y="3342243"/>
            <a:ext cx="75508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이터를 필터링합니다.</a:t>
            </a:r>
            <a:endParaRPr lang="en-US" sz="621" dirty="0"/>
          </a:p>
        </p:txBody>
      </p:sp>
      <p:sp>
        <p:nvSpPr>
          <p:cNvPr id="67" name="Shape 59"/>
          <p:cNvSpPr/>
          <p:nvPr/>
        </p:nvSpPr>
        <p:spPr>
          <a:xfrm>
            <a:off x="514350" y="3503312"/>
            <a:ext cx="1835944" cy="1671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8" name="Text 60"/>
          <p:cNvSpPr/>
          <p:nvPr/>
        </p:nvSpPr>
        <p:spPr>
          <a:xfrm>
            <a:off x="514350" y="3503312"/>
            <a:ext cx="1835944" cy="1671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GET /api/v1/settlements?month=2026-</a:t>
            </a:r>
            <a:endParaRPr lang="en-US" sz="568" dirty="0"/>
          </a:p>
        </p:txBody>
      </p:sp>
      <p:sp>
        <p:nvSpPr>
          <p:cNvPr id="69" name="Shape 61"/>
          <p:cNvSpPr/>
          <p:nvPr/>
        </p:nvSpPr>
        <p:spPr>
          <a:xfrm>
            <a:off x="514350" y="3713327"/>
            <a:ext cx="1835944" cy="1671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0" name="Text 62"/>
          <p:cNvSpPr/>
          <p:nvPr/>
        </p:nvSpPr>
        <p:spPr>
          <a:xfrm>
            <a:off x="514350" y="3713327"/>
            <a:ext cx="1835944" cy="1671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01&amp;siteId=10</a:t>
            </a:r>
            <a:endParaRPr lang="en-US" sz="568" dirty="0"/>
          </a:p>
        </p:txBody>
      </p:sp>
      <p:sp>
        <p:nvSpPr>
          <p:cNvPr id="71" name="Shape 63"/>
          <p:cNvSpPr/>
          <p:nvPr/>
        </p:nvSpPr>
        <p:spPr>
          <a:xfrm>
            <a:off x="2521744" y="2932928"/>
            <a:ext cx="2007394" cy="1033276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2" name="Shape 64"/>
          <p:cNvSpPr/>
          <p:nvPr/>
        </p:nvSpPr>
        <p:spPr>
          <a:xfrm>
            <a:off x="2521744" y="2932928"/>
            <a:ext cx="2007394" cy="21431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3" name="Shape 65"/>
          <p:cNvSpPr/>
          <p:nvPr/>
        </p:nvSpPr>
        <p:spPr>
          <a:xfrm>
            <a:off x="2607469" y="301954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4" name="Text 66"/>
          <p:cNvSpPr/>
          <p:nvPr/>
        </p:nvSpPr>
        <p:spPr>
          <a:xfrm>
            <a:off x="2607469" y="301954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5" name="Text 67"/>
          <p:cNvSpPr/>
          <p:nvPr/>
        </p:nvSpPr>
        <p:spPr>
          <a:xfrm>
            <a:off x="2807494" y="3018653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정산 목록 테이블</a:t>
            </a:r>
            <a:endParaRPr lang="en-US" sz="683" dirty="0"/>
          </a:p>
        </p:txBody>
      </p:sp>
      <p:sp>
        <p:nvSpPr>
          <p:cNvPr id="76" name="Text 68"/>
          <p:cNvSpPr/>
          <p:nvPr/>
        </p:nvSpPr>
        <p:spPr>
          <a:xfrm>
            <a:off x="2607469" y="3222250"/>
            <a:ext cx="18071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해당 월의 출역 기록(Attendance)을 집계하여 노무</a:t>
            </a:r>
            <a:endParaRPr lang="en-US" sz="621" dirty="0"/>
          </a:p>
        </p:txBody>
      </p:sp>
      <p:sp>
        <p:nvSpPr>
          <p:cNvPr id="77" name="Text 69"/>
          <p:cNvSpPr/>
          <p:nvPr/>
        </p:nvSpPr>
        <p:spPr>
          <a:xfrm>
            <a:off x="2607469" y="3342243"/>
            <a:ext cx="1216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자별 총 공수와 급여를 계산합니다.</a:t>
            </a:r>
            <a:endParaRPr lang="en-US" sz="621" dirty="0"/>
          </a:p>
        </p:txBody>
      </p:sp>
      <p:sp>
        <p:nvSpPr>
          <p:cNvPr id="78" name="Shape 70"/>
          <p:cNvSpPr/>
          <p:nvPr/>
        </p:nvSpPr>
        <p:spPr>
          <a:xfrm>
            <a:off x="2607469" y="3503312"/>
            <a:ext cx="1835944" cy="1671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9" name="Text 71"/>
          <p:cNvSpPr/>
          <p:nvPr/>
        </p:nvSpPr>
        <p:spPr>
          <a:xfrm>
            <a:off x="2607469" y="3503312"/>
            <a:ext cx="1835944" cy="1671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Logic: Sum(daily_wage * work_unit)</a:t>
            </a:r>
            <a:endParaRPr lang="en-US" sz="568" dirty="0"/>
          </a:p>
        </p:txBody>
      </p:sp>
      <p:sp>
        <p:nvSpPr>
          <p:cNvPr id="80" name="Shape 72"/>
          <p:cNvSpPr/>
          <p:nvPr/>
        </p:nvSpPr>
        <p:spPr>
          <a:xfrm>
            <a:off x="4614863" y="2932928"/>
            <a:ext cx="2007394" cy="1033276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81" name="Shape 73"/>
          <p:cNvSpPr/>
          <p:nvPr/>
        </p:nvSpPr>
        <p:spPr>
          <a:xfrm>
            <a:off x="4614863" y="2932928"/>
            <a:ext cx="2007394" cy="21431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2" name="Shape 74"/>
          <p:cNvSpPr/>
          <p:nvPr/>
        </p:nvSpPr>
        <p:spPr>
          <a:xfrm>
            <a:off x="4700588" y="301954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5"/>
          <p:cNvSpPr/>
          <p:nvPr/>
        </p:nvSpPr>
        <p:spPr>
          <a:xfrm>
            <a:off x="4700588" y="301954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84" name="Text 76"/>
          <p:cNvSpPr/>
          <p:nvPr/>
        </p:nvSpPr>
        <p:spPr>
          <a:xfrm>
            <a:off x="4900613" y="3018653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일괄 정산 실행</a:t>
            </a:r>
            <a:endParaRPr lang="en-US" sz="683" dirty="0"/>
          </a:p>
        </p:txBody>
      </p:sp>
      <p:sp>
        <p:nvSpPr>
          <p:cNvPr id="85" name="Text 77"/>
          <p:cNvSpPr/>
          <p:nvPr/>
        </p:nvSpPr>
        <p:spPr>
          <a:xfrm>
            <a:off x="4700588" y="3222250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선택된 항목의 상태를 'PAID'로 변경하고 정산 이력</a:t>
            </a:r>
            <a:endParaRPr lang="en-US" sz="621" dirty="0"/>
          </a:p>
        </p:txBody>
      </p:sp>
      <p:sp>
        <p:nvSpPr>
          <p:cNvPr id="86" name="Text 78"/>
          <p:cNvSpPr/>
          <p:nvPr/>
        </p:nvSpPr>
        <p:spPr>
          <a:xfrm>
            <a:off x="4700588" y="3342243"/>
            <a:ext cx="11287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을 생성합니다. (Transactional)</a:t>
            </a:r>
            <a:endParaRPr lang="en-US" sz="621" dirty="0"/>
          </a:p>
        </p:txBody>
      </p:sp>
      <p:sp>
        <p:nvSpPr>
          <p:cNvPr id="87" name="Shape 79"/>
          <p:cNvSpPr/>
          <p:nvPr/>
        </p:nvSpPr>
        <p:spPr>
          <a:xfrm>
            <a:off x="4700588" y="3503312"/>
            <a:ext cx="1835944" cy="1671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8" name="Text 80"/>
          <p:cNvSpPr/>
          <p:nvPr/>
        </p:nvSpPr>
        <p:spPr>
          <a:xfrm>
            <a:off x="4700588" y="3503312"/>
            <a:ext cx="1835944" cy="1671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/api/v1/settlements/confirm</a:t>
            </a:r>
            <a:endParaRPr lang="en-US" sz="568" dirty="0"/>
          </a:p>
        </p:txBody>
      </p:sp>
      <p:sp>
        <p:nvSpPr>
          <p:cNvPr id="89" name="Shape 81"/>
          <p:cNvSpPr/>
          <p:nvPr/>
        </p:nvSpPr>
        <p:spPr>
          <a:xfrm>
            <a:off x="6707981" y="2932928"/>
            <a:ext cx="2007394" cy="1033276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0" name="Shape 82"/>
          <p:cNvSpPr/>
          <p:nvPr/>
        </p:nvSpPr>
        <p:spPr>
          <a:xfrm>
            <a:off x="6707981" y="2932928"/>
            <a:ext cx="2007394" cy="21431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1" name="Shape 83"/>
          <p:cNvSpPr/>
          <p:nvPr/>
        </p:nvSpPr>
        <p:spPr>
          <a:xfrm>
            <a:off x="6793706" y="301954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2" name="Text 84"/>
          <p:cNvSpPr/>
          <p:nvPr/>
        </p:nvSpPr>
        <p:spPr>
          <a:xfrm>
            <a:off x="6793706" y="301954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93" name="Text 85"/>
          <p:cNvSpPr/>
          <p:nvPr/>
        </p:nvSpPr>
        <p:spPr>
          <a:xfrm>
            <a:off x="6993731" y="3018653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엑셀 다운로드</a:t>
            </a:r>
            <a:endParaRPr lang="en-US" sz="683" dirty="0"/>
          </a:p>
        </p:txBody>
      </p:sp>
      <p:sp>
        <p:nvSpPr>
          <p:cNvPr id="94" name="Text 86"/>
          <p:cNvSpPr/>
          <p:nvPr/>
        </p:nvSpPr>
        <p:spPr>
          <a:xfrm>
            <a:off x="6793706" y="3222250"/>
            <a:ext cx="18313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현재 필터링된 정산 내역을 .xlsx 파일로 생성하여 반</a:t>
            </a:r>
            <a:endParaRPr lang="en-US" sz="621" dirty="0"/>
          </a:p>
        </p:txBody>
      </p:sp>
      <p:sp>
        <p:nvSpPr>
          <p:cNvPr id="95" name="Text 87"/>
          <p:cNvSpPr/>
          <p:nvPr/>
        </p:nvSpPr>
        <p:spPr>
          <a:xfrm>
            <a:off x="6793706" y="3342243"/>
            <a:ext cx="10604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환합니다. (Apache POI 사용)</a:t>
            </a:r>
            <a:endParaRPr lang="en-US" sz="621" dirty="0"/>
          </a:p>
        </p:txBody>
      </p:sp>
      <p:sp>
        <p:nvSpPr>
          <p:cNvPr id="96" name="Shape 88"/>
          <p:cNvSpPr/>
          <p:nvPr/>
        </p:nvSpPr>
        <p:spPr>
          <a:xfrm>
            <a:off x="6793706" y="3503312"/>
            <a:ext cx="1835944" cy="16715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7" name="Text 89"/>
          <p:cNvSpPr/>
          <p:nvPr/>
        </p:nvSpPr>
        <p:spPr>
          <a:xfrm>
            <a:off x="6793706" y="3503312"/>
            <a:ext cx="1835944" cy="1671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GET /api/v1/settlements/export/excel</a:t>
            </a:r>
            <a:endParaRPr lang="en-US" sz="56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실시간 출역 현황 (Live Attendance)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실시간 태깅 로그 조회, 상태 판정(정상/지각) 및 GPS/FaceNet 검증 로직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257425" cy="3686175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143125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25622"/>
            <a:ext cx="2143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268434"/>
            <a:ext cx="21431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SmartCON Site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428625" y="1625622"/>
            <a:ext cx="2143125" cy="4679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086394"/>
            <a:ext cx="2143125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701036" y="1711347"/>
            <a:ext cx="1471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42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01036" y="1886369"/>
            <a:ext cx="1471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출역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1392975" y="1711347"/>
            <a:ext cx="14460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3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392975" y="1886369"/>
            <a:ext cx="1446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지각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2082403" y="1711347"/>
            <a:ext cx="2169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15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082403" y="1886369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미출역</a:t>
            </a:r>
            <a:endParaRPr lang="en-US" sz="568" dirty="0"/>
          </a:p>
        </p:txBody>
      </p:sp>
      <p:sp>
        <p:nvSpPr>
          <p:cNvPr id="17" name="Shape 14"/>
          <p:cNvSpPr/>
          <p:nvPr/>
        </p:nvSpPr>
        <p:spPr>
          <a:xfrm>
            <a:off x="2328863" y="133987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2328863" y="133987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485775" y="2143544"/>
            <a:ext cx="380209" cy="1714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0" name="Text 17"/>
          <p:cNvSpPr/>
          <p:nvPr/>
        </p:nvSpPr>
        <p:spPr>
          <a:xfrm>
            <a:off x="485775" y="2143544"/>
            <a:ext cx="380209" cy="171450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전체 팀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923134" y="2143544"/>
            <a:ext cx="473552" cy="171450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2" name="Text 19"/>
          <p:cNvSpPr/>
          <p:nvPr/>
        </p:nvSpPr>
        <p:spPr>
          <a:xfrm>
            <a:off x="923134" y="2143544"/>
            <a:ext cx="473552" cy="171450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CBD5E1"/>
                </a:solidFill>
              </a:rPr>
              <a:t>상태: 전체</a:t>
            </a:r>
            <a:endParaRPr lang="en-US" sz="568" dirty="0"/>
          </a:p>
        </p:txBody>
      </p:sp>
      <p:sp>
        <p:nvSpPr>
          <p:cNvPr id="23" name="Shape 20"/>
          <p:cNvSpPr/>
          <p:nvPr/>
        </p:nvSpPr>
        <p:spPr>
          <a:xfrm>
            <a:off x="2328863" y="130415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2328863" y="13041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500063" y="2372144"/>
            <a:ext cx="2000250" cy="400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3"/>
          <p:cNvSpPr/>
          <p:nvPr/>
        </p:nvSpPr>
        <p:spPr>
          <a:xfrm>
            <a:off x="900113" y="2450725"/>
            <a:ext cx="12401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김철수 (철근팀)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900113" y="2586456"/>
            <a:ext cx="12401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06:45:12</a:t>
            </a:r>
            <a:endParaRPr lang="en-US" sz="568" dirty="0"/>
          </a:p>
        </p:txBody>
      </p:sp>
      <p:sp>
        <p:nvSpPr>
          <p:cNvPr id="28" name="Shape 25"/>
          <p:cNvSpPr/>
          <p:nvPr/>
        </p:nvSpPr>
        <p:spPr>
          <a:xfrm>
            <a:off x="2211688" y="2506089"/>
            <a:ext cx="217187" cy="132159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211688" y="2506089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정상</a:t>
            </a:r>
            <a:endParaRPr lang="en-US" sz="485" dirty="0"/>
          </a:p>
        </p:txBody>
      </p:sp>
      <p:sp>
        <p:nvSpPr>
          <p:cNvPr id="30" name="Shape 27"/>
          <p:cNvSpPr/>
          <p:nvPr/>
        </p:nvSpPr>
        <p:spPr>
          <a:xfrm>
            <a:off x="2364581" y="23364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8"/>
          <p:cNvSpPr/>
          <p:nvPr/>
        </p:nvSpPr>
        <p:spPr>
          <a:xfrm>
            <a:off x="2364581" y="23364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500063" y="2829344"/>
            <a:ext cx="2000250" cy="400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0"/>
          <p:cNvSpPr/>
          <p:nvPr/>
        </p:nvSpPr>
        <p:spPr>
          <a:xfrm>
            <a:off x="900113" y="2907925"/>
            <a:ext cx="12401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이영희 (전기팀)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900113" y="3043656"/>
            <a:ext cx="12401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07:15:30</a:t>
            </a:r>
            <a:endParaRPr lang="en-US" sz="568" dirty="0"/>
          </a:p>
        </p:txBody>
      </p:sp>
      <p:sp>
        <p:nvSpPr>
          <p:cNvPr id="35" name="Shape 32"/>
          <p:cNvSpPr/>
          <p:nvPr/>
        </p:nvSpPr>
        <p:spPr>
          <a:xfrm>
            <a:off x="2211688" y="2963289"/>
            <a:ext cx="217187" cy="132159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2211688" y="2963289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F4444"/>
                </a:solidFill>
              </a:rPr>
              <a:t>지각</a:t>
            </a:r>
            <a:endParaRPr lang="en-US" sz="485" dirty="0"/>
          </a:p>
        </p:txBody>
      </p:sp>
      <p:sp>
        <p:nvSpPr>
          <p:cNvPr id="37" name="Shape 34"/>
          <p:cNvSpPr/>
          <p:nvPr/>
        </p:nvSpPr>
        <p:spPr>
          <a:xfrm>
            <a:off x="500063" y="3286544"/>
            <a:ext cx="2000250" cy="4000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5"/>
          <p:cNvSpPr/>
          <p:nvPr/>
        </p:nvSpPr>
        <p:spPr>
          <a:xfrm>
            <a:off x="900113" y="3365125"/>
            <a:ext cx="12401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박민수 (설비팀)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900113" y="3500856"/>
            <a:ext cx="12401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06:55:00</a:t>
            </a:r>
            <a:endParaRPr lang="en-US" sz="568" dirty="0"/>
          </a:p>
        </p:txBody>
      </p:sp>
      <p:sp>
        <p:nvSpPr>
          <p:cNvPr id="40" name="Shape 37"/>
          <p:cNvSpPr/>
          <p:nvPr/>
        </p:nvSpPr>
        <p:spPr>
          <a:xfrm>
            <a:off x="2211688" y="3420489"/>
            <a:ext cx="217187" cy="132159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2211688" y="3420489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정상</a:t>
            </a:r>
            <a:endParaRPr lang="en-US" sz="485" dirty="0"/>
          </a:p>
        </p:txBody>
      </p:sp>
      <p:sp>
        <p:nvSpPr>
          <p:cNvPr id="42" name="Shape 39"/>
          <p:cNvSpPr/>
          <p:nvPr/>
        </p:nvSpPr>
        <p:spPr>
          <a:xfrm>
            <a:off x="3000375" y="1268434"/>
            <a:ext cx="3286125" cy="775097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3000375" y="1268434"/>
            <a:ext cx="28575" cy="77509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41"/>
          <p:cNvSpPr/>
          <p:nvPr/>
        </p:nvSpPr>
        <p:spPr>
          <a:xfrm>
            <a:off x="3086100" y="135505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2"/>
          <p:cNvSpPr/>
          <p:nvPr/>
        </p:nvSpPr>
        <p:spPr>
          <a:xfrm>
            <a:off x="3086100" y="135505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6" name="Text 43"/>
          <p:cNvSpPr/>
          <p:nvPr/>
        </p:nvSpPr>
        <p:spPr>
          <a:xfrm>
            <a:off x="3286125" y="1354159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실시간 요약 통계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3086100" y="1541683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3614738" y="1541683"/>
            <a:ext cx="2586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금일 총 예정 인원 대비 출역/지각/미출역 카운트 집계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3086100" y="1697059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3614738" y="1697059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/api/v1/attendance/stats/daily</a:t>
            </a:r>
            <a:endParaRPr lang="en-US" sz="621" dirty="0"/>
          </a:p>
        </p:txBody>
      </p:sp>
      <p:sp>
        <p:nvSpPr>
          <p:cNvPr id="51" name="Text 48"/>
          <p:cNvSpPr/>
          <p:nvPr/>
        </p:nvSpPr>
        <p:spPr>
          <a:xfrm>
            <a:off x="3086100" y="1841720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Refresh</a:t>
            </a:r>
            <a:endParaRPr lang="en-US" sz="584" dirty="0"/>
          </a:p>
        </p:txBody>
      </p:sp>
      <p:sp>
        <p:nvSpPr>
          <p:cNvPr id="52" name="Text 49"/>
          <p:cNvSpPr/>
          <p:nvPr/>
        </p:nvSpPr>
        <p:spPr>
          <a:xfrm>
            <a:off x="3614738" y="1841720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Polling (30s) or WebSocket Sub</a:t>
            </a:r>
            <a:endParaRPr lang="en-US" sz="621" dirty="0"/>
          </a:p>
        </p:txBody>
      </p:sp>
      <p:sp>
        <p:nvSpPr>
          <p:cNvPr id="53" name="Shape 50"/>
          <p:cNvSpPr/>
          <p:nvPr/>
        </p:nvSpPr>
        <p:spPr>
          <a:xfrm>
            <a:off x="3000375" y="2129256"/>
            <a:ext cx="3286125" cy="775097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3000375" y="2129256"/>
            <a:ext cx="28575" cy="77509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Shape 52"/>
          <p:cNvSpPr/>
          <p:nvPr/>
        </p:nvSpPr>
        <p:spPr>
          <a:xfrm>
            <a:off x="3086100" y="2215874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3"/>
          <p:cNvSpPr/>
          <p:nvPr/>
        </p:nvSpPr>
        <p:spPr>
          <a:xfrm>
            <a:off x="3086100" y="2215874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57" name="Text 54"/>
          <p:cNvSpPr/>
          <p:nvPr/>
        </p:nvSpPr>
        <p:spPr>
          <a:xfrm>
            <a:off x="3286125" y="2214981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출역 리스트 아이템</a:t>
            </a:r>
            <a:endParaRPr lang="en-US" sz="683" dirty="0"/>
          </a:p>
        </p:txBody>
      </p:sp>
      <p:sp>
        <p:nvSpPr>
          <p:cNvPr id="58" name="Text 55"/>
          <p:cNvSpPr/>
          <p:nvPr/>
        </p:nvSpPr>
        <p:spPr>
          <a:xfrm>
            <a:off x="3086100" y="2402505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59" name="Text 56"/>
          <p:cNvSpPr/>
          <p:nvPr/>
        </p:nvSpPr>
        <p:spPr>
          <a:xfrm>
            <a:off x="3614738" y="2402505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Status = checkInTime &lt;= 07:00 ? NORMAL : LATE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3086100" y="2547165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Data</a:t>
            </a:r>
            <a:endParaRPr lang="en-US" sz="584" dirty="0"/>
          </a:p>
        </p:txBody>
      </p:sp>
      <p:sp>
        <p:nvSpPr>
          <p:cNvPr id="61" name="Text 58"/>
          <p:cNvSpPr/>
          <p:nvPr/>
        </p:nvSpPr>
        <p:spPr>
          <a:xfrm>
            <a:off x="3614738" y="2547165"/>
            <a:ext cx="2586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FaceNet Score(유사도) &gt; 0.85 AND GPS Within Fence</a:t>
            </a:r>
            <a:endParaRPr lang="en-US" sz="621" dirty="0"/>
          </a:p>
        </p:txBody>
      </p:sp>
      <p:sp>
        <p:nvSpPr>
          <p:cNvPr id="62" name="Text 59"/>
          <p:cNvSpPr/>
          <p:nvPr/>
        </p:nvSpPr>
        <p:spPr>
          <a:xfrm>
            <a:off x="3086100" y="2702542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3614738" y="2702542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/api/v1/attendance/daily?siteId={id}</a:t>
            </a:r>
            <a:endParaRPr lang="en-US" sz="621" dirty="0"/>
          </a:p>
        </p:txBody>
      </p:sp>
      <p:sp>
        <p:nvSpPr>
          <p:cNvPr id="64" name="Shape 61"/>
          <p:cNvSpPr/>
          <p:nvPr/>
        </p:nvSpPr>
        <p:spPr>
          <a:xfrm>
            <a:off x="3000375" y="2990078"/>
            <a:ext cx="3286125" cy="6197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000375" y="2990078"/>
            <a:ext cx="28575" cy="619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Shape 63"/>
          <p:cNvSpPr/>
          <p:nvPr/>
        </p:nvSpPr>
        <p:spPr>
          <a:xfrm>
            <a:off x="3086100" y="307669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7" name="Text 64"/>
          <p:cNvSpPr/>
          <p:nvPr/>
        </p:nvSpPr>
        <p:spPr>
          <a:xfrm>
            <a:off x="3086100" y="307669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8" name="Text 65"/>
          <p:cNvSpPr/>
          <p:nvPr/>
        </p:nvSpPr>
        <p:spPr>
          <a:xfrm>
            <a:off x="3286125" y="3075803"/>
            <a:ext cx="51209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필터 및 검색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3086100" y="3263326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Event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3614738" y="3263326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onChange -&gt; API Refetch with params</a:t>
            </a:r>
            <a:endParaRPr lang="en-US" sz="621" dirty="0"/>
          </a:p>
        </p:txBody>
      </p:sp>
      <p:sp>
        <p:nvSpPr>
          <p:cNvPr id="71" name="Text 68"/>
          <p:cNvSpPr/>
          <p:nvPr/>
        </p:nvSpPr>
        <p:spPr>
          <a:xfrm>
            <a:off x="3086100" y="3407987"/>
            <a:ext cx="5000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Params</a:t>
            </a:r>
            <a:endParaRPr lang="en-US" sz="584" dirty="0"/>
          </a:p>
        </p:txBody>
      </p:sp>
      <p:sp>
        <p:nvSpPr>
          <p:cNvPr id="72" name="Text 69"/>
          <p:cNvSpPr/>
          <p:nvPr/>
        </p:nvSpPr>
        <p:spPr>
          <a:xfrm>
            <a:off x="3614738" y="3407987"/>
            <a:ext cx="2586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?teamId={id}&amp;status={NORMAL|LATE}</a:t>
            </a:r>
            <a:endParaRPr lang="en-US" sz="621" dirty="0"/>
          </a:p>
        </p:txBody>
      </p:sp>
      <p:sp>
        <p:nvSpPr>
          <p:cNvPr id="73" name="Shape 70"/>
          <p:cNvSpPr/>
          <p:nvPr/>
        </p:nvSpPr>
        <p:spPr>
          <a:xfrm>
            <a:off x="3000375" y="3695523"/>
            <a:ext cx="3286125" cy="64115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000375" y="3695523"/>
            <a:ext cx="28575" cy="641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5" name="Shape 72"/>
          <p:cNvSpPr/>
          <p:nvPr/>
        </p:nvSpPr>
        <p:spPr>
          <a:xfrm>
            <a:off x="3086100" y="37821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6" name="Text 73"/>
          <p:cNvSpPr/>
          <p:nvPr/>
        </p:nvSpPr>
        <p:spPr>
          <a:xfrm>
            <a:off x="3086100" y="378214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77" name="Text 74"/>
          <p:cNvSpPr/>
          <p:nvPr/>
        </p:nvSpPr>
        <p:spPr>
          <a:xfrm>
            <a:off x="3286125" y="3781248"/>
            <a:ext cx="6688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2E8F0"/>
                </a:solidFill>
              </a:rPr>
              <a:t>상세 보기 (터치)</a:t>
            </a:r>
            <a:endParaRPr lang="en-US" sz="683" dirty="0"/>
          </a:p>
        </p:txBody>
      </p:sp>
      <p:sp>
        <p:nvSpPr>
          <p:cNvPr id="78" name="Text 75"/>
          <p:cNvSpPr/>
          <p:nvPr/>
        </p:nvSpPr>
        <p:spPr>
          <a:xfrm>
            <a:off x="3086100" y="3968772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Action</a:t>
            </a:r>
            <a:endParaRPr lang="en-US" sz="584" dirty="0"/>
          </a:p>
        </p:txBody>
      </p:sp>
      <p:sp>
        <p:nvSpPr>
          <p:cNvPr id="79" name="Text 76"/>
          <p:cNvSpPr/>
          <p:nvPr/>
        </p:nvSpPr>
        <p:spPr>
          <a:xfrm>
            <a:off x="3614738" y="3968772"/>
            <a:ext cx="2586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Open BottomSheet (촬영 사진, 위치 지도 표시)</a:t>
            </a:r>
            <a:endParaRPr lang="en-US" sz="621" dirty="0"/>
          </a:p>
        </p:txBody>
      </p:sp>
      <p:sp>
        <p:nvSpPr>
          <p:cNvPr id="80" name="Text 77"/>
          <p:cNvSpPr/>
          <p:nvPr/>
        </p:nvSpPr>
        <p:spPr>
          <a:xfrm>
            <a:off x="3086100" y="4124148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Secure</a:t>
            </a:r>
            <a:endParaRPr lang="en-US" sz="584" dirty="0"/>
          </a:p>
        </p:txBody>
      </p:sp>
      <p:sp>
        <p:nvSpPr>
          <p:cNvPr id="81" name="Text 78"/>
          <p:cNvSpPr/>
          <p:nvPr/>
        </p:nvSpPr>
        <p:spPr>
          <a:xfrm>
            <a:off x="3614738" y="4124148"/>
            <a:ext cx="25860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이미지 URL은 Presigned URL (5분 만료) 사용</a:t>
            </a:r>
            <a:endParaRPr lang="en-US" sz="621" dirty="0"/>
          </a:p>
        </p:txBody>
      </p:sp>
      <p:pic>
        <p:nvPicPr>
          <p:cNvPr id="8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579394" y="1275578"/>
            <a:ext cx="1368754" cy="155377"/>
          </a:xfrm>
          <a:prstGeom prst="rect">
            <a:avLst/>
          </a:prstGeom>
        </p:spPr>
      </p:pic>
      <p:sp>
        <p:nvSpPr>
          <p:cNvPr id="83" name="Shape 79"/>
          <p:cNvSpPr/>
          <p:nvPr/>
        </p:nvSpPr>
        <p:spPr>
          <a:xfrm>
            <a:off x="6579394" y="4577776"/>
            <a:ext cx="2271713" cy="269677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84" name="Text 80"/>
          <p:cNvSpPr/>
          <p:nvPr/>
        </p:nvSpPr>
        <p:spPr>
          <a:xfrm>
            <a:off x="6579394" y="4577776"/>
            <a:ext cx="2271713" cy="26967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FaceNet 기반 안면인식 및 출역 태깅</a:t>
            </a:r>
            <a:endParaRPr lang="en-US" sz="62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출역 승인 및 거부 (Approval)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미승인 출역 목록 조회 및 일괄 승인/거부 처리 프로세스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400300" cy="38290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286000" cy="371475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268434"/>
            <a:ext cx="2286000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397022"/>
            <a:ext cx="87511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4586" y="1374697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출역 관리</a:t>
            </a:r>
            <a:endParaRPr lang="en-US" sz="68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30" y="1397022"/>
            <a:ext cx="87511" cy="100013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8625" y="1625622"/>
            <a:ext cx="2286000" cy="292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7"/>
          <p:cNvSpPr/>
          <p:nvPr/>
        </p:nvSpPr>
        <p:spPr>
          <a:xfrm>
            <a:off x="428625" y="1911372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8"/>
          <p:cNvSpPr/>
          <p:nvPr/>
        </p:nvSpPr>
        <p:spPr>
          <a:xfrm>
            <a:off x="428625" y="1625622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승인 대기 (3)</a:t>
            </a:r>
            <a:endParaRPr lang="en-US" sz="584" dirty="0"/>
          </a:p>
        </p:txBody>
      </p:sp>
      <p:sp>
        <p:nvSpPr>
          <p:cNvPr id="14" name="Text 9"/>
          <p:cNvSpPr/>
          <p:nvPr/>
        </p:nvSpPr>
        <p:spPr>
          <a:xfrm>
            <a:off x="1571625" y="1625622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승인 완료</a:t>
            </a:r>
            <a:endParaRPr lang="en-US" sz="621" dirty="0"/>
          </a:p>
        </p:txBody>
      </p:sp>
      <p:sp>
        <p:nvSpPr>
          <p:cNvPr id="15" name="Text 10"/>
          <p:cNvSpPr/>
          <p:nvPr/>
        </p:nvSpPr>
        <p:spPr>
          <a:xfrm>
            <a:off x="642938" y="2007812"/>
            <a:ext cx="3600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전체 선택</a:t>
            </a:r>
            <a:endParaRPr lang="en-US" sz="621" dirty="0"/>
          </a:p>
        </p:txBody>
      </p:sp>
      <p:sp>
        <p:nvSpPr>
          <p:cNvPr id="16" name="Shape 11"/>
          <p:cNvSpPr/>
          <p:nvPr/>
        </p:nvSpPr>
        <p:spPr>
          <a:xfrm>
            <a:off x="1000125" y="123271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2"/>
          <p:cNvSpPr/>
          <p:nvPr/>
        </p:nvSpPr>
        <p:spPr>
          <a:xfrm>
            <a:off x="1000125" y="123271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500063" y="2195336"/>
            <a:ext cx="2143125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00100" y="2281061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34" y="2373930"/>
            <a:ext cx="62508" cy="714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28713" y="2284633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 (목공)</a:t>
            </a:r>
            <a:endParaRPr lang="en-US" sz="634" dirty="0"/>
          </a:p>
        </p:txBody>
      </p:sp>
      <p:sp>
        <p:nvSpPr>
          <p:cNvPr id="22" name="Text 16"/>
          <p:cNvSpPr/>
          <p:nvPr/>
        </p:nvSpPr>
        <p:spPr>
          <a:xfrm>
            <a:off x="1128713" y="2420364"/>
            <a:ext cx="1428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06:55 출근 | A팀</a:t>
            </a:r>
            <a:endParaRPr lang="en-US" sz="568" dirty="0"/>
          </a:p>
        </p:txBody>
      </p:sp>
      <p:sp>
        <p:nvSpPr>
          <p:cNvPr id="23" name="Shape 17"/>
          <p:cNvSpPr/>
          <p:nvPr/>
        </p:nvSpPr>
        <p:spPr>
          <a:xfrm>
            <a:off x="500063" y="2695398"/>
            <a:ext cx="2143125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800100" y="2781123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34" y="2873992"/>
            <a:ext cx="62508" cy="714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28713" y="2784695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이영희 (철근)</a:t>
            </a:r>
            <a:endParaRPr lang="en-US" sz="634" dirty="0"/>
          </a:p>
        </p:txBody>
      </p:sp>
      <p:sp>
        <p:nvSpPr>
          <p:cNvPr id="27" name="Text 20"/>
          <p:cNvSpPr/>
          <p:nvPr/>
        </p:nvSpPr>
        <p:spPr>
          <a:xfrm>
            <a:off x="1128713" y="2920426"/>
            <a:ext cx="1428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06:58 출근 | B팀</a:t>
            </a:r>
            <a:endParaRPr lang="en-US" sz="568" dirty="0"/>
          </a:p>
        </p:txBody>
      </p:sp>
      <p:sp>
        <p:nvSpPr>
          <p:cNvPr id="28" name="Shape 21"/>
          <p:cNvSpPr/>
          <p:nvPr/>
        </p:nvSpPr>
        <p:spPr>
          <a:xfrm>
            <a:off x="500063" y="3195461"/>
            <a:ext cx="2143125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2"/>
          <p:cNvSpPr/>
          <p:nvPr/>
        </p:nvSpPr>
        <p:spPr>
          <a:xfrm>
            <a:off x="800100" y="3281186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34" y="3374055"/>
            <a:ext cx="62508" cy="714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28713" y="3284758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박민수 (전기)</a:t>
            </a:r>
            <a:endParaRPr lang="en-US" sz="634" dirty="0"/>
          </a:p>
        </p:txBody>
      </p:sp>
      <p:sp>
        <p:nvSpPr>
          <p:cNvPr id="32" name="Text 24"/>
          <p:cNvSpPr/>
          <p:nvPr/>
        </p:nvSpPr>
        <p:spPr>
          <a:xfrm>
            <a:off x="1128713" y="3420489"/>
            <a:ext cx="14287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07:01 지각 | A팀</a:t>
            </a:r>
            <a:endParaRPr lang="en-US" sz="568" dirty="0"/>
          </a:p>
        </p:txBody>
      </p:sp>
      <p:sp>
        <p:nvSpPr>
          <p:cNvPr id="33" name="Shape 25"/>
          <p:cNvSpPr/>
          <p:nvPr/>
        </p:nvSpPr>
        <p:spPr>
          <a:xfrm>
            <a:off x="1571625" y="275433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6"/>
          <p:cNvSpPr/>
          <p:nvPr/>
        </p:nvSpPr>
        <p:spPr>
          <a:xfrm>
            <a:off x="1571625" y="27543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35" name="Shape 27"/>
          <p:cNvSpPr/>
          <p:nvPr/>
        </p:nvSpPr>
        <p:spPr>
          <a:xfrm>
            <a:off x="428625" y="4404540"/>
            <a:ext cx="2286000" cy="5786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8"/>
          <p:cNvSpPr/>
          <p:nvPr/>
        </p:nvSpPr>
        <p:spPr>
          <a:xfrm>
            <a:off x="428625" y="4404540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29"/>
          <p:cNvSpPr/>
          <p:nvPr/>
        </p:nvSpPr>
        <p:spPr>
          <a:xfrm>
            <a:off x="500063" y="4483122"/>
            <a:ext cx="1035844" cy="428625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8" name="Text 30"/>
          <p:cNvSpPr/>
          <p:nvPr/>
        </p:nvSpPr>
        <p:spPr>
          <a:xfrm>
            <a:off x="500063" y="4483122"/>
            <a:ext cx="1035844" cy="428625"/>
          </a:xfrm>
          <a:prstGeom prst="rect">
            <a:avLst/>
          </a:prstGeom>
          <a:noFill/>
          <a:ln/>
        </p:spPr>
        <p:txBody>
          <a:bodyPr wrap="squar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F4444"/>
                </a:solidFill>
              </a:rPr>
              <a:t>거부 (0)</a:t>
            </a:r>
            <a:endParaRPr lang="en-US" sz="634" dirty="0"/>
          </a:p>
        </p:txBody>
      </p:sp>
      <p:sp>
        <p:nvSpPr>
          <p:cNvPr id="39" name="Shape 31"/>
          <p:cNvSpPr/>
          <p:nvPr/>
        </p:nvSpPr>
        <p:spPr>
          <a:xfrm>
            <a:off x="885825" y="452598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2"/>
          <p:cNvSpPr/>
          <p:nvPr/>
        </p:nvSpPr>
        <p:spPr>
          <a:xfrm>
            <a:off x="885825" y="452598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41" name="Shape 33"/>
          <p:cNvSpPr/>
          <p:nvPr/>
        </p:nvSpPr>
        <p:spPr>
          <a:xfrm>
            <a:off x="1607344" y="4483122"/>
            <a:ext cx="1035844" cy="4286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34"/>
          <p:cNvSpPr/>
          <p:nvPr/>
        </p:nvSpPr>
        <p:spPr>
          <a:xfrm>
            <a:off x="1607344" y="4483122"/>
            <a:ext cx="1035844" cy="428625"/>
          </a:xfrm>
          <a:prstGeom prst="rect">
            <a:avLst/>
          </a:prstGeom>
          <a:noFill/>
          <a:ln/>
        </p:spPr>
        <p:txBody>
          <a:bodyPr wrap="squar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승인 (3)</a:t>
            </a:r>
            <a:endParaRPr lang="en-US" sz="634" dirty="0"/>
          </a:p>
        </p:txBody>
      </p:sp>
      <p:sp>
        <p:nvSpPr>
          <p:cNvPr id="43" name="Shape 35"/>
          <p:cNvSpPr/>
          <p:nvPr/>
        </p:nvSpPr>
        <p:spPr>
          <a:xfrm>
            <a:off x="2085975" y="452598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36"/>
          <p:cNvSpPr/>
          <p:nvPr/>
        </p:nvSpPr>
        <p:spPr>
          <a:xfrm>
            <a:off x="2085975" y="452598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5" name="Shape 37"/>
          <p:cNvSpPr/>
          <p:nvPr/>
        </p:nvSpPr>
        <p:spPr>
          <a:xfrm>
            <a:off x="3143250" y="1268434"/>
            <a:ext cx="5572125" cy="89654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6" name="Shape 38"/>
          <p:cNvSpPr/>
          <p:nvPr/>
        </p:nvSpPr>
        <p:spPr>
          <a:xfrm>
            <a:off x="3143250" y="1268434"/>
            <a:ext cx="28575" cy="89654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39"/>
          <p:cNvSpPr/>
          <p:nvPr/>
        </p:nvSpPr>
        <p:spPr>
          <a:xfrm>
            <a:off x="3250406" y="13818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8" name="Text 40"/>
          <p:cNvSpPr/>
          <p:nvPr/>
        </p:nvSpPr>
        <p:spPr>
          <a:xfrm>
            <a:off x="3250406" y="138184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9" name="Text 41"/>
          <p:cNvSpPr/>
          <p:nvPr/>
        </p:nvSpPr>
        <p:spPr>
          <a:xfrm>
            <a:off x="3464719" y="1375590"/>
            <a:ext cx="9708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미승인 출역 목록 조회</a:t>
            </a:r>
            <a:endParaRPr lang="en-US" sz="734" dirty="0"/>
          </a:p>
        </p:txBody>
      </p:sp>
      <p:sp>
        <p:nvSpPr>
          <p:cNvPr id="50" name="Text 42"/>
          <p:cNvSpPr/>
          <p:nvPr/>
        </p:nvSpPr>
        <p:spPr>
          <a:xfrm>
            <a:off x="3250406" y="1588117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51" name="Text 43"/>
          <p:cNvSpPr/>
          <p:nvPr/>
        </p:nvSpPr>
        <p:spPr>
          <a:xfrm>
            <a:off x="3857625" y="1588117"/>
            <a:ext cx="47505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/api/v1/attendance/daily?status=PENDING</a:t>
            </a:r>
            <a:endParaRPr lang="en-US" sz="674" dirty="0"/>
          </a:p>
        </p:txBody>
      </p:sp>
      <p:sp>
        <p:nvSpPr>
          <p:cNvPr id="52" name="Text 44"/>
          <p:cNvSpPr/>
          <p:nvPr/>
        </p:nvSpPr>
        <p:spPr>
          <a:xfrm>
            <a:off x="3250406" y="1750637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53" name="Text 45"/>
          <p:cNvSpPr/>
          <p:nvPr/>
        </p:nvSpPr>
        <p:spPr>
          <a:xfrm>
            <a:off x="3857625" y="1750637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현장 관리자의 siteId 기준 조회, 날짜 필터링</a:t>
            </a:r>
            <a:endParaRPr lang="en-US" sz="674" dirty="0"/>
          </a:p>
        </p:txBody>
      </p:sp>
      <p:sp>
        <p:nvSpPr>
          <p:cNvPr id="54" name="Text 46"/>
          <p:cNvSpPr/>
          <p:nvPr/>
        </p:nvSpPr>
        <p:spPr>
          <a:xfrm>
            <a:off x="3250406" y="1922087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UI</a:t>
            </a:r>
            <a:endParaRPr lang="en-US" sz="634" dirty="0"/>
          </a:p>
        </p:txBody>
      </p:sp>
      <p:sp>
        <p:nvSpPr>
          <p:cNvPr id="55" name="Text 47"/>
          <p:cNvSpPr/>
          <p:nvPr/>
        </p:nvSpPr>
        <p:spPr>
          <a:xfrm>
            <a:off x="3857625" y="1922087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Pull-to-Refresh로 목록 갱신</a:t>
            </a:r>
            <a:endParaRPr lang="en-US" sz="674" dirty="0"/>
          </a:p>
        </p:txBody>
      </p:sp>
      <p:sp>
        <p:nvSpPr>
          <p:cNvPr id="56" name="Shape 48"/>
          <p:cNvSpPr/>
          <p:nvPr/>
        </p:nvSpPr>
        <p:spPr>
          <a:xfrm>
            <a:off x="3143250" y="2272131"/>
            <a:ext cx="5572125" cy="72509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7" name="Shape 49"/>
          <p:cNvSpPr/>
          <p:nvPr/>
        </p:nvSpPr>
        <p:spPr>
          <a:xfrm>
            <a:off x="3143250" y="2272131"/>
            <a:ext cx="28575" cy="725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8" name="Shape 50"/>
          <p:cNvSpPr/>
          <p:nvPr/>
        </p:nvSpPr>
        <p:spPr>
          <a:xfrm>
            <a:off x="3250406" y="238553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1"/>
          <p:cNvSpPr/>
          <p:nvPr/>
        </p:nvSpPr>
        <p:spPr>
          <a:xfrm>
            <a:off x="3250406" y="238553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60" name="Text 52"/>
          <p:cNvSpPr/>
          <p:nvPr/>
        </p:nvSpPr>
        <p:spPr>
          <a:xfrm>
            <a:off x="3464719" y="2379287"/>
            <a:ext cx="844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전체 선택 체크박스</a:t>
            </a:r>
            <a:endParaRPr lang="en-US" sz="734" dirty="0"/>
          </a:p>
        </p:txBody>
      </p:sp>
      <p:sp>
        <p:nvSpPr>
          <p:cNvPr id="61" name="Text 53"/>
          <p:cNvSpPr/>
          <p:nvPr/>
        </p:nvSpPr>
        <p:spPr>
          <a:xfrm>
            <a:off x="3250406" y="2591814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State</a:t>
            </a:r>
            <a:endParaRPr lang="en-US" sz="634" dirty="0"/>
          </a:p>
        </p:txBody>
      </p:sp>
      <p:sp>
        <p:nvSpPr>
          <p:cNvPr id="62" name="Text 54"/>
          <p:cNvSpPr/>
          <p:nvPr/>
        </p:nvSpPr>
        <p:spPr>
          <a:xfrm>
            <a:off x="3857625" y="2591814"/>
            <a:ext cx="47505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const [selectedIds, setSelectedIds] = useState([])</a:t>
            </a:r>
            <a:endParaRPr lang="en-US" sz="674" dirty="0"/>
          </a:p>
        </p:txBody>
      </p:sp>
      <p:sp>
        <p:nvSpPr>
          <p:cNvPr id="63" name="Text 55"/>
          <p:cNvSpPr/>
          <p:nvPr/>
        </p:nvSpPr>
        <p:spPr>
          <a:xfrm>
            <a:off x="3250406" y="2754334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64" name="Text 56"/>
          <p:cNvSpPr/>
          <p:nvPr/>
        </p:nvSpPr>
        <p:spPr>
          <a:xfrm>
            <a:off x="3857625" y="2754334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전체 목록 ID와 선택된 ID 배열 비교하여 Toggle</a:t>
            </a:r>
            <a:endParaRPr lang="en-US" sz="674" dirty="0"/>
          </a:p>
        </p:txBody>
      </p:sp>
      <p:sp>
        <p:nvSpPr>
          <p:cNvPr id="65" name="Shape 57"/>
          <p:cNvSpPr/>
          <p:nvPr/>
        </p:nvSpPr>
        <p:spPr>
          <a:xfrm>
            <a:off x="3143250" y="3104378"/>
            <a:ext cx="5572125" cy="88761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6" name="Shape 58"/>
          <p:cNvSpPr/>
          <p:nvPr/>
        </p:nvSpPr>
        <p:spPr>
          <a:xfrm>
            <a:off x="3143250" y="3104378"/>
            <a:ext cx="28575" cy="8876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Shape 59"/>
          <p:cNvSpPr/>
          <p:nvPr/>
        </p:nvSpPr>
        <p:spPr>
          <a:xfrm>
            <a:off x="3250406" y="321778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0"/>
          <p:cNvSpPr/>
          <p:nvPr/>
        </p:nvSpPr>
        <p:spPr>
          <a:xfrm>
            <a:off x="3250406" y="321778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69" name="Text 61"/>
          <p:cNvSpPr/>
          <p:nvPr/>
        </p:nvSpPr>
        <p:spPr>
          <a:xfrm>
            <a:off x="3464719" y="3211534"/>
            <a:ext cx="6472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일괄 승인 버튼</a:t>
            </a:r>
            <a:endParaRPr lang="en-US" sz="734" dirty="0"/>
          </a:p>
        </p:txBody>
      </p:sp>
      <p:sp>
        <p:nvSpPr>
          <p:cNvPr id="70" name="Text 62"/>
          <p:cNvSpPr/>
          <p:nvPr/>
        </p:nvSpPr>
        <p:spPr>
          <a:xfrm>
            <a:off x="3250406" y="3424061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71" name="Text 63"/>
          <p:cNvSpPr/>
          <p:nvPr/>
        </p:nvSpPr>
        <p:spPr>
          <a:xfrm>
            <a:off x="3857625" y="3424061"/>
            <a:ext cx="47505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/api/v1/attendance/approve</a:t>
            </a:r>
            <a:endParaRPr lang="en-US" sz="674" dirty="0"/>
          </a:p>
        </p:txBody>
      </p:sp>
      <p:sp>
        <p:nvSpPr>
          <p:cNvPr id="72" name="Text 64"/>
          <p:cNvSpPr/>
          <p:nvPr/>
        </p:nvSpPr>
        <p:spPr>
          <a:xfrm>
            <a:off x="3250406" y="3586581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73" name="Text 65"/>
          <p:cNvSpPr/>
          <p:nvPr/>
        </p:nvSpPr>
        <p:spPr>
          <a:xfrm>
            <a:off x="3857625" y="3586581"/>
            <a:ext cx="47505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"attendanceIds": [101, 102, 103] }</a:t>
            </a:r>
            <a:endParaRPr lang="en-US" sz="674" dirty="0"/>
          </a:p>
        </p:txBody>
      </p:sp>
      <p:sp>
        <p:nvSpPr>
          <p:cNvPr id="74" name="Text 66"/>
          <p:cNvSpPr/>
          <p:nvPr/>
        </p:nvSpPr>
        <p:spPr>
          <a:xfrm>
            <a:off x="3250406" y="3749101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Post-Op</a:t>
            </a:r>
            <a:endParaRPr lang="en-US" sz="634" dirty="0"/>
          </a:p>
        </p:txBody>
      </p:sp>
      <p:sp>
        <p:nvSpPr>
          <p:cNvPr id="75" name="Text 67"/>
          <p:cNvSpPr/>
          <p:nvPr/>
        </p:nvSpPr>
        <p:spPr>
          <a:xfrm>
            <a:off x="3857625" y="3749101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성공 시 목록에서 제거 및 Toast 메시지 표시</a:t>
            </a:r>
            <a:endParaRPr lang="en-US" sz="674" dirty="0"/>
          </a:p>
        </p:txBody>
      </p:sp>
      <p:sp>
        <p:nvSpPr>
          <p:cNvPr id="76" name="Shape 68"/>
          <p:cNvSpPr/>
          <p:nvPr/>
        </p:nvSpPr>
        <p:spPr>
          <a:xfrm>
            <a:off x="3143250" y="4099145"/>
            <a:ext cx="5572125" cy="89654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7" name="Shape 69"/>
          <p:cNvSpPr/>
          <p:nvPr/>
        </p:nvSpPr>
        <p:spPr>
          <a:xfrm>
            <a:off x="3143250" y="4099145"/>
            <a:ext cx="28575" cy="89654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8" name="Shape 70"/>
          <p:cNvSpPr/>
          <p:nvPr/>
        </p:nvSpPr>
        <p:spPr>
          <a:xfrm>
            <a:off x="3250406" y="421255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1"/>
          <p:cNvSpPr/>
          <p:nvPr/>
        </p:nvSpPr>
        <p:spPr>
          <a:xfrm>
            <a:off x="3250406" y="421255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80" name="Text 72"/>
          <p:cNvSpPr/>
          <p:nvPr/>
        </p:nvSpPr>
        <p:spPr>
          <a:xfrm>
            <a:off x="3464719" y="4206301"/>
            <a:ext cx="4222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거부 버튼</a:t>
            </a:r>
            <a:endParaRPr lang="en-US" sz="734" dirty="0"/>
          </a:p>
        </p:txBody>
      </p:sp>
      <p:sp>
        <p:nvSpPr>
          <p:cNvPr id="81" name="Text 73"/>
          <p:cNvSpPr/>
          <p:nvPr/>
        </p:nvSpPr>
        <p:spPr>
          <a:xfrm>
            <a:off x="3250406" y="4418828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Event</a:t>
            </a:r>
            <a:endParaRPr lang="en-US" sz="634" dirty="0"/>
          </a:p>
        </p:txBody>
      </p:sp>
      <p:sp>
        <p:nvSpPr>
          <p:cNvPr id="82" name="Text 74"/>
          <p:cNvSpPr/>
          <p:nvPr/>
        </p:nvSpPr>
        <p:spPr>
          <a:xfrm>
            <a:off x="3857625" y="4418828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onClick -&gt; 거부 사유 입력 Modal 오픈</a:t>
            </a:r>
            <a:endParaRPr lang="en-US" sz="674" dirty="0"/>
          </a:p>
        </p:txBody>
      </p:sp>
      <p:sp>
        <p:nvSpPr>
          <p:cNvPr id="83" name="Text 75"/>
          <p:cNvSpPr/>
          <p:nvPr/>
        </p:nvSpPr>
        <p:spPr>
          <a:xfrm>
            <a:off x="3250406" y="4590278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84" name="Text 76"/>
          <p:cNvSpPr/>
          <p:nvPr/>
        </p:nvSpPr>
        <p:spPr>
          <a:xfrm>
            <a:off x="3857625" y="4590278"/>
            <a:ext cx="475059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/api/v1/attendance/reject</a:t>
            </a:r>
            <a:endParaRPr lang="en-US" sz="674" dirty="0"/>
          </a:p>
        </p:txBody>
      </p:sp>
      <p:sp>
        <p:nvSpPr>
          <p:cNvPr id="85" name="Text 77"/>
          <p:cNvSpPr/>
          <p:nvPr/>
        </p:nvSpPr>
        <p:spPr>
          <a:xfrm>
            <a:off x="3250406" y="4752798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86" name="Text 78"/>
          <p:cNvSpPr/>
          <p:nvPr/>
        </p:nvSpPr>
        <p:spPr>
          <a:xfrm>
            <a:off x="3857625" y="4752798"/>
            <a:ext cx="4750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"ids": [...], "reason": "현장 미도착" }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[현장] 팀 편성 및 관리 (Team Management)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Drag &amp; Drop 기반 팀원 배치 및 실시간 상태 관리 UI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5143500" cy="38576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411309"/>
            <a:ext cx="1585913" cy="35718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42938" y="1482747"/>
            <a:ext cx="42407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미배정 (5)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5472113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472113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642938" y="1734564"/>
            <a:ext cx="1428750" cy="3732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8"/>
          <p:cNvSpPr/>
          <p:nvPr/>
        </p:nvSpPr>
        <p:spPr>
          <a:xfrm>
            <a:off x="714375" y="1814038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77" y="1885476"/>
            <a:ext cx="62508" cy="714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0125" y="1806001"/>
            <a:ext cx="10001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김철수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1000125" y="1932803"/>
            <a:ext cx="1000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목공</a:t>
            </a:r>
            <a:endParaRPr lang="en-US" sz="516" dirty="0"/>
          </a:p>
        </p:txBody>
      </p:sp>
      <p:sp>
        <p:nvSpPr>
          <p:cNvPr id="15" name="Shape 11"/>
          <p:cNvSpPr/>
          <p:nvPr/>
        </p:nvSpPr>
        <p:spPr>
          <a:xfrm>
            <a:off x="642938" y="2179262"/>
            <a:ext cx="1428750" cy="387548"/>
          </a:xfrm>
          <a:prstGeom prst="rect">
            <a:avLst/>
          </a:prstGeom>
          <a:solidFill>
            <a:srgbClr val="334155">
              <a:alpha val="50000"/>
            </a:srgbClr>
          </a:solidFill>
          <a:ln w="9144">
            <a:solidFill>
              <a:srgbClr val="64748B">
                <a:alpha val="50000"/>
              </a:srgbClr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714375" y="2258737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77" y="2330174"/>
            <a:ext cx="62508" cy="714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0125" y="2250700"/>
            <a:ext cx="10001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이영희</a:t>
            </a:r>
            <a:endParaRPr lang="en-US" sz="584" dirty="0"/>
          </a:p>
        </p:txBody>
      </p:sp>
      <p:sp>
        <p:nvSpPr>
          <p:cNvPr id="19" name="Text 14"/>
          <p:cNvSpPr/>
          <p:nvPr/>
        </p:nvSpPr>
        <p:spPr>
          <a:xfrm>
            <a:off x="1000125" y="2377501"/>
            <a:ext cx="1000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철근</a:t>
            </a:r>
            <a:endParaRPr lang="en-US" sz="516" dirty="0"/>
          </a:p>
        </p:txBody>
      </p:sp>
      <p:sp>
        <p:nvSpPr>
          <p:cNvPr id="20" name="Shape 15"/>
          <p:cNvSpPr/>
          <p:nvPr/>
        </p:nvSpPr>
        <p:spPr>
          <a:xfrm>
            <a:off x="642938" y="2623961"/>
            <a:ext cx="1428750" cy="3732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714375" y="2703435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277" y="2774872"/>
            <a:ext cx="62508" cy="714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0125" y="2695398"/>
            <a:ext cx="10001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박민수</a:t>
            </a:r>
            <a:endParaRPr lang="en-US" sz="584" dirty="0"/>
          </a:p>
        </p:txBody>
      </p:sp>
      <p:sp>
        <p:nvSpPr>
          <p:cNvPr id="24" name="Text 18"/>
          <p:cNvSpPr/>
          <p:nvPr/>
        </p:nvSpPr>
        <p:spPr>
          <a:xfrm>
            <a:off x="1000125" y="2822200"/>
            <a:ext cx="1000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전기</a:t>
            </a:r>
            <a:endParaRPr lang="en-US" sz="516" dirty="0"/>
          </a:p>
        </p:txBody>
      </p:sp>
      <p:sp>
        <p:nvSpPr>
          <p:cNvPr id="25" name="Shape 19"/>
          <p:cNvSpPr/>
          <p:nvPr/>
        </p:nvSpPr>
        <p:spPr>
          <a:xfrm rot="180000">
            <a:off x="2221706" y="2632890"/>
            <a:ext cx="1285875" cy="230386"/>
          </a:xfrm>
          <a:prstGeom prst="rect">
            <a:avLst/>
          </a:prstGeom>
          <a:solidFill>
            <a:srgbClr val="475569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 rot="180000">
            <a:off x="2215297" y="2605743"/>
            <a:ext cx="214312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2291199" y="2677180"/>
            <a:ext cx="62508" cy="714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 rot="180000">
            <a:off x="2502827" y="2633295"/>
            <a:ext cx="10001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이영희</a:t>
            </a:r>
            <a:endParaRPr lang="en-US" sz="584" dirty="0"/>
          </a:p>
        </p:txBody>
      </p:sp>
      <p:sp>
        <p:nvSpPr>
          <p:cNvPr id="29" name="Text 22"/>
          <p:cNvSpPr/>
          <p:nvPr/>
        </p:nvSpPr>
        <p:spPr>
          <a:xfrm rot="180000">
            <a:off x="2496799" y="2759939"/>
            <a:ext cx="10001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철근</a:t>
            </a:r>
            <a:endParaRPr lang="en-US" sz="516" dirty="0"/>
          </a:p>
        </p:txBody>
      </p:sp>
      <p:sp>
        <p:nvSpPr>
          <p:cNvPr id="30" name="Shape 23"/>
          <p:cNvSpPr/>
          <p:nvPr/>
        </p:nvSpPr>
        <p:spPr>
          <a:xfrm rot="180000">
            <a:off x="3479923" y="251974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4"/>
          <p:cNvSpPr/>
          <p:nvPr/>
        </p:nvSpPr>
        <p:spPr>
          <a:xfrm rot="180000">
            <a:off x="3479923" y="25197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2" name="Shape 25"/>
          <p:cNvSpPr/>
          <p:nvPr/>
        </p:nvSpPr>
        <p:spPr>
          <a:xfrm>
            <a:off x="2286000" y="1411309"/>
            <a:ext cx="1518047" cy="357187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2357438" y="1482747"/>
            <a:ext cx="4339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A팀 (골조)</a:t>
            </a:r>
            <a:endParaRPr lang="en-US" sz="683" dirty="0"/>
          </a:p>
        </p:txBody>
      </p:sp>
      <p:sp>
        <p:nvSpPr>
          <p:cNvPr id="34" name="Shape 27"/>
          <p:cNvSpPr/>
          <p:nvPr/>
        </p:nvSpPr>
        <p:spPr>
          <a:xfrm>
            <a:off x="5472113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28"/>
          <p:cNvSpPr/>
          <p:nvPr/>
        </p:nvSpPr>
        <p:spPr>
          <a:xfrm>
            <a:off x="5472113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6" name="Shape 29"/>
          <p:cNvSpPr/>
          <p:nvPr/>
        </p:nvSpPr>
        <p:spPr>
          <a:xfrm>
            <a:off x="2357438" y="1763139"/>
            <a:ext cx="1375172" cy="3732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Shape 30"/>
          <p:cNvSpPr/>
          <p:nvPr/>
        </p:nvSpPr>
        <p:spPr>
          <a:xfrm>
            <a:off x="2428875" y="1842613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4777" y="1914051"/>
            <a:ext cx="62508" cy="7143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714625" y="1834576"/>
            <a:ext cx="9465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최반장</a:t>
            </a:r>
            <a:endParaRPr lang="en-US" sz="584" dirty="0"/>
          </a:p>
        </p:txBody>
      </p:sp>
      <p:sp>
        <p:nvSpPr>
          <p:cNvPr id="40" name="Text 32"/>
          <p:cNvSpPr/>
          <p:nvPr/>
        </p:nvSpPr>
        <p:spPr>
          <a:xfrm>
            <a:off x="2714625" y="1961378"/>
            <a:ext cx="9465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팀장</a:t>
            </a:r>
            <a:endParaRPr lang="en-US" sz="516" dirty="0"/>
          </a:p>
        </p:txBody>
      </p:sp>
      <p:sp>
        <p:nvSpPr>
          <p:cNvPr id="41" name="Shape 33"/>
          <p:cNvSpPr/>
          <p:nvPr/>
        </p:nvSpPr>
        <p:spPr>
          <a:xfrm>
            <a:off x="2357438" y="2207837"/>
            <a:ext cx="1375172" cy="3732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34"/>
          <p:cNvSpPr/>
          <p:nvPr/>
        </p:nvSpPr>
        <p:spPr>
          <a:xfrm>
            <a:off x="2428875" y="2287312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4777" y="2358749"/>
            <a:ext cx="62508" cy="7143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714625" y="2279275"/>
            <a:ext cx="9465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정수철</a:t>
            </a:r>
            <a:endParaRPr lang="en-US" sz="584" dirty="0"/>
          </a:p>
        </p:txBody>
      </p:sp>
      <p:sp>
        <p:nvSpPr>
          <p:cNvPr id="45" name="Text 36"/>
          <p:cNvSpPr/>
          <p:nvPr/>
        </p:nvSpPr>
        <p:spPr>
          <a:xfrm>
            <a:off x="2714625" y="2406076"/>
            <a:ext cx="9465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팀원</a:t>
            </a:r>
            <a:endParaRPr lang="en-US" sz="516" dirty="0"/>
          </a:p>
        </p:txBody>
      </p:sp>
      <p:sp>
        <p:nvSpPr>
          <p:cNvPr id="46" name="Shape 37"/>
          <p:cNvSpPr/>
          <p:nvPr/>
        </p:nvSpPr>
        <p:spPr>
          <a:xfrm>
            <a:off x="3911203" y="1411309"/>
            <a:ext cx="1518047" cy="357187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82641" y="1482747"/>
            <a:ext cx="1375172" cy="20895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B팀 (전기)</a:t>
            </a:r>
            <a:endParaRPr lang="en-US" sz="683" dirty="0"/>
          </a:p>
        </p:txBody>
      </p:sp>
      <p:sp>
        <p:nvSpPr>
          <p:cNvPr id="48" name="Shape 39"/>
          <p:cNvSpPr/>
          <p:nvPr/>
        </p:nvSpPr>
        <p:spPr>
          <a:xfrm>
            <a:off x="3982641" y="1763139"/>
            <a:ext cx="1375172" cy="37326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Shape 40"/>
          <p:cNvSpPr/>
          <p:nvPr/>
        </p:nvSpPr>
        <p:spPr>
          <a:xfrm>
            <a:off x="4054078" y="1842613"/>
            <a:ext cx="214313" cy="214313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9980" y="1914051"/>
            <a:ext cx="62508" cy="7143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339828" y="1834576"/>
            <a:ext cx="9465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1F5F9"/>
                </a:solidFill>
              </a:rPr>
              <a:t>강팀장</a:t>
            </a:r>
            <a:endParaRPr lang="en-US" sz="584" dirty="0"/>
          </a:p>
        </p:txBody>
      </p:sp>
      <p:sp>
        <p:nvSpPr>
          <p:cNvPr id="52" name="Text 42"/>
          <p:cNvSpPr/>
          <p:nvPr/>
        </p:nvSpPr>
        <p:spPr>
          <a:xfrm>
            <a:off x="4339828" y="1961378"/>
            <a:ext cx="9465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팀장</a:t>
            </a:r>
            <a:endParaRPr lang="en-US" sz="516" dirty="0"/>
          </a:p>
        </p:txBody>
      </p:sp>
      <p:sp>
        <p:nvSpPr>
          <p:cNvPr id="53" name="Shape 43"/>
          <p:cNvSpPr/>
          <p:nvPr/>
        </p:nvSpPr>
        <p:spPr>
          <a:xfrm>
            <a:off x="4420753" y="4695648"/>
            <a:ext cx="1008497" cy="28753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3628" y="4789410"/>
            <a:ext cx="87511" cy="100013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4708289" y="4767086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변경사항 저장</a:t>
            </a:r>
            <a:endParaRPr lang="en-US" sz="683" dirty="0"/>
          </a:p>
        </p:txBody>
      </p:sp>
      <p:sp>
        <p:nvSpPr>
          <p:cNvPr id="56" name="Shape 45"/>
          <p:cNvSpPr/>
          <p:nvPr/>
        </p:nvSpPr>
        <p:spPr>
          <a:xfrm>
            <a:off x="5329238" y="462421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46"/>
          <p:cNvSpPr/>
          <p:nvPr/>
        </p:nvSpPr>
        <p:spPr>
          <a:xfrm>
            <a:off x="5329238" y="462421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58" name="Shape 47"/>
          <p:cNvSpPr/>
          <p:nvPr/>
        </p:nvSpPr>
        <p:spPr>
          <a:xfrm>
            <a:off x="5857875" y="1268434"/>
            <a:ext cx="2857500" cy="71616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9" name="Shape 48"/>
          <p:cNvSpPr/>
          <p:nvPr/>
        </p:nvSpPr>
        <p:spPr>
          <a:xfrm>
            <a:off x="5857875" y="1268434"/>
            <a:ext cx="28575" cy="71616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Shape 49"/>
          <p:cNvSpPr/>
          <p:nvPr/>
        </p:nvSpPr>
        <p:spPr>
          <a:xfrm>
            <a:off x="5965031" y="13818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0"/>
          <p:cNvSpPr/>
          <p:nvPr/>
        </p:nvSpPr>
        <p:spPr>
          <a:xfrm>
            <a:off x="5965031" y="138184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62" name="Text 51"/>
          <p:cNvSpPr/>
          <p:nvPr/>
        </p:nvSpPr>
        <p:spPr>
          <a:xfrm>
            <a:off x="6179344" y="1375590"/>
            <a:ext cx="11974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미배정 인원 목록 (Source)</a:t>
            </a:r>
            <a:endParaRPr lang="en-US" sz="734" dirty="0"/>
          </a:p>
        </p:txBody>
      </p:sp>
      <p:sp>
        <p:nvSpPr>
          <p:cNvPr id="63" name="Text 52"/>
          <p:cNvSpPr/>
          <p:nvPr/>
        </p:nvSpPr>
        <p:spPr>
          <a:xfrm>
            <a:off x="5965031" y="1588117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64" name="Text 53"/>
          <p:cNvSpPr/>
          <p:nvPr/>
        </p:nvSpPr>
        <p:spPr>
          <a:xfrm>
            <a:off x="6500813" y="1588117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/api/v1/workers?teamId=null</a:t>
            </a:r>
            <a:endParaRPr lang="en-US" sz="674" dirty="0"/>
          </a:p>
        </p:txBody>
      </p:sp>
      <p:sp>
        <p:nvSpPr>
          <p:cNvPr id="65" name="Text 54"/>
          <p:cNvSpPr/>
          <p:nvPr/>
        </p:nvSpPr>
        <p:spPr>
          <a:xfrm>
            <a:off x="5965031" y="1750637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66" name="Text 55"/>
          <p:cNvSpPr/>
          <p:nvPr/>
        </p:nvSpPr>
        <p:spPr>
          <a:xfrm>
            <a:off x="6500813" y="1750637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Droppable ID: "unassigned"</a:t>
            </a:r>
            <a:endParaRPr lang="en-US" sz="674" dirty="0"/>
          </a:p>
        </p:txBody>
      </p:sp>
      <p:sp>
        <p:nvSpPr>
          <p:cNvPr id="67" name="Shape 56"/>
          <p:cNvSpPr/>
          <p:nvPr/>
        </p:nvSpPr>
        <p:spPr>
          <a:xfrm>
            <a:off x="5857875" y="2091751"/>
            <a:ext cx="2857500" cy="88761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8" name="Shape 57"/>
          <p:cNvSpPr/>
          <p:nvPr/>
        </p:nvSpPr>
        <p:spPr>
          <a:xfrm>
            <a:off x="5857875" y="2091751"/>
            <a:ext cx="28575" cy="8876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Shape 58"/>
          <p:cNvSpPr/>
          <p:nvPr/>
        </p:nvSpPr>
        <p:spPr>
          <a:xfrm>
            <a:off x="5965031" y="220515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0" name="Text 59"/>
          <p:cNvSpPr/>
          <p:nvPr/>
        </p:nvSpPr>
        <p:spPr>
          <a:xfrm>
            <a:off x="5965031" y="220515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71" name="Text 60"/>
          <p:cNvSpPr/>
          <p:nvPr/>
        </p:nvSpPr>
        <p:spPr>
          <a:xfrm>
            <a:off x="6179344" y="2198908"/>
            <a:ext cx="9524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팀 컨테이너 (Target)</a:t>
            </a:r>
            <a:endParaRPr lang="en-US" sz="734" dirty="0"/>
          </a:p>
        </p:txBody>
      </p:sp>
      <p:sp>
        <p:nvSpPr>
          <p:cNvPr id="72" name="Text 61"/>
          <p:cNvSpPr/>
          <p:nvPr/>
        </p:nvSpPr>
        <p:spPr>
          <a:xfrm>
            <a:off x="5965031" y="2411434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73" name="Text 62"/>
          <p:cNvSpPr/>
          <p:nvPr/>
        </p:nvSpPr>
        <p:spPr>
          <a:xfrm>
            <a:off x="6500813" y="2411434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/api/v1/teams?siteId={id}</a:t>
            </a:r>
            <a:endParaRPr lang="en-US" sz="674" dirty="0"/>
          </a:p>
        </p:txBody>
      </p:sp>
      <p:sp>
        <p:nvSpPr>
          <p:cNvPr id="74" name="Text 63"/>
          <p:cNvSpPr/>
          <p:nvPr/>
        </p:nvSpPr>
        <p:spPr>
          <a:xfrm>
            <a:off x="5965031" y="2573955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75" name="Text 64"/>
          <p:cNvSpPr/>
          <p:nvPr/>
        </p:nvSpPr>
        <p:spPr>
          <a:xfrm>
            <a:off x="6500813" y="2573955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Droppable ID: "team-{id}"</a:t>
            </a:r>
            <a:endParaRPr lang="en-US" sz="674" dirty="0"/>
          </a:p>
        </p:txBody>
      </p:sp>
      <p:sp>
        <p:nvSpPr>
          <p:cNvPr id="76" name="Text 65"/>
          <p:cNvSpPr/>
          <p:nvPr/>
        </p:nvSpPr>
        <p:spPr>
          <a:xfrm>
            <a:off x="5965031" y="2736475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Valid</a:t>
            </a:r>
            <a:endParaRPr lang="en-US" sz="634" dirty="0"/>
          </a:p>
        </p:txBody>
      </p:sp>
      <p:sp>
        <p:nvSpPr>
          <p:cNvPr id="77" name="Text 66"/>
          <p:cNvSpPr/>
          <p:nvPr/>
        </p:nvSpPr>
        <p:spPr>
          <a:xfrm>
            <a:off x="6500813" y="2736475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팀별 최대 인원 제한 체크</a:t>
            </a:r>
            <a:endParaRPr lang="en-US" sz="674" dirty="0"/>
          </a:p>
        </p:txBody>
      </p:sp>
      <p:sp>
        <p:nvSpPr>
          <p:cNvPr id="78" name="Shape 67"/>
          <p:cNvSpPr/>
          <p:nvPr/>
        </p:nvSpPr>
        <p:spPr>
          <a:xfrm>
            <a:off x="5857875" y="3086519"/>
            <a:ext cx="2857500" cy="7340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9" name="Shape 68"/>
          <p:cNvSpPr/>
          <p:nvPr/>
        </p:nvSpPr>
        <p:spPr>
          <a:xfrm>
            <a:off x="5857875" y="3086519"/>
            <a:ext cx="28575" cy="7340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Shape 69"/>
          <p:cNvSpPr/>
          <p:nvPr/>
        </p:nvSpPr>
        <p:spPr>
          <a:xfrm>
            <a:off x="5965031" y="319992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70"/>
          <p:cNvSpPr/>
          <p:nvPr/>
        </p:nvSpPr>
        <p:spPr>
          <a:xfrm>
            <a:off x="5965031" y="319992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82" name="Text 71"/>
          <p:cNvSpPr/>
          <p:nvPr/>
        </p:nvSpPr>
        <p:spPr>
          <a:xfrm>
            <a:off x="6179344" y="3193675"/>
            <a:ext cx="8708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Drag &amp; Drop 액션</a:t>
            </a:r>
            <a:endParaRPr lang="en-US" sz="734" dirty="0"/>
          </a:p>
        </p:txBody>
      </p:sp>
      <p:sp>
        <p:nvSpPr>
          <p:cNvPr id="83" name="Text 72"/>
          <p:cNvSpPr/>
          <p:nvPr/>
        </p:nvSpPr>
        <p:spPr>
          <a:xfrm>
            <a:off x="5965031" y="3406201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Lib</a:t>
            </a:r>
            <a:endParaRPr lang="en-US" sz="634" dirty="0"/>
          </a:p>
        </p:txBody>
      </p:sp>
      <p:sp>
        <p:nvSpPr>
          <p:cNvPr id="84" name="Text 73"/>
          <p:cNvSpPr/>
          <p:nvPr/>
        </p:nvSpPr>
        <p:spPr>
          <a:xfrm>
            <a:off x="6500813" y="3406201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@dnd-kit/core (Mobile Touch 지원)</a:t>
            </a:r>
            <a:endParaRPr lang="en-US" sz="674" dirty="0"/>
          </a:p>
        </p:txBody>
      </p:sp>
      <p:sp>
        <p:nvSpPr>
          <p:cNvPr id="85" name="Text 74"/>
          <p:cNvSpPr/>
          <p:nvPr/>
        </p:nvSpPr>
        <p:spPr>
          <a:xfrm>
            <a:off x="5965031" y="3577651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Event</a:t>
            </a:r>
            <a:endParaRPr lang="en-US" sz="634" dirty="0"/>
          </a:p>
        </p:txBody>
      </p:sp>
      <p:sp>
        <p:nvSpPr>
          <p:cNvPr id="86" name="Text 75"/>
          <p:cNvSpPr/>
          <p:nvPr/>
        </p:nvSpPr>
        <p:spPr>
          <a:xfrm>
            <a:off x="6500813" y="3577651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onDragEnd: 낙관적 UI 업데이트 (State 변경)</a:t>
            </a:r>
            <a:endParaRPr lang="en-US" sz="674" dirty="0"/>
          </a:p>
        </p:txBody>
      </p:sp>
      <p:sp>
        <p:nvSpPr>
          <p:cNvPr id="87" name="Shape 76"/>
          <p:cNvSpPr/>
          <p:nvPr/>
        </p:nvSpPr>
        <p:spPr>
          <a:xfrm>
            <a:off x="5857875" y="3927695"/>
            <a:ext cx="2857500" cy="88761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88" name="Shape 77"/>
          <p:cNvSpPr/>
          <p:nvPr/>
        </p:nvSpPr>
        <p:spPr>
          <a:xfrm>
            <a:off x="5857875" y="3927695"/>
            <a:ext cx="28575" cy="8876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9" name="Shape 78"/>
          <p:cNvSpPr/>
          <p:nvPr/>
        </p:nvSpPr>
        <p:spPr>
          <a:xfrm>
            <a:off x="5965031" y="404110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0" name="Text 79"/>
          <p:cNvSpPr/>
          <p:nvPr/>
        </p:nvSpPr>
        <p:spPr>
          <a:xfrm>
            <a:off x="5965031" y="404110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91" name="Text 80"/>
          <p:cNvSpPr/>
          <p:nvPr/>
        </p:nvSpPr>
        <p:spPr>
          <a:xfrm>
            <a:off x="6179344" y="4034851"/>
            <a:ext cx="844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변경사항 저장 버튼</a:t>
            </a:r>
            <a:endParaRPr lang="en-US" sz="734" dirty="0"/>
          </a:p>
        </p:txBody>
      </p:sp>
      <p:sp>
        <p:nvSpPr>
          <p:cNvPr id="92" name="Text 81"/>
          <p:cNvSpPr/>
          <p:nvPr/>
        </p:nvSpPr>
        <p:spPr>
          <a:xfrm>
            <a:off x="5965031" y="4247378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93" name="Text 82"/>
          <p:cNvSpPr/>
          <p:nvPr/>
        </p:nvSpPr>
        <p:spPr>
          <a:xfrm>
            <a:off x="6500813" y="4247378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PUT /api/v1/teams/assign/batch</a:t>
            </a:r>
            <a:endParaRPr lang="en-US" sz="674" dirty="0"/>
          </a:p>
        </p:txBody>
      </p:sp>
      <p:sp>
        <p:nvSpPr>
          <p:cNvPr id="94" name="Text 83"/>
          <p:cNvSpPr/>
          <p:nvPr/>
        </p:nvSpPr>
        <p:spPr>
          <a:xfrm>
            <a:off x="5965031" y="4409898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95" name="Text 84"/>
          <p:cNvSpPr/>
          <p:nvPr/>
        </p:nvSpPr>
        <p:spPr>
          <a:xfrm>
            <a:off x="6500813" y="4409898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assignments: [{ workerId, teamId }] }</a:t>
            </a:r>
            <a:endParaRPr lang="en-US" sz="674" dirty="0"/>
          </a:p>
        </p:txBody>
      </p:sp>
      <p:sp>
        <p:nvSpPr>
          <p:cNvPr id="96" name="Text 85"/>
          <p:cNvSpPr/>
          <p:nvPr/>
        </p:nvSpPr>
        <p:spPr>
          <a:xfrm>
            <a:off x="5965031" y="4572419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UX</a:t>
            </a:r>
            <a:endParaRPr lang="en-US" sz="634" dirty="0"/>
          </a:p>
        </p:txBody>
      </p:sp>
      <p:sp>
        <p:nvSpPr>
          <p:cNvPr id="97" name="Text 86"/>
          <p:cNvSpPr/>
          <p:nvPr/>
        </p:nvSpPr>
        <p:spPr>
          <a:xfrm>
            <a:off x="6500813" y="4572419"/>
            <a:ext cx="2107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변경 발생 시에만 활성화 (Dirty Check)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[팀장] 팀원 관리 및 작업일보 (Team &amp; Report)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팀원별 공수 입력 및 작업일보 작성/제출 프로세스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400300" cy="3971925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25622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397022"/>
            <a:ext cx="62508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3836" y="1374697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작업일보 작성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535781" y="1732778"/>
            <a:ext cx="2071688" cy="38397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506" y="1845292"/>
            <a:ext cx="69629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2026.01.20 (화)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2159533" y="1818503"/>
            <a:ext cx="362210" cy="19823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30971" y="1857794"/>
            <a:ext cx="1800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맑음</a:t>
            </a:r>
            <a:endParaRPr lang="en-US" sz="621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016" y="1872081"/>
            <a:ext cx="53578" cy="857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5781" y="2195336"/>
            <a:ext cx="2071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팀원 공수 입력</a:t>
            </a:r>
            <a:endParaRPr lang="en-US" sz="634" dirty="0"/>
          </a:p>
        </p:txBody>
      </p:sp>
      <p:sp>
        <p:nvSpPr>
          <p:cNvPr id="16" name="Shape 11"/>
          <p:cNvSpPr/>
          <p:nvPr/>
        </p:nvSpPr>
        <p:spPr>
          <a:xfrm>
            <a:off x="535781" y="2366786"/>
            <a:ext cx="2071688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7219" y="2438223"/>
            <a:ext cx="200025" cy="200025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77" y="2502517"/>
            <a:ext cx="62508" cy="71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394" y="2470370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김철수</a:t>
            </a:r>
            <a:endParaRPr lang="en-US" sz="674" dirty="0"/>
          </a:p>
        </p:txBody>
      </p:sp>
      <p:sp>
        <p:nvSpPr>
          <p:cNvPr id="20" name="Shape 14"/>
          <p:cNvSpPr/>
          <p:nvPr/>
        </p:nvSpPr>
        <p:spPr>
          <a:xfrm>
            <a:off x="1964531" y="2445367"/>
            <a:ext cx="571500" cy="185738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978819" y="245251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-</a:t>
            </a:r>
            <a:endParaRPr lang="en-US" sz="621" dirty="0"/>
          </a:p>
        </p:txBody>
      </p:sp>
      <p:sp>
        <p:nvSpPr>
          <p:cNvPr id="22" name="Text 16"/>
          <p:cNvSpPr/>
          <p:nvPr/>
        </p:nvSpPr>
        <p:spPr>
          <a:xfrm>
            <a:off x="2150269" y="2480193"/>
            <a:ext cx="2143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1.0</a:t>
            </a:r>
            <a:endParaRPr lang="en-US" sz="584" dirty="0"/>
          </a:p>
        </p:txBody>
      </p:sp>
      <p:sp>
        <p:nvSpPr>
          <p:cNvPr id="23" name="Text 17"/>
          <p:cNvSpPr/>
          <p:nvPr/>
        </p:nvSpPr>
        <p:spPr>
          <a:xfrm>
            <a:off x="2364581" y="245251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+</a:t>
            </a:r>
            <a:endParaRPr lang="en-US" sz="621" dirty="0"/>
          </a:p>
        </p:txBody>
      </p:sp>
      <p:sp>
        <p:nvSpPr>
          <p:cNvPr id="24" name="Shape 18"/>
          <p:cNvSpPr/>
          <p:nvPr/>
        </p:nvSpPr>
        <p:spPr>
          <a:xfrm>
            <a:off x="2507456" y="229534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19"/>
          <p:cNvSpPr/>
          <p:nvPr/>
        </p:nvSpPr>
        <p:spPr>
          <a:xfrm>
            <a:off x="2507456" y="22953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535781" y="2766836"/>
            <a:ext cx="2071688" cy="35718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7219" y="2838273"/>
            <a:ext cx="200025" cy="200025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77" y="2902567"/>
            <a:ext cx="62508" cy="714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4394" y="2870420"/>
            <a:ext cx="2563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이영희</a:t>
            </a:r>
            <a:endParaRPr lang="en-US" sz="674" dirty="0"/>
          </a:p>
        </p:txBody>
      </p:sp>
      <p:sp>
        <p:nvSpPr>
          <p:cNvPr id="30" name="Shape 23"/>
          <p:cNvSpPr/>
          <p:nvPr/>
        </p:nvSpPr>
        <p:spPr>
          <a:xfrm>
            <a:off x="1964531" y="2845417"/>
            <a:ext cx="571500" cy="185738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978819" y="285256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-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2150269" y="2880243"/>
            <a:ext cx="2143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0.5</a:t>
            </a:r>
            <a:endParaRPr lang="en-US" sz="584" dirty="0"/>
          </a:p>
        </p:txBody>
      </p:sp>
      <p:sp>
        <p:nvSpPr>
          <p:cNvPr id="33" name="Text 26"/>
          <p:cNvSpPr/>
          <p:nvPr/>
        </p:nvSpPr>
        <p:spPr>
          <a:xfrm>
            <a:off x="2364581" y="285256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+</a:t>
            </a:r>
            <a:endParaRPr lang="en-US" sz="621" dirty="0"/>
          </a:p>
        </p:txBody>
      </p:sp>
      <p:sp>
        <p:nvSpPr>
          <p:cNvPr id="34" name="Text 27"/>
          <p:cNvSpPr/>
          <p:nvPr/>
        </p:nvSpPr>
        <p:spPr>
          <a:xfrm>
            <a:off x="535781" y="3216892"/>
            <a:ext cx="2071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작업 내용</a:t>
            </a:r>
            <a:endParaRPr lang="en-US" sz="634" dirty="0"/>
          </a:p>
        </p:txBody>
      </p:sp>
      <p:sp>
        <p:nvSpPr>
          <p:cNvPr id="35" name="Shape 28"/>
          <p:cNvSpPr/>
          <p:nvPr/>
        </p:nvSpPr>
        <p:spPr>
          <a:xfrm>
            <a:off x="2543175" y="126843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29"/>
          <p:cNvSpPr/>
          <p:nvPr/>
        </p:nvSpPr>
        <p:spPr>
          <a:xfrm>
            <a:off x="2543175" y="126843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7" name="Text 30"/>
          <p:cNvSpPr/>
          <p:nvPr/>
        </p:nvSpPr>
        <p:spPr>
          <a:xfrm>
            <a:off x="535781" y="4100931"/>
            <a:ext cx="20716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현장 사진</a:t>
            </a:r>
            <a:endParaRPr lang="en-US" sz="634" dirty="0"/>
          </a:p>
        </p:txBody>
      </p:sp>
      <p:sp>
        <p:nvSpPr>
          <p:cNvPr id="38" name="Shape 31"/>
          <p:cNvSpPr/>
          <p:nvPr/>
        </p:nvSpPr>
        <p:spPr>
          <a:xfrm>
            <a:off x="535781" y="4272381"/>
            <a:ext cx="2071688" cy="457200"/>
          </a:xfrm>
          <a:prstGeom prst="rect">
            <a:avLst/>
          </a:prstGeom>
          <a:solidFill>
            <a:srgbClr val="0F172A">
              <a:alpha val="50000"/>
            </a:srgbClr>
          </a:solidFill>
          <a:ln w="18288">
            <a:solidFill>
              <a:srgbClr val="475569"/>
            </a:solidFill>
            <a:prstDash val="dash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461" y="4443831"/>
            <a:ext cx="85725" cy="8572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283336" y="4423293"/>
            <a:ext cx="7194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사진 추가 (최대 5장)</a:t>
            </a:r>
            <a:endParaRPr lang="en-US" sz="621" dirty="0"/>
          </a:p>
        </p:txBody>
      </p:sp>
      <p:sp>
        <p:nvSpPr>
          <p:cNvPr id="41" name="Shape 33"/>
          <p:cNvSpPr/>
          <p:nvPr/>
        </p:nvSpPr>
        <p:spPr>
          <a:xfrm>
            <a:off x="2507456" y="42009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4"/>
          <p:cNvSpPr/>
          <p:nvPr/>
        </p:nvSpPr>
        <p:spPr>
          <a:xfrm>
            <a:off x="2507456" y="42009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43" name="Shape 35"/>
          <p:cNvSpPr/>
          <p:nvPr/>
        </p:nvSpPr>
        <p:spPr>
          <a:xfrm>
            <a:off x="535781" y="4808162"/>
            <a:ext cx="2071688" cy="21074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36"/>
          <p:cNvSpPr/>
          <p:nvPr/>
        </p:nvSpPr>
        <p:spPr>
          <a:xfrm>
            <a:off x="1282582" y="4841202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일보 제출하기</a:t>
            </a:r>
            <a:endParaRPr lang="en-US" sz="683" dirty="0"/>
          </a:p>
        </p:txBody>
      </p:sp>
      <p:sp>
        <p:nvSpPr>
          <p:cNvPr id="45" name="Shape 37"/>
          <p:cNvSpPr/>
          <p:nvPr/>
        </p:nvSpPr>
        <p:spPr>
          <a:xfrm>
            <a:off x="2507456" y="4736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38"/>
          <p:cNvSpPr/>
          <p:nvPr/>
        </p:nvSpPr>
        <p:spPr>
          <a:xfrm>
            <a:off x="2507456" y="47367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47" name="Shape 39"/>
          <p:cNvSpPr/>
          <p:nvPr/>
        </p:nvSpPr>
        <p:spPr>
          <a:xfrm>
            <a:off x="3286125" y="1329156"/>
            <a:ext cx="5429250" cy="89654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3286125" y="1329156"/>
            <a:ext cx="28575" cy="89654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Shape 41"/>
          <p:cNvSpPr/>
          <p:nvPr/>
        </p:nvSpPr>
        <p:spPr>
          <a:xfrm>
            <a:off x="3393281" y="144256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2"/>
          <p:cNvSpPr/>
          <p:nvPr/>
        </p:nvSpPr>
        <p:spPr>
          <a:xfrm>
            <a:off x="3393281" y="144256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51" name="Text 43"/>
          <p:cNvSpPr/>
          <p:nvPr/>
        </p:nvSpPr>
        <p:spPr>
          <a:xfrm>
            <a:off x="3607594" y="1436312"/>
            <a:ext cx="1152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팀원 공수 입력 (Stepper)</a:t>
            </a:r>
            <a:endParaRPr lang="en-US" sz="734" dirty="0"/>
          </a:p>
        </p:txBody>
      </p:sp>
      <p:sp>
        <p:nvSpPr>
          <p:cNvPr id="52" name="Text 44"/>
          <p:cNvSpPr/>
          <p:nvPr/>
        </p:nvSpPr>
        <p:spPr>
          <a:xfrm>
            <a:off x="3393281" y="1648839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53" name="Text 45"/>
          <p:cNvSpPr/>
          <p:nvPr/>
        </p:nvSpPr>
        <p:spPr>
          <a:xfrm>
            <a:off x="3929063" y="1648839"/>
            <a:ext cx="4679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/api/v1/teams/my/members</a:t>
            </a:r>
            <a:endParaRPr lang="en-US" sz="674" dirty="0"/>
          </a:p>
        </p:txBody>
      </p:sp>
      <p:sp>
        <p:nvSpPr>
          <p:cNvPr id="54" name="Text 46"/>
          <p:cNvSpPr/>
          <p:nvPr/>
        </p:nvSpPr>
        <p:spPr>
          <a:xfrm>
            <a:off x="3393281" y="1811359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55" name="Text 47"/>
          <p:cNvSpPr/>
          <p:nvPr/>
        </p:nvSpPr>
        <p:spPr>
          <a:xfrm>
            <a:off x="3929063" y="1811359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기본값 1.0, 0.5 단위 증감 (Min 0.0, Max 2.0)</a:t>
            </a:r>
            <a:endParaRPr lang="en-US" sz="674" dirty="0"/>
          </a:p>
        </p:txBody>
      </p:sp>
      <p:sp>
        <p:nvSpPr>
          <p:cNvPr id="56" name="Text 48"/>
          <p:cNvSpPr/>
          <p:nvPr/>
        </p:nvSpPr>
        <p:spPr>
          <a:xfrm>
            <a:off x="3393281" y="1982809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State</a:t>
            </a:r>
            <a:endParaRPr lang="en-US" sz="634" dirty="0"/>
          </a:p>
        </p:txBody>
      </p:sp>
      <p:sp>
        <p:nvSpPr>
          <p:cNvPr id="57" name="Text 49"/>
          <p:cNvSpPr/>
          <p:nvPr/>
        </p:nvSpPr>
        <p:spPr>
          <a:xfrm>
            <a:off x="3929063" y="1982809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useFieldArray로 폼 상태 관리</a:t>
            </a:r>
            <a:endParaRPr lang="en-US" sz="674" dirty="0"/>
          </a:p>
        </p:txBody>
      </p:sp>
      <p:sp>
        <p:nvSpPr>
          <p:cNvPr id="58" name="Shape 50"/>
          <p:cNvSpPr/>
          <p:nvPr/>
        </p:nvSpPr>
        <p:spPr>
          <a:xfrm>
            <a:off x="3286125" y="2332853"/>
            <a:ext cx="5429250" cy="7340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9" name="Shape 51"/>
          <p:cNvSpPr/>
          <p:nvPr/>
        </p:nvSpPr>
        <p:spPr>
          <a:xfrm>
            <a:off x="3286125" y="2332853"/>
            <a:ext cx="28575" cy="7340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Shape 52"/>
          <p:cNvSpPr/>
          <p:nvPr/>
        </p:nvSpPr>
        <p:spPr>
          <a:xfrm>
            <a:off x="3393281" y="244626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3"/>
          <p:cNvSpPr/>
          <p:nvPr/>
        </p:nvSpPr>
        <p:spPr>
          <a:xfrm>
            <a:off x="3393281" y="2446260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62" name="Text 54"/>
          <p:cNvSpPr/>
          <p:nvPr/>
        </p:nvSpPr>
        <p:spPr>
          <a:xfrm>
            <a:off x="3607594" y="2440009"/>
            <a:ext cx="6472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작업 내용 입력</a:t>
            </a:r>
            <a:endParaRPr lang="en-US" sz="734" dirty="0"/>
          </a:p>
        </p:txBody>
      </p:sp>
      <p:sp>
        <p:nvSpPr>
          <p:cNvPr id="63" name="Text 55"/>
          <p:cNvSpPr/>
          <p:nvPr/>
        </p:nvSpPr>
        <p:spPr>
          <a:xfrm>
            <a:off x="3393281" y="265253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Valid</a:t>
            </a:r>
            <a:endParaRPr lang="en-US" sz="634" dirty="0"/>
          </a:p>
        </p:txBody>
      </p:sp>
      <p:sp>
        <p:nvSpPr>
          <p:cNvPr id="64" name="Text 56"/>
          <p:cNvSpPr/>
          <p:nvPr/>
        </p:nvSpPr>
        <p:spPr>
          <a:xfrm>
            <a:off x="3929063" y="2652536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최소 10자 이상 입력 필수</a:t>
            </a:r>
            <a:endParaRPr lang="en-US" sz="674" dirty="0"/>
          </a:p>
        </p:txBody>
      </p:sp>
      <p:sp>
        <p:nvSpPr>
          <p:cNvPr id="65" name="Text 57"/>
          <p:cNvSpPr/>
          <p:nvPr/>
        </p:nvSpPr>
        <p:spPr>
          <a:xfrm>
            <a:off x="3393281" y="2823986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UX</a:t>
            </a:r>
            <a:endParaRPr lang="en-US" sz="634" dirty="0"/>
          </a:p>
        </p:txBody>
      </p:sp>
      <p:sp>
        <p:nvSpPr>
          <p:cNvPr id="66" name="Text 58"/>
          <p:cNvSpPr/>
          <p:nvPr/>
        </p:nvSpPr>
        <p:spPr>
          <a:xfrm>
            <a:off x="3929063" y="2823986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Auto-resize Textarea 적용</a:t>
            </a:r>
            <a:endParaRPr lang="en-US" sz="674" dirty="0"/>
          </a:p>
        </p:txBody>
      </p:sp>
      <p:sp>
        <p:nvSpPr>
          <p:cNvPr id="67" name="Shape 59"/>
          <p:cNvSpPr/>
          <p:nvPr/>
        </p:nvSpPr>
        <p:spPr>
          <a:xfrm>
            <a:off x="3286125" y="3174030"/>
            <a:ext cx="5429250" cy="89654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8" name="Shape 60"/>
          <p:cNvSpPr/>
          <p:nvPr/>
        </p:nvSpPr>
        <p:spPr>
          <a:xfrm>
            <a:off x="3286125" y="3174030"/>
            <a:ext cx="28575" cy="89654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Shape 61"/>
          <p:cNvSpPr/>
          <p:nvPr/>
        </p:nvSpPr>
        <p:spPr>
          <a:xfrm>
            <a:off x="3393281" y="3287437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0" name="Text 62"/>
          <p:cNvSpPr/>
          <p:nvPr/>
        </p:nvSpPr>
        <p:spPr>
          <a:xfrm>
            <a:off x="3393281" y="3287437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71" name="Text 63"/>
          <p:cNvSpPr/>
          <p:nvPr/>
        </p:nvSpPr>
        <p:spPr>
          <a:xfrm>
            <a:off x="3607594" y="3281186"/>
            <a:ext cx="520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사진 업로드</a:t>
            </a:r>
            <a:endParaRPr lang="en-US" sz="734" dirty="0"/>
          </a:p>
        </p:txBody>
      </p:sp>
      <p:sp>
        <p:nvSpPr>
          <p:cNvPr id="72" name="Text 64"/>
          <p:cNvSpPr/>
          <p:nvPr/>
        </p:nvSpPr>
        <p:spPr>
          <a:xfrm>
            <a:off x="3393281" y="3493712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Lib</a:t>
            </a:r>
            <a:endParaRPr lang="en-US" sz="634" dirty="0"/>
          </a:p>
        </p:txBody>
      </p:sp>
      <p:sp>
        <p:nvSpPr>
          <p:cNvPr id="73" name="Text 65"/>
          <p:cNvSpPr/>
          <p:nvPr/>
        </p:nvSpPr>
        <p:spPr>
          <a:xfrm>
            <a:off x="3929063" y="3493712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browser-image-compression (클라이언트 압축)</a:t>
            </a:r>
            <a:endParaRPr lang="en-US" sz="674" dirty="0"/>
          </a:p>
        </p:txBody>
      </p:sp>
      <p:sp>
        <p:nvSpPr>
          <p:cNvPr id="74" name="Text 66"/>
          <p:cNvSpPr/>
          <p:nvPr/>
        </p:nvSpPr>
        <p:spPr>
          <a:xfrm>
            <a:off x="3393281" y="3665162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Limit</a:t>
            </a:r>
            <a:endParaRPr lang="en-US" sz="634" dirty="0"/>
          </a:p>
        </p:txBody>
      </p:sp>
      <p:sp>
        <p:nvSpPr>
          <p:cNvPr id="75" name="Text 67"/>
          <p:cNvSpPr/>
          <p:nvPr/>
        </p:nvSpPr>
        <p:spPr>
          <a:xfrm>
            <a:off x="3929063" y="3665162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장당 5MB 이하, 최대 5장</a:t>
            </a:r>
            <a:endParaRPr lang="en-US" sz="674" dirty="0"/>
          </a:p>
        </p:txBody>
      </p:sp>
      <p:sp>
        <p:nvSpPr>
          <p:cNvPr id="76" name="Text 68"/>
          <p:cNvSpPr/>
          <p:nvPr/>
        </p:nvSpPr>
        <p:spPr>
          <a:xfrm>
            <a:off x="3393281" y="3836612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77" name="Text 69"/>
          <p:cNvSpPr/>
          <p:nvPr/>
        </p:nvSpPr>
        <p:spPr>
          <a:xfrm>
            <a:off x="3929063" y="3836612"/>
            <a:ext cx="4679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/api/v1/files/upload (Multipart)</a:t>
            </a:r>
            <a:endParaRPr lang="en-US" sz="674" dirty="0"/>
          </a:p>
        </p:txBody>
      </p:sp>
      <p:sp>
        <p:nvSpPr>
          <p:cNvPr id="78" name="Shape 70"/>
          <p:cNvSpPr/>
          <p:nvPr/>
        </p:nvSpPr>
        <p:spPr>
          <a:xfrm>
            <a:off x="3286125" y="4177726"/>
            <a:ext cx="5429250" cy="88761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9" name="Shape 71"/>
          <p:cNvSpPr/>
          <p:nvPr/>
        </p:nvSpPr>
        <p:spPr>
          <a:xfrm>
            <a:off x="3286125" y="4177726"/>
            <a:ext cx="28575" cy="8876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0" name="Shape 72"/>
          <p:cNvSpPr/>
          <p:nvPr/>
        </p:nvSpPr>
        <p:spPr>
          <a:xfrm>
            <a:off x="3393281" y="4291133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1" name="Text 73"/>
          <p:cNvSpPr/>
          <p:nvPr/>
        </p:nvSpPr>
        <p:spPr>
          <a:xfrm>
            <a:off x="3393281" y="4291133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4</a:t>
            </a:r>
            <a:endParaRPr lang="en-US" sz="534" dirty="0"/>
          </a:p>
        </p:txBody>
      </p:sp>
      <p:sp>
        <p:nvSpPr>
          <p:cNvPr id="82" name="Text 74"/>
          <p:cNvSpPr/>
          <p:nvPr/>
        </p:nvSpPr>
        <p:spPr>
          <a:xfrm>
            <a:off x="3607594" y="4284883"/>
            <a:ext cx="6472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일보 제출 버튼</a:t>
            </a:r>
            <a:endParaRPr lang="en-US" sz="734" dirty="0"/>
          </a:p>
        </p:txBody>
      </p:sp>
      <p:sp>
        <p:nvSpPr>
          <p:cNvPr id="83" name="Text 75"/>
          <p:cNvSpPr/>
          <p:nvPr/>
        </p:nvSpPr>
        <p:spPr>
          <a:xfrm>
            <a:off x="3393281" y="4497409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84" name="Text 76"/>
          <p:cNvSpPr/>
          <p:nvPr/>
        </p:nvSpPr>
        <p:spPr>
          <a:xfrm>
            <a:off x="3929063" y="4497409"/>
            <a:ext cx="4679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/api/v1/reports/daily</a:t>
            </a:r>
            <a:endParaRPr lang="en-US" sz="674" dirty="0"/>
          </a:p>
        </p:txBody>
      </p:sp>
      <p:sp>
        <p:nvSpPr>
          <p:cNvPr id="85" name="Text 77"/>
          <p:cNvSpPr/>
          <p:nvPr/>
        </p:nvSpPr>
        <p:spPr>
          <a:xfrm>
            <a:off x="3393281" y="4659930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86" name="Text 78"/>
          <p:cNvSpPr/>
          <p:nvPr/>
        </p:nvSpPr>
        <p:spPr>
          <a:xfrm>
            <a:off x="3929063" y="4659930"/>
            <a:ext cx="4679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date, weather, content, workers: [], images: [] }</a:t>
            </a:r>
            <a:endParaRPr lang="en-US" sz="674" dirty="0"/>
          </a:p>
        </p:txBody>
      </p:sp>
      <p:sp>
        <p:nvSpPr>
          <p:cNvPr id="87" name="Text 79"/>
          <p:cNvSpPr/>
          <p:nvPr/>
        </p:nvSpPr>
        <p:spPr>
          <a:xfrm>
            <a:off x="3393281" y="4822450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Check</a:t>
            </a:r>
            <a:endParaRPr lang="en-US" sz="634" dirty="0"/>
          </a:p>
        </p:txBody>
      </p:sp>
      <p:sp>
        <p:nvSpPr>
          <p:cNvPr id="88" name="Text 80"/>
          <p:cNvSpPr/>
          <p:nvPr/>
        </p:nvSpPr>
        <p:spPr>
          <a:xfrm>
            <a:off x="3929063" y="4822450"/>
            <a:ext cx="46791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제출 후 수정 불가 (Confirm Modal 표시)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07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안면인식 데이터 등록 (Face Registration)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HTML5 Camera API 연동 및 FaceNet 임베딩 추출/등록 프로세스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400300" cy="38290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286000" cy="371475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375590"/>
            <a:ext cx="71438" cy="42862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1" y="1375590"/>
            <a:ext cx="114300" cy="4286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1268434"/>
            <a:ext cx="2286000" cy="300037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16" y="2339997"/>
            <a:ext cx="750094" cy="8572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14113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6"/>
          <p:cNvSpPr/>
          <p:nvPr/>
        </p:nvSpPr>
        <p:spPr>
          <a:xfrm>
            <a:off x="571500" y="14113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Shape 7"/>
          <p:cNvSpPr/>
          <p:nvPr/>
        </p:nvSpPr>
        <p:spPr>
          <a:xfrm>
            <a:off x="1218009" y="1932803"/>
            <a:ext cx="1457325" cy="1671638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0B981"/>
            </a:solidFill>
            <a:prstDash val="dash"/>
          </a:ln>
        </p:spPr>
      </p:sp>
      <p:sp>
        <p:nvSpPr>
          <p:cNvPr id="14" name="Text 8"/>
          <p:cNvSpPr/>
          <p:nvPr/>
        </p:nvSpPr>
        <p:spPr>
          <a:xfrm>
            <a:off x="1232297" y="3749101"/>
            <a:ext cx="1428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얼굴을 가이드 안에 맞춰주세요</a:t>
            </a:r>
            <a:endParaRPr lang="en-US" sz="621" dirty="0"/>
          </a:p>
        </p:txBody>
      </p:sp>
      <p:sp>
        <p:nvSpPr>
          <p:cNvPr id="15" name="Shape 9"/>
          <p:cNvSpPr/>
          <p:nvPr/>
        </p:nvSpPr>
        <p:spPr>
          <a:xfrm>
            <a:off x="2561034" y="187565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0"/>
          <p:cNvSpPr/>
          <p:nvPr/>
        </p:nvSpPr>
        <p:spPr>
          <a:xfrm>
            <a:off x="2561034" y="187565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7" name="Shape 11"/>
          <p:cNvSpPr/>
          <p:nvPr/>
        </p:nvSpPr>
        <p:spPr>
          <a:xfrm>
            <a:off x="428625" y="4268809"/>
            <a:ext cx="2286000" cy="714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2"/>
          <p:cNvSpPr/>
          <p:nvPr/>
        </p:nvSpPr>
        <p:spPr>
          <a:xfrm>
            <a:off x="1721644" y="430452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3"/>
          <p:cNvSpPr/>
          <p:nvPr/>
        </p:nvSpPr>
        <p:spPr>
          <a:xfrm>
            <a:off x="1721644" y="430452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20" name="Shape 14"/>
          <p:cNvSpPr/>
          <p:nvPr/>
        </p:nvSpPr>
        <p:spPr>
          <a:xfrm>
            <a:off x="3286125" y="1268434"/>
            <a:ext cx="5429250" cy="88761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3286125" y="1268434"/>
            <a:ext cx="28575" cy="88761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6"/>
          <p:cNvSpPr/>
          <p:nvPr/>
        </p:nvSpPr>
        <p:spPr>
          <a:xfrm>
            <a:off x="3393281" y="1381841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7"/>
          <p:cNvSpPr/>
          <p:nvPr/>
        </p:nvSpPr>
        <p:spPr>
          <a:xfrm>
            <a:off x="3393281" y="1381841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24" name="Text 18"/>
          <p:cNvSpPr/>
          <p:nvPr/>
        </p:nvSpPr>
        <p:spPr>
          <a:xfrm>
            <a:off x="3607594" y="1375590"/>
            <a:ext cx="9708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카메라 접근 및 프리뷰</a:t>
            </a:r>
            <a:endParaRPr lang="en-US" sz="734" dirty="0"/>
          </a:p>
        </p:txBody>
      </p:sp>
      <p:sp>
        <p:nvSpPr>
          <p:cNvPr id="25" name="Text 19"/>
          <p:cNvSpPr/>
          <p:nvPr/>
        </p:nvSpPr>
        <p:spPr>
          <a:xfrm>
            <a:off x="3393281" y="1588117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26" name="Text 20"/>
          <p:cNvSpPr/>
          <p:nvPr/>
        </p:nvSpPr>
        <p:spPr>
          <a:xfrm>
            <a:off x="4000500" y="1588117"/>
            <a:ext cx="46077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navigator.mediaDevices.getUserMedia()</a:t>
            </a:r>
            <a:endParaRPr lang="en-US" sz="674" dirty="0"/>
          </a:p>
        </p:txBody>
      </p:sp>
      <p:sp>
        <p:nvSpPr>
          <p:cNvPr id="27" name="Text 21"/>
          <p:cNvSpPr/>
          <p:nvPr/>
        </p:nvSpPr>
        <p:spPr>
          <a:xfrm>
            <a:off x="3393281" y="1750637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Config</a:t>
            </a:r>
            <a:endParaRPr lang="en-US" sz="634" dirty="0"/>
          </a:p>
        </p:txBody>
      </p:sp>
      <p:sp>
        <p:nvSpPr>
          <p:cNvPr id="28" name="Text 22"/>
          <p:cNvSpPr/>
          <p:nvPr/>
        </p:nvSpPr>
        <p:spPr>
          <a:xfrm>
            <a:off x="4000500" y="1750637"/>
            <a:ext cx="46077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{ video: { facingMode: "user", width: 720 } }</a:t>
            </a:r>
            <a:endParaRPr lang="en-US" sz="674" dirty="0"/>
          </a:p>
        </p:txBody>
      </p:sp>
      <p:sp>
        <p:nvSpPr>
          <p:cNvPr id="29" name="Text 23"/>
          <p:cNvSpPr/>
          <p:nvPr/>
        </p:nvSpPr>
        <p:spPr>
          <a:xfrm>
            <a:off x="3393281" y="1913158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UX</a:t>
            </a:r>
            <a:endParaRPr lang="en-US" sz="634" dirty="0"/>
          </a:p>
        </p:txBody>
      </p:sp>
      <p:sp>
        <p:nvSpPr>
          <p:cNvPr id="30" name="Text 24"/>
          <p:cNvSpPr/>
          <p:nvPr/>
        </p:nvSpPr>
        <p:spPr>
          <a:xfrm>
            <a:off x="4000500" y="1913158"/>
            <a:ext cx="4607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권한 거부 시 설정 안내 모달 표시</a:t>
            </a:r>
            <a:endParaRPr lang="en-US" sz="674" dirty="0"/>
          </a:p>
        </p:txBody>
      </p:sp>
      <p:sp>
        <p:nvSpPr>
          <p:cNvPr id="31" name="Shape 25"/>
          <p:cNvSpPr/>
          <p:nvPr/>
        </p:nvSpPr>
        <p:spPr>
          <a:xfrm>
            <a:off x="3286125" y="2263201"/>
            <a:ext cx="5429250" cy="90547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3286125" y="2263201"/>
            <a:ext cx="28575" cy="9054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7"/>
          <p:cNvSpPr/>
          <p:nvPr/>
        </p:nvSpPr>
        <p:spPr>
          <a:xfrm>
            <a:off x="3393281" y="237660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8"/>
          <p:cNvSpPr/>
          <p:nvPr/>
        </p:nvSpPr>
        <p:spPr>
          <a:xfrm>
            <a:off x="3393281" y="237660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35" name="Text 29"/>
          <p:cNvSpPr/>
          <p:nvPr/>
        </p:nvSpPr>
        <p:spPr>
          <a:xfrm>
            <a:off x="3607594" y="2370358"/>
            <a:ext cx="12201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얼굴 가이드라인 (Overlay)</a:t>
            </a:r>
            <a:endParaRPr lang="en-US" sz="734" dirty="0"/>
          </a:p>
        </p:txBody>
      </p:sp>
      <p:sp>
        <p:nvSpPr>
          <p:cNvPr id="36" name="Text 30"/>
          <p:cNvSpPr/>
          <p:nvPr/>
        </p:nvSpPr>
        <p:spPr>
          <a:xfrm>
            <a:off x="3393281" y="2582884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UI</a:t>
            </a:r>
            <a:endParaRPr lang="en-US" sz="634" dirty="0"/>
          </a:p>
        </p:txBody>
      </p:sp>
      <p:sp>
        <p:nvSpPr>
          <p:cNvPr id="37" name="Text 31"/>
          <p:cNvSpPr/>
          <p:nvPr/>
        </p:nvSpPr>
        <p:spPr>
          <a:xfrm>
            <a:off x="4000500" y="2582884"/>
            <a:ext cx="4607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CSS border-radius로 타원형 가이드 표시</a:t>
            </a:r>
            <a:endParaRPr lang="en-US" sz="674" dirty="0"/>
          </a:p>
        </p:txBody>
      </p:sp>
      <p:sp>
        <p:nvSpPr>
          <p:cNvPr id="38" name="Text 32"/>
          <p:cNvSpPr/>
          <p:nvPr/>
        </p:nvSpPr>
        <p:spPr>
          <a:xfrm>
            <a:off x="3393281" y="2754334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39" name="Text 33"/>
          <p:cNvSpPr/>
          <p:nvPr/>
        </p:nvSpPr>
        <p:spPr>
          <a:xfrm>
            <a:off x="4000500" y="2754334"/>
            <a:ext cx="4607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가이드 영역 밖은 어둡게 처리 (Dimming)</a:t>
            </a:r>
            <a:endParaRPr lang="en-US" sz="674" dirty="0"/>
          </a:p>
        </p:txBody>
      </p:sp>
      <p:sp>
        <p:nvSpPr>
          <p:cNvPr id="40" name="Text 34"/>
          <p:cNvSpPr/>
          <p:nvPr/>
        </p:nvSpPr>
        <p:spPr>
          <a:xfrm>
            <a:off x="3393281" y="2925784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Guide</a:t>
            </a:r>
            <a:endParaRPr lang="en-US" sz="634" dirty="0"/>
          </a:p>
        </p:txBody>
      </p:sp>
      <p:sp>
        <p:nvSpPr>
          <p:cNvPr id="41" name="Text 35"/>
          <p:cNvSpPr/>
          <p:nvPr/>
        </p:nvSpPr>
        <p:spPr>
          <a:xfrm>
            <a:off x="4000500" y="2925784"/>
            <a:ext cx="4607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"정면을 응시하고 눈을 크게 떠주세요"</a:t>
            </a:r>
            <a:endParaRPr lang="en-US" sz="674" dirty="0"/>
          </a:p>
        </p:txBody>
      </p:sp>
      <p:sp>
        <p:nvSpPr>
          <p:cNvPr id="42" name="Shape 36"/>
          <p:cNvSpPr/>
          <p:nvPr/>
        </p:nvSpPr>
        <p:spPr>
          <a:xfrm>
            <a:off x="3286125" y="3275828"/>
            <a:ext cx="5429250" cy="87868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3286125" y="3275828"/>
            <a:ext cx="28575" cy="87868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Shape 38"/>
          <p:cNvSpPr/>
          <p:nvPr/>
        </p:nvSpPr>
        <p:spPr>
          <a:xfrm>
            <a:off x="3393281" y="338923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9"/>
          <p:cNvSpPr/>
          <p:nvPr/>
        </p:nvSpPr>
        <p:spPr>
          <a:xfrm>
            <a:off x="3393281" y="338923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6" name="Text 40"/>
          <p:cNvSpPr/>
          <p:nvPr/>
        </p:nvSpPr>
        <p:spPr>
          <a:xfrm>
            <a:off x="3607594" y="3382984"/>
            <a:ext cx="872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2E8F0"/>
                </a:solidFill>
              </a:rPr>
              <a:t>이미지 캡처 및 전송</a:t>
            </a:r>
            <a:endParaRPr lang="en-US" sz="734" dirty="0"/>
          </a:p>
        </p:txBody>
      </p:sp>
      <p:sp>
        <p:nvSpPr>
          <p:cNvPr id="47" name="Text 41"/>
          <p:cNvSpPr/>
          <p:nvPr/>
        </p:nvSpPr>
        <p:spPr>
          <a:xfrm>
            <a:off x="3393281" y="3595511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48" name="Text 42"/>
          <p:cNvSpPr/>
          <p:nvPr/>
        </p:nvSpPr>
        <p:spPr>
          <a:xfrm>
            <a:off x="4000500" y="3595511"/>
            <a:ext cx="46077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Canvas.drawImage() -&gt; toBlob('image/jpeg', 0.9)</a:t>
            </a:r>
            <a:endParaRPr lang="en-US" sz="674" dirty="0"/>
          </a:p>
        </p:txBody>
      </p:sp>
      <p:sp>
        <p:nvSpPr>
          <p:cNvPr id="49" name="Text 43"/>
          <p:cNvSpPr/>
          <p:nvPr/>
        </p:nvSpPr>
        <p:spPr>
          <a:xfrm>
            <a:off x="3393281" y="3758031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4000500" y="3758031"/>
            <a:ext cx="46077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/api/v1/workers/face</a:t>
            </a:r>
            <a:endParaRPr lang="en-US" sz="674" dirty="0"/>
          </a:p>
        </p:txBody>
      </p:sp>
      <p:sp>
        <p:nvSpPr>
          <p:cNvPr id="51" name="Text 45"/>
          <p:cNvSpPr/>
          <p:nvPr/>
        </p:nvSpPr>
        <p:spPr>
          <a:xfrm>
            <a:off x="3393281" y="3920551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Payload</a:t>
            </a:r>
            <a:endParaRPr lang="en-US" sz="634" dirty="0"/>
          </a:p>
        </p:txBody>
      </p:sp>
      <p:sp>
        <p:nvSpPr>
          <p:cNvPr id="52" name="Text 46"/>
          <p:cNvSpPr/>
          <p:nvPr/>
        </p:nvSpPr>
        <p:spPr>
          <a:xfrm>
            <a:off x="4000500" y="3920551"/>
            <a:ext cx="46077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Multipart/form-data (file: image.jpg)</a:t>
            </a:r>
            <a:endParaRPr lang="en-US" sz="674" dirty="0"/>
          </a:p>
        </p:txBody>
      </p:sp>
      <p:sp>
        <p:nvSpPr>
          <p:cNvPr id="53" name="Shape 47"/>
          <p:cNvSpPr/>
          <p:nvPr/>
        </p:nvSpPr>
        <p:spPr>
          <a:xfrm>
            <a:off x="3286125" y="4404540"/>
            <a:ext cx="5429250" cy="8161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393281" y="4511697"/>
            <a:ext cx="52149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데이터 처리 흐름 (Backend Process)</a:t>
            </a:r>
            <a:endParaRPr lang="en-US" sz="683" dirty="0"/>
          </a:p>
        </p:txBody>
      </p:sp>
      <p:sp>
        <p:nvSpPr>
          <p:cNvPr id="55" name="Shape 49"/>
          <p:cNvSpPr/>
          <p:nvPr/>
        </p:nvSpPr>
        <p:spPr>
          <a:xfrm>
            <a:off x="3393281" y="4727795"/>
            <a:ext cx="640705" cy="3714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3393281" y="4727795"/>
            <a:ext cx="640705" cy="37147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이미지 수신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(Controller)</a:t>
            </a:r>
            <a:endParaRPr lang="en-US" sz="621" dirty="0"/>
          </a:p>
        </p:txBody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887" y="4870670"/>
            <a:ext cx="75009" cy="85725"/>
          </a:xfrm>
          <a:prstGeom prst="rect">
            <a:avLst/>
          </a:prstGeom>
        </p:spPr>
      </p:pic>
      <p:sp>
        <p:nvSpPr>
          <p:cNvPr id="58" name="Shape 51"/>
          <p:cNvSpPr/>
          <p:nvPr/>
        </p:nvSpPr>
        <p:spPr>
          <a:xfrm>
            <a:off x="4931085" y="4727795"/>
            <a:ext cx="545381" cy="3714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4931085" y="4727795"/>
            <a:ext cx="545381" cy="37147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얼굴 검출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(MTCNN)</a:t>
            </a:r>
            <a:endParaRPr lang="en-US" sz="621" dirty="0"/>
          </a:p>
        </p:txBody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482" y="4870670"/>
            <a:ext cx="75009" cy="85725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6383052" y="4727795"/>
            <a:ext cx="602363" cy="3714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6383052" y="4727795"/>
            <a:ext cx="602363" cy="37147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임베딩 추출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(FaceNet)</a:t>
            </a:r>
            <a:endParaRPr lang="en-US" sz="621" dirty="0"/>
          </a:p>
        </p:txBody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3548" y="4870670"/>
            <a:ext cx="75009" cy="85725"/>
          </a:xfrm>
          <a:prstGeom prst="rect">
            <a:avLst/>
          </a:prstGeom>
        </p:spPr>
      </p:pic>
      <p:sp>
        <p:nvSpPr>
          <p:cNvPr id="64" name="Shape 55"/>
          <p:cNvSpPr/>
          <p:nvPr/>
        </p:nvSpPr>
        <p:spPr>
          <a:xfrm>
            <a:off x="7901490" y="4727795"/>
            <a:ext cx="706617" cy="3714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7901490" y="4727795"/>
            <a:ext cx="706617" cy="37147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Vector 저장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(PostgreSQL)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전자 계약 서명 (E-Contract)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HTML5 Canvas 기반 서명 패드 및 PDF 합성/저장 로직 명세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400300" cy="3829050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25622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1389878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9281" y="1364875"/>
            <a:ext cx="97612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표준근로계약서 작성</a:t>
            </a:r>
            <a:endParaRPr lang="en-US" sz="78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894" y="1389878"/>
            <a:ext cx="28575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8625" y="1625622"/>
            <a:ext cx="2286000" cy="21788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514350" y="1711347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일용직 표준근로계약서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514350" y="1927445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1. 근로계약기간: 2026.01.20 ~ 2026.01.20</a:t>
            </a:r>
            <a:endParaRPr lang="en-US" sz="516" dirty="0"/>
          </a:p>
        </p:txBody>
      </p:sp>
      <p:sp>
        <p:nvSpPr>
          <p:cNvPr id="14" name="Text 9"/>
          <p:cNvSpPr/>
          <p:nvPr/>
        </p:nvSpPr>
        <p:spPr>
          <a:xfrm>
            <a:off x="514350" y="2113183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2. 근무장소: 강남 A타워 신축공사 현장</a:t>
            </a:r>
            <a:endParaRPr lang="en-US" sz="516" dirty="0"/>
          </a:p>
        </p:txBody>
      </p:sp>
      <p:sp>
        <p:nvSpPr>
          <p:cNvPr id="15" name="Text 10"/>
          <p:cNvSpPr/>
          <p:nvPr/>
        </p:nvSpPr>
        <p:spPr>
          <a:xfrm>
            <a:off x="514350" y="2298920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3. 업무내용: 형틀 목공 업무 보조</a:t>
            </a:r>
            <a:endParaRPr lang="en-US" sz="516" dirty="0"/>
          </a:p>
        </p:txBody>
      </p:sp>
      <p:sp>
        <p:nvSpPr>
          <p:cNvPr id="16" name="Text 11"/>
          <p:cNvSpPr/>
          <p:nvPr/>
        </p:nvSpPr>
        <p:spPr>
          <a:xfrm>
            <a:off x="514350" y="2484658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4. 근로시간: 07:00 ~ 16:00 (휴게 1시간)</a:t>
            </a:r>
            <a:endParaRPr lang="en-US" sz="516" dirty="0"/>
          </a:p>
        </p:txBody>
      </p:sp>
      <p:sp>
        <p:nvSpPr>
          <p:cNvPr id="17" name="Text 12"/>
          <p:cNvSpPr/>
          <p:nvPr/>
        </p:nvSpPr>
        <p:spPr>
          <a:xfrm>
            <a:off x="514350" y="2670395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5. 임금: 일급 180,000원 (식대 포함)</a:t>
            </a:r>
            <a:endParaRPr lang="en-US" sz="516" dirty="0"/>
          </a:p>
        </p:txBody>
      </p:sp>
      <p:sp>
        <p:nvSpPr>
          <p:cNvPr id="18" name="Text 13"/>
          <p:cNvSpPr/>
          <p:nvPr/>
        </p:nvSpPr>
        <p:spPr>
          <a:xfrm>
            <a:off x="514350" y="2856133"/>
            <a:ext cx="21145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16" dirty="0">
                <a:solidFill>
                  <a:srgbClr val="475569"/>
                </a:solidFill>
              </a:rPr>
              <a:t>...</a:t>
            </a:r>
            <a:endParaRPr lang="en-US" sz="516" dirty="0"/>
          </a:p>
        </p:txBody>
      </p:sp>
      <p:sp>
        <p:nvSpPr>
          <p:cNvPr id="19" name="Shape 14"/>
          <p:cNvSpPr/>
          <p:nvPr/>
        </p:nvSpPr>
        <p:spPr>
          <a:xfrm>
            <a:off x="2471738" y="16970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5"/>
          <p:cNvSpPr/>
          <p:nvPr/>
        </p:nvSpPr>
        <p:spPr>
          <a:xfrm>
            <a:off x="2471738" y="16970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1" name="Shape 16"/>
          <p:cNvSpPr/>
          <p:nvPr/>
        </p:nvSpPr>
        <p:spPr>
          <a:xfrm>
            <a:off x="428625" y="3804465"/>
            <a:ext cx="2286000" cy="117871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7"/>
          <p:cNvSpPr/>
          <p:nvPr/>
        </p:nvSpPr>
        <p:spPr>
          <a:xfrm>
            <a:off x="428625" y="3804465"/>
            <a:ext cx="2286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18"/>
          <p:cNvSpPr/>
          <p:nvPr/>
        </p:nvSpPr>
        <p:spPr>
          <a:xfrm>
            <a:off x="514350" y="3897334"/>
            <a:ext cx="64201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서명 (Signature)</a:t>
            </a:r>
            <a:endParaRPr lang="en-US" sz="584" dirty="0"/>
          </a:p>
        </p:txBody>
      </p:sp>
      <p:sp>
        <p:nvSpPr>
          <p:cNvPr id="24" name="Text 19"/>
          <p:cNvSpPr/>
          <p:nvPr/>
        </p:nvSpPr>
        <p:spPr>
          <a:xfrm>
            <a:off x="2439786" y="3897334"/>
            <a:ext cx="1891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F4444"/>
                </a:solidFill>
              </a:rPr>
              <a:t>* 필수</a:t>
            </a:r>
            <a:endParaRPr lang="en-US" sz="485" dirty="0"/>
          </a:p>
        </p:txBody>
      </p:sp>
      <p:sp>
        <p:nvSpPr>
          <p:cNvPr id="25" name="Shape 20"/>
          <p:cNvSpPr/>
          <p:nvPr/>
        </p:nvSpPr>
        <p:spPr>
          <a:xfrm>
            <a:off x="514350" y="4081286"/>
            <a:ext cx="2114550" cy="501848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2528888" y="400984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2"/>
          <p:cNvSpPr/>
          <p:nvPr/>
        </p:nvSpPr>
        <p:spPr>
          <a:xfrm>
            <a:off x="2528888" y="400984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8" name="Shape 23"/>
          <p:cNvSpPr/>
          <p:nvPr/>
        </p:nvSpPr>
        <p:spPr>
          <a:xfrm>
            <a:off x="514350" y="4640284"/>
            <a:ext cx="571500" cy="2571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4"/>
          <p:cNvSpPr/>
          <p:nvPr/>
        </p:nvSpPr>
        <p:spPr>
          <a:xfrm>
            <a:off x="514350" y="4640284"/>
            <a:ext cx="571500" cy="257175"/>
          </a:xfrm>
          <a:prstGeom prst="rect">
            <a:avLst/>
          </a:prstGeom>
          <a:noFill/>
          <a:ln/>
        </p:spPr>
        <p:txBody>
          <a:bodyPr wrap="square" lIns="51054" tIns="8509" rIns="51054" bIns="8509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초기화</a:t>
            </a:r>
            <a:endParaRPr lang="en-US" sz="584" dirty="0"/>
          </a:p>
        </p:txBody>
      </p:sp>
      <p:sp>
        <p:nvSpPr>
          <p:cNvPr id="30" name="Shape 25"/>
          <p:cNvSpPr/>
          <p:nvPr/>
        </p:nvSpPr>
        <p:spPr>
          <a:xfrm>
            <a:off x="642938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6"/>
          <p:cNvSpPr/>
          <p:nvPr/>
        </p:nvSpPr>
        <p:spPr>
          <a:xfrm>
            <a:off x="642938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2" name="Shape 27"/>
          <p:cNvSpPr/>
          <p:nvPr/>
        </p:nvSpPr>
        <p:spPr>
          <a:xfrm>
            <a:off x="1157288" y="4640284"/>
            <a:ext cx="1471613" cy="2571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8"/>
          <p:cNvSpPr/>
          <p:nvPr/>
        </p:nvSpPr>
        <p:spPr>
          <a:xfrm>
            <a:off x="1157288" y="4640284"/>
            <a:ext cx="1471613" cy="257175"/>
          </a:xfrm>
          <a:prstGeom prst="rect">
            <a:avLst/>
          </a:prstGeom>
          <a:noFill/>
          <a:ln/>
        </p:spPr>
        <p:txBody>
          <a:bodyPr wrap="square" lIns="51054" tIns="8509" rIns="51054" bIns="8509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서명 완료 및 제출</a:t>
            </a:r>
            <a:endParaRPr lang="en-US" sz="584" dirty="0"/>
          </a:p>
        </p:txBody>
      </p:sp>
      <p:sp>
        <p:nvSpPr>
          <p:cNvPr id="34" name="Shape 29"/>
          <p:cNvSpPr/>
          <p:nvPr/>
        </p:nvSpPr>
        <p:spPr>
          <a:xfrm>
            <a:off x="2471738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0"/>
          <p:cNvSpPr/>
          <p:nvPr/>
        </p:nvSpPr>
        <p:spPr>
          <a:xfrm>
            <a:off x="2471738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36" name="Shape 31"/>
          <p:cNvSpPr/>
          <p:nvPr/>
        </p:nvSpPr>
        <p:spPr>
          <a:xfrm>
            <a:off x="3143250" y="1325584"/>
            <a:ext cx="5572125" cy="82580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3143250" y="1325584"/>
            <a:ext cx="28575" cy="82580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3"/>
          <p:cNvSpPr/>
          <p:nvPr/>
        </p:nvSpPr>
        <p:spPr>
          <a:xfrm>
            <a:off x="3214688" y="1400594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4"/>
          <p:cNvSpPr/>
          <p:nvPr/>
        </p:nvSpPr>
        <p:spPr>
          <a:xfrm>
            <a:off x="3214688" y="1400594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0" name="Text 35"/>
          <p:cNvSpPr/>
          <p:nvPr/>
        </p:nvSpPr>
        <p:spPr>
          <a:xfrm>
            <a:off x="3443288" y="1397022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계약서 템플릿 뷰어</a:t>
            </a:r>
            <a:endParaRPr lang="en-US" sz="784" dirty="0"/>
          </a:p>
        </p:txBody>
      </p:sp>
      <p:sp>
        <p:nvSpPr>
          <p:cNvPr id="41" name="Text 36"/>
          <p:cNvSpPr/>
          <p:nvPr/>
        </p:nvSpPr>
        <p:spPr>
          <a:xfrm>
            <a:off x="3214688" y="1604190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42" name="Text 37"/>
          <p:cNvSpPr/>
          <p:nvPr/>
        </p:nvSpPr>
        <p:spPr>
          <a:xfrm>
            <a:off x="3829050" y="1604190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/api/v1/contracts/template/{id}</a:t>
            </a:r>
            <a:endParaRPr lang="en-US" sz="674" dirty="0"/>
          </a:p>
        </p:txBody>
      </p:sp>
      <p:sp>
        <p:nvSpPr>
          <p:cNvPr id="43" name="Text 38"/>
          <p:cNvSpPr/>
          <p:nvPr/>
        </p:nvSpPr>
        <p:spPr>
          <a:xfrm>
            <a:off x="3214688" y="1777064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Format</a:t>
            </a:r>
            <a:endParaRPr lang="en-US" sz="634" dirty="0"/>
          </a:p>
        </p:txBody>
      </p:sp>
      <p:sp>
        <p:nvSpPr>
          <p:cNvPr id="44" name="Text 39"/>
          <p:cNvSpPr/>
          <p:nvPr/>
        </p:nvSpPr>
        <p:spPr>
          <a:xfrm>
            <a:off x="3829050" y="1777064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HTML Content (Mustache/Thymeleaf 렌더링)</a:t>
            </a:r>
            <a:endParaRPr lang="en-US" sz="674" dirty="0"/>
          </a:p>
        </p:txBody>
      </p:sp>
      <p:sp>
        <p:nvSpPr>
          <p:cNvPr id="45" name="Text 40"/>
          <p:cNvSpPr/>
          <p:nvPr/>
        </p:nvSpPr>
        <p:spPr>
          <a:xfrm>
            <a:off x="3214688" y="194993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Data</a:t>
            </a:r>
            <a:endParaRPr lang="en-US" sz="634" dirty="0"/>
          </a:p>
        </p:txBody>
      </p:sp>
      <p:sp>
        <p:nvSpPr>
          <p:cNvPr id="46" name="Text 41"/>
          <p:cNvSpPr/>
          <p:nvPr/>
        </p:nvSpPr>
        <p:spPr>
          <a:xfrm>
            <a:off x="3829050" y="1949937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노무자 정보, 현장 정보, 임금 조건 등 사전 바인딩</a:t>
            </a:r>
            <a:endParaRPr lang="en-US" sz="674" dirty="0"/>
          </a:p>
        </p:txBody>
      </p:sp>
      <p:sp>
        <p:nvSpPr>
          <p:cNvPr id="47" name="Shape 42"/>
          <p:cNvSpPr/>
          <p:nvPr/>
        </p:nvSpPr>
        <p:spPr>
          <a:xfrm>
            <a:off x="3143250" y="2208535"/>
            <a:ext cx="5572125" cy="82580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3143250" y="2208535"/>
            <a:ext cx="28575" cy="82580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Shape 44"/>
          <p:cNvSpPr/>
          <p:nvPr/>
        </p:nvSpPr>
        <p:spPr>
          <a:xfrm>
            <a:off x="3214688" y="2283544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5"/>
          <p:cNvSpPr/>
          <p:nvPr/>
        </p:nvSpPr>
        <p:spPr>
          <a:xfrm>
            <a:off x="3214688" y="2283544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6"/>
          <p:cNvSpPr/>
          <p:nvPr/>
        </p:nvSpPr>
        <p:spPr>
          <a:xfrm>
            <a:off x="3443288" y="2279972"/>
            <a:ext cx="95293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서명 패드 (Canvas)</a:t>
            </a:r>
            <a:endParaRPr lang="en-US" sz="784" dirty="0"/>
          </a:p>
        </p:txBody>
      </p:sp>
      <p:sp>
        <p:nvSpPr>
          <p:cNvPr id="52" name="Text 47"/>
          <p:cNvSpPr/>
          <p:nvPr/>
        </p:nvSpPr>
        <p:spPr>
          <a:xfrm>
            <a:off x="3214688" y="2487141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Tech</a:t>
            </a:r>
            <a:endParaRPr lang="en-US" sz="634" dirty="0"/>
          </a:p>
        </p:txBody>
      </p:sp>
      <p:sp>
        <p:nvSpPr>
          <p:cNvPr id="53" name="Text 48"/>
          <p:cNvSpPr/>
          <p:nvPr/>
        </p:nvSpPr>
        <p:spPr>
          <a:xfrm>
            <a:off x="3829050" y="2487141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HTML5 Canvas API (2D Context)</a:t>
            </a:r>
            <a:endParaRPr lang="en-US" sz="674" dirty="0"/>
          </a:p>
        </p:txBody>
      </p:sp>
      <p:sp>
        <p:nvSpPr>
          <p:cNvPr id="54" name="Text 49"/>
          <p:cNvSpPr/>
          <p:nvPr/>
        </p:nvSpPr>
        <p:spPr>
          <a:xfrm>
            <a:off x="3214688" y="2660014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Events</a:t>
            </a:r>
            <a:endParaRPr lang="en-US" sz="634" dirty="0"/>
          </a:p>
        </p:txBody>
      </p:sp>
      <p:sp>
        <p:nvSpPr>
          <p:cNvPr id="55" name="Text 50"/>
          <p:cNvSpPr/>
          <p:nvPr/>
        </p:nvSpPr>
        <p:spPr>
          <a:xfrm>
            <a:off x="3829050" y="2660014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touchstart, touchmove, touchend (Mobile Support)</a:t>
            </a:r>
            <a:endParaRPr lang="en-US" sz="674" dirty="0"/>
          </a:p>
        </p:txBody>
      </p:sp>
      <p:sp>
        <p:nvSpPr>
          <p:cNvPr id="56" name="Text 51"/>
          <p:cNvSpPr/>
          <p:nvPr/>
        </p:nvSpPr>
        <p:spPr>
          <a:xfrm>
            <a:off x="3214688" y="2832888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57" name="Text 52"/>
          <p:cNvSpPr/>
          <p:nvPr/>
        </p:nvSpPr>
        <p:spPr>
          <a:xfrm>
            <a:off x="3829050" y="2832888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좌표 배열 저장 및 베지어 곡선 보정 처리</a:t>
            </a:r>
            <a:endParaRPr lang="en-US" sz="674" dirty="0"/>
          </a:p>
        </p:txBody>
      </p:sp>
      <p:sp>
        <p:nvSpPr>
          <p:cNvPr id="58" name="Shape 53"/>
          <p:cNvSpPr/>
          <p:nvPr/>
        </p:nvSpPr>
        <p:spPr>
          <a:xfrm>
            <a:off x="3143250" y="3091486"/>
            <a:ext cx="5572125" cy="652928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59" name="Shape 54"/>
          <p:cNvSpPr/>
          <p:nvPr/>
        </p:nvSpPr>
        <p:spPr>
          <a:xfrm>
            <a:off x="3143250" y="3091486"/>
            <a:ext cx="28575" cy="652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Shape 55"/>
          <p:cNvSpPr/>
          <p:nvPr/>
        </p:nvSpPr>
        <p:spPr>
          <a:xfrm>
            <a:off x="3214688" y="3166495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1" name="Text 56"/>
          <p:cNvSpPr/>
          <p:nvPr/>
        </p:nvSpPr>
        <p:spPr>
          <a:xfrm>
            <a:off x="3214688" y="3166495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2" name="Text 57"/>
          <p:cNvSpPr/>
          <p:nvPr/>
        </p:nvSpPr>
        <p:spPr>
          <a:xfrm>
            <a:off x="3443288" y="3162923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초기화 버튼</a:t>
            </a:r>
            <a:endParaRPr lang="en-US" sz="784" dirty="0"/>
          </a:p>
        </p:txBody>
      </p:sp>
      <p:sp>
        <p:nvSpPr>
          <p:cNvPr id="63" name="Text 58"/>
          <p:cNvSpPr/>
          <p:nvPr/>
        </p:nvSpPr>
        <p:spPr>
          <a:xfrm>
            <a:off x="3214688" y="3370092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64" name="Text 59"/>
          <p:cNvSpPr/>
          <p:nvPr/>
        </p:nvSpPr>
        <p:spPr>
          <a:xfrm>
            <a:off x="3829050" y="3370092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ctx.clearRect(0, 0, width, height)</a:t>
            </a:r>
            <a:endParaRPr lang="en-US" sz="674" dirty="0"/>
          </a:p>
        </p:txBody>
      </p:sp>
      <p:sp>
        <p:nvSpPr>
          <p:cNvPr id="65" name="Text 60"/>
          <p:cNvSpPr/>
          <p:nvPr/>
        </p:nvSpPr>
        <p:spPr>
          <a:xfrm>
            <a:off x="3214688" y="3542965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State</a:t>
            </a:r>
            <a:endParaRPr lang="en-US" sz="634" dirty="0"/>
          </a:p>
        </p:txBody>
      </p:sp>
      <p:sp>
        <p:nvSpPr>
          <p:cNvPr id="66" name="Text 61"/>
          <p:cNvSpPr/>
          <p:nvPr/>
        </p:nvSpPr>
        <p:spPr>
          <a:xfrm>
            <a:off x="3829050" y="3542965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서명 데이터 배열 초기화</a:t>
            </a:r>
            <a:endParaRPr lang="en-US" sz="674" dirty="0"/>
          </a:p>
        </p:txBody>
      </p:sp>
      <p:sp>
        <p:nvSpPr>
          <p:cNvPr id="67" name="Shape 62"/>
          <p:cNvSpPr/>
          <p:nvPr/>
        </p:nvSpPr>
        <p:spPr>
          <a:xfrm>
            <a:off x="3143250" y="3801563"/>
            <a:ext cx="5572125" cy="998674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8" name="Shape 63"/>
          <p:cNvSpPr/>
          <p:nvPr/>
        </p:nvSpPr>
        <p:spPr>
          <a:xfrm>
            <a:off x="3143250" y="3801563"/>
            <a:ext cx="28575" cy="99867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9" name="Shape 64"/>
          <p:cNvSpPr/>
          <p:nvPr/>
        </p:nvSpPr>
        <p:spPr>
          <a:xfrm>
            <a:off x="3214688" y="3876573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0" name="Text 65"/>
          <p:cNvSpPr/>
          <p:nvPr/>
        </p:nvSpPr>
        <p:spPr>
          <a:xfrm>
            <a:off x="3214688" y="3876573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71" name="Text 66"/>
          <p:cNvSpPr/>
          <p:nvPr/>
        </p:nvSpPr>
        <p:spPr>
          <a:xfrm>
            <a:off x="3443288" y="3873001"/>
            <a:ext cx="10713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서명 제출 및 PDF 생성</a:t>
            </a:r>
            <a:endParaRPr lang="en-US" sz="784" dirty="0"/>
          </a:p>
        </p:txBody>
      </p:sp>
      <p:sp>
        <p:nvSpPr>
          <p:cNvPr id="72" name="Text 67"/>
          <p:cNvSpPr/>
          <p:nvPr/>
        </p:nvSpPr>
        <p:spPr>
          <a:xfrm>
            <a:off x="3214688" y="4080170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Convert</a:t>
            </a:r>
            <a:endParaRPr lang="en-US" sz="634" dirty="0"/>
          </a:p>
        </p:txBody>
      </p:sp>
      <p:sp>
        <p:nvSpPr>
          <p:cNvPr id="73" name="Text 68"/>
          <p:cNvSpPr/>
          <p:nvPr/>
        </p:nvSpPr>
        <p:spPr>
          <a:xfrm>
            <a:off x="3829050" y="4080170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canvas.toDataURL('image/png') -&gt; Base64 String</a:t>
            </a:r>
            <a:endParaRPr lang="en-US" sz="674" dirty="0"/>
          </a:p>
        </p:txBody>
      </p:sp>
      <p:sp>
        <p:nvSpPr>
          <p:cNvPr id="74" name="Text 69"/>
          <p:cNvSpPr/>
          <p:nvPr/>
        </p:nvSpPr>
        <p:spPr>
          <a:xfrm>
            <a:off x="3214688" y="4253043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75" name="Text 70"/>
          <p:cNvSpPr/>
          <p:nvPr/>
        </p:nvSpPr>
        <p:spPr>
          <a:xfrm>
            <a:off x="3829050" y="4253043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/api/v1/contracts/sign</a:t>
            </a:r>
            <a:endParaRPr lang="en-US" sz="674" dirty="0"/>
          </a:p>
        </p:txBody>
      </p:sp>
      <p:sp>
        <p:nvSpPr>
          <p:cNvPr id="76" name="Text 71"/>
          <p:cNvSpPr/>
          <p:nvPr/>
        </p:nvSpPr>
        <p:spPr>
          <a:xfrm>
            <a:off x="3214688" y="4425916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Backend</a:t>
            </a:r>
            <a:endParaRPr lang="en-US" sz="634" dirty="0"/>
          </a:p>
        </p:txBody>
      </p:sp>
      <p:sp>
        <p:nvSpPr>
          <p:cNvPr id="77" name="Text 72"/>
          <p:cNvSpPr/>
          <p:nvPr/>
        </p:nvSpPr>
        <p:spPr>
          <a:xfrm>
            <a:off x="3829050" y="4425916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PDFBox/iText로 PDF 생성 및 서명 이미지 합성</a:t>
            </a:r>
            <a:endParaRPr lang="en-US" sz="674" dirty="0"/>
          </a:p>
        </p:txBody>
      </p:sp>
      <p:sp>
        <p:nvSpPr>
          <p:cNvPr id="78" name="Text 73"/>
          <p:cNvSpPr/>
          <p:nvPr/>
        </p:nvSpPr>
        <p:spPr>
          <a:xfrm>
            <a:off x="3214688" y="4598789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Storage</a:t>
            </a:r>
            <a:endParaRPr lang="en-US" sz="634" dirty="0"/>
          </a:p>
        </p:txBody>
      </p:sp>
      <p:sp>
        <p:nvSpPr>
          <p:cNvPr id="79" name="Text 74"/>
          <p:cNvSpPr/>
          <p:nvPr/>
        </p:nvSpPr>
        <p:spPr>
          <a:xfrm>
            <a:off x="3829050" y="4598789"/>
            <a:ext cx="48148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S3 업로드 후 URL 저장 (AES-256 암호화)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7153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[노무자] 월간 출역 캘린더 및 급여 (Calendar &amp; Pay)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7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월간 출역 기록 조회 및 예상 급여 확인, 급여 명세서 상세 조회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268434"/>
            <a:ext cx="2400300" cy="3971925"/>
          </a:xfrm>
          <a:prstGeom prst="rect">
            <a:avLst/>
          </a:prstGeom>
          <a:solidFill>
            <a:srgbClr val="1E293B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268434"/>
            <a:ext cx="2286000" cy="3643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25622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23" y="1389878"/>
            <a:ext cx="7143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9517" y="1369340"/>
            <a:ext cx="424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2026.01</a:t>
            </a:r>
            <a:endParaRPr lang="en-US" sz="78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861" y="1389878"/>
            <a:ext cx="71438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5813" y="148274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7"/>
          <p:cNvSpPr/>
          <p:nvPr/>
        </p:nvSpPr>
        <p:spPr>
          <a:xfrm>
            <a:off x="785813" y="148274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535781" y="1732778"/>
            <a:ext cx="2959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일</a:t>
            </a:r>
            <a:endParaRPr lang="en-US" sz="621" dirty="0"/>
          </a:p>
        </p:txBody>
      </p:sp>
      <p:sp>
        <p:nvSpPr>
          <p:cNvPr id="14" name="Text 9"/>
          <p:cNvSpPr/>
          <p:nvPr/>
        </p:nvSpPr>
        <p:spPr>
          <a:xfrm>
            <a:off x="831717" y="1732778"/>
            <a:ext cx="295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월</a:t>
            </a:r>
            <a:endParaRPr lang="en-US" sz="621" dirty="0"/>
          </a:p>
        </p:txBody>
      </p:sp>
      <p:sp>
        <p:nvSpPr>
          <p:cNvPr id="15" name="Text 10"/>
          <p:cNvSpPr/>
          <p:nvPr/>
        </p:nvSpPr>
        <p:spPr>
          <a:xfrm>
            <a:off x="1127680" y="1732778"/>
            <a:ext cx="295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화</a:t>
            </a:r>
            <a:endParaRPr lang="en-US" sz="621" dirty="0"/>
          </a:p>
        </p:txBody>
      </p:sp>
      <p:sp>
        <p:nvSpPr>
          <p:cNvPr id="16" name="Text 11"/>
          <p:cNvSpPr/>
          <p:nvPr/>
        </p:nvSpPr>
        <p:spPr>
          <a:xfrm>
            <a:off x="1423643" y="1732778"/>
            <a:ext cx="2959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수</a:t>
            </a:r>
            <a:endParaRPr lang="en-US" sz="621" dirty="0"/>
          </a:p>
        </p:txBody>
      </p:sp>
      <p:sp>
        <p:nvSpPr>
          <p:cNvPr id="17" name="Text 12"/>
          <p:cNvSpPr/>
          <p:nvPr/>
        </p:nvSpPr>
        <p:spPr>
          <a:xfrm>
            <a:off x="1719579" y="1732778"/>
            <a:ext cx="295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목</a:t>
            </a:r>
            <a:endParaRPr lang="en-US" sz="621" dirty="0"/>
          </a:p>
        </p:txBody>
      </p:sp>
      <p:sp>
        <p:nvSpPr>
          <p:cNvPr id="18" name="Text 13"/>
          <p:cNvSpPr/>
          <p:nvPr/>
        </p:nvSpPr>
        <p:spPr>
          <a:xfrm>
            <a:off x="2015542" y="1732778"/>
            <a:ext cx="295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금</a:t>
            </a:r>
            <a:endParaRPr lang="en-US" sz="621" dirty="0"/>
          </a:p>
        </p:txBody>
      </p:sp>
      <p:sp>
        <p:nvSpPr>
          <p:cNvPr id="19" name="Text 14"/>
          <p:cNvSpPr/>
          <p:nvPr/>
        </p:nvSpPr>
        <p:spPr>
          <a:xfrm>
            <a:off x="2311505" y="1732778"/>
            <a:ext cx="2959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토</a:t>
            </a:r>
            <a:endParaRPr lang="en-US" sz="621" dirty="0"/>
          </a:p>
        </p:txBody>
      </p:sp>
      <p:sp>
        <p:nvSpPr>
          <p:cNvPr id="20" name="Shape 15"/>
          <p:cNvSpPr/>
          <p:nvPr/>
        </p:nvSpPr>
        <p:spPr>
          <a:xfrm>
            <a:off x="535781" y="1931017"/>
            <a:ext cx="246962" cy="28575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535781" y="1931017"/>
            <a:ext cx="2469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30000"/>
                  </a:srgbClr>
                </a:solidFill>
              </a:rPr>
              <a:t>29</a:t>
            </a:r>
            <a:endParaRPr lang="en-US" sz="621" dirty="0"/>
          </a:p>
        </p:txBody>
      </p:sp>
      <p:sp>
        <p:nvSpPr>
          <p:cNvPr id="22" name="Shape 17"/>
          <p:cNvSpPr/>
          <p:nvPr/>
        </p:nvSpPr>
        <p:spPr>
          <a:xfrm>
            <a:off x="839893" y="1931017"/>
            <a:ext cx="246962" cy="28575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39893" y="1931017"/>
            <a:ext cx="2469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30000"/>
                  </a:srgbClr>
                </a:solidFill>
              </a:rPr>
              <a:t>30</a:t>
            </a:r>
            <a:endParaRPr lang="en-US" sz="621" dirty="0"/>
          </a:p>
        </p:txBody>
      </p:sp>
      <p:sp>
        <p:nvSpPr>
          <p:cNvPr id="24" name="Shape 19"/>
          <p:cNvSpPr/>
          <p:nvPr/>
        </p:nvSpPr>
        <p:spPr>
          <a:xfrm>
            <a:off x="1144005" y="1931017"/>
            <a:ext cx="246962" cy="28575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1144005" y="1931017"/>
            <a:ext cx="2469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>
                    <a:alpha val="30000"/>
                  </a:srgbClr>
                </a:solidFill>
              </a:rPr>
              <a:t>31</a:t>
            </a:r>
            <a:endParaRPr lang="en-US" sz="621" dirty="0"/>
          </a:p>
        </p:txBody>
      </p:sp>
      <p:sp>
        <p:nvSpPr>
          <p:cNvPr id="26" name="Shape 21"/>
          <p:cNvSpPr/>
          <p:nvPr/>
        </p:nvSpPr>
        <p:spPr>
          <a:xfrm>
            <a:off x="1448116" y="1931017"/>
            <a:ext cx="24699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2"/>
          <p:cNvSpPr/>
          <p:nvPr/>
        </p:nvSpPr>
        <p:spPr>
          <a:xfrm>
            <a:off x="1448116" y="1931017"/>
            <a:ext cx="2469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</a:t>
            </a:r>
            <a:endParaRPr lang="en-US" sz="621" dirty="0"/>
          </a:p>
        </p:txBody>
      </p:sp>
      <p:sp>
        <p:nvSpPr>
          <p:cNvPr id="28" name="Shape 23"/>
          <p:cNvSpPr/>
          <p:nvPr/>
        </p:nvSpPr>
        <p:spPr>
          <a:xfrm>
            <a:off x="1752256" y="19310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851208" y="19667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2</a:t>
            </a:r>
            <a:endParaRPr lang="en-US" sz="621" dirty="0"/>
          </a:p>
        </p:txBody>
      </p:sp>
      <p:sp>
        <p:nvSpPr>
          <p:cNvPr id="30" name="Text 25"/>
          <p:cNvSpPr/>
          <p:nvPr/>
        </p:nvSpPr>
        <p:spPr>
          <a:xfrm>
            <a:off x="1824670" y="20828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31" name="Shape 26"/>
          <p:cNvSpPr/>
          <p:nvPr/>
        </p:nvSpPr>
        <p:spPr>
          <a:xfrm>
            <a:off x="2056368" y="19310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155320" y="19667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3</a:t>
            </a:r>
            <a:endParaRPr lang="en-US" sz="621" dirty="0"/>
          </a:p>
        </p:txBody>
      </p:sp>
      <p:sp>
        <p:nvSpPr>
          <p:cNvPr id="33" name="Text 28"/>
          <p:cNvSpPr/>
          <p:nvPr/>
        </p:nvSpPr>
        <p:spPr>
          <a:xfrm>
            <a:off x="2128782" y="20828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34" name="Shape 29"/>
          <p:cNvSpPr/>
          <p:nvPr/>
        </p:nvSpPr>
        <p:spPr>
          <a:xfrm>
            <a:off x="2360479" y="1931017"/>
            <a:ext cx="24699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0"/>
          <p:cNvSpPr/>
          <p:nvPr/>
        </p:nvSpPr>
        <p:spPr>
          <a:xfrm>
            <a:off x="2360479" y="1931017"/>
            <a:ext cx="2469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4</a:t>
            </a:r>
            <a:endParaRPr lang="en-US" sz="621" dirty="0"/>
          </a:p>
        </p:txBody>
      </p:sp>
      <p:sp>
        <p:nvSpPr>
          <p:cNvPr id="36" name="Shape 31"/>
          <p:cNvSpPr/>
          <p:nvPr/>
        </p:nvSpPr>
        <p:spPr>
          <a:xfrm>
            <a:off x="535781" y="2273917"/>
            <a:ext cx="246962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2"/>
          <p:cNvSpPr/>
          <p:nvPr/>
        </p:nvSpPr>
        <p:spPr>
          <a:xfrm>
            <a:off x="535781" y="2273917"/>
            <a:ext cx="2469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5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839893" y="22739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38845" y="23096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6</a:t>
            </a:r>
            <a:endParaRPr lang="en-US" sz="621" dirty="0"/>
          </a:p>
        </p:txBody>
      </p:sp>
      <p:sp>
        <p:nvSpPr>
          <p:cNvPr id="40" name="Text 35"/>
          <p:cNvSpPr/>
          <p:nvPr/>
        </p:nvSpPr>
        <p:spPr>
          <a:xfrm>
            <a:off x="912307" y="24257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41" name="Shape 36"/>
          <p:cNvSpPr/>
          <p:nvPr/>
        </p:nvSpPr>
        <p:spPr>
          <a:xfrm>
            <a:off x="1144005" y="22739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242957" y="23096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7</a:t>
            </a:r>
            <a:endParaRPr lang="en-US" sz="621" dirty="0"/>
          </a:p>
        </p:txBody>
      </p:sp>
      <p:sp>
        <p:nvSpPr>
          <p:cNvPr id="43" name="Text 38"/>
          <p:cNvSpPr/>
          <p:nvPr/>
        </p:nvSpPr>
        <p:spPr>
          <a:xfrm>
            <a:off x="1216419" y="24257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59E0B"/>
                </a:solidFill>
              </a:rPr>
              <a:t>0.5</a:t>
            </a:r>
            <a:endParaRPr lang="en-US" sz="485" dirty="0"/>
          </a:p>
        </p:txBody>
      </p:sp>
      <p:sp>
        <p:nvSpPr>
          <p:cNvPr id="44" name="Shape 39"/>
          <p:cNvSpPr/>
          <p:nvPr/>
        </p:nvSpPr>
        <p:spPr>
          <a:xfrm>
            <a:off x="1448116" y="2273917"/>
            <a:ext cx="246990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547068" y="23096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8</a:t>
            </a:r>
            <a:endParaRPr lang="en-US" sz="621" dirty="0"/>
          </a:p>
        </p:txBody>
      </p:sp>
      <p:sp>
        <p:nvSpPr>
          <p:cNvPr id="46" name="Text 41"/>
          <p:cNvSpPr/>
          <p:nvPr/>
        </p:nvSpPr>
        <p:spPr>
          <a:xfrm>
            <a:off x="1520558" y="24257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47" name="Shape 42"/>
          <p:cNvSpPr/>
          <p:nvPr/>
        </p:nvSpPr>
        <p:spPr>
          <a:xfrm>
            <a:off x="1752256" y="22739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1851208" y="2309636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9</a:t>
            </a:r>
            <a:endParaRPr lang="en-US" sz="621" dirty="0"/>
          </a:p>
        </p:txBody>
      </p:sp>
      <p:sp>
        <p:nvSpPr>
          <p:cNvPr id="49" name="Text 44"/>
          <p:cNvSpPr/>
          <p:nvPr/>
        </p:nvSpPr>
        <p:spPr>
          <a:xfrm>
            <a:off x="1824670" y="24257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50" name="Shape 45"/>
          <p:cNvSpPr/>
          <p:nvPr/>
        </p:nvSpPr>
        <p:spPr>
          <a:xfrm>
            <a:off x="2056368" y="2273917"/>
            <a:ext cx="2469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130791" y="2309636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10</a:t>
            </a:r>
            <a:endParaRPr lang="en-US" sz="621" dirty="0"/>
          </a:p>
        </p:txBody>
      </p:sp>
      <p:sp>
        <p:nvSpPr>
          <p:cNvPr id="52" name="Text 47"/>
          <p:cNvSpPr/>
          <p:nvPr/>
        </p:nvSpPr>
        <p:spPr>
          <a:xfrm>
            <a:off x="2128782" y="2425722"/>
            <a:ext cx="102105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0B981"/>
                </a:solidFill>
              </a:rPr>
              <a:t>1.0</a:t>
            </a:r>
            <a:endParaRPr lang="en-US" sz="485" dirty="0"/>
          </a:p>
        </p:txBody>
      </p:sp>
      <p:sp>
        <p:nvSpPr>
          <p:cNvPr id="53" name="Shape 48"/>
          <p:cNvSpPr/>
          <p:nvPr/>
        </p:nvSpPr>
        <p:spPr>
          <a:xfrm>
            <a:off x="2360479" y="2273917"/>
            <a:ext cx="24699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Text 49"/>
          <p:cNvSpPr/>
          <p:nvPr/>
        </p:nvSpPr>
        <p:spPr>
          <a:xfrm>
            <a:off x="2360479" y="2273917"/>
            <a:ext cx="2469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11</a:t>
            </a:r>
            <a:endParaRPr lang="en-US" sz="621" dirty="0"/>
          </a:p>
        </p:txBody>
      </p:sp>
      <p:sp>
        <p:nvSpPr>
          <p:cNvPr id="55" name="Shape 50"/>
          <p:cNvSpPr/>
          <p:nvPr/>
        </p:nvSpPr>
        <p:spPr>
          <a:xfrm>
            <a:off x="1571625" y="281148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1"/>
          <p:cNvSpPr/>
          <p:nvPr/>
        </p:nvSpPr>
        <p:spPr>
          <a:xfrm>
            <a:off x="1571625" y="281148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57" name="Shape 52"/>
          <p:cNvSpPr/>
          <p:nvPr/>
        </p:nvSpPr>
        <p:spPr>
          <a:xfrm>
            <a:off x="428625" y="3865187"/>
            <a:ext cx="2286000" cy="12608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Shape 53"/>
          <p:cNvSpPr/>
          <p:nvPr/>
        </p:nvSpPr>
        <p:spPr>
          <a:xfrm>
            <a:off x="428625" y="3865187"/>
            <a:ext cx="22860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" name="Text 54"/>
          <p:cNvSpPr/>
          <p:nvPr/>
        </p:nvSpPr>
        <p:spPr>
          <a:xfrm>
            <a:off x="571500" y="4015206"/>
            <a:ext cx="4513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총 출역일수</a:t>
            </a:r>
            <a:endParaRPr lang="en-US" sz="674" dirty="0"/>
          </a:p>
        </p:txBody>
      </p:sp>
      <p:sp>
        <p:nvSpPr>
          <p:cNvPr id="60" name="Text 55"/>
          <p:cNvSpPr/>
          <p:nvPr/>
        </p:nvSpPr>
        <p:spPr>
          <a:xfrm>
            <a:off x="2380069" y="4015206"/>
            <a:ext cx="1916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22일</a:t>
            </a:r>
            <a:endParaRPr lang="en-US" sz="674" dirty="0"/>
          </a:p>
        </p:txBody>
      </p:sp>
      <p:sp>
        <p:nvSpPr>
          <p:cNvPr id="61" name="Text 56"/>
          <p:cNvSpPr/>
          <p:nvPr/>
        </p:nvSpPr>
        <p:spPr>
          <a:xfrm>
            <a:off x="571500" y="4208087"/>
            <a:ext cx="2804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총 공수</a:t>
            </a:r>
            <a:endParaRPr lang="en-US" sz="674" dirty="0"/>
          </a:p>
        </p:txBody>
      </p:sp>
      <p:sp>
        <p:nvSpPr>
          <p:cNvPr id="62" name="Text 57"/>
          <p:cNvSpPr/>
          <p:nvPr/>
        </p:nvSpPr>
        <p:spPr>
          <a:xfrm>
            <a:off x="2192462" y="4208087"/>
            <a:ext cx="3792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22.5 공수</a:t>
            </a:r>
            <a:endParaRPr lang="en-US" sz="674" dirty="0"/>
          </a:p>
        </p:txBody>
      </p:sp>
      <p:sp>
        <p:nvSpPr>
          <p:cNvPr id="63" name="Text 58"/>
          <p:cNvSpPr/>
          <p:nvPr/>
        </p:nvSpPr>
        <p:spPr>
          <a:xfrm>
            <a:off x="1855366" y="4415256"/>
            <a:ext cx="7163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₩ 3,375,000</a:t>
            </a:r>
            <a:endParaRPr lang="en-US" sz="885" dirty="0"/>
          </a:p>
        </p:txBody>
      </p:sp>
      <p:sp>
        <p:nvSpPr>
          <p:cNvPr id="64" name="Shape 59"/>
          <p:cNvSpPr/>
          <p:nvPr/>
        </p:nvSpPr>
        <p:spPr>
          <a:xfrm>
            <a:off x="2614613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0"/>
          <p:cNvSpPr/>
          <p:nvPr/>
        </p:nvSpPr>
        <p:spPr>
          <a:xfrm>
            <a:off x="2614613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66" name="Shape 61"/>
          <p:cNvSpPr/>
          <p:nvPr/>
        </p:nvSpPr>
        <p:spPr>
          <a:xfrm>
            <a:off x="571500" y="4697434"/>
            <a:ext cx="2000250" cy="28575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7" name="Text 62"/>
          <p:cNvSpPr/>
          <p:nvPr/>
        </p:nvSpPr>
        <p:spPr>
          <a:xfrm>
            <a:off x="1240166" y="4778694"/>
            <a:ext cx="6628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급여 명세서 보기</a:t>
            </a:r>
            <a:endParaRPr lang="en-US" sz="650" dirty="0"/>
          </a:p>
        </p:txBody>
      </p:sp>
      <p:sp>
        <p:nvSpPr>
          <p:cNvPr id="68" name="Shape 63"/>
          <p:cNvSpPr/>
          <p:nvPr/>
        </p:nvSpPr>
        <p:spPr>
          <a:xfrm>
            <a:off x="2614613" y="119699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9" name="Text 64"/>
          <p:cNvSpPr/>
          <p:nvPr/>
        </p:nvSpPr>
        <p:spPr>
          <a:xfrm>
            <a:off x="2614613" y="119699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70" name="Shape 65"/>
          <p:cNvSpPr/>
          <p:nvPr/>
        </p:nvSpPr>
        <p:spPr>
          <a:xfrm>
            <a:off x="3286125" y="1268434"/>
            <a:ext cx="2643188" cy="185737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71" name="Shape 66"/>
          <p:cNvSpPr/>
          <p:nvPr/>
        </p:nvSpPr>
        <p:spPr>
          <a:xfrm>
            <a:off x="3286125" y="1268434"/>
            <a:ext cx="28575" cy="1857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2" name="Shape 67"/>
          <p:cNvSpPr/>
          <p:nvPr/>
        </p:nvSpPr>
        <p:spPr>
          <a:xfrm>
            <a:off x="3429000" y="14113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3" name="Text 68"/>
          <p:cNvSpPr/>
          <p:nvPr/>
        </p:nvSpPr>
        <p:spPr>
          <a:xfrm>
            <a:off x="3429000" y="141130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74" name="Text 69"/>
          <p:cNvSpPr/>
          <p:nvPr/>
        </p:nvSpPr>
        <p:spPr>
          <a:xfrm>
            <a:off x="3671888" y="1414881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월 선택 네비게이션</a:t>
            </a:r>
            <a:endParaRPr lang="en-US" sz="784" dirty="0"/>
          </a:p>
        </p:txBody>
      </p:sp>
      <p:sp>
        <p:nvSpPr>
          <p:cNvPr id="75" name="Text 70"/>
          <p:cNvSpPr/>
          <p:nvPr/>
        </p:nvSpPr>
        <p:spPr>
          <a:xfrm>
            <a:off x="3429000" y="1689915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State</a:t>
            </a:r>
            <a:endParaRPr lang="en-US" sz="634" dirty="0"/>
          </a:p>
        </p:txBody>
      </p:sp>
      <p:sp>
        <p:nvSpPr>
          <p:cNvPr id="76" name="Text 71"/>
          <p:cNvSpPr/>
          <p:nvPr/>
        </p:nvSpPr>
        <p:spPr>
          <a:xfrm>
            <a:off x="4057650" y="1689915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currentDate (YYYY-MM)</a:t>
            </a:r>
            <a:endParaRPr lang="en-US" sz="674" dirty="0"/>
          </a:p>
        </p:txBody>
      </p:sp>
      <p:sp>
        <p:nvSpPr>
          <p:cNvPr id="77" name="Text 72"/>
          <p:cNvSpPr/>
          <p:nvPr/>
        </p:nvSpPr>
        <p:spPr>
          <a:xfrm>
            <a:off x="3429000" y="1877076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Event</a:t>
            </a:r>
            <a:endParaRPr lang="en-US" sz="634" dirty="0"/>
          </a:p>
        </p:txBody>
      </p:sp>
      <p:sp>
        <p:nvSpPr>
          <p:cNvPr id="78" name="Text 73"/>
          <p:cNvSpPr/>
          <p:nvPr/>
        </p:nvSpPr>
        <p:spPr>
          <a:xfrm>
            <a:off x="4057650" y="1877076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onClick -&gt; API Refetch</a:t>
            </a:r>
            <a:endParaRPr lang="en-US" sz="674" dirty="0"/>
          </a:p>
        </p:txBody>
      </p:sp>
      <p:sp>
        <p:nvSpPr>
          <p:cNvPr id="79" name="Text 74"/>
          <p:cNvSpPr/>
          <p:nvPr/>
        </p:nvSpPr>
        <p:spPr>
          <a:xfrm>
            <a:off x="3429000" y="206423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Limit</a:t>
            </a:r>
            <a:endParaRPr lang="en-US" sz="634" dirty="0"/>
          </a:p>
        </p:txBody>
      </p:sp>
      <p:sp>
        <p:nvSpPr>
          <p:cNvPr id="80" name="Text 75"/>
          <p:cNvSpPr/>
          <p:nvPr/>
        </p:nvSpPr>
        <p:spPr>
          <a:xfrm>
            <a:off x="4057650" y="206423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미래 날짜 선택 불가 (Disabled)</a:t>
            </a:r>
            <a:endParaRPr lang="en-US" sz="674" dirty="0"/>
          </a:p>
        </p:txBody>
      </p:sp>
      <p:sp>
        <p:nvSpPr>
          <p:cNvPr id="81" name="Shape 76"/>
          <p:cNvSpPr/>
          <p:nvPr/>
        </p:nvSpPr>
        <p:spPr>
          <a:xfrm>
            <a:off x="6072188" y="1268434"/>
            <a:ext cx="2643188" cy="185737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6072188" y="1268434"/>
            <a:ext cx="28575" cy="1857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3" name="Shape 78"/>
          <p:cNvSpPr/>
          <p:nvPr/>
        </p:nvSpPr>
        <p:spPr>
          <a:xfrm>
            <a:off x="6215063" y="14113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9"/>
          <p:cNvSpPr/>
          <p:nvPr/>
        </p:nvSpPr>
        <p:spPr>
          <a:xfrm>
            <a:off x="6215063" y="141130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5" name="Text 80"/>
          <p:cNvSpPr/>
          <p:nvPr/>
        </p:nvSpPr>
        <p:spPr>
          <a:xfrm>
            <a:off x="6457950" y="1414881"/>
            <a:ext cx="100584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캘린더 데이터 렌더링</a:t>
            </a:r>
            <a:endParaRPr lang="en-US" sz="784" dirty="0"/>
          </a:p>
        </p:txBody>
      </p:sp>
      <p:sp>
        <p:nvSpPr>
          <p:cNvPr id="86" name="Text 81"/>
          <p:cNvSpPr/>
          <p:nvPr/>
        </p:nvSpPr>
        <p:spPr>
          <a:xfrm>
            <a:off x="6215063" y="1689915"/>
            <a:ext cx="5715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87" name="Text 82"/>
          <p:cNvSpPr/>
          <p:nvPr/>
        </p:nvSpPr>
        <p:spPr>
          <a:xfrm>
            <a:off x="6843713" y="1689915"/>
            <a:ext cx="172878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/api/v1/worker/attendance/monthly</a:t>
            </a:r>
            <a:endParaRPr lang="en-US" sz="674" dirty="0"/>
          </a:p>
        </p:txBody>
      </p:sp>
      <p:sp>
        <p:nvSpPr>
          <p:cNvPr id="88" name="Text 83"/>
          <p:cNvSpPr/>
          <p:nvPr/>
        </p:nvSpPr>
        <p:spPr>
          <a:xfrm>
            <a:off x="6215063" y="200708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Params</a:t>
            </a:r>
            <a:endParaRPr lang="en-US" sz="634" dirty="0"/>
          </a:p>
        </p:txBody>
      </p:sp>
      <p:sp>
        <p:nvSpPr>
          <p:cNvPr id="89" name="Text 84"/>
          <p:cNvSpPr/>
          <p:nvPr/>
        </p:nvSpPr>
        <p:spPr>
          <a:xfrm>
            <a:off x="6843713" y="200708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?year=2026&amp;month=01</a:t>
            </a:r>
            <a:endParaRPr lang="en-US" sz="674" dirty="0"/>
          </a:p>
        </p:txBody>
      </p:sp>
      <p:sp>
        <p:nvSpPr>
          <p:cNvPr id="90" name="Text 85"/>
          <p:cNvSpPr/>
          <p:nvPr/>
        </p:nvSpPr>
        <p:spPr>
          <a:xfrm>
            <a:off x="6215063" y="219424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91" name="Text 86"/>
          <p:cNvSpPr/>
          <p:nvPr/>
        </p:nvSpPr>
        <p:spPr>
          <a:xfrm>
            <a:off x="6843713" y="219424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날짜별 Map핑하여 공수(unit) 표시</a:t>
            </a:r>
            <a:endParaRPr lang="en-US" sz="674" dirty="0"/>
          </a:p>
        </p:txBody>
      </p:sp>
      <p:sp>
        <p:nvSpPr>
          <p:cNvPr id="92" name="Shape 87"/>
          <p:cNvSpPr/>
          <p:nvPr/>
        </p:nvSpPr>
        <p:spPr>
          <a:xfrm>
            <a:off x="3286125" y="3268684"/>
            <a:ext cx="2643188" cy="185737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3" name="Shape 88"/>
          <p:cNvSpPr/>
          <p:nvPr/>
        </p:nvSpPr>
        <p:spPr>
          <a:xfrm>
            <a:off x="3286125" y="3268684"/>
            <a:ext cx="28575" cy="1857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4" name="Shape 89"/>
          <p:cNvSpPr/>
          <p:nvPr/>
        </p:nvSpPr>
        <p:spPr>
          <a:xfrm>
            <a:off x="3429000" y="34115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5" name="Text 90"/>
          <p:cNvSpPr/>
          <p:nvPr/>
        </p:nvSpPr>
        <p:spPr>
          <a:xfrm>
            <a:off x="3429000" y="341155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96" name="Text 91"/>
          <p:cNvSpPr/>
          <p:nvPr/>
        </p:nvSpPr>
        <p:spPr>
          <a:xfrm>
            <a:off x="3671888" y="3415131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예상 급여 계산</a:t>
            </a:r>
            <a:endParaRPr lang="en-US" sz="784" dirty="0"/>
          </a:p>
        </p:txBody>
      </p:sp>
      <p:sp>
        <p:nvSpPr>
          <p:cNvPr id="97" name="Text 92"/>
          <p:cNvSpPr/>
          <p:nvPr/>
        </p:nvSpPr>
        <p:spPr>
          <a:xfrm>
            <a:off x="3429000" y="3690165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Logic</a:t>
            </a:r>
            <a:endParaRPr lang="en-US" sz="634" dirty="0"/>
          </a:p>
        </p:txBody>
      </p:sp>
      <p:sp>
        <p:nvSpPr>
          <p:cNvPr id="98" name="Text 93"/>
          <p:cNvSpPr/>
          <p:nvPr/>
        </p:nvSpPr>
        <p:spPr>
          <a:xfrm>
            <a:off x="4057650" y="3690165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Frontend Calculation</a:t>
            </a:r>
            <a:endParaRPr lang="en-US" sz="674" dirty="0"/>
          </a:p>
        </p:txBody>
      </p:sp>
      <p:sp>
        <p:nvSpPr>
          <p:cNvPr id="99" name="Text 94"/>
          <p:cNvSpPr/>
          <p:nvPr/>
        </p:nvSpPr>
        <p:spPr>
          <a:xfrm>
            <a:off x="3429000" y="3877326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Formula</a:t>
            </a:r>
            <a:endParaRPr lang="en-US" sz="634" dirty="0"/>
          </a:p>
        </p:txBody>
      </p:sp>
      <p:sp>
        <p:nvSpPr>
          <p:cNvPr id="100" name="Text 95"/>
          <p:cNvSpPr/>
          <p:nvPr/>
        </p:nvSpPr>
        <p:spPr>
          <a:xfrm>
            <a:off x="4057650" y="3877326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Sum(daily_unit * contract_wage)</a:t>
            </a:r>
            <a:endParaRPr lang="en-US" sz="674" dirty="0"/>
          </a:p>
        </p:txBody>
      </p:sp>
      <p:sp>
        <p:nvSpPr>
          <p:cNvPr id="101" name="Text 96"/>
          <p:cNvSpPr/>
          <p:nvPr/>
        </p:nvSpPr>
        <p:spPr>
          <a:xfrm>
            <a:off x="3429000" y="406448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Note</a:t>
            </a:r>
            <a:endParaRPr lang="en-US" sz="634" dirty="0"/>
          </a:p>
        </p:txBody>
      </p:sp>
      <p:sp>
        <p:nvSpPr>
          <p:cNvPr id="102" name="Text 97"/>
          <p:cNvSpPr/>
          <p:nvPr/>
        </p:nvSpPr>
        <p:spPr>
          <a:xfrm>
            <a:off x="4057650" y="406448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세전 금액임을 명시 (Estimated)</a:t>
            </a:r>
            <a:endParaRPr lang="en-US" sz="674" dirty="0"/>
          </a:p>
        </p:txBody>
      </p:sp>
      <p:sp>
        <p:nvSpPr>
          <p:cNvPr id="103" name="Shape 98"/>
          <p:cNvSpPr/>
          <p:nvPr/>
        </p:nvSpPr>
        <p:spPr>
          <a:xfrm>
            <a:off x="6072188" y="3268684"/>
            <a:ext cx="2643188" cy="185737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04" name="Shape 99"/>
          <p:cNvSpPr/>
          <p:nvPr/>
        </p:nvSpPr>
        <p:spPr>
          <a:xfrm>
            <a:off x="6072188" y="3268684"/>
            <a:ext cx="28575" cy="18573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5" name="Shape 100"/>
          <p:cNvSpPr/>
          <p:nvPr/>
        </p:nvSpPr>
        <p:spPr>
          <a:xfrm>
            <a:off x="6215063" y="34115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6" name="Text 101"/>
          <p:cNvSpPr/>
          <p:nvPr/>
        </p:nvSpPr>
        <p:spPr>
          <a:xfrm>
            <a:off x="6215063" y="341155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4</a:t>
            </a:r>
            <a:endParaRPr lang="en-US" sz="584" dirty="0"/>
          </a:p>
        </p:txBody>
      </p:sp>
      <p:sp>
        <p:nvSpPr>
          <p:cNvPr id="107" name="Text 102"/>
          <p:cNvSpPr/>
          <p:nvPr/>
        </p:nvSpPr>
        <p:spPr>
          <a:xfrm>
            <a:off x="6457950" y="3415131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급여 명세서 상세</a:t>
            </a:r>
            <a:endParaRPr lang="en-US" sz="784" dirty="0"/>
          </a:p>
        </p:txBody>
      </p:sp>
      <p:sp>
        <p:nvSpPr>
          <p:cNvPr id="108" name="Text 103"/>
          <p:cNvSpPr/>
          <p:nvPr/>
        </p:nvSpPr>
        <p:spPr>
          <a:xfrm>
            <a:off x="6215063" y="3690165"/>
            <a:ext cx="5715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API</a:t>
            </a:r>
            <a:endParaRPr lang="en-US" sz="634" dirty="0"/>
          </a:p>
        </p:txBody>
      </p:sp>
      <p:sp>
        <p:nvSpPr>
          <p:cNvPr id="109" name="Text 104"/>
          <p:cNvSpPr/>
          <p:nvPr/>
        </p:nvSpPr>
        <p:spPr>
          <a:xfrm>
            <a:off x="6843713" y="3690165"/>
            <a:ext cx="172878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GET /api/v1/worker/settlements/{id}/stub</a:t>
            </a:r>
            <a:endParaRPr lang="en-US" sz="674" dirty="0"/>
          </a:p>
        </p:txBody>
      </p:sp>
      <p:sp>
        <p:nvSpPr>
          <p:cNvPr id="110" name="Text 105"/>
          <p:cNvSpPr/>
          <p:nvPr/>
        </p:nvSpPr>
        <p:spPr>
          <a:xfrm>
            <a:off x="6215063" y="400733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Secure</a:t>
            </a:r>
            <a:endParaRPr lang="en-US" sz="634" dirty="0"/>
          </a:p>
        </p:txBody>
      </p:sp>
      <p:sp>
        <p:nvSpPr>
          <p:cNvPr id="111" name="Text 106"/>
          <p:cNvSpPr/>
          <p:nvPr/>
        </p:nvSpPr>
        <p:spPr>
          <a:xfrm>
            <a:off x="6843713" y="400733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주민번호 등 민감정보 마스킹 처리 필수</a:t>
            </a:r>
            <a:endParaRPr lang="en-US" sz="674" dirty="0"/>
          </a:p>
        </p:txBody>
      </p:sp>
      <p:sp>
        <p:nvSpPr>
          <p:cNvPr id="112" name="Text 107"/>
          <p:cNvSpPr/>
          <p:nvPr/>
        </p:nvSpPr>
        <p:spPr>
          <a:xfrm>
            <a:off x="6215063" y="4194497"/>
            <a:ext cx="5715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Action</a:t>
            </a:r>
            <a:endParaRPr lang="en-US" sz="634" dirty="0"/>
          </a:p>
        </p:txBody>
      </p:sp>
      <p:sp>
        <p:nvSpPr>
          <p:cNvPr id="113" name="Text 108"/>
          <p:cNvSpPr/>
          <p:nvPr/>
        </p:nvSpPr>
        <p:spPr>
          <a:xfrm>
            <a:off x="6843713" y="4194497"/>
            <a:ext cx="17287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Open Modal or Navigate to Detail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828675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공통 기술 명세 (Common Tech Specs)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36250"/>
            <a:ext cx="8286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안정적이고 확장 가능한 시스템을 위한 핵심 기술 구현 가이드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1397022"/>
            <a:ext cx="2666991" cy="280102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1397022"/>
            <a:ext cx="265267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557213" y="1541683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34551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1525609"/>
            <a:ext cx="101028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Multi-tenancy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Data Isolation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557213" y="2000669"/>
            <a:ext cx="24098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모든 데이터 접근 시 Tenant ID를 강제하여 데이터 유출을 원천 차단합니다.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557213" y="2372144"/>
            <a:ext cx="2409816" cy="85367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57788" y="2300706"/>
            <a:ext cx="637803" cy="1268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9"/>
          <p:cNvSpPr/>
          <p:nvPr/>
        </p:nvSpPr>
        <p:spPr>
          <a:xfrm>
            <a:off x="2257788" y="2300706"/>
            <a:ext cx="637803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Hibernate Filter</a:t>
            </a:r>
            <a:endParaRPr lang="en-US" sz="516" dirty="0"/>
          </a:p>
        </p:txBody>
      </p:sp>
      <p:sp>
        <p:nvSpPr>
          <p:cNvPr id="14" name="Text 10"/>
          <p:cNvSpPr/>
          <p:nvPr/>
        </p:nvSpPr>
        <p:spPr>
          <a:xfrm>
            <a:off x="628650" y="2443581"/>
            <a:ext cx="4209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@FilterDef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1049573" y="2443581"/>
            <a:ext cx="98533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(name="tenantFilter", ...)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628650" y="2559667"/>
            <a:ext cx="2805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@Filter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909154" y="2559667"/>
            <a:ext cx="18019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(name="tenantFilter", condition="tenant_id =</a:t>
            </a:r>
            <a:endParaRPr lang="en-US" sz="621" dirty="0"/>
          </a:p>
        </p:txBody>
      </p:sp>
      <p:sp>
        <p:nvSpPr>
          <p:cNvPr id="18" name="Text 14"/>
          <p:cNvSpPr/>
          <p:nvPr/>
        </p:nvSpPr>
        <p:spPr>
          <a:xfrm>
            <a:off x="628650" y="2675753"/>
            <a:ext cx="4297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:tenantId")</a:t>
            </a:r>
            <a:endParaRPr lang="en-US" sz="621" dirty="0"/>
          </a:p>
        </p:txBody>
      </p:sp>
      <p:sp>
        <p:nvSpPr>
          <p:cNvPr id="19" name="Text 15"/>
          <p:cNvSpPr/>
          <p:nvPr/>
        </p:nvSpPr>
        <p:spPr>
          <a:xfrm>
            <a:off x="628650" y="2907925"/>
            <a:ext cx="2985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1AFEF"/>
                </a:solidFill>
              </a:rPr>
              <a:t>session</a:t>
            </a:r>
            <a:endParaRPr lang="en-US" sz="621" dirty="0"/>
          </a:p>
        </p:txBody>
      </p:sp>
      <p:sp>
        <p:nvSpPr>
          <p:cNvPr id="20" name="Text 16"/>
          <p:cNvSpPr/>
          <p:nvPr/>
        </p:nvSpPr>
        <p:spPr>
          <a:xfrm>
            <a:off x="927153" y="2907925"/>
            <a:ext cx="10915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.enableFilter("tenantFilter")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628650" y="3024011"/>
            <a:ext cx="15096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.setParameter("tenantId", ctx.getId());</a:t>
            </a:r>
            <a:endParaRPr lang="en-US" sz="621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3304403"/>
            <a:ext cx="92869" cy="928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21519" y="3282972"/>
            <a:ext cx="1752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ThreadLocal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요청별 Tenant Context 관리</a:t>
            </a:r>
            <a:endParaRPr lang="en-US" sz="634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3497284"/>
            <a:ext cx="92869" cy="928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1519" y="3475853"/>
            <a:ext cx="21185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AOP Interceptor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트랜잭션 시작 시 필터 자동 활성화</a:t>
            </a:r>
            <a:endParaRPr lang="en-US" sz="634" dirty="0"/>
          </a:p>
        </p:txBody>
      </p:sp>
      <p:sp>
        <p:nvSpPr>
          <p:cNvPr id="26" name="Shape 20"/>
          <p:cNvSpPr/>
          <p:nvPr/>
        </p:nvSpPr>
        <p:spPr>
          <a:xfrm>
            <a:off x="3238491" y="1397022"/>
            <a:ext cx="2666991" cy="278673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38491" y="1397022"/>
            <a:ext cx="2652675" cy="28575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Shape 22"/>
          <p:cNvSpPr/>
          <p:nvPr/>
        </p:nvSpPr>
        <p:spPr>
          <a:xfrm>
            <a:off x="3367078" y="1541683"/>
            <a:ext cx="357188" cy="357188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947" y="1634551"/>
            <a:ext cx="171450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09991" y="1525609"/>
            <a:ext cx="72654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Security &amp;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Privacy</a:t>
            </a:r>
            <a:endParaRPr lang="en-US" sz="987" dirty="0"/>
          </a:p>
        </p:txBody>
      </p:sp>
      <p:sp>
        <p:nvSpPr>
          <p:cNvPr id="31" name="Text 24"/>
          <p:cNvSpPr/>
          <p:nvPr/>
        </p:nvSpPr>
        <p:spPr>
          <a:xfrm>
            <a:off x="3367078" y="2000669"/>
            <a:ext cx="24098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개인정보 보호법 준수 및 안전한 인증 체계를 구축합니다.</a:t>
            </a:r>
            <a:endParaRPr lang="en-US" sz="727" dirty="0"/>
          </a:p>
        </p:txBody>
      </p:sp>
      <p:sp>
        <p:nvSpPr>
          <p:cNvPr id="32" name="Shape 25"/>
          <p:cNvSpPr/>
          <p:nvPr/>
        </p:nvSpPr>
        <p:spPr>
          <a:xfrm>
            <a:off x="3367078" y="2222125"/>
            <a:ext cx="2409816" cy="737592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942777" y="2150687"/>
            <a:ext cx="762679" cy="1268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7"/>
          <p:cNvSpPr/>
          <p:nvPr/>
        </p:nvSpPr>
        <p:spPr>
          <a:xfrm>
            <a:off x="4942777" y="2150687"/>
            <a:ext cx="762679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AES-256 Encryption</a:t>
            </a:r>
            <a:endParaRPr lang="en-US" sz="516" dirty="0"/>
          </a:p>
        </p:txBody>
      </p:sp>
      <p:sp>
        <p:nvSpPr>
          <p:cNvPr id="35" name="Text 28"/>
          <p:cNvSpPr/>
          <p:nvPr/>
        </p:nvSpPr>
        <p:spPr>
          <a:xfrm>
            <a:off x="3438516" y="2293562"/>
            <a:ext cx="76022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5C07B"/>
                </a:solidFill>
              </a:rPr>
              <a:t>AttributeConverter</a:t>
            </a:r>
            <a:endParaRPr lang="en-US" sz="621" dirty="0"/>
          </a:p>
        </p:txBody>
      </p:sp>
      <p:sp>
        <p:nvSpPr>
          <p:cNvPr id="36" name="Text 29"/>
          <p:cNvSpPr/>
          <p:nvPr/>
        </p:nvSpPr>
        <p:spPr>
          <a:xfrm>
            <a:off x="4198739" y="2293562"/>
            <a:ext cx="6258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&lt;String, String&gt;</a:t>
            </a:r>
            <a:endParaRPr lang="en-US" sz="621" dirty="0"/>
          </a:p>
        </p:txBody>
      </p:sp>
      <p:sp>
        <p:nvSpPr>
          <p:cNvPr id="37" name="Text 30"/>
          <p:cNvSpPr/>
          <p:nvPr/>
        </p:nvSpPr>
        <p:spPr>
          <a:xfrm>
            <a:off x="3438516" y="2409648"/>
            <a:ext cx="2438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public</a:t>
            </a:r>
            <a:endParaRPr lang="en-US" sz="621" dirty="0"/>
          </a:p>
        </p:txBody>
      </p:sp>
      <p:sp>
        <p:nvSpPr>
          <p:cNvPr id="38" name="Text 31"/>
          <p:cNvSpPr/>
          <p:nvPr/>
        </p:nvSpPr>
        <p:spPr>
          <a:xfrm>
            <a:off x="3682324" y="2409648"/>
            <a:ext cx="164473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String convertToDatabaseColumn(String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3438516" y="2525734"/>
            <a:ext cx="43309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attribute) {</a:t>
            </a:r>
            <a:endParaRPr lang="en-US" sz="621" dirty="0"/>
          </a:p>
        </p:txBody>
      </p:sp>
      <p:sp>
        <p:nvSpPr>
          <p:cNvPr id="40" name="Text 33"/>
          <p:cNvSpPr/>
          <p:nvPr/>
        </p:nvSpPr>
        <p:spPr>
          <a:xfrm>
            <a:off x="3438516" y="2641820"/>
            <a:ext cx="2543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return</a:t>
            </a:r>
            <a:endParaRPr lang="en-US" sz="621" dirty="0"/>
          </a:p>
        </p:txBody>
      </p:sp>
      <p:sp>
        <p:nvSpPr>
          <p:cNvPr id="41" name="Text 34"/>
          <p:cNvSpPr/>
          <p:nvPr/>
        </p:nvSpPr>
        <p:spPr>
          <a:xfrm>
            <a:off x="3692872" y="2641820"/>
            <a:ext cx="10740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AES256.encrypt(attribute);</a:t>
            </a:r>
            <a:endParaRPr lang="en-US" sz="621" dirty="0"/>
          </a:p>
        </p:txBody>
      </p:sp>
      <p:sp>
        <p:nvSpPr>
          <p:cNvPr id="42" name="Text 35"/>
          <p:cNvSpPr/>
          <p:nvPr/>
        </p:nvSpPr>
        <p:spPr>
          <a:xfrm>
            <a:off x="3438516" y="2757906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078" y="3038298"/>
            <a:ext cx="92869" cy="92869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531384" y="3016867"/>
            <a:ext cx="21839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JWT Auth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Stateless 토큰 기반 인증 (Access/Refresh)</a:t>
            </a:r>
            <a:endParaRPr lang="en-US" sz="634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078" y="3231180"/>
            <a:ext cx="92869" cy="92869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531384" y="3209748"/>
            <a:ext cx="21119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PII Masking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주민번호, 전화번호 마스킹 처리 후 반환</a:t>
            </a:r>
            <a:endParaRPr lang="en-US" sz="634" dirty="0"/>
          </a:p>
        </p:txBody>
      </p:sp>
      <p:sp>
        <p:nvSpPr>
          <p:cNvPr id="47" name="Shape 38"/>
          <p:cNvSpPr/>
          <p:nvPr/>
        </p:nvSpPr>
        <p:spPr>
          <a:xfrm>
            <a:off x="6048356" y="1397022"/>
            <a:ext cx="2667019" cy="278673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048356" y="1397022"/>
            <a:ext cx="2652731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40"/>
          <p:cNvSpPr/>
          <p:nvPr/>
        </p:nvSpPr>
        <p:spPr>
          <a:xfrm>
            <a:off x="6176944" y="1541683"/>
            <a:ext cx="357188" cy="35718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097" y="1634551"/>
            <a:ext cx="192881" cy="17145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619856" y="1525609"/>
            <a:ext cx="93756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Performance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Optimization</a:t>
            </a:r>
            <a:endParaRPr lang="en-US" sz="987" dirty="0"/>
          </a:p>
        </p:txBody>
      </p:sp>
      <p:sp>
        <p:nvSpPr>
          <p:cNvPr id="52" name="Text 42"/>
          <p:cNvSpPr/>
          <p:nvPr/>
        </p:nvSpPr>
        <p:spPr>
          <a:xfrm>
            <a:off x="6176944" y="2000669"/>
            <a:ext cx="24098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대용량 트래픽 처리를 위한 캐싱 및 비동기 처리 전략을 적용합니다.</a:t>
            </a:r>
            <a:endParaRPr lang="en-US" sz="727" dirty="0"/>
          </a:p>
        </p:txBody>
      </p:sp>
      <p:sp>
        <p:nvSpPr>
          <p:cNvPr id="53" name="Shape 43"/>
          <p:cNvSpPr/>
          <p:nvPr/>
        </p:nvSpPr>
        <p:spPr>
          <a:xfrm>
            <a:off x="6176944" y="2372144"/>
            <a:ext cx="2409844" cy="62150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997205" y="2300706"/>
            <a:ext cx="518145" cy="1268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Text 45"/>
          <p:cNvSpPr/>
          <p:nvPr/>
        </p:nvSpPr>
        <p:spPr>
          <a:xfrm>
            <a:off x="7997205" y="2300706"/>
            <a:ext cx="518145" cy="12680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94A3B8"/>
                </a:solidFill>
              </a:rPr>
              <a:t>Redis Cache</a:t>
            </a:r>
            <a:endParaRPr lang="en-US" sz="516" dirty="0"/>
          </a:p>
        </p:txBody>
      </p:sp>
      <p:sp>
        <p:nvSpPr>
          <p:cNvPr id="56" name="Text 46"/>
          <p:cNvSpPr/>
          <p:nvPr/>
        </p:nvSpPr>
        <p:spPr>
          <a:xfrm>
            <a:off x="6248381" y="2443581"/>
            <a:ext cx="4931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@Cacheable</a:t>
            </a:r>
            <a:endParaRPr lang="en-US" sz="621" dirty="0"/>
          </a:p>
        </p:txBody>
      </p:sp>
      <p:sp>
        <p:nvSpPr>
          <p:cNvPr id="57" name="Text 47"/>
          <p:cNvSpPr/>
          <p:nvPr/>
        </p:nvSpPr>
        <p:spPr>
          <a:xfrm>
            <a:off x="6741495" y="2443581"/>
            <a:ext cx="13472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(value="dailyStats", key="#siteId")</a:t>
            </a:r>
            <a:endParaRPr lang="en-US" sz="621" dirty="0"/>
          </a:p>
        </p:txBody>
      </p:sp>
      <p:sp>
        <p:nvSpPr>
          <p:cNvPr id="58" name="Text 48"/>
          <p:cNvSpPr/>
          <p:nvPr/>
        </p:nvSpPr>
        <p:spPr>
          <a:xfrm>
            <a:off x="6248381" y="2559667"/>
            <a:ext cx="2438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678DD"/>
                </a:solidFill>
              </a:rPr>
              <a:t>public</a:t>
            </a:r>
            <a:endParaRPr lang="en-US" sz="621" dirty="0"/>
          </a:p>
        </p:txBody>
      </p:sp>
      <p:sp>
        <p:nvSpPr>
          <p:cNvPr id="59" name="Text 49"/>
          <p:cNvSpPr/>
          <p:nvPr/>
        </p:nvSpPr>
        <p:spPr>
          <a:xfrm>
            <a:off x="6492190" y="2559667"/>
            <a:ext cx="13267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Stats getDailyStats(Long siteId) {</a:t>
            </a:r>
            <a:endParaRPr lang="en-US" sz="621" dirty="0"/>
          </a:p>
        </p:txBody>
      </p:sp>
      <p:sp>
        <p:nvSpPr>
          <p:cNvPr id="60" name="Text 50"/>
          <p:cNvSpPr/>
          <p:nvPr/>
        </p:nvSpPr>
        <p:spPr>
          <a:xfrm>
            <a:off x="6248381" y="2675753"/>
            <a:ext cx="7950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5715E"/>
                </a:solidFill>
              </a:rPr>
              <a:t>// DB Query (Heavy)</a:t>
            </a:r>
            <a:endParaRPr lang="en-US" sz="621" dirty="0"/>
          </a:p>
        </p:txBody>
      </p:sp>
      <p:sp>
        <p:nvSpPr>
          <p:cNvPr id="61" name="Text 51"/>
          <p:cNvSpPr/>
          <p:nvPr/>
        </p:nvSpPr>
        <p:spPr>
          <a:xfrm>
            <a:off x="6248381" y="2791839"/>
            <a:ext cx="325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2E8F0"/>
                </a:solidFill>
              </a:rPr>
              <a:t>}</a:t>
            </a:r>
            <a:endParaRPr lang="en-US" sz="621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944" y="3072231"/>
            <a:ext cx="92869" cy="92869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6341250" y="3050800"/>
            <a:ext cx="224553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React Query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프론트엔드 데이터 캐싱 및 낙관적 업데이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트</a:t>
            </a:r>
            <a:endParaRPr lang="en-US" sz="634" dirty="0"/>
          </a:p>
        </p:txBody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944" y="3400844"/>
            <a:ext cx="92869" cy="92869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6341250" y="3379412"/>
            <a:ext cx="17747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Lazy Loading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이미지 및 컴포넌트 지연 로딩</a:t>
            </a:r>
            <a:endParaRPr lang="en-US" sz="634" dirty="0"/>
          </a:p>
        </p:txBody>
      </p:sp>
      <p:sp>
        <p:nvSpPr>
          <p:cNvPr id="66" name="Shape 54"/>
          <p:cNvSpPr/>
          <p:nvPr/>
        </p:nvSpPr>
        <p:spPr>
          <a:xfrm>
            <a:off x="428625" y="4713089"/>
            <a:ext cx="8286750" cy="358973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7" name="Text 55"/>
          <p:cNvSpPr/>
          <p:nvPr/>
        </p:nvSpPr>
        <p:spPr>
          <a:xfrm>
            <a:off x="542925" y="4829175"/>
            <a:ext cx="257797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Core Stack: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 Spring Boot 3.2, React 18, MySQL 8.0, Redis 7.0</a:t>
            </a:r>
            <a:endParaRPr lang="en-US" sz="634" dirty="0"/>
          </a:p>
        </p:txBody>
      </p:sp>
      <p:sp>
        <p:nvSpPr>
          <p:cNvPr id="68" name="Shape 56"/>
          <p:cNvSpPr/>
          <p:nvPr/>
        </p:nvSpPr>
        <p:spPr>
          <a:xfrm>
            <a:off x="6683313" y="4798814"/>
            <a:ext cx="600884" cy="187523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6683313" y="4798814"/>
            <a:ext cx="600884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Java 17 LTS</a:t>
            </a:r>
            <a:endParaRPr lang="en-US" sz="621" dirty="0"/>
          </a:p>
        </p:txBody>
      </p:sp>
      <p:sp>
        <p:nvSpPr>
          <p:cNvPr id="70" name="Shape 58"/>
          <p:cNvSpPr/>
          <p:nvPr/>
        </p:nvSpPr>
        <p:spPr>
          <a:xfrm>
            <a:off x="7355635" y="4798814"/>
            <a:ext cx="720654" cy="187523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1" name="Text 59"/>
          <p:cNvSpPr/>
          <p:nvPr/>
        </p:nvSpPr>
        <p:spPr>
          <a:xfrm>
            <a:off x="7355635" y="4798814"/>
            <a:ext cx="720654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TypeScript 5.0</a:t>
            </a:r>
            <a:endParaRPr lang="en-US" sz="621" dirty="0"/>
          </a:p>
        </p:txBody>
      </p:sp>
      <p:sp>
        <p:nvSpPr>
          <p:cNvPr id="72" name="Shape 60"/>
          <p:cNvSpPr/>
          <p:nvPr/>
        </p:nvSpPr>
        <p:spPr>
          <a:xfrm>
            <a:off x="8147726" y="4798814"/>
            <a:ext cx="453349" cy="187523"/>
          </a:xfrm>
          <a:prstGeom prst="round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3" name="Text 61"/>
          <p:cNvSpPr/>
          <p:nvPr/>
        </p:nvSpPr>
        <p:spPr>
          <a:xfrm>
            <a:off x="8147726" y="4798814"/>
            <a:ext cx="453349" cy="187523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Vite 5.0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99197"/>
            <a:ext cx="8286750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0B981"/>
                </a:solidFill>
              </a:rPr>
              <a:t>개발 체크리스트 및 마무리 (Checklist)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001046"/>
            <a:ext cx="82867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94A3B8"/>
                </a:solidFill>
              </a:rPr>
              <a:t>성공적인 SmartCON Lite 런칭을 위한 최종 점검 가이드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571500" y="1604693"/>
            <a:ext cx="2524116" cy="212370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0094" y="1783286"/>
            <a:ext cx="285750" cy="28575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38" y="1861868"/>
            <a:ext cx="144661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569" y="1828828"/>
            <a:ext cx="11220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Frontend Check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750094" y="2340499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69" y="2369074"/>
            <a:ext cx="71438" cy="714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406" y="2326211"/>
            <a:ext cx="195261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모바일/태블릿 반응형 레이아웃 검증 (Breakpoints)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750094" y="2727657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69" y="2756232"/>
            <a:ext cx="71438" cy="714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4406" y="2713369"/>
            <a:ext cx="157569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API 에러 핸들링 및 Toast 메시지 연동</a:t>
            </a:r>
            <a:endParaRPr lang="en-US" sz="727" dirty="0"/>
          </a:p>
        </p:txBody>
      </p:sp>
      <p:sp>
        <p:nvSpPr>
          <p:cNvPr id="15" name="Text 9"/>
          <p:cNvSpPr/>
          <p:nvPr/>
        </p:nvSpPr>
        <p:spPr>
          <a:xfrm>
            <a:off x="992981" y="2963401"/>
            <a:ext cx="188664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입력 폼 유효성 검사 (Client-side Validation)</a:t>
            </a:r>
            <a:endParaRPr lang="en-US" sz="727" dirty="0"/>
          </a:p>
        </p:txBody>
      </p:sp>
      <p:sp>
        <p:nvSpPr>
          <p:cNvPr id="16" name="Text 10"/>
          <p:cNvSpPr/>
          <p:nvPr/>
        </p:nvSpPr>
        <p:spPr>
          <a:xfrm>
            <a:off x="992981" y="3242007"/>
            <a:ext cx="162821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이미지 업로드 시 압축 및 미리보기 기능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3309928" y="1604693"/>
            <a:ext cx="2524116" cy="212370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488522" y="1783286"/>
            <a:ext cx="285750" cy="28575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103" y="1861868"/>
            <a:ext cx="128588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59997" y="1828828"/>
            <a:ext cx="10815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Backend Check</a:t>
            </a:r>
            <a:endParaRPr lang="en-US" sz="987" dirty="0"/>
          </a:p>
        </p:txBody>
      </p:sp>
      <p:sp>
        <p:nvSpPr>
          <p:cNvPr id="21" name="Shape 14"/>
          <p:cNvSpPr/>
          <p:nvPr/>
        </p:nvSpPr>
        <p:spPr>
          <a:xfrm>
            <a:off x="3488522" y="2340499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097" y="2369074"/>
            <a:ext cx="71438" cy="714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02834" y="2326211"/>
            <a:ext cx="1952616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멀티테넌트 데이터 격리 필터 (Hibernate) 활성화</a:t>
            </a:r>
            <a:endParaRPr lang="en-US" sz="727" dirty="0"/>
          </a:p>
        </p:txBody>
      </p:sp>
      <p:sp>
        <p:nvSpPr>
          <p:cNvPr id="24" name="Shape 16"/>
          <p:cNvSpPr/>
          <p:nvPr/>
        </p:nvSpPr>
        <p:spPr>
          <a:xfrm>
            <a:off x="3488522" y="2727657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097" y="2756232"/>
            <a:ext cx="71438" cy="7143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02834" y="2713369"/>
            <a:ext cx="18252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JWT 토큰 만료 및 Refresh Token 로직 검증</a:t>
            </a:r>
            <a:endParaRPr lang="en-US" sz="727" dirty="0"/>
          </a:p>
        </p:txBody>
      </p:sp>
      <p:sp>
        <p:nvSpPr>
          <p:cNvPr id="27" name="Shape 18"/>
          <p:cNvSpPr/>
          <p:nvPr/>
        </p:nvSpPr>
        <p:spPr>
          <a:xfrm>
            <a:off x="3488522" y="2977688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7097" y="3006263"/>
            <a:ext cx="71438" cy="7143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702834" y="2963401"/>
            <a:ext cx="180022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개인정보(주민번호 등) DB 암호화 저장 확인</a:t>
            </a:r>
            <a:endParaRPr lang="en-US" sz="727" dirty="0"/>
          </a:p>
        </p:txBody>
      </p:sp>
      <p:sp>
        <p:nvSpPr>
          <p:cNvPr id="30" name="Text 20"/>
          <p:cNvSpPr/>
          <p:nvPr/>
        </p:nvSpPr>
        <p:spPr>
          <a:xfrm>
            <a:off x="3731409" y="3213432"/>
            <a:ext cx="172223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N+1 쿼리 문제 점검 및 Fetch Join 최적화</a:t>
            </a:r>
            <a:endParaRPr lang="en-US" sz="727" dirty="0"/>
          </a:p>
        </p:txBody>
      </p:sp>
      <p:sp>
        <p:nvSpPr>
          <p:cNvPr id="31" name="Shape 21"/>
          <p:cNvSpPr/>
          <p:nvPr/>
        </p:nvSpPr>
        <p:spPr>
          <a:xfrm>
            <a:off x="6048356" y="1604693"/>
            <a:ext cx="2524144" cy="212370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226950" y="1783286"/>
            <a:ext cx="285750" cy="28575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9458" y="1861868"/>
            <a:ext cx="160734" cy="128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98425" y="1828828"/>
            <a:ext cx="12163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1F5F9"/>
                </a:solidFill>
              </a:rPr>
              <a:t>DevOps &amp; Deploy</a:t>
            </a:r>
            <a:endParaRPr lang="en-US" sz="987" dirty="0"/>
          </a:p>
        </p:txBody>
      </p:sp>
      <p:sp>
        <p:nvSpPr>
          <p:cNvPr id="35" name="Shape 24"/>
          <p:cNvSpPr/>
          <p:nvPr/>
        </p:nvSpPr>
        <p:spPr>
          <a:xfrm>
            <a:off x="6226950" y="2340499"/>
            <a:ext cx="157163" cy="157163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5525" y="2369074"/>
            <a:ext cx="71438" cy="7143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441263" y="2326211"/>
            <a:ext cx="179204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프로덕션 환경변수 (.env) 설정 및 보안 점검</a:t>
            </a:r>
            <a:endParaRPr lang="en-US" sz="727" dirty="0"/>
          </a:p>
        </p:txBody>
      </p:sp>
      <p:sp>
        <p:nvSpPr>
          <p:cNvPr id="38" name="Text 26"/>
          <p:cNvSpPr/>
          <p:nvPr/>
        </p:nvSpPr>
        <p:spPr>
          <a:xfrm>
            <a:off x="6469838" y="2576243"/>
            <a:ext cx="156269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S3 버킷 CORS 정책 및 접근 권한 설정</a:t>
            </a:r>
            <a:endParaRPr lang="en-US" sz="727" dirty="0"/>
          </a:p>
        </p:txBody>
      </p:sp>
      <p:sp>
        <p:nvSpPr>
          <p:cNvPr id="39" name="Text 27"/>
          <p:cNvSpPr/>
          <p:nvPr/>
        </p:nvSpPr>
        <p:spPr>
          <a:xfrm>
            <a:off x="6469838" y="2854849"/>
            <a:ext cx="19240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데이터베이스 마이그레이션 (Flyway) 스크립트 검증</a:t>
            </a:r>
            <a:endParaRPr lang="en-US" sz="727" dirty="0"/>
          </a:p>
        </p:txBody>
      </p:sp>
      <p:sp>
        <p:nvSpPr>
          <p:cNvPr id="40" name="Text 28"/>
          <p:cNvSpPr/>
          <p:nvPr/>
        </p:nvSpPr>
        <p:spPr>
          <a:xfrm>
            <a:off x="6469838" y="3242007"/>
            <a:ext cx="154109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SSL 인증서 적용 및 HTTPS 통신 확인</a:t>
            </a:r>
            <a:endParaRPr lang="en-US" sz="727" dirty="0"/>
          </a:p>
        </p:txBody>
      </p:sp>
      <p:sp>
        <p:nvSpPr>
          <p:cNvPr id="41" name="Shape 29"/>
          <p:cNvSpPr/>
          <p:nvPr/>
        </p:nvSpPr>
        <p:spPr>
          <a:xfrm>
            <a:off x="571500" y="4064152"/>
            <a:ext cx="8001000" cy="793598"/>
          </a:xfrm>
          <a:prstGeom prst="rect">
            <a:avLst/>
          </a:prstGeom>
          <a:solidFill>
            <a:srgbClr val="0EA5E9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714375" y="4214171"/>
            <a:ext cx="7715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모든 체크리스트가 완료되면, SmartCON Lite는 현장에 투입될 준비가 완료됩니다.</a:t>
            </a:r>
            <a:endParaRPr lang="en-US" sz="784" dirty="0"/>
          </a:p>
        </p:txBody>
      </p:sp>
      <p:sp>
        <p:nvSpPr>
          <p:cNvPr id="43" name="Shape 31"/>
          <p:cNvSpPr/>
          <p:nvPr/>
        </p:nvSpPr>
        <p:spPr>
          <a:xfrm>
            <a:off x="3951749" y="4449914"/>
            <a:ext cx="1240473" cy="1428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4" name="Shape 32"/>
          <p:cNvSpPr/>
          <p:nvPr/>
        </p:nvSpPr>
        <p:spPr>
          <a:xfrm>
            <a:off x="3951749" y="4585646"/>
            <a:ext cx="1240473" cy="7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33"/>
          <p:cNvSpPr/>
          <p:nvPr/>
        </p:nvSpPr>
        <p:spPr>
          <a:xfrm>
            <a:off x="3951749" y="4449914"/>
            <a:ext cx="12404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git push origin main --tags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2026-01-19T00:47:04Z</dcterms:created>
  <dcterms:modified xsi:type="dcterms:W3CDTF">2026-01-19T00:47:04Z</dcterms:modified>
</cp:coreProperties>
</file>