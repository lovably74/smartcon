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6870"/>
            <a:ext cx="52006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10B981"/>
                </a:solidFill>
              </a:rPr>
              <a:t>Smart Construction Lite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571500" y="1053703"/>
            <a:ext cx="52006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FFFFFF"/>
                </a:solidFill>
              </a:rPr>
              <a:t>통합 상세설계</a:t>
            </a:r>
            <a:pPr algn="l" indent="0" marL="0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FFFFFF"/>
                </a:solidFill>
              </a:rPr>
              <a:t>가이드 V3.1</a:t>
            </a:r>
            <a:endParaRPr lang="en-US" sz="4145" dirty="0"/>
          </a:p>
        </p:txBody>
      </p:sp>
      <p:sp>
        <p:nvSpPr>
          <p:cNvPr id="5" name="Text 2"/>
          <p:cNvSpPr/>
          <p:nvPr/>
        </p:nvSpPr>
        <p:spPr>
          <a:xfrm>
            <a:off x="571500" y="2453878"/>
            <a:ext cx="5200650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24" dirty="0">
                <a:solidFill>
                  <a:srgbClr val="CBD5E1"/>
                </a:solidFill>
              </a:rPr>
              <a:t>개발자를 위한 UI/UX 및 구현 명세서</a:t>
            </a:r>
            <a:endParaRPr lang="en-US" sz="1924" dirty="0"/>
          </a:p>
        </p:txBody>
      </p:sp>
      <p:sp>
        <p:nvSpPr>
          <p:cNvPr id="6" name="Shape 3"/>
          <p:cNvSpPr/>
          <p:nvPr/>
        </p:nvSpPr>
        <p:spPr>
          <a:xfrm>
            <a:off x="571500" y="3255764"/>
            <a:ext cx="5200650" cy="1210866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3255764"/>
            <a:ext cx="28575" cy="121086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3429000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5838" y="3398639"/>
            <a:ext cx="104402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V3.1 주요 변경사항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785813" y="3659386"/>
            <a:ext cx="47720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회원가입 절차 전면 개편 (PASS 본인인증 도입)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785813" y="3880842"/>
            <a:ext cx="47720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소셜 계정 연동 프로세스 추가 (카카오/네이버/구글)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785813" y="4102298"/>
            <a:ext cx="47720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약관 동의 및 기본정보 입력 단계 세분화</a:t>
            </a:r>
            <a:endParaRPr lang="en-US" sz="834" dirty="0"/>
          </a:p>
        </p:txBody>
      </p:sp>
      <p:sp>
        <p:nvSpPr>
          <p:cNvPr id="13" name="Shape 9"/>
          <p:cNvSpPr/>
          <p:nvPr/>
        </p:nvSpPr>
        <p:spPr>
          <a:xfrm>
            <a:off x="6343650" y="0"/>
            <a:ext cx="280035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0"/>
          <p:cNvSpPr/>
          <p:nvPr/>
        </p:nvSpPr>
        <p:spPr>
          <a:xfrm>
            <a:off x="7669374" y="4722019"/>
            <a:ext cx="11888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Last Updated: 2026.01.20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4800600" cy="3586163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4786313" cy="221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642938"/>
            <a:ext cx="4786313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642938"/>
            <a:ext cx="1857375" cy="33575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901675" y="2096691"/>
            <a:ext cx="9112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SmartCON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07231" y="2402086"/>
            <a:ext cx="13001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90000"/>
                  </a:srgbClr>
                </a:solidFill>
              </a:rPr>
              <a:t>스마트한 건설 현장 관리의 시작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2571750" y="1221581"/>
            <a:ext cx="2357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로그인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4714875" y="139303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4714875" y="13930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4714875" y="175021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4714875" y="17502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2571750" y="2296716"/>
            <a:ext cx="2357438" cy="30718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2571750" y="2296716"/>
            <a:ext cx="2357438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로그인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4714875" y="210740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4714875" y="21074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2571750" y="2711053"/>
            <a:ext cx="45421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비밀번호 찾기</a:t>
            </a:r>
            <a:endParaRPr lang="en-US" sz="568" dirty="0"/>
          </a:p>
        </p:txBody>
      </p:sp>
      <p:sp>
        <p:nvSpPr>
          <p:cNvPr id="19" name="Text 16"/>
          <p:cNvSpPr/>
          <p:nvPr/>
        </p:nvSpPr>
        <p:spPr>
          <a:xfrm>
            <a:off x="4640005" y="2711053"/>
            <a:ext cx="28918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B82F6"/>
                </a:solidFill>
              </a:rPr>
              <a:t>회원가입</a:t>
            </a:r>
            <a:endParaRPr lang="en-US" sz="534" dirty="0"/>
          </a:p>
        </p:txBody>
      </p:sp>
      <p:sp>
        <p:nvSpPr>
          <p:cNvPr id="20" name="Shape 17"/>
          <p:cNvSpPr/>
          <p:nvPr/>
        </p:nvSpPr>
        <p:spPr>
          <a:xfrm>
            <a:off x="4714875" y="242887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4714875" y="24288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2571750" y="2968228"/>
            <a:ext cx="23574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또는 다음으로 로그인</a:t>
            </a:r>
            <a:endParaRPr lang="en-US" sz="516" dirty="0"/>
          </a:p>
        </p:txBody>
      </p:sp>
      <p:sp>
        <p:nvSpPr>
          <p:cNvPr id="23" name="Shape 20"/>
          <p:cNvSpPr/>
          <p:nvPr/>
        </p:nvSpPr>
        <p:spPr>
          <a:xfrm>
            <a:off x="3328988" y="3178969"/>
            <a:ext cx="228600" cy="228600"/>
          </a:xfrm>
          <a:prstGeom prst="ellipse">
            <a:avLst/>
          </a:prstGeom>
          <a:solidFill>
            <a:srgbClr val="FEE50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281" y="3243263"/>
            <a:ext cx="100013" cy="100013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629025" y="3178969"/>
            <a:ext cx="228600" cy="22860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6" name="Text 22"/>
          <p:cNvSpPr/>
          <p:nvPr/>
        </p:nvSpPr>
        <p:spPr>
          <a:xfrm>
            <a:off x="3629025" y="317896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N</a:t>
            </a:r>
            <a:endParaRPr lang="en-US" sz="727" dirty="0"/>
          </a:p>
        </p:txBody>
      </p:sp>
      <p:sp>
        <p:nvSpPr>
          <p:cNvPr id="27" name="Shape 23"/>
          <p:cNvSpPr/>
          <p:nvPr/>
        </p:nvSpPr>
        <p:spPr>
          <a:xfrm>
            <a:off x="3929063" y="3178969"/>
            <a:ext cx="242888" cy="242888"/>
          </a:xfrm>
          <a:prstGeom prst="ellipse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179" y="3250406"/>
            <a:ext cx="94655" cy="100013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000500" y="285750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5"/>
          <p:cNvSpPr/>
          <p:nvPr/>
        </p:nvSpPr>
        <p:spPr>
          <a:xfrm>
            <a:off x="4000500" y="285750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5</a:t>
            </a:r>
            <a:endParaRPr lang="en-US" sz="584" dirty="0"/>
          </a:p>
        </p:txBody>
      </p:sp>
      <p:sp>
        <p:nvSpPr>
          <p:cNvPr id="31" name="Text 26"/>
          <p:cNvSpPr/>
          <p:nvPr/>
        </p:nvSpPr>
        <p:spPr>
          <a:xfrm>
            <a:off x="5500688" y="428625"/>
            <a:ext cx="321468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[공통] 로그인 (PC Web)</a:t>
            </a:r>
            <a:endParaRPr lang="en-US" sz="1602" dirty="0"/>
          </a:p>
        </p:txBody>
      </p:sp>
      <p:sp>
        <p:nvSpPr>
          <p:cNvPr id="32" name="Text 27"/>
          <p:cNvSpPr/>
          <p:nvPr/>
        </p:nvSpPr>
        <p:spPr>
          <a:xfrm>
            <a:off x="5500688" y="817959"/>
            <a:ext cx="3214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이메일 로그인 및 소셜 로그인 진입점</a:t>
            </a:r>
            <a:endParaRPr lang="en-US" sz="834" dirty="0"/>
          </a:p>
        </p:txBody>
      </p:sp>
      <p:sp>
        <p:nvSpPr>
          <p:cNvPr id="33" name="Shape 28"/>
          <p:cNvSpPr/>
          <p:nvPr/>
        </p:nvSpPr>
        <p:spPr>
          <a:xfrm>
            <a:off x="5500688" y="1346597"/>
            <a:ext cx="31432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29"/>
          <p:cNvSpPr/>
          <p:nvPr/>
        </p:nvSpPr>
        <p:spPr>
          <a:xfrm>
            <a:off x="5500688" y="1637705"/>
            <a:ext cx="31432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Text 30"/>
          <p:cNvSpPr/>
          <p:nvPr/>
        </p:nvSpPr>
        <p:spPr>
          <a:xfrm>
            <a:off x="5500688" y="1346597"/>
            <a:ext cx="31432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36" name="Shape 31"/>
          <p:cNvSpPr/>
          <p:nvPr/>
        </p:nvSpPr>
        <p:spPr>
          <a:xfrm>
            <a:off x="5815013" y="1346597"/>
            <a:ext cx="71437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Shape 32"/>
          <p:cNvSpPr/>
          <p:nvPr/>
        </p:nvSpPr>
        <p:spPr>
          <a:xfrm>
            <a:off x="5815013" y="1637705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Text 33"/>
          <p:cNvSpPr/>
          <p:nvPr/>
        </p:nvSpPr>
        <p:spPr>
          <a:xfrm>
            <a:off x="5815013" y="1346597"/>
            <a:ext cx="71437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39" name="Shape 34"/>
          <p:cNvSpPr/>
          <p:nvPr/>
        </p:nvSpPr>
        <p:spPr>
          <a:xfrm>
            <a:off x="6529388" y="1346597"/>
            <a:ext cx="21859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Shape 35"/>
          <p:cNvSpPr/>
          <p:nvPr/>
        </p:nvSpPr>
        <p:spPr>
          <a:xfrm>
            <a:off x="6529388" y="1637705"/>
            <a:ext cx="21859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Text 36"/>
          <p:cNvSpPr/>
          <p:nvPr/>
        </p:nvSpPr>
        <p:spPr>
          <a:xfrm>
            <a:off x="6529388" y="1346597"/>
            <a:ext cx="21859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42" name="Shape 37"/>
          <p:cNvSpPr/>
          <p:nvPr/>
        </p:nvSpPr>
        <p:spPr>
          <a:xfrm>
            <a:off x="5586413" y="173057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Text 38"/>
          <p:cNvSpPr/>
          <p:nvPr/>
        </p:nvSpPr>
        <p:spPr>
          <a:xfrm>
            <a:off x="5586413" y="173057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4" name="Text 39"/>
          <p:cNvSpPr/>
          <p:nvPr/>
        </p:nvSpPr>
        <p:spPr>
          <a:xfrm>
            <a:off x="5815013" y="1644848"/>
            <a:ext cx="714375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Email</a:t>
            </a:r>
            <a:endParaRPr lang="en-US" sz="674" dirty="0"/>
          </a:p>
        </p:txBody>
      </p:sp>
      <p:sp>
        <p:nvSpPr>
          <p:cNvPr id="45" name="Text 40"/>
          <p:cNvSpPr/>
          <p:nvPr/>
        </p:nvSpPr>
        <p:spPr>
          <a:xfrm>
            <a:off x="6529388" y="1644848"/>
            <a:ext cx="2185988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Validation: Email format check</a:t>
            </a:r>
            <a:endParaRPr lang="en-US" sz="674" dirty="0"/>
          </a:p>
        </p:txBody>
      </p:sp>
      <p:sp>
        <p:nvSpPr>
          <p:cNvPr id="46" name="Shape 41"/>
          <p:cNvSpPr/>
          <p:nvPr/>
        </p:nvSpPr>
        <p:spPr>
          <a:xfrm>
            <a:off x="5586413" y="205204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42"/>
          <p:cNvSpPr/>
          <p:nvPr/>
        </p:nvSpPr>
        <p:spPr>
          <a:xfrm>
            <a:off x="5586413" y="205204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48" name="Text 43"/>
          <p:cNvSpPr/>
          <p:nvPr/>
        </p:nvSpPr>
        <p:spPr>
          <a:xfrm>
            <a:off x="5815013" y="1962745"/>
            <a:ext cx="714375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Password</a:t>
            </a:r>
            <a:endParaRPr lang="en-US" sz="674" dirty="0"/>
          </a:p>
        </p:txBody>
      </p:sp>
      <p:sp>
        <p:nvSpPr>
          <p:cNvPr id="49" name="Text 44"/>
          <p:cNvSpPr/>
          <p:nvPr/>
        </p:nvSpPr>
        <p:spPr>
          <a:xfrm>
            <a:off x="6529388" y="1962745"/>
            <a:ext cx="2185988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Type: Password, Min 8 chars</a:t>
            </a:r>
            <a:endParaRPr lang="en-US" sz="674" dirty="0"/>
          </a:p>
        </p:txBody>
      </p:sp>
      <p:sp>
        <p:nvSpPr>
          <p:cNvPr id="50" name="Shape 45"/>
          <p:cNvSpPr/>
          <p:nvPr/>
        </p:nvSpPr>
        <p:spPr>
          <a:xfrm>
            <a:off x="5586413" y="237351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6"/>
          <p:cNvSpPr/>
          <p:nvPr/>
        </p:nvSpPr>
        <p:spPr>
          <a:xfrm>
            <a:off x="5586413" y="237351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2" name="Text 47"/>
          <p:cNvSpPr/>
          <p:nvPr/>
        </p:nvSpPr>
        <p:spPr>
          <a:xfrm>
            <a:off x="5815013" y="2284214"/>
            <a:ext cx="714375" cy="5679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Login Btn</a:t>
            </a:r>
            <a:endParaRPr lang="en-US" sz="674" dirty="0"/>
          </a:p>
        </p:txBody>
      </p:sp>
      <p:sp>
        <p:nvSpPr>
          <p:cNvPr id="53" name="Text 48"/>
          <p:cNvSpPr/>
          <p:nvPr/>
        </p:nvSpPr>
        <p:spPr>
          <a:xfrm>
            <a:off x="6615113" y="2373511"/>
            <a:ext cx="20145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/api/v1/auth/login</a:t>
            </a:r>
            <a:endParaRPr lang="en-US" sz="674" dirty="0"/>
          </a:p>
        </p:txBody>
      </p:sp>
      <p:sp>
        <p:nvSpPr>
          <p:cNvPr id="54" name="Text 49"/>
          <p:cNvSpPr/>
          <p:nvPr/>
        </p:nvSpPr>
        <p:spPr>
          <a:xfrm>
            <a:off x="6615113" y="2500313"/>
            <a:ext cx="20145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Success: Store JWT, Redirect to Dashboard</a:t>
            </a:r>
            <a:endParaRPr lang="en-US" sz="674" dirty="0"/>
          </a:p>
        </p:txBody>
      </p:sp>
      <p:sp>
        <p:nvSpPr>
          <p:cNvPr id="55" name="Text 50"/>
          <p:cNvSpPr/>
          <p:nvPr/>
        </p:nvSpPr>
        <p:spPr>
          <a:xfrm>
            <a:off x="6615113" y="2627114"/>
            <a:ext cx="20145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Fail: Alert "이메일/비밀번호 불일치"</a:t>
            </a:r>
            <a:endParaRPr lang="en-US" sz="674" dirty="0"/>
          </a:p>
        </p:txBody>
      </p:sp>
      <p:sp>
        <p:nvSpPr>
          <p:cNvPr id="56" name="Shape 51"/>
          <p:cNvSpPr/>
          <p:nvPr/>
        </p:nvSpPr>
        <p:spPr>
          <a:xfrm>
            <a:off x="5586413" y="294143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52"/>
          <p:cNvSpPr/>
          <p:nvPr/>
        </p:nvSpPr>
        <p:spPr>
          <a:xfrm>
            <a:off x="5586413" y="294143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58" name="Text 53"/>
          <p:cNvSpPr/>
          <p:nvPr/>
        </p:nvSpPr>
        <p:spPr>
          <a:xfrm>
            <a:off x="5815013" y="2852142"/>
            <a:ext cx="714375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Signup Link</a:t>
            </a:r>
            <a:endParaRPr lang="en-US" sz="674" dirty="0"/>
          </a:p>
        </p:txBody>
      </p:sp>
      <p:sp>
        <p:nvSpPr>
          <p:cNvPr id="59" name="Text 54"/>
          <p:cNvSpPr/>
          <p:nvPr/>
        </p:nvSpPr>
        <p:spPr>
          <a:xfrm>
            <a:off x="6615113" y="2941439"/>
            <a:ext cx="5269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Navigate to</a:t>
            </a:r>
            <a:endParaRPr lang="en-US" sz="674" dirty="0"/>
          </a:p>
        </p:txBody>
      </p:sp>
      <p:sp>
        <p:nvSpPr>
          <p:cNvPr id="60" name="Shape 55"/>
          <p:cNvSpPr/>
          <p:nvPr/>
        </p:nvSpPr>
        <p:spPr>
          <a:xfrm>
            <a:off x="7142076" y="2927152"/>
            <a:ext cx="693948" cy="1553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1" name="Text 56"/>
          <p:cNvSpPr/>
          <p:nvPr/>
        </p:nvSpPr>
        <p:spPr>
          <a:xfrm>
            <a:off x="7142076" y="2927152"/>
            <a:ext cx="693948" cy="15537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/auth/register</a:t>
            </a:r>
            <a:endParaRPr lang="en-US" sz="674" dirty="0"/>
          </a:p>
        </p:txBody>
      </p:sp>
      <p:sp>
        <p:nvSpPr>
          <p:cNvPr id="62" name="Text 57"/>
          <p:cNvSpPr/>
          <p:nvPr/>
        </p:nvSpPr>
        <p:spPr>
          <a:xfrm>
            <a:off x="7836024" y="2941439"/>
            <a:ext cx="35116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(Step 1)</a:t>
            </a:r>
            <a:endParaRPr lang="en-US" sz="674" dirty="0"/>
          </a:p>
        </p:txBody>
      </p:sp>
      <p:sp>
        <p:nvSpPr>
          <p:cNvPr id="63" name="Shape 58"/>
          <p:cNvSpPr/>
          <p:nvPr/>
        </p:nvSpPr>
        <p:spPr>
          <a:xfrm>
            <a:off x="5586413" y="326290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4" name="Text 59"/>
          <p:cNvSpPr/>
          <p:nvPr/>
        </p:nvSpPr>
        <p:spPr>
          <a:xfrm>
            <a:off x="5586413" y="326290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5</a:t>
            </a:r>
            <a:endParaRPr lang="en-US" sz="584" dirty="0"/>
          </a:p>
        </p:txBody>
      </p:sp>
      <p:sp>
        <p:nvSpPr>
          <p:cNvPr id="65" name="Text 60"/>
          <p:cNvSpPr/>
          <p:nvPr/>
        </p:nvSpPr>
        <p:spPr>
          <a:xfrm>
            <a:off x="5815013" y="3173611"/>
            <a:ext cx="714375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Social Login</a:t>
            </a:r>
            <a:endParaRPr lang="en-US" sz="674" dirty="0"/>
          </a:p>
        </p:txBody>
      </p:sp>
      <p:sp>
        <p:nvSpPr>
          <p:cNvPr id="66" name="Text 61"/>
          <p:cNvSpPr/>
          <p:nvPr/>
        </p:nvSpPr>
        <p:spPr>
          <a:xfrm>
            <a:off x="6615113" y="3262908"/>
            <a:ext cx="20145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Kakao/Naver/Google OAuth 2.0</a:t>
            </a:r>
            <a:endParaRPr lang="en-US" sz="674" dirty="0"/>
          </a:p>
        </p:txBody>
      </p:sp>
      <p:sp>
        <p:nvSpPr>
          <p:cNvPr id="67" name="Text 62"/>
          <p:cNvSpPr/>
          <p:nvPr/>
        </p:nvSpPr>
        <p:spPr>
          <a:xfrm>
            <a:off x="6615113" y="3389709"/>
            <a:ext cx="20145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GET /api/v1/auth/social/{provider}</a:t>
            </a:r>
            <a:endParaRPr lang="en-US" sz="67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FFFFFF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42925"/>
            <a:ext cx="112514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3876" y="525066"/>
            <a:ext cx="3154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로그인</a:t>
            </a:r>
            <a:endParaRPr lang="en-US" sz="784" dirty="0"/>
          </a:p>
        </p:txBody>
      </p:sp>
      <p:sp>
        <p:nvSpPr>
          <p:cNvPr id="8" name="Shape 4"/>
          <p:cNvSpPr/>
          <p:nvPr/>
        </p:nvSpPr>
        <p:spPr>
          <a:xfrm>
            <a:off x="714375" y="53578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5"/>
          <p:cNvSpPr/>
          <p:nvPr/>
        </p:nvSpPr>
        <p:spPr>
          <a:xfrm>
            <a:off x="714375" y="53578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6"/>
          <p:cNvSpPr/>
          <p:nvPr/>
        </p:nvSpPr>
        <p:spPr>
          <a:xfrm>
            <a:off x="1357313" y="928688"/>
            <a:ext cx="428625" cy="4286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7"/>
          <p:cNvSpPr/>
          <p:nvPr/>
        </p:nvSpPr>
        <p:spPr>
          <a:xfrm>
            <a:off x="1357313" y="928688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</a:t>
            </a:r>
            <a:endParaRPr lang="en-US" sz="1193" dirty="0"/>
          </a:p>
        </p:txBody>
      </p:sp>
      <p:sp>
        <p:nvSpPr>
          <p:cNvPr id="12" name="Shape 8"/>
          <p:cNvSpPr/>
          <p:nvPr/>
        </p:nvSpPr>
        <p:spPr>
          <a:xfrm>
            <a:off x="2357438" y="157162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9"/>
          <p:cNvSpPr/>
          <p:nvPr/>
        </p:nvSpPr>
        <p:spPr>
          <a:xfrm>
            <a:off x="2357438" y="157162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4" name="Shape 10"/>
          <p:cNvSpPr/>
          <p:nvPr/>
        </p:nvSpPr>
        <p:spPr>
          <a:xfrm>
            <a:off x="542925" y="2318147"/>
            <a:ext cx="2057400" cy="3554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1"/>
          <p:cNvSpPr/>
          <p:nvPr/>
        </p:nvSpPr>
        <p:spPr>
          <a:xfrm>
            <a:off x="542925" y="2318147"/>
            <a:ext cx="2057400" cy="355402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로그인</a:t>
            </a:r>
            <a:endParaRPr lang="en-US" sz="784" dirty="0"/>
          </a:p>
        </p:txBody>
      </p:sp>
      <p:sp>
        <p:nvSpPr>
          <p:cNvPr id="16" name="Shape 12"/>
          <p:cNvSpPr/>
          <p:nvPr/>
        </p:nvSpPr>
        <p:spPr>
          <a:xfrm>
            <a:off x="2357438" y="221456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3"/>
          <p:cNvSpPr/>
          <p:nvPr/>
        </p:nvSpPr>
        <p:spPr>
          <a:xfrm>
            <a:off x="2357438" y="221456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8" name="Text 14"/>
          <p:cNvSpPr/>
          <p:nvPr/>
        </p:nvSpPr>
        <p:spPr>
          <a:xfrm>
            <a:off x="1112555" y="2759273"/>
            <a:ext cx="4955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비밀번호 찾기</a:t>
            </a:r>
            <a:endParaRPr lang="en-US" sz="621" dirty="0"/>
          </a:p>
        </p:txBody>
      </p:sp>
      <p:sp>
        <p:nvSpPr>
          <p:cNvPr id="19" name="Text 15"/>
          <p:cNvSpPr/>
          <p:nvPr/>
        </p:nvSpPr>
        <p:spPr>
          <a:xfrm>
            <a:off x="1715226" y="2759273"/>
            <a:ext cx="315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회원가입</a:t>
            </a:r>
            <a:endParaRPr lang="en-US" sz="584" dirty="0"/>
          </a:p>
        </p:txBody>
      </p:sp>
      <p:sp>
        <p:nvSpPr>
          <p:cNvPr id="20" name="Text 16"/>
          <p:cNvSpPr/>
          <p:nvPr/>
        </p:nvSpPr>
        <p:spPr>
          <a:xfrm>
            <a:off x="542925" y="3028950"/>
            <a:ext cx="20574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또는 다음으로 로그인</a:t>
            </a:r>
            <a:endParaRPr lang="en-US" sz="568" dirty="0"/>
          </a:p>
        </p:txBody>
      </p:sp>
      <p:sp>
        <p:nvSpPr>
          <p:cNvPr id="21" name="Shape 17"/>
          <p:cNvSpPr/>
          <p:nvPr/>
        </p:nvSpPr>
        <p:spPr>
          <a:xfrm>
            <a:off x="1028700" y="3228975"/>
            <a:ext cx="285750" cy="285750"/>
          </a:xfrm>
          <a:prstGeom prst="ellipse">
            <a:avLst/>
          </a:prstGeom>
          <a:solidFill>
            <a:srgbClr val="FEE50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281" y="3307556"/>
            <a:ext cx="128588" cy="12858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421606" y="3228975"/>
            <a:ext cx="285750" cy="28575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4" name="Text 19"/>
          <p:cNvSpPr/>
          <p:nvPr/>
        </p:nvSpPr>
        <p:spPr>
          <a:xfrm>
            <a:off x="1421606" y="322897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N</a:t>
            </a:r>
            <a:endParaRPr lang="en-US" sz="942" dirty="0"/>
          </a:p>
        </p:txBody>
      </p:sp>
      <p:sp>
        <p:nvSpPr>
          <p:cNvPr id="25" name="Shape 20"/>
          <p:cNvSpPr/>
          <p:nvPr/>
        </p:nvSpPr>
        <p:spPr>
          <a:xfrm>
            <a:off x="1814513" y="3228975"/>
            <a:ext cx="300038" cy="300038"/>
          </a:xfrm>
          <a:prstGeom prst="ellipse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916" y="3307556"/>
            <a:ext cx="123230" cy="12858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2214563" y="400050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2"/>
          <p:cNvSpPr/>
          <p:nvPr/>
        </p:nvSpPr>
        <p:spPr>
          <a:xfrm>
            <a:off x="2214563" y="400050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29" name="Text 23"/>
          <p:cNvSpPr/>
          <p:nvPr/>
        </p:nvSpPr>
        <p:spPr>
          <a:xfrm>
            <a:off x="3286125" y="428625"/>
            <a:ext cx="542925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[공통] 로그인 (Mobile Web/App)</a:t>
            </a:r>
            <a:endParaRPr lang="en-US" sz="1602" dirty="0"/>
          </a:p>
        </p:txBody>
      </p:sp>
      <p:sp>
        <p:nvSpPr>
          <p:cNvPr id="30" name="Text 24"/>
          <p:cNvSpPr/>
          <p:nvPr/>
        </p:nvSpPr>
        <p:spPr>
          <a:xfrm>
            <a:off x="3286125" y="817959"/>
            <a:ext cx="5429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모바일 최적화 로그인 및 앱 전용 기능</a:t>
            </a:r>
            <a:endParaRPr lang="en-US" sz="834" dirty="0"/>
          </a:p>
        </p:txBody>
      </p:sp>
      <p:sp>
        <p:nvSpPr>
          <p:cNvPr id="31" name="Shape 25"/>
          <p:cNvSpPr/>
          <p:nvPr/>
        </p:nvSpPr>
        <p:spPr>
          <a:xfrm>
            <a:off x="3286125" y="1246584"/>
            <a:ext cx="31432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Shape 26"/>
          <p:cNvSpPr/>
          <p:nvPr/>
        </p:nvSpPr>
        <p:spPr>
          <a:xfrm>
            <a:off x="3286125" y="1537692"/>
            <a:ext cx="31432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27"/>
          <p:cNvSpPr/>
          <p:nvPr/>
        </p:nvSpPr>
        <p:spPr>
          <a:xfrm>
            <a:off x="3286125" y="1246584"/>
            <a:ext cx="31432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34" name="Shape 28"/>
          <p:cNvSpPr/>
          <p:nvPr/>
        </p:nvSpPr>
        <p:spPr>
          <a:xfrm>
            <a:off x="3600450" y="1246584"/>
            <a:ext cx="71437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29"/>
          <p:cNvSpPr/>
          <p:nvPr/>
        </p:nvSpPr>
        <p:spPr>
          <a:xfrm>
            <a:off x="3600450" y="1537692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0"/>
          <p:cNvSpPr/>
          <p:nvPr/>
        </p:nvSpPr>
        <p:spPr>
          <a:xfrm>
            <a:off x="3600450" y="1246584"/>
            <a:ext cx="71437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37" name="Shape 31"/>
          <p:cNvSpPr/>
          <p:nvPr/>
        </p:nvSpPr>
        <p:spPr>
          <a:xfrm>
            <a:off x="4314825" y="1246584"/>
            <a:ext cx="44005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2"/>
          <p:cNvSpPr/>
          <p:nvPr/>
        </p:nvSpPr>
        <p:spPr>
          <a:xfrm>
            <a:off x="4314825" y="1537692"/>
            <a:ext cx="44005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3"/>
          <p:cNvSpPr/>
          <p:nvPr/>
        </p:nvSpPr>
        <p:spPr>
          <a:xfrm>
            <a:off x="4314825" y="1246584"/>
            <a:ext cx="44005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40" name="Shape 34"/>
          <p:cNvSpPr/>
          <p:nvPr/>
        </p:nvSpPr>
        <p:spPr>
          <a:xfrm>
            <a:off x="3371850" y="163056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5"/>
          <p:cNvSpPr/>
          <p:nvPr/>
        </p:nvSpPr>
        <p:spPr>
          <a:xfrm>
            <a:off x="3371850" y="163056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2" name="Text 36"/>
          <p:cNvSpPr/>
          <p:nvPr/>
        </p:nvSpPr>
        <p:spPr>
          <a:xfrm>
            <a:off x="3600450" y="1544836"/>
            <a:ext cx="714375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Navigation</a:t>
            </a:r>
            <a:endParaRPr lang="en-US" sz="674" dirty="0"/>
          </a:p>
        </p:txBody>
      </p:sp>
      <p:sp>
        <p:nvSpPr>
          <p:cNvPr id="43" name="Text 37"/>
          <p:cNvSpPr/>
          <p:nvPr/>
        </p:nvSpPr>
        <p:spPr>
          <a:xfrm>
            <a:off x="4314825" y="1544836"/>
            <a:ext cx="4400550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Back button: Go to Landing or Exit App</a:t>
            </a:r>
            <a:endParaRPr lang="en-US" sz="674" dirty="0"/>
          </a:p>
        </p:txBody>
      </p:sp>
      <p:sp>
        <p:nvSpPr>
          <p:cNvPr id="44" name="Shape 38"/>
          <p:cNvSpPr/>
          <p:nvPr/>
        </p:nvSpPr>
        <p:spPr>
          <a:xfrm>
            <a:off x="3371850" y="195203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9"/>
          <p:cNvSpPr/>
          <p:nvPr/>
        </p:nvSpPr>
        <p:spPr>
          <a:xfrm>
            <a:off x="3371850" y="195203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46" name="Text 40"/>
          <p:cNvSpPr/>
          <p:nvPr/>
        </p:nvSpPr>
        <p:spPr>
          <a:xfrm>
            <a:off x="3600450" y="1862733"/>
            <a:ext cx="714375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Inputs</a:t>
            </a:r>
            <a:endParaRPr lang="en-US" sz="674" dirty="0"/>
          </a:p>
        </p:txBody>
      </p:sp>
      <p:sp>
        <p:nvSpPr>
          <p:cNvPr id="47" name="Text 41"/>
          <p:cNvSpPr/>
          <p:nvPr/>
        </p:nvSpPr>
        <p:spPr>
          <a:xfrm>
            <a:off x="4400550" y="1952030"/>
            <a:ext cx="42291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Keyboard Type: Email / Default</a:t>
            </a:r>
            <a:endParaRPr lang="en-US" sz="674" dirty="0"/>
          </a:p>
        </p:txBody>
      </p:sp>
      <p:sp>
        <p:nvSpPr>
          <p:cNvPr id="48" name="Text 42"/>
          <p:cNvSpPr/>
          <p:nvPr/>
        </p:nvSpPr>
        <p:spPr>
          <a:xfrm>
            <a:off x="4400550" y="2078831"/>
            <a:ext cx="42291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Auto-capitalize: Off</a:t>
            </a:r>
            <a:endParaRPr lang="en-US" sz="674" dirty="0"/>
          </a:p>
        </p:txBody>
      </p:sp>
      <p:sp>
        <p:nvSpPr>
          <p:cNvPr id="49" name="Shape 43"/>
          <p:cNvSpPr/>
          <p:nvPr/>
        </p:nvSpPr>
        <p:spPr>
          <a:xfrm>
            <a:off x="3371850" y="238422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4"/>
          <p:cNvSpPr/>
          <p:nvPr/>
        </p:nvSpPr>
        <p:spPr>
          <a:xfrm>
            <a:off x="3371850" y="238422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1" name="Text 45"/>
          <p:cNvSpPr/>
          <p:nvPr/>
        </p:nvSpPr>
        <p:spPr>
          <a:xfrm>
            <a:off x="3600450" y="2294930"/>
            <a:ext cx="714375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Login Btn</a:t>
            </a:r>
            <a:endParaRPr lang="en-US" sz="674" dirty="0"/>
          </a:p>
        </p:txBody>
      </p:sp>
      <p:sp>
        <p:nvSpPr>
          <p:cNvPr id="52" name="Text 46"/>
          <p:cNvSpPr/>
          <p:nvPr/>
        </p:nvSpPr>
        <p:spPr>
          <a:xfrm>
            <a:off x="4400550" y="2384227"/>
            <a:ext cx="42291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/api/v1/auth/login</a:t>
            </a:r>
            <a:endParaRPr lang="en-US" sz="674" dirty="0"/>
          </a:p>
        </p:txBody>
      </p:sp>
      <p:sp>
        <p:nvSpPr>
          <p:cNvPr id="53" name="Text 47"/>
          <p:cNvSpPr/>
          <p:nvPr/>
        </p:nvSpPr>
        <p:spPr>
          <a:xfrm>
            <a:off x="4400550" y="2511028"/>
            <a:ext cx="42291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App: Save Token to Keychain/Keystore</a:t>
            </a:r>
            <a:endParaRPr lang="en-US" sz="674" dirty="0"/>
          </a:p>
        </p:txBody>
      </p:sp>
      <p:sp>
        <p:nvSpPr>
          <p:cNvPr id="54" name="Shape 48"/>
          <p:cNvSpPr/>
          <p:nvPr/>
        </p:nvSpPr>
        <p:spPr>
          <a:xfrm>
            <a:off x="3371850" y="281642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49"/>
          <p:cNvSpPr/>
          <p:nvPr/>
        </p:nvSpPr>
        <p:spPr>
          <a:xfrm>
            <a:off x="3371850" y="28164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56" name="Text 50"/>
          <p:cNvSpPr/>
          <p:nvPr/>
        </p:nvSpPr>
        <p:spPr>
          <a:xfrm>
            <a:off x="3600450" y="2727127"/>
            <a:ext cx="714375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Social</a:t>
            </a:r>
            <a:endParaRPr lang="en-US" sz="674" dirty="0"/>
          </a:p>
        </p:txBody>
      </p:sp>
      <p:sp>
        <p:nvSpPr>
          <p:cNvPr id="57" name="Text 51"/>
          <p:cNvSpPr/>
          <p:nvPr/>
        </p:nvSpPr>
        <p:spPr>
          <a:xfrm>
            <a:off x="4314825" y="2727127"/>
            <a:ext cx="4400550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Use Native SDKs (Kakao, Naver, Google) if available</a:t>
            </a:r>
            <a:endParaRPr lang="en-US" sz="674" dirty="0"/>
          </a:p>
        </p:txBody>
      </p:sp>
      <p:sp>
        <p:nvSpPr>
          <p:cNvPr id="58" name="Shape 52"/>
          <p:cNvSpPr/>
          <p:nvPr/>
        </p:nvSpPr>
        <p:spPr>
          <a:xfrm>
            <a:off x="3286125" y="3195042"/>
            <a:ext cx="5429250" cy="916186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solid"/>
          </a:ln>
        </p:spPr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0425" y="3327202"/>
            <a:ext cx="75009" cy="100013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3475434" y="3309342"/>
            <a:ext cx="14550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Mobile App Specific Features</a:t>
            </a:r>
            <a:endParaRPr lang="en-US" sz="683" dirty="0"/>
          </a:p>
        </p:txBody>
      </p:sp>
      <p:sp>
        <p:nvSpPr>
          <p:cNvPr id="61" name="Text 54"/>
          <p:cNvSpPr/>
          <p:nvPr/>
        </p:nvSpPr>
        <p:spPr>
          <a:xfrm>
            <a:off x="3543300" y="3516511"/>
            <a:ext cx="72986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Biometric Auth:</a:t>
            </a:r>
            <a:endParaRPr lang="en-US" sz="634" dirty="0"/>
          </a:p>
        </p:txBody>
      </p:sp>
      <p:sp>
        <p:nvSpPr>
          <p:cNvPr id="62" name="Text 55"/>
          <p:cNvSpPr/>
          <p:nvPr/>
        </p:nvSpPr>
        <p:spPr>
          <a:xfrm>
            <a:off x="4273162" y="3516511"/>
            <a:ext cx="193112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Face ID / Fingerprint support for auto-login.</a:t>
            </a:r>
            <a:endParaRPr lang="en-US" sz="674" dirty="0"/>
          </a:p>
        </p:txBody>
      </p:sp>
      <p:sp>
        <p:nvSpPr>
          <p:cNvPr id="63" name="Text 56"/>
          <p:cNvSpPr/>
          <p:nvPr/>
        </p:nvSpPr>
        <p:spPr>
          <a:xfrm>
            <a:off x="3543300" y="3671888"/>
            <a:ext cx="6354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Deep Linking:</a:t>
            </a:r>
            <a:endParaRPr lang="en-US" sz="634" dirty="0"/>
          </a:p>
        </p:txBody>
      </p:sp>
      <p:sp>
        <p:nvSpPr>
          <p:cNvPr id="64" name="Text 57"/>
          <p:cNvSpPr/>
          <p:nvPr/>
        </p:nvSpPr>
        <p:spPr>
          <a:xfrm>
            <a:off x="4178731" y="3671888"/>
            <a:ext cx="36006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Handle</a:t>
            </a:r>
            <a:endParaRPr lang="en-US" sz="674" dirty="0"/>
          </a:p>
        </p:txBody>
      </p:sp>
      <p:sp>
        <p:nvSpPr>
          <p:cNvPr id="65" name="Shape 58"/>
          <p:cNvSpPr/>
          <p:nvPr/>
        </p:nvSpPr>
        <p:spPr>
          <a:xfrm>
            <a:off x="4538793" y="3657600"/>
            <a:ext cx="1046755" cy="1553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6" name="Text 59"/>
          <p:cNvSpPr/>
          <p:nvPr/>
        </p:nvSpPr>
        <p:spPr>
          <a:xfrm>
            <a:off x="4538793" y="3657600"/>
            <a:ext cx="1046755" cy="15537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smartcon://auth/login</a:t>
            </a:r>
            <a:endParaRPr lang="en-US" sz="674" dirty="0"/>
          </a:p>
        </p:txBody>
      </p:sp>
      <p:sp>
        <p:nvSpPr>
          <p:cNvPr id="67" name="Text 60"/>
          <p:cNvSpPr/>
          <p:nvPr/>
        </p:nvSpPr>
        <p:spPr>
          <a:xfrm>
            <a:off x="5585547" y="3671888"/>
            <a:ext cx="3871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scheme.</a:t>
            </a:r>
            <a:endParaRPr lang="en-US" sz="674" dirty="0"/>
          </a:p>
        </p:txBody>
      </p:sp>
      <p:sp>
        <p:nvSpPr>
          <p:cNvPr id="68" name="Text 61"/>
          <p:cNvSpPr/>
          <p:nvPr/>
        </p:nvSpPr>
        <p:spPr>
          <a:xfrm>
            <a:off x="3543300" y="3827264"/>
            <a:ext cx="5315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Auto Login:</a:t>
            </a:r>
            <a:endParaRPr lang="en-US" sz="634" dirty="0"/>
          </a:p>
        </p:txBody>
      </p:sp>
      <p:sp>
        <p:nvSpPr>
          <p:cNvPr id="69" name="Text 62"/>
          <p:cNvSpPr/>
          <p:nvPr/>
        </p:nvSpPr>
        <p:spPr>
          <a:xfrm>
            <a:off x="4074895" y="3827264"/>
            <a:ext cx="18271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Check valid Refresh Token on app launch.</a:t>
            </a:r>
            <a:endParaRPr lang="en-US" sz="67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279106"/>
          </a:xfrm>
          <a:prstGeom prst="rect">
            <a:avLst/>
          </a:prstGeom>
          <a:solidFill>
            <a:srgbClr val="FFFFFF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50069"/>
            <a:ext cx="100013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1128713"/>
            <a:ext cx="2000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약관 동의</a:t>
            </a:r>
            <a:endParaRPr lang="en-US" sz="987" dirty="0"/>
          </a:p>
        </p:txBody>
      </p:sp>
      <p:sp>
        <p:nvSpPr>
          <p:cNvPr id="8" name="Shape 4"/>
          <p:cNvSpPr/>
          <p:nvPr/>
        </p:nvSpPr>
        <p:spPr>
          <a:xfrm>
            <a:off x="685800" y="1664494"/>
            <a:ext cx="157163" cy="157163"/>
          </a:xfrm>
          <a:prstGeom prst="rect">
            <a:avLst/>
          </a:prstGeom>
          <a:solidFill>
            <a:srgbClr val="3B82F6"/>
          </a:solidFill>
          <a:ln w="9144">
            <a:solidFill>
              <a:srgbClr val="3B82F6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" y="1686818"/>
            <a:ext cx="100013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0113" y="1664494"/>
            <a:ext cx="97213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모든 약관에 동의합니다</a:t>
            </a:r>
            <a:endParaRPr lang="en-US" sz="683" dirty="0"/>
          </a:p>
        </p:txBody>
      </p:sp>
      <p:sp>
        <p:nvSpPr>
          <p:cNvPr id="11" name="Shape 6"/>
          <p:cNvSpPr/>
          <p:nvPr/>
        </p:nvSpPr>
        <p:spPr>
          <a:xfrm>
            <a:off x="500063" y="50006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7"/>
          <p:cNvSpPr/>
          <p:nvPr/>
        </p:nvSpPr>
        <p:spPr>
          <a:xfrm>
            <a:off x="500063" y="50006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3" name="Shape 8"/>
          <p:cNvSpPr/>
          <p:nvPr/>
        </p:nvSpPr>
        <p:spPr>
          <a:xfrm>
            <a:off x="685800" y="2030611"/>
            <a:ext cx="157163" cy="157163"/>
          </a:xfrm>
          <a:prstGeom prst="rect">
            <a:avLst/>
          </a:prstGeom>
          <a:solidFill>
            <a:srgbClr val="3B82F6"/>
          </a:solidFill>
          <a:ln w="9144">
            <a:solidFill>
              <a:srgbClr val="3B82F6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31" y="2052935"/>
            <a:ext cx="100013" cy="1000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0113" y="2030611"/>
            <a:ext cx="115014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서비스 이용약관 동의 (필수)</a:t>
            </a:r>
            <a:endParaRPr lang="en-US" sz="727" dirty="0"/>
          </a:p>
        </p:txBody>
      </p:sp>
      <p:sp>
        <p:nvSpPr>
          <p:cNvPr id="16" name="Text 10"/>
          <p:cNvSpPr/>
          <p:nvPr/>
        </p:nvSpPr>
        <p:spPr>
          <a:xfrm>
            <a:off x="2299701" y="2039541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u="sng" dirty="0">
                <a:solidFill>
                  <a:srgbClr val="94A3B8"/>
                </a:solidFill>
                <a:uFill>
                  <a:solidFill>
                    <a:srgbClr val="94A3B8"/>
                  </a:solidFill>
                </a:uFill>
              </a:rPr>
              <a:t>보기</a:t>
            </a:r>
            <a:endParaRPr lang="en-US" sz="621" dirty="0"/>
          </a:p>
        </p:txBody>
      </p:sp>
      <p:sp>
        <p:nvSpPr>
          <p:cNvPr id="17" name="Shape 11"/>
          <p:cNvSpPr/>
          <p:nvPr/>
        </p:nvSpPr>
        <p:spPr>
          <a:xfrm>
            <a:off x="685800" y="2282428"/>
            <a:ext cx="157163" cy="157163"/>
          </a:xfrm>
          <a:prstGeom prst="rect">
            <a:avLst/>
          </a:prstGeom>
          <a:solidFill>
            <a:srgbClr val="3B82F6"/>
          </a:solidFill>
          <a:ln w="9144">
            <a:solidFill>
              <a:srgbClr val="3B82F6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31" y="2304752"/>
            <a:ext cx="100013" cy="1000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00113" y="2282428"/>
            <a:ext cx="126896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개인정보 수집·이용 동의 (필수)</a:t>
            </a:r>
            <a:endParaRPr lang="en-US" sz="727" dirty="0"/>
          </a:p>
        </p:txBody>
      </p:sp>
      <p:sp>
        <p:nvSpPr>
          <p:cNvPr id="20" name="Text 13"/>
          <p:cNvSpPr/>
          <p:nvPr/>
        </p:nvSpPr>
        <p:spPr>
          <a:xfrm>
            <a:off x="2299701" y="2291358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u="sng" dirty="0">
                <a:solidFill>
                  <a:srgbClr val="94A3B8"/>
                </a:solidFill>
                <a:uFill>
                  <a:solidFill>
                    <a:srgbClr val="94A3B8"/>
                  </a:solidFill>
                </a:uFill>
              </a:rPr>
              <a:t>보기</a:t>
            </a:r>
            <a:endParaRPr lang="en-US" sz="621" dirty="0"/>
          </a:p>
        </p:txBody>
      </p:sp>
      <p:sp>
        <p:nvSpPr>
          <p:cNvPr id="21" name="Shape 14"/>
          <p:cNvSpPr/>
          <p:nvPr/>
        </p:nvSpPr>
        <p:spPr>
          <a:xfrm>
            <a:off x="2571750" y="42862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15"/>
          <p:cNvSpPr/>
          <p:nvPr/>
        </p:nvSpPr>
        <p:spPr>
          <a:xfrm>
            <a:off x="2571750" y="42862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23" name="Text 16"/>
          <p:cNvSpPr/>
          <p:nvPr/>
        </p:nvSpPr>
        <p:spPr>
          <a:xfrm>
            <a:off x="914400" y="2540496"/>
            <a:ext cx="117615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마케팅 정보 수신 동의 (선택)</a:t>
            </a:r>
            <a:endParaRPr lang="en-US" sz="727" dirty="0"/>
          </a:p>
        </p:txBody>
      </p:sp>
      <p:sp>
        <p:nvSpPr>
          <p:cNvPr id="24" name="Text 17"/>
          <p:cNvSpPr/>
          <p:nvPr/>
        </p:nvSpPr>
        <p:spPr>
          <a:xfrm>
            <a:off x="2299701" y="2549426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u="sng" dirty="0">
                <a:solidFill>
                  <a:srgbClr val="94A3B8"/>
                </a:solidFill>
                <a:uFill>
                  <a:solidFill>
                    <a:srgbClr val="94A3B8"/>
                  </a:solidFill>
                </a:uFill>
              </a:rPr>
              <a:t>보기</a:t>
            </a:r>
            <a:endParaRPr lang="en-US" sz="621" dirty="0"/>
          </a:p>
        </p:txBody>
      </p:sp>
      <p:sp>
        <p:nvSpPr>
          <p:cNvPr id="25" name="Shape 18"/>
          <p:cNvSpPr/>
          <p:nvPr/>
        </p:nvSpPr>
        <p:spPr>
          <a:xfrm>
            <a:off x="571500" y="4080867"/>
            <a:ext cx="2000250" cy="36968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19"/>
          <p:cNvSpPr/>
          <p:nvPr/>
        </p:nvSpPr>
        <p:spPr>
          <a:xfrm>
            <a:off x="571500" y="4080867"/>
            <a:ext cx="2000250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다음</a:t>
            </a:r>
            <a:endParaRPr lang="en-US" sz="784" dirty="0"/>
          </a:p>
        </p:txBody>
      </p:sp>
      <p:sp>
        <p:nvSpPr>
          <p:cNvPr id="27" name="Shape 20"/>
          <p:cNvSpPr/>
          <p:nvPr/>
        </p:nvSpPr>
        <p:spPr>
          <a:xfrm>
            <a:off x="2428875" y="416480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1"/>
          <p:cNvSpPr/>
          <p:nvPr/>
        </p:nvSpPr>
        <p:spPr>
          <a:xfrm>
            <a:off x="2428875" y="41648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29" name="Text 22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[공통] 회원가입 Step 1-2 (시작/약관)</a:t>
            </a:r>
            <a:endParaRPr lang="en-US" sz="1602" dirty="0"/>
          </a:p>
        </p:txBody>
      </p:sp>
      <p:sp>
        <p:nvSpPr>
          <p:cNvPr id="30" name="Text 23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회원가입 진입 및 필수 약관 동의 프로세스</a:t>
            </a:r>
            <a:endParaRPr lang="en-US" sz="834" dirty="0"/>
          </a:p>
        </p:txBody>
      </p:sp>
      <p:sp>
        <p:nvSpPr>
          <p:cNvPr id="31" name="Shape 24"/>
          <p:cNvSpPr/>
          <p:nvPr/>
        </p:nvSpPr>
        <p:spPr>
          <a:xfrm>
            <a:off x="3429000" y="1346597"/>
            <a:ext cx="31432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Shape 25"/>
          <p:cNvSpPr/>
          <p:nvPr/>
        </p:nvSpPr>
        <p:spPr>
          <a:xfrm>
            <a:off x="3429000" y="1637705"/>
            <a:ext cx="31432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26"/>
          <p:cNvSpPr/>
          <p:nvPr/>
        </p:nvSpPr>
        <p:spPr>
          <a:xfrm>
            <a:off x="3429000" y="1346597"/>
            <a:ext cx="31432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34" name="Shape 27"/>
          <p:cNvSpPr/>
          <p:nvPr/>
        </p:nvSpPr>
        <p:spPr>
          <a:xfrm>
            <a:off x="3743325" y="1346597"/>
            <a:ext cx="71437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28"/>
          <p:cNvSpPr/>
          <p:nvPr/>
        </p:nvSpPr>
        <p:spPr>
          <a:xfrm>
            <a:off x="3743325" y="1637705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29"/>
          <p:cNvSpPr/>
          <p:nvPr/>
        </p:nvSpPr>
        <p:spPr>
          <a:xfrm>
            <a:off x="3743325" y="1346597"/>
            <a:ext cx="71437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37" name="Shape 30"/>
          <p:cNvSpPr/>
          <p:nvPr/>
        </p:nvSpPr>
        <p:spPr>
          <a:xfrm>
            <a:off x="4457700" y="1346597"/>
            <a:ext cx="425767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1"/>
          <p:cNvSpPr/>
          <p:nvPr/>
        </p:nvSpPr>
        <p:spPr>
          <a:xfrm>
            <a:off x="4457700" y="1637705"/>
            <a:ext cx="42576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2"/>
          <p:cNvSpPr/>
          <p:nvPr/>
        </p:nvSpPr>
        <p:spPr>
          <a:xfrm>
            <a:off x="4457700" y="1346597"/>
            <a:ext cx="425767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40" name="Shape 33"/>
          <p:cNvSpPr/>
          <p:nvPr/>
        </p:nvSpPr>
        <p:spPr>
          <a:xfrm>
            <a:off x="3514725" y="173057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4"/>
          <p:cNvSpPr/>
          <p:nvPr/>
        </p:nvSpPr>
        <p:spPr>
          <a:xfrm>
            <a:off x="3514725" y="173057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2" name="Text 35"/>
          <p:cNvSpPr/>
          <p:nvPr/>
        </p:nvSpPr>
        <p:spPr>
          <a:xfrm>
            <a:off x="3743325" y="1644848"/>
            <a:ext cx="714375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All Check</a:t>
            </a:r>
            <a:endParaRPr lang="en-US" sz="674" dirty="0"/>
          </a:p>
        </p:txBody>
      </p:sp>
      <p:sp>
        <p:nvSpPr>
          <p:cNvPr id="43" name="Text 36"/>
          <p:cNvSpPr/>
          <p:nvPr/>
        </p:nvSpPr>
        <p:spPr>
          <a:xfrm>
            <a:off x="4457700" y="1644848"/>
            <a:ext cx="4257675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Toggle all checkboxes (Required + Optional)</a:t>
            </a:r>
            <a:endParaRPr lang="en-US" sz="674" dirty="0"/>
          </a:p>
        </p:txBody>
      </p:sp>
      <p:sp>
        <p:nvSpPr>
          <p:cNvPr id="44" name="Shape 37"/>
          <p:cNvSpPr/>
          <p:nvPr/>
        </p:nvSpPr>
        <p:spPr>
          <a:xfrm>
            <a:off x="3514725" y="205204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8"/>
          <p:cNvSpPr/>
          <p:nvPr/>
        </p:nvSpPr>
        <p:spPr>
          <a:xfrm>
            <a:off x="3514725" y="205204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46" name="Text 39"/>
          <p:cNvSpPr/>
          <p:nvPr/>
        </p:nvSpPr>
        <p:spPr>
          <a:xfrm>
            <a:off x="3743325" y="1962745"/>
            <a:ext cx="714375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Terms Link</a:t>
            </a:r>
            <a:endParaRPr lang="en-US" sz="674" dirty="0"/>
          </a:p>
        </p:txBody>
      </p:sp>
      <p:sp>
        <p:nvSpPr>
          <p:cNvPr id="47" name="Text 40"/>
          <p:cNvSpPr/>
          <p:nvPr/>
        </p:nvSpPr>
        <p:spPr>
          <a:xfrm>
            <a:off x="4457700" y="1962745"/>
            <a:ext cx="4257675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Open Modal with full text (Scrollable)</a:t>
            </a:r>
            <a:endParaRPr lang="en-US" sz="674" dirty="0"/>
          </a:p>
        </p:txBody>
      </p:sp>
      <p:sp>
        <p:nvSpPr>
          <p:cNvPr id="48" name="Shape 41"/>
          <p:cNvSpPr/>
          <p:nvPr/>
        </p:nvSpPr>
        <p:spPr>
          <a:xfrm>
            <a:off x="3514725" y="237351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9" name="Text 42"/>
          <p:cNvSpPr/>
          <p:nvPr/>
        </p:nvSpPr>
        <p:spPr>
          <a:xfrm>
            <a:off x="3514725" y="237351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0" name="Text 43"/>
          <p:cNvSpPr/>
          <p:nvPr/>
        </p:nvSpPr>
        <p:spPr>
          <a:xfrm>
            <a:off x="3743325" y="2284214"/>
            <a:ext cx="714375" cy="5679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Next Btn</a:t>
            </a:r>
            <a:endParaRPr lang="en-US" sz="674" dirty="0"/>
          </a:p>
        </p:txBody>
      </p:sp>
      <p:sp>
        <p:nvSpPr>
          <p:cNvPr id="51" name="Text 44"/>
          <p:cNvSpPr/>
          <p:nvPr/>
        </p:nvSpPr>
        <p:spPr>
          <a:xfrm>
            <a:off x="4543425" y="2373511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Validation: Check if all REQUIRED terms are checked</a:t>
            </a:r>
            <a:endParaRPr lang="en-US" sz="674" dirty="0"/>
          </a:p>
        </p:txBody>
      </p:sp>
      <p:sp>
        <p:nvSpPr>
          <p:cNvPr id="52" name="Text 45"/>
          <p:cNvSpPr/>
          <p:nvPr/>
        </p:nvSpPr>
        <p:spPr>
          <a:xfrm>
            <a:off x="4543425" y="2500313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Action: Navigate to Step 3 (PASS Auth)</a:t>
            </a:r>
            <a:endParaRPr lang="en-US" sz="674" dirty="0"/>
          </a:p>
        </p:txBody>
      </p:sp>
      <p:sp>
        <p:nvSpPr>
          <p:cNvPr id="53" name="Text 46"/>
          <p:cNvSpPr/>
          <p:nvPr/>
        </p:nvSpPr>
        <p:spPr>
          <a:xfrm>
            <a:off x="4543425" y="2627114"/>
            <a:ext cx="40862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Error: "필수 약관에 동의해주세요." (Toast)</a:t>
            </a:r>
            <a:endParaRPr lang="en-US" sz="674" dirty="0"/>
          </a:p>
        </p:txBody>
      </p:sp>
      <p:sp>
        <p:nvSpPr>
          <p:cNvPr id="54" name="Shape 47"/>
          <p:cNvSpPr/>
          <p:nvPr/>
        </p:nvSpPr>
        <p:spPr>
          <a:xfrm>
            <a:off x="3429000" y="3070027"/>
            <a:ext cx="5286375" cy="108685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3571875" y="3212902"/>
            <a:ext cx="5000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9E0B"/>
                </a:solidFill>
              </a:rPr>
              <a:t>Step 1 (Start Screen) Summary</a:t>
            </a:r>
            <a:endParaRPr lang="en-US" sz="784" dirty="0"/>
          </a:p>
        </p:txBody>
      </p:sp>
      <p:sp>
        <p:nvSpPr>
          <p:cNvPr id="56" name="Text 49"/>
          <p:cNvSpPr/>
          <p:nvPr/>
        </p:nvSpPr>
        <p:spPr>
          <a:xfrm>
            <a:off x="3714750" y="3471863"/>
            <a:ext cx="2320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Title:</a:t>
            </a:r>
            <a:endParaRPr lang="en-US" sz="634" dirty="0"/>
          </a:p>
        </p:txBody>
      </p:sp>
      <p:sp>
        <p:nvSpPr>
          <p:cNvPr id="57" name="Text 50"/>
          <p:cNvSpPr/>
          <p:nvPr/>
        </p:nvSpPr>
        <p:spPr>
          <a:xfrm>
            <a:off x="3946838" y="3471863"/>
            <a:ext cx="44168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"회원가입"</a:t>
            </a:r>
            <a:endParaRPr lang="en-US" sz="674" dirty="0"/>
          </a:p>
        </p:txBody>
      </p:sp>
      <p:sp>
        <p:nvSpPr>
          <p:cNvPr id="58" name="Text 51"/>
          <p:cNvSpPr/>
          <p:nvPr/>
        </p:nvSpPr>
        <p:spPr>
          <a:xfrm>
            <a:off x="3714750" y="3620430"/>
            <a:ext cx="4310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Message:</a:t>
            </a:r>
            <a:endParaRPr lang="en-US" sz="634" dirty="0"/>
          </a:p>
        </p:txBody>
      </p:sp>
      <p:sp>
        <p:nvSpPr>
          <p:cNvPr id="59" name="Text 52"/>
          <p:cNvSpPr/>
          <p:nvPr/>
        </p:nvSpPr>
        <p:spPr>
          <a:xfrm>
            <a:off x="4145775" y="3620430"/>
            <a:ext cx="184476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"휴대폰 본인인증을 통해 간편하게 가입하세요."</a:t>
            </a:r>
            <a:endParaRPr lang="en-US" sz="674" dirty="0"/>
          </a:p>
        </p:txBody>
      </p:sp>
      <p:sp>
        <p:nvSpPr>
          <p:cNvPr id="60" name="Text 53"/>
          <p:cNvSpPr/>
          <p:nvPr/>
        </p:nvSpPr>
        <p:spPr>
          <a:xfrm>
            <a:off x="3714750" y="3768998"/>
            <a:ext cx="3490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Button:</a:t>
            </a:r>
            <a:endParaRPr lang="en-US" sz="634" dirty="0"/>
          </a:p>
        </p:txBody>
      </p:sp>
      <p:sp>
        <p:nvSpPr>
          <p:cNvPr id="61" name="Text 54"/>
          <p:cNvSpPr/>
          <p:nvPr/>
        </p:nvSpPr>
        <p:spPr>
          <a:xfrm>
            <a:off x="4063761" y="3768998"/>
            <a:ext cx="15614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[회원가입 시작] → Navigate to Step 2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7916" y="528638"/>
            <a:ext cx="2085975" cy="4086225"/>
          </a:xfrm>
          <a:prstGeom prst="rect">
            <a:avLst/>
          </a:prstGeom>
          <a:solidFill>
            <a:srgbClr val="FFFFFF"/>
          </a:solidFill>
          <a:ln w="45720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0778" y="571500"/>
            <a:ext cx="2000250" cy="328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10778" y="892969"/>
            <a:ext cx="200025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34" y="682228"/>
            <a:ext cx="87511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6883" y="659904"/>
            <a:ext cx="6311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PASS 본인인증</a:t>
            </a:r>
            <a:endParaRPr lang="en-US" sz="68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028" y="1562695"/>
            <a:ext cx="285750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3653" y="2039541"/>
            <a:ext cx="17145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본인인증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을 통해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안전하게 가입하세요.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 PASS 앱이 실행됩니다.</a:t>
            </a:r>
            <a:endParaRPr lang="en-US" sz="634" dirty="0"/>
          </a:p>
        </p:txBody>
      </p:sp>
      <p:sp>
        <p:nvSpPr>
          <p:cNvPr id="10" name="Shape 5"/>
          <p:cNvSpPr/>
          <p:nvPr/>
        </p:nvSpPr>
        <p:spPr>
          <a:xfrm>
            <a:off x="653653" y="3979069"/>
            <a:ext cx="1714500" cy="30718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6"/>
          <p:cNvSpPr/>
          <p:nvPr/>
        </p:nvSpPr>
        <p:spPr>
          <a:xfrm>
            <a:off x="653653" y="3979069"/>
            <a:ext cx="1714500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PASS 본인인증</a:t>
            </a:r>
            <a:endParaRPr lang="en-US" sz="683" dirty="0"/>
          </a:p>
        </p:txBody>
      </p:sp>
      <p:sp>
        <p:nvSpPr>
          <p:cNvPr id="12" name="Shape 7"/>
          <p:cNvSpPr/>
          <p:nvPr/>
        </p:nvSpPr>
        <p:spPr>
          <a:xfrm>
            <a:off x="2225278" y="417909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8"/>
          <p:cNvSpPr/>
          <p:nvPr/>
        </p:nvSpPr>
        <p:spPr>
          <a:xfrm>
            <a:off x="2225278" y="417909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134" y="2486918"/>
            <a:ext cx="107156" cy="1714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046809" y="528638"/>
            <a:ext cx="2085975" cy="4086225"/>
          </a:xfrm>
          <a:prstGeom prst="rect">
            <a:avLst/>
          </a:prstGeom>
          <a:solidFill>
            <a:srgbClr val="FFFFFF"/>
          </a:solidFill>
          <a:ln w="45720">
            <a:solidFill>
              <a:srgbClr val="334155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3089672" y="571500"/>
            <a:ext cx="2000250" cy="328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1"/>
          <p:cNvSpPr/>
          <p:nvPr/>
        </p:nvSpPr>
        <p:spPr>
          <a:xfrm>
            <a:off x="3089672" y="892969"/>
            <a:ext cx="200025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6828" y="682228"/>
            <a:ext cx="87511" cy="1000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55777" y="659904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기본정보 입력</a:t>
            </a:r>
            <a:endParaRPr lang="en-US" sz="683" dirty="0"/>
          </a:p>
        </p:txBody>
      </p:sp>
      <p:sp>
        <p:nvSpPr>
          <p:cNvPr id="20" name="Text 13"/>
          <p:cNvSpPr/>
          <p:nvPr/>
        </p:nvSpPr>
        <p:spPr>
          <a:xfrm>
            <a:off x="3232547" y="1035844"/>
            <a:ext cx="1714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이름 *</a:t>
            </a:r>
            <a:endParaRPr lang="en-US" sz="534" dirty="0"/>
          </a:p>
        </p:txBody>
      </p:sp>
      <p:sp>
        <p:nvSpPr>
          <p:cNvPr id="21" name="Text 14"/>
          <p:cNvSpPr/>
          <p:nvPr/>
        </p:nvSpPr>
        <p:spPr>
          <a:xfrm>
            <a:off x="3232547" y="1491258"/>
            <a:ext cx="1714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생년월일 *</a:t>
            </a:r>
            <a:endParaRPr lang="en-US" sz="534" dirty="0"/>
          </a:p>
        </p:txBody>
      </p:sp>
      <p:sp>
        <p:nvSpPr>
          <p:cNvPr id="22" name="Shape 15"/>
          <p:cNvSpPr/>
          <p:nvPr/>
        </p:nvSpPr>
        <p:spPr>
          <a:xfrm>
            <a:off x="4804172" y="128587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16"/>
          <p:cNvSpPr/>
          <p:nvPr/>
        </p:nvSpPr>
        <p:spPr>
          <a:xfrm>
            <a:off x="4804172" y="128587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24" name="Text 17"/>
          <p:cNvSpPr/>
          <p:nvPr/>
        </p:nvSpPr>
        <p:spPr>
          <a:xfrm>
            <a:off x="3232547" y="1946672"/>
            <a:ext cx="1714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성별 *</a:t>
            </a:r>
            <a:endParaRPr lang="en-US" sz="534" dirty="0"/>
          </a:p>
        </p:txBody>
      </p:sp>
      <p:sp>
        <p:nvSpPr>
          <p:cNvPr id="25" name="Shape 18"/>
          <p:cNvSpPr/>
          <p:nvPr/>
        </p:nvSpPr>
        <p:spPr>
          <a:xfrm>
            <a:off x="3232547" y="2089547"/>
            <a:ext cx="1714500" cy="237530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232547" y="2398514"/>
            <a:ext cx="1714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이메일 (선택)</a:t>
            </a:r>
            <a:endParaRPr lang="en-US" sz="534" dirty="0"/>
          </a:p>
        </p:txBody>
      </p:sp>
      <p:sp>
        <p:nvSpPr>
          <p:cNvPr id="27" name="Shape 20"/>
          <p:cNvSpPr/>
          <p:nvPr/>
        </p:nvSpPr>
        <p:spPr>
          <a:xfrm>
            <a:off x="4804172" y="221456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1"/>
          <p:cNvSpPr/>
          <p:nvPr/>
        </p:nvSpPr>
        <p:spPr>
          <a:xfrm>
            <a:off x="4804172" y="2214563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29" name="Shape 22"/>
          <p:cNvSpPr/>
          <p:nvPr/>
        </p:nvSpPr>
        <p:spPr>
          <a:xfrm>
            <a:off x="3232547" y="4121944"/>
            <a:ext cx="1714500" cy="30718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3"/>
          <p:cNvSpPr/>
          <p:nvPr/>
        </p:nvSpPr>
        <p:spPr>
          <a:xfrm>
            <a:off x="3232547" y="4121944"/>
            <a:ext cx="1714500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회원가입 완료</a:t>
            </a:r>
            <a:endParaRPr lang="en-US" sz="683" dirty="0"/>
          </a:p>
        </p:txBody>
      </p:sp>
      <p:sp>
        <p:nvSpPr>
          <p:cNvPr id="31" name="Shape 24"/>
          <p:cNvSpPr/>
          <p:nvPr/>
        </p:nvSpPr>
        <p:spPr>
          <a:xfrm>
            <a:off x="4804172" y="417909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25"/>
          <p:cNvSpPr/>
          <p:nvPr/>
        </p:nvSpPr>
        <p:spPr>
          <a:xfrm>
            <a:off x="4804172" y="417909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4</a:t>
            </a:r>
            <a:endParaRPr lang="en-US" sz="534" dirty="0"/>
          </a:p>
        </p:txBody>
      </p:sp>
      <p:sp>
        <p:nvSpPr>
          <p:cNvPr id="33" name="Text 26"/>
          <p:cNvSpPr/>
          <p:nvPr/>
        </p:nvSpPr>
        <p:spPr>
          <a:xfrm>
            <a:off x="5500688" y="428625"/>
            <a:ext cx="3214688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[공통] 회원가입 Step 3-4</a:t>
            </a:r>
            <a:endParaRPr lang="en-US" sz="1397" dirty="0"/>
          </a:p>
        </p:txBody>
      </p:sp>
      <p:sp>
        <p:nvSpPr>
          <p:cNvPr id="34" name="Text 27"/>
          <p:cNvSpPr/>
          <p:nvPr/>
        </p:nvSpPr>
        <p:spPr>
          <a:xfrm>
            <a:off x="5500688" y="760809"/>
            <a:ext cx="32146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PASS 인증 및 정보 입력 프로세스</a:t>
            </a:r>
            <a:endParaRPr lang="en-US" sz="727" dirty="0"/>
          </a:p>
        </p:txBody>
      </p:sp>
      <p:sp>
        <p:nvSpPr>
          <p:cNvPr id="35" name="Shape 28"/>
          <p:cNvSpPr/>
          <p:nvPr/>
        </p:nvSpPr>
        <p:spPr>
          <a:xfrm>
            <a:off x="5500688" y="1162645"/>
            <a:ext cx="285750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29"/>
          <p:cNvSpPr/>
          <p:nvPr/>
        </p:nvSpPr>
        <p:spPr>
          <a:xfrm>
            <a:off x="5500688" y="1414463"/>
            <a:ext cx="2857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0"/>
          <p:cNvSpPr/>
          <p:nvPr/>
        </p:nvSpPr>
        <p:spPr>
          <a:xfrm>
            <a:off x="5500688" y="1162645"/>
            <a:ext cx="285750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No</a:t>
            </a:r>
            <a:endParaRPr lang="en-US" sz="584" dirty="0"/>
          </a:p>
        </p:txBody>
      </p:sp>
      <p:sp>
        <p:nvSpPr>
          <p:cNvPr id="38" name="Shape 31"/>
          <p:cNvSpPr/>
          <p:nvPr/>
        </p:nvSpPr>
        <p:spPr>
          <a:xfrm>
            <a:off x="5786438" y="1162645"/>
            <a:ext cx="642938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Shape 32"/>
          <p:cNvSpPr/>
          <p:nvPr/>
        </p:nvSpPr>
        <p:spPr>
          <a:xfrm>
            <a:off x="5786438" y="1414463"/>
            <a:ext cx="642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3"/>
          <p:cNvSpPr/>
          <p:nvPr/>
        </p:nvSpPr>
        <p:spPr>
          <a:xfrm>
            <a:off x="5786438" y="1162645"/>
            <a:ext cx="642938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Element</a:t>
            </a:r>
            <a:endParaRPr lang="en-US" sz="584" dirty="0"/>
          </a:p>
        </p:txBody>
      </p:sp>
      <p:sp>
        <p:nvSpPr>
          <p:cNvPr id="41" name="Shape 34"/>
          <p:cNvSpPr/>
          <p:nvPr/>
        </p:nvSpPr>
        <p:spPr>
          <a:xfrm>
            <a:off x="6429375" y="1162645"/>
            <a:ext cx="2286000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Shape 35"/>
          <p:cNvSpPr/>
          <p:nvPr/>
        </p:nvSpPr>
        <p:spPr>
          <a:xfrm>
            <a:off x="6429375" y="1414463"/>
            <a:ext cx="228600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" name="Text 36"/>
          <p:cNvSpPr/>
          <p:nvPr/>
        </p:nvSpPr>
        <p:spPr>
          <a:xfrm>
            <a:off x="6429375" y="1162645"/>
            <a:ext cx="2286000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Implementation Spec</a:t>
            </a:r>
            <a:endParaRPr lang="en-US" sz="584" dirty="0"/>
          </a:p>
        </p:txBody>
      </p:sp>
      <p:sp>
        <p:nvSpPr>
          <p:cNvPr id="44" name="Shape 37"/>
          <p:cNvSpPr/>
          <p:nvPr/>
        </p:nvSpPr>
        <p:spPr>
          <a:xfrm>
            <a:off x="5572125" y="149304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8"/>
          <p:cNvSpPr/>
          <p:nvPr/>
        </p:nvSpPr>
        <p:spPr>
          <a:xfrm>
            <a:off x="5572125" y="149304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6" name="Text 39"/>
          <p:cNvSpPr/>
          <p:nvPr/>
        </p:nvSpPr>
        <p:spPr>
          <a:xfrm>
            <a:off x="5786438" y="1421606"/>
            <a:ext cx="642938" cy="5064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PASS Btn</a:t>
            </a:r>
            <a:endParaRPr lang="en-US" sz="621" dirty="0"/>
          </a:p>
        </p:txBody>
      </p:sp>
      <p:sp>
        <p:nvSpPr>
          <p:cNvPr id="47" name="Text 40"/>
          <p:cNvSpPr/>
          <p:nvPr/>
        </p:nvSpPr>
        <p:spPr>
          <a:xfrm>
            <a:off x="6500813" y="1493044"/>
            <a:ext cx="21431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Action: Invoke PASS SDK</a:t>
            </a:r>
            <a:endParaRPr lang="en-US" sz="621" dirty="0"/>
          </a:p>
        </p:txBody>
      </p:sp>
      <p:sp>
        <p:nvSpPr>
          <p:cNvPr id="48" name="Text 41"/>
          <p:cNvSpPr/>
          <p:nvPr/>
        </p:nvSpPr>
        <p:spPr>
          <a:xfrm>
            <a:off x="6500813" y="1613036"/>
            <a:ext cx="21431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Callback: Receive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passAuthToken</a:t>
            </a:r>
            <a:endParaRPr lang="en-US" sz="621" dirty="0"/>
          </a:p>
        </p:txBody>
      </p:sp>
      <p:sp>
        <p:nvSpPr>
          <p:cNvPr id="49" name="Text 42"/>
          <p:cNvSpPr/>
          <p:nvPr/>
        </p:nvSpPr>
        <p:spPr>
          <a:xfrm>
            <a:off x="6500813" y="1733029"/>
            <a:ext cx="21431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On Success: Auto-navigate to Step 4</a:t>
            </a:r>
            <a:endParaRPr lang="en-US" sz="621" dirty="0"/>
          </a:p>
        </p:txBody>
      </p:sp>
      <p:sp>
        <p:nvSpPr>
          <p:cNvPr id="50" name="Shape 43"/>
          <p:cNvSpPr/>
          <p:nvPr/>
        </p:nvSpPr>
        <p:spPr>
          <a:xfrm>
            <a:off x="5572125" y="200304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4"/>
          <p:cNvSpPr/>
          <p:nvPr/>
        </p:nvSpPr>
        <p:spPr>
          <a:xfrm>
            <a:off x="5572125" y="20030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52" name="Text 45"/>
          <p:cNvSpPr/>
          <p:nvPr/>
        </p:nvSpPr>
        <p:spPr>
          <a:xfrm>
            <a:off x="5786438" y="1928031"/>
            <a:ext cx="642938" cy="39000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Pre-filled</a:t>
            </a:r>
            <a:endParaRPr lang="en-US" sz="621" dirty="0"/>
          </a:p>
        </p:txBody>
      </p:sp>
      <p:sp>
        <p:nvSpPr>
          <p:cNvPr id="53" name="Text 46"/>
          <p:cNvSpPr/>
          <p:nvPr/>
        </p:nvSpPr>
        <p:spPr>
          <a:xfrm>
            <a:off x="6500813" y="2003041"/>
            <a:ext cx="21431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Name, Birth, Phone are </a:t>
            </a:r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Read-only</a:t>
            </a:r>
            <a:endParaRPr lang="en-US" sz="621" dirty="0"/>
          </a:p>
        </p:txBody>
      </p:sp>
      <p:sp>
        <p:nvSpPr>
          <p:cNvPr id="54" name="Text 47"/>
          <p:cNvSpPr/>
          <p:nvPr/>
        </p:nvSpPr>
        <p:spPr>
          <a:xfrm>
            <a:off x="6500813" y="2123033"/>
            <a:ext cx="21431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Data sourced from PASS Auth result</a:t>
            </a:r>
            <a:endParaRPr lang="en-US" sz="621" dirty="0"/>
          </a:p>
        </p:txBody>
      </p:sp>
      <p:sp>
        <p:nvSpPr>
          <p:cNvPr id="55" name="Shape 48"/>
          <p:cNvSpPr/>
          <p:nvPr/>
        </p:nvSpPr>
        <p:spPr>
          <a:xfrm>
            <a:off x="5572125" y="239304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49"/>
          <p:cNvSpPr/>
          <p:nvPr/>
        </p:nvSpPr>
        <p:spPr>
          <a:xfrm>
            <a:off x="5572125" y="239304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57" name="Text 50"/>
          <p:cNvSpPr/>
          <p:nvPr/>
        </p:nvSpPr>
        <p:spPr>
          <a:xfrm>
            <a:off x="5786438" y="2318035"/>
            <a:ext cx="642938" cy="39000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User Input</a:t>
            </a:r>
            <a:endParaRPr lang="en-US" sz="621" dirty="0"/>
          </a:p>
        </p:txBody>
      </p:sp>
      <p:sp>
        <p:nvSpPr>
          <p:cNvPr id="58" name="Text 51"/>
          <p:cNvSpPr/>
          <p:nvPr/>
        </p:nvSpPr>
        <p:spPr>
          <a:xfrm>
            <a:off x="6500813" y="2393045"/>
            <a:ext cx="21431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Gender: Required (Dropdown)</a:t>
            </a:r>
            <a:endParaRPr lang="en-US" sz="621" dirty="0"/>
          </a:p>
        </p:txBody>
      </p:sp>
      <p:sp>
        <p:nvSpPr>
          <p:cNvPr id="59" name="Text 52"/>
          <p:cNvSpPr/>
          <p:nvPr/>
        </p:nvSpPr>
        <p:spPr>
          <a:xfrm>
            <a:off x="6500813" y="2513037"/>
            <a:ext cx="21431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Email: Optional, Format Validation</a:t>
            </a:r>
            <a:endParaRPr lang="en-US" sz="621" dirty="0"/>
          </a:p>
        </p:txBody>
      </p:sp>
      <p:sp>
        <p:nvSpPr>
          <p:cNvPr id="60" name="Shape 53"/>
          <p:cNvSpPr/>
          <p:nvPr/>
        </p:nvSpPr>
        <p:spPr>
          <a:xfrm>
            <a:off x="5572125" y="278304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1" name="Text 54"/>
          <p:cNvSpPr/>
          <p:nvPr/>
        </p:nvSpPr>
        <p:spPr>
          <a:xfrm>
            <a:off x="5572125" y="27830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4</a:t>
            </a:r>
            <a:endParaRPr lang="en-US" sz="534" dirty="0"/>
          </a:p>
        </p:txBody>
      </p:sp>
      <p:sp>
        <p:nvSpPr>
          <p:cNvPr id="62" name="Text 55"/>
          <p:cNvSpPr/>
          <p:nvPr/>
        </p:nvSpPr>
        <p:spPr>
          <a:xfrm>
            <a:off x="5786438" y="2708039"/>
            <a:ext cx="642938" cy="39000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Submit</a:t>
            </a:r>
            <a:endParaRPr lang="en-US" sz="621" dirty="0"/>
          </a:p>
        </p:txBody>
      </p:sp>
      <p:sp>
        <p:nvSpPr>
          <p:cNvPr id="63" name="Text 56"/>
          <p:cNvSpPr/>
          <p:nvPr/>
        </p:nvSpPr>
        <p:spPr>
          <a:xfrm>
            <a:off x="6500813" y="2783049"/>
            <a:ext cx="21431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POST /api/v1/auth/register</a:t>
            </a:r>
            <a:endParaRPr lang="en-US" sz="621" dirty="0"/>
          </a:p>
        </p:txBody>
      </p:sp>
      <p:sp>
        <p:nvSpPr>
          <p:cNvPr id="64" name="Text 57"/>
          <p:cNvSpPr/>
          <p:nvPr/>
        </p:nvSpPr>
        <p:spPr>
          <a:xfrm>
            <a:off x="6500813" y="2903041"/>
            <a:ext cx="21431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Payload: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token, gender, email }</a:t>
            </a:r>
            <a:endParaRPr lang="en-US" sz="621" dirty="0"/>
          </a:p>
        </p:txBody>
      </p:sp>
      <p:sp>
        <p:nvSpPr>
          <p:cNvPr id="65" name="Shape 58"/>
          <p:cNvSpPr/>
          <p:nvPr/>
        </p:nvSpPr>
        <p:spPr>
          <a:xfrm>
            <a:off x="5500688" y="3244490"/>
            <a:ext cx="3214688" cy="99119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5607844" y="3351647"/>
            <a:ext cx="30003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59E0B"/>
                </a:solidFill>
              </a:rPr>
              <a:t>Backend Logic (Registration)</a:t>
            </a:r>
            <a:endParaRPr lang="en-US" sz="634" dirty="0"/>
          </a:p>
        </p:txBody>
      </p:sp>
      <p:sp>
        <p:nvSpPr>
          <p:cNvPr id="67" name="Text 60"/>
          <p:cNvSpPr/>
          <p:nvPr/>
        </p:nvSpPr>
        <p:spPr>
          <a:xfrm>
            <a:off x="5715000" y="3535598"/>
            <a:ext cx="801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Token Verification:</a:t>
            </a:r>
            <a:endParaRPr lang="en-US" sz="584" dirty="0"/>
          </a:p>
        </p:txBody>
      </p:sp>
      <p:sp>
        <p:nvSpPr>
          <p:cNvPr id="68" name="Text 61"/>
          <p:cNvSpPr/>
          <p:nvPr/>
        </p:nvSpPr>
        <p:spPr>
          <a:xfrm>
            <a:off x="6516188" y="3535598"/>
            <a:ext cx="2733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Verify</a:t>
            </a:r>
            <a:endParaRPr lang="en-US" sz="621" dirty="0"/>
          </a:p>
        </p:txBody>
      </p:sp>
      <p:sp>
        <p:nvSpPr>
          <p:cNvPr id="69" name="Shape 62"/>
          <p:cNvSpPr/>
          <p:nvPr/>
        </p:nvSpPr>
        <p:spPr>
          <a:xfrm>
            <a:off x="6789576" y="3526668"/>
            <a:ext cx="621143" cy="1357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0" name="Text 63"/>
          <p:cNvSpPr/>
          <p:nvPr/>
        </p:nvSpPr>
        <p:spPr>
          <a:xfrm>
            <a:off x="6789576" y="3526668"/>
            <a:ext cx="621143" cy="13573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passAuthToken</a:t>
            </a:r>
            <a:endParaRPr lang="en-US" sz="568" dirty="0"/>
          </a:p>
        </p:txBody>
      </p:sp>
      <p:sp>
        <p:nvSpPr>
          <p:cNvPr id="71" name="Text 64"/>
          <p:cNvSpPr/>
          <p:nvPr/>
        </p:nvSpPr>
        <p:spPr>
          <a:xfrm>
            <a:off x="7410720" y="3535598"/>
            <a:ext cx="69489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with PASS Server</a:t>
            </a:r>
            <a:endParaRPr lang="en-US" sz="621" dirty="0"/>
          </a:p>
        </p:txBody>
      </p:sp>
      <p:sp>
        <p:nvSpPr>
          <p:cNvPr id="72" name="Text 65"/>
          <p:cNvSpPr/>
          <p:nvPr/>
        </p:nvSpPr>
        <p:spPr>
          <a:xfrm>
            <a:off x="5715000" y="3680259"/>
            <a:ext cx="61070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User Creation:</a:t>
            </a:r>
            <a:endParaRPr lang="en-US" sz="584" dirty="0"/>
          </a:p>
        </p:txBody>
      </p:sp>
      <p:sp>
        <p:nvSpPr>
          <p:cNvPr id="73" name="Text 66"/>
          <p:cNvSpPr/>
          <p:nvPr/>
        </p:nvSpPr>
        <p:spPr>
          <a:xfrm>
            <a:off x="6325707" y="3680259"/>
            <a:ext cx="14782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Create User record with verified info</a:t>
            </a:r>
            <a:endParaRPr lang="en-US" sz="621" dirty="0"/>
          </a:p>
        </p:txBody>
      </p:sp>
      <p:sp>
        <p:nvSpPr>
          <p:cNvPr id="74" name="Text 67"/>
          <p:cNvSpPr/>
          <p:nvPr/>
        </p:nvSpPr>
        <p:spPr>
          <a:xfrm>
            <a:off x="5715000" y="3824920"/>
            <a:ext cx="4312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Response:</a:t>
            </a:r>
            <a:endParaRPr lang="en-US" sz="584" dirty="0"/>
          </a:p>
        </p:txBody>
      </p:sp>
      <p:sp>
        <p:nvSpPr>
          <p:cNvPr id="75" name="Text 68"/>
          <p:cNvSpPr/>
          <p:nvPr/>
        </p:nvSpPr>
        <p:spPr>
          <a:xfrm>
            <a:off x="6146220" y="3824920"/>
            <a:ext cx="3185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Return</a:t>
            </a:r>
            <a:endParaRPr lang="en-US" sz="621" dirty="0"/>
          </a:p>
        </p:txBody>
      </p:sp>
      <p:sp>
        <p:nvSpPr>
          <p:cNvPr id="76" name="Shape 69"/>
          <p:cNvSpPr/>
          <p:nvPr/>
        </p:nvSpPr>
        <p:spPr>
          <a:xfrm>
            <a:off x="6464787" y="3815990"/>
            <a:ext cx="295098" cy="1357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7" name="Text 70"/>
          <p:cNvSpPr/>
          <p:nvPr/>
        </p:nvSpPr>
        <p:spPr>
          <a:xfrm>
            <a:off x="6464787" y="3815990"/>
            <a:ext cx="295098" cy="13573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userId</a:t>
            </a:r>
            <a:endParaRPr lang="en-US" sz="568" dirty="0"/>
          </a:p>
        </p:txBody>
      </p:sp>
      <p:sp>
        <p:nvSpPr>
          <p:cNvPr id="78" name="Text 71"/>
          <p:cNvSpPr/>
          <p:nvPr/>
        </p:nvSpPr>
        <p:spPr>
          <a:xfrm>
            <a:off x="6759885" y="3824920"/>
            <a:ext cx="92377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and JWT for auto-login</a:t>
            </a:r>
            <a:endParaRPr lang="en-US" sz="621" dirty="0"/>
          </a:p>
        </p:txBody>
      </p:sp>
      <p:sp>
        <p:nvSpPr>
          <p:cNvPr id="79" name="Text 72"/>
          <p:cNvSpPr/>
          <p:nvPr/>
        </p:nvSpPr>
        <p:spPr>
          <a:xfrm>
            <a:off x="5715000" y="3969581"/>
            <a:ext cx="65368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Error Handling:</a:t>
            </a:r>
            <a:endParaRPr lang="en-US" sz="584" dirty="0"/>
          </a:p>
        </p:txBody>
      </p:sp>
      <p:sp>
        <p:nvSpPr>
          <p:cNvPr id="80" name="Text 73"/>
          <p:cNvSpPr/>
          <p:nvPr/>
        </p:nvSpPr>
        <p:spPr>
          <a:xfrm>
            <a:off x="6368681" y="3969581"/>
            <a:ext cx="14056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If already registered, prompt login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279106"/>
          </a:xfrm>
          <a:prstGeom prst="rect">
            <a:avLst/>
          </a:prstGeom>
          <a:solidFill>
            <a:srgbClr val="FFFFFF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85875" y="928688"/>
            <a:ext cx="571500" cy="5715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071563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6111" y="1643063"/>
            <a:ext cx="9910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</a:rPr>
              <a:t>회원가입 완료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1085543" y="1971675"/>
            <a:ext cx="9721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휴대폰 본인인증을 통해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993149" y="2121694"/>
            <a:ext cx="11569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회원가입이 완료되었습니다.</a:t>
            </a:r>
            <a:endParaRPr lang="en-US" sz="727" dirty="0"/>
          </a:p>
        </p:txBody>
      </p:sp>
      <p:sp>
        <p:nvSpPr>
          <p:cNvPr id="9" name="Text 5"/>
          <p:cNvSpPr/>
          <p:nvPr/>
        </p:nvSpPr>
        <p:spPr>
          <a:xfrm>
            <a:off x="715742" y="2336006"/>
            <a:ext cx="171176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서비스 활성화를 위해 소속 계정을 연동해주세요.</a:t>
            </a:r>
            <a:endParaRPr lang="en-US" sz="621" dirty="0"/>
          </a:p>
        </p:txBody>
      </p:sp>
      <p:sp>
        <p:nvSpPr>
          <p:cNvPr id="10" name="Shape 6"/>
          <p:cNvSpPr/>
          <p:nvPr/>
        </p:nvSpPr>
        <p:spPr>
          <a:xfrm>
            <a:off x="571500" y="2750344"/>
            <a:ext cx="2000250" cy="342900"/>
          </a:xfrm>
          <a:prstGeom prst="rect">
            <a:avLst/>
          </a:prstGeom>
          <a:solidFill>
            <a:srgbClr val="FEE50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978" y="2871788"/>
            <a:ext cx="100013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10140" y="2849463"/>
            <a:ext cx="88013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C1E1E"/>
                </a:solidFill>
              </a:rPr>
              <a:t>카카오 계정 연동하기</a:t>
            </a:r>
            <a:endParaRPr lang="en-US" sz="683" dirty="0"/>
          </a:p>
        </p:txBody>
      </p:sp>
      <p:sp>
        <p:nvSpPr>
          <p:cNvPr id="13" name="Shape 8"/>
          <p:cNvSpPr/>
          <p:nvPr/>
        </p:nvSpPr>
        <p:spPr>
          <a:xfrm>
            <a:off x="2500313" y="267890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9"/>
          <p:cNvSpPr/>
          <p:nvPr/>
        </p:nvSpPr>
        <p:spPr>
          <a:xfrm>
            <a:off x="2500313" y="26789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5" name="Shape 10"/>
          <p:cNvSpPr/>
          <p:nvPr/>
        </p:nvSpPr>
        <p:spPr>
          <a:xfrm>
            <a:off x="571500" y="3164681"/>
            <a:ext cx="2000250" cy="3429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6" name="Text 11"/>
          <p:cNvSpPr/>
          <p:nvPr/>
        </p:nvSpPr>
        <p:spPr>
          <a:xfrm>
            <a:off x="1061265" y="3268266"/>
            <a:ext cx="834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N</a:t>
            </a:r>
            <a:endParaRPr lang="en-US" sz="683" dirty="0"/>
          </a:p>
        </p:txBody>
      </p:sp>
      <p:sp>
        <p:nvSpPr>
          <p:cNvPr id="17" name="Text 12"/>
          <p:cNvSpPr/>
          <p:nvPr/>
        </p:nvSpPr>
        <p:spPr>
          <a:xfrm>
            <a:off x="1201852" y="3263801"/>
            <a:ext cx="88013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네이버 계정 연동하기</a:t>
            </a:r>
            <a:endParaRPr lang="en-US" sz="683" dirty="0"/>
          </a:p>
        </p:txBody>
      </p:sp>
      <p:sp>
        <p:nvSpPr>
          <p:cNvPr id="18" name="Shape 13"/>
          <p:cNvSpPr/>
          <p:nvPr/>
        </p:nvSpPr>
        <p:spPr>
          <a:xfrm>
            <a:off x="571500" y="3579019"/>
            <a:ext cx="2000250" cy="34290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672" y="3700463"/>
            <a:ext cx="94655" cy="1000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53477" y="3678138"/>
            <a:ext cx="7881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구글 계정 연동하기</a:t>
            </a:r>
            <a:endParaRPr lang="en-US" sz="683" dirty="0"/>
          </a:p>
        </p:txBody>
      </p:sp>
      <p:sp>
        <p:nvSpPr>
          <p:cNvPr id="21" name="Text 15"/>
          <p:cNvSpPr/>
          <p:nvPr/>
        </p:nvSpPr>
        <p:spPr>
          <a:xfrm>
            <a:off x="1260509" y="4136231"/>
            <a:ext cx="6222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u="sng" dirty="0">
                <a:solidFill>
                  <a:srgbClr val="94A3B8"/>
                </a:solidFill>
                <a:uFill>
                  <a:solidFill>
                    <a:srgbClr val="94A3B8"/>
                  </a:solidFill>
                </a:uFill>
              </a:rPr>
              <a:t>나중에 연동하기</a:t>
            </a:r>
            <a:endParaRPr lang="en-US" sz="674" dirty="0"/>
          </a:p>
        </p:txBody>
      </p:sp>
      <p:sp>
        <p:nvSpPr>
          <p:cNvPr id="22" name="Shape 16"/>
          <p:cNvSpPr/>
          <p:nvPr/>
        </p:nvSpPr>
        <p:spPr>
          <a:xfrm>
            <a:off x="2000250" y="420052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17"/>
          <p:cNvSpPr/>
          <p:nvPr/>
        </p:nvSpPr>
        <p:spPr>
          <a:xfrm>
            <a:off x="2000250" y="420052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24" name="Text 18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[공통] 회원가입 Step 5-6 (완료/소셜연동)</a:t>
            </a:r>
            <a:endParaRPr lang="en-US" sz="1602" dirty="0"/>
          </a:p>
        </p:txBody>
      </p:sp>
      <p:sp>
        <p:nvSpPr>
          <p:cNvPr id="25" name="Text 19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가입 완료 확인 및 소셜 계정 연동 프로세스</a:t>
            </a:r>
            <a:endParaRPr lang="en-US" sz="834" dirty="0"/>
          </a:p>
        </p:txBody>
      </p:sp>
      <p:sp>
        <p:nvSpPr>
          <p:cNvPr id="26" name="Shape 20"/>
          <p:cNvSpPr/>
          <p:nvPr/>
        </p:nvSpPr>
        <p:spPr>
          <a:xfrm>
            <a:off x="3429000" y="1346597"/>
            <a:ext cx="31432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1"/>
          <p:cNvSpPr/>
          <p:nvPr/>
        </p:nvSpPr>
        <p:spPr>
          <a:xfrm>
            <a:off x="3429000" y="1637705"/>
            <a:ext cx="31432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2"/>
          <p:cNvSpPr/>
          <p:nvPr/>
        </p:nvSpPr>
        <p:spPr>
          <a:xfrm>
            <a:off x="3429000" y="1346597"/>
            <a:ext cx="31432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29" name="Shape 23"/>
          <p:cNvSpPr/>
          <p:nvPr/>
        </p:nvSpPr>
        <p:spPr>
          <a:xfrm>
            <a:off x="3743325" y="1346597"/>
            <a:ext cx="71437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4"/>
          <p:cNvSpPr/>
          <p:nvPr/>
        </p:nvSpPr>
        <p:spPr>
          <a:xfrm>
            <a:off x="3743325" y="1637705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5"/>
          <p:cNvSpPr/>
          <p:nvPr/>
        </p:nvSpPr>
        <p:spPr>
          <a:xfrm>
            <a:off x="3743325" y="1346597"/>
            <a:ext cx="71437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32" name="Shape 26"/>
          <p:cNvSpPr/>
          <p:nvPr/>
        </p:nvSpPr>
        <p:spPr>
          <a:xfrm>
            <a:off x="4457700" y="1346597"/>
            <a:ext cx="425767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27"/>
          <p:cNvSpPr/>
          <p:nvPr/>
        </p:nvSpPr>
        <p:spPr>
          <a:xfrm>
            <a:off x="4457700" y="1637705"/>
            <a:ext cx="42576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8"/>
          <p:cNvSpPr/>
          <p:nvPr/>
        </p:nvSpPr>
        <p:spPr>
          <a:xfrm>
            <a:off x="4457700" y="1346597"/>
            <a:ext cx="425767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35" name="Shape 29"/>
          <p:cNvSpPr/>
          <p:nvPr/>
        </p:nvSpPr>
        <p:spPr>
          <a:xfrm>
            <a:off x="3514725" y="173057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6" name="Text 30"/>
          <p:cNvSpPr/>
          <p:nvPr/>
        </p:nvSpPr>
        <p:spPr>
          <a:xfrm>
            <a:off x="3514725" y="173057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37" name="Text 31"/>
          <p:cNvSpPr/>
          <p:nvPr/>
        </p:nvSpPr>
        <p:spPr>
          <a:xfrm>
            <a:off x="3743325" y="1644848"/>
            <a:ext cx="714375" cy="5554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Link Social</a:t>
            </a:r>
            <a:endParaRPr lang="en-US" sz="674" dirty="0"/>
          </a:p>
        </p:txBody>
      </p:sp>
      <p:sp>
        <p:nvSpPr>
          <p:cNvPr id="38" name="Text 32"/>
          <p:cNvSpPr/>
          <p:nvPr/>
        </p:nvSpPr>
        <p:spPr>
          <a:xfrm>
            <a:off x="4543425" y="1730573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/api/v1/auth/link-social</a:t>
            </a:r>
            <a:endParaRPr lang="en-US" sz="674" dirty="0"/>
          </a:p>
        </p:txBody>
      </p:sp>
      <p:sp>
        <p:nvSpPr>
          <p:cNvPr id="39" name="Text 33"/>
          <p:cNvSpPr/>
          <p:nvPr/>
        </p:nvSpPr>
        <p:spPr>
          <a:xfrm>
            <a:off x="4543425" y="1857375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Params: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{ provider: 'kakao'|'naver'|'google' }</a:t>
            </a:r>
            <a:endParaRPr lang="en-US" sz="674" dirty="0"/>
          </a:p>
        </p:txBody>
      </p:sp>
      <p:sp>
        <p:nvSpPr>
          <p:cNvPr id="40" name="Text 34"/>
          <p:cNvSpPr/>
          <p:nvPr/>
        </p:nvSpPr>
        <p:spPr>
          <a:xfrm>
            <a:off x="4543425" y="1984177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Action: Redirect to OAuth provider</a:t>
            </a:r>
            <a:endParaRPr lang="en-US" sz="674" dirty="0"/>
          </a:p>
        </p:txBody>
      </p:sp>
      <p:sp>
        <p:nvSpPr>
          <p:cNvPr id="41" name="Shape 35"/>
          <p:cNvSpPr/>
          <p:nvPr/>
        </p:nvSpPr>
        <p:spPr>
          <a:xfrm>
            <a:off x="3514725" y="228957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36"/>
          <p:cNvSpPr/>
          <p:nvPr/>
        </p:nvSpPr>
        <p:spPr>
          <a:xfrm>
            <a:off x="3514725" y="228957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43" name="Text 37"/>
          <p:cNvSpPr/>
          <p:nvPr/>
        </p:nvSpPr>
        <p:spPr>
          <a:xfrm>
            <a:off x="3743325" y="2200275"/>
            <a:ext cx="714375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Skip Link</a:t>
            </a:r>
            <a:endParaRPr lang="en-US" sz="674" dirty="0"/>
          </a:p>
        </p:txBody>
      </p:sp>
      <p:sp>
        <p:nvSpPr>
          <p:cNvPr id="44" name="Text 38"/>
          <p:cNvSpPr/>
          <p:nvPr/>
        </p:nvSpPr>
        <p:spPr>
          <a:xfrm>
            <a:off x="4457700" y="2200275"/>
            <a:ext cx="4257675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Navigate to Dashboard (Role based redirect)</a:t>
            </a:r>
            <a:endParaRPr lang="en-US" sz="674" dirty="0"/>
          </a:p>
        </p:txBody>
      </p:sp>
      <p:sp>
        <p:nvSpPr>
          <p:cNvPr id="45" name="Shape 39"/>
          <p:cNvSpPr/>
          <p:nvPr/>
        </p:nvSpPr>
        <p:spPr>
          <a:xfrm>
            <a:off x="3429000" y="2739628"/>
            <a:ext cx="5286375" cy="140754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3571875" y="2882503"/>
            <a:ext cx="50006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9E0B"/>
                </a:solidFill>
              </a:rPr>
              <a:t>Step 6: 카카오 계정 연동 상세 (선택 시)</a:t>
            </a:r>
            <a:endParaRPr lang="en-US" sz="683" dirty="0"/>
          </a:p>
        </p:txBody>
      </p:sp>
      <p:sp>
        <p:nvSpPr>
          <p:cNvPr id="47" name="Text 41"/>
          <p:cNvSpPr/>
          <p:nvPr/>
        </p:nvSpPr>
        <p:spPr>
          <a:xfrm>
            <a:off x="3714750" y="3109317"/>
            <a:ext cx="42536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Scenario:</a:t>
            </a:r>
            <a:endParaRPr lang="en-US" sz="634" dirty="0"/>
          </a:p>
        </p:txBody>
      </p:sp>
      <p:sp>
        <p:nvSpPr>
          <p:cNvPr id="48" name="Text 42"/>
          <p:cNvSpPr/>
          <p:nvPr/>
        </p:nvSpPr>
        <p:spPr>
          <a:xfrm>
            <a:off x="4140110" y="3109317"/>
            <a:ext cx="13410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사용자가 카카오 연동 버튼 클릭 시</a:t>
            </a:r>
            <a:endParaRPr lang="en-US" sz="674" dirty="0"/>
          </a:p>
        </p:txBody>
      </p:sp>
      <p:sp>
        <p:nvSpPr>
          <p:cNvPr id="49" name="Text 43"/>
          <p:cNvSpPr/>
          <p:nvPr/>
        </p:nvSpPr>
        <p:spPr>
          <a:xfrm>
            <a:off x="3714750" y="3257885"/>
            <a:ext cx="13282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UI:</a:t>
            </a:r>
            <a:endParaRPr lang="en-US" sz="634" dirty="0"/>
          </a:p>
        </p:txBody>
      </p:sp>
      <p:sp>
        <p:nvSpPr>
          <p:cNvPr id="50" name="Text 44"/>
          <p:cNvSpPr/>
          <p:nvPr/>
        </p:nvSpPr>
        <p:spPr>
          <a:xfrm>
            <a:off x="3847579" y="3257885"/>
            <a:ext cx="173841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연동 가능한 계정 목록 표시 (Checkbox List)</a:t>
            </a:r>
            <a:endParaRPr lang="en-US" sz="674" dirty="0"/>
          </a:p>
        </p:txBody>
      </p:sp>
      <p:sp>
        <p:nvSpPr>
          <p:cNvPr id="51" name="Text 45"/>
          <p:cNvSpPr/>
          <p:nvPr/>
        </p:nvSpPr>
        <p:spPr>
          <a:xfrm>
            <a:off x="3714750" y="3406453"/>
            <a:ext cx="2712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Logic:</a:t>
            </a:r>
            <a:endParaRPr lang="en-US" sz="634" dirty="0"/>
          </a:p>
        </p:txBody>
      </p:sp>
      <p:sp>
        <p:nvSpPr>
          <p:cNvPr id="52" name="Shape 46"/>
          <p:cNvSpPr/>
          <p:nvPr/>
        </p:nvSpPr>
        <p:spPr>
          <a:xfrm>
            <a:off x="4000500" y="3540733"/>
            <a:ext cx="1537190" cy="1553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3" name="Text 47"/>
          <p:cNvSpPr/>
          <p:nvPr/>
        </p:nvSpPr>
        <p:spPr>
          <a:xfrm>
            <a:off x="4000500" y="3540733"/>
            <a:ext cx="1537190" cy="15537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GET /api/v1/auth/kakao/accounts</a:t>
            </a:r>
            <a:endParaRPr lang="en-US" sz="674" dirty="0"/>
          </a:p>
        </p:txBody>
      </p:sp>
      <p:sp>
        <p:nvSpPr>
          <p:cNvPr id="54" name="Text 48"/>
          <p:cNvSpPr/>
          <p:nvPr/>
        </p:nvSpPr>
        <p:spPr>
          <a:xfrm>
            <a:off x="5537690" y="3555020"/>
            <a:ext cx="69467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로 계정 목록 조회</a:t>
            </a:r>
            <a:endParaRPr lang="en-US" sz="674" dirty="0"/>
          </a:p>
        </p:txBody>
      </p:sp>
      <p:sp>
        <p:nvSpPr>
          <p:cNvPr id="55" name="Text 49"/>
          <p:cNvSpPr/>
          <p:nvPr/>
        </p:nvSpPr>
        <p:spPr>
          <a:xfrm>
            <a:off x="4000500" y="3692872"/>
            <a:ext cx="45720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사용자가 선택한 계정 ID로 연동 요청</a:t>
            </a:r>
            <a:endParaRPr lang="en-US" sz="674" dirty="0"/>
          </a:p>
        </p:txBody>
      </p:sp>
      <p:sp>
        <p:nvSpPr>
          <p:cNvPr id="56" name="Text 50"/>
          <p:cNvSpPr/>
          <p:nvPr/>
        </p:nvSpPr>
        <p:spPr>
          <a:xfrm>
            <a:off x="4000500" y="3841440"/>
            <a:ext cx="45720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이미 연동된 계정은 '연동완료' 상태 표시 및 선택 불가</a:t>
            </a:r>
            <a:endParaRPr lang="en-US" sz="67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7188" y="357188"/>
            <a:ext cx="5429250" cy="4414838"/>
          </a:xfrm>
          <a:prstGeom prst="rect">
            <a:avLst/>
          </a:prstGeom>
          <a:solidFill>
            <a:srgbClr val="F1F5F9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57188" y="357188"/>
            <a:ext cx="5429250" cy="221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2"/>
          <p:cNvSpPr/>
          <p:nvPr/>
        </p:nvSpPr>
        <p:spPr>
          <a:xfrm>
            <a:off x="357188" y="571500"/>
            <a:ext cx="5429250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3"/>
          <p:cNvSpPr/>
          <p:nvPr/>
        </p:nvSpPr>
        <p:spPr>
          <a:xfrm>
            <a:off x="357188" y="571500"/>
            <a:ext cx="1428750" cy="41862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357188" y="571500"/>
            <a:ext cx="1428750" cy="43576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SmartCON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357188" y="1150144"/>
            <a:ext cx="1428750" cy="30718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Shape 6"/>
          <p:cNvSpPr/>
          <p:nvPr/>
        </p:nvSpPr>
        <p:spPr>
          <a:xfrm>
            <a:off x="1764506" y="1150144"/>
            <a:ext cx="21431" cy="30718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257300"/>
            <a:ext cx="105370" cy="928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6870" y="1235869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대시보드</a:t>
            </a:r>
            <a:endParaRPr lang="en-US" sz="674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3" y="1564481"/>
            <a:ext cx="69652" cy="928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1152" y="1543050"/>
            <a:ext cx="536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프로젝트 관리</a:t>
            </a:r>
            <a:endParaRPr lang="en-US" sz="674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3" y="1871663"/>
            <a:ext cx="116086" cy="928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7586" y="1850231"/>
            <a:ext cx="4513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노무자 현황</a:t>
            </a:r>
            <a:endParaRPr lang="en-US" sz="674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2178844"/>
            <a:ext cx="69652" cy="9286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1152" y="2157413"/>
            <a:ext cx="3659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정산 관리</a:t>
            </a:r>
            <a:endParaRPr lang="en-US" sz="674" dirty="0"/>
          </a:p>
        </p:txBody>
      </p:sp>
      <p:sp>
        <p:nvSpPr>
          <p:cNvPr id="18" name="Shape 11"/>
          <p:cNvSpPr/>
          <p:nvPr/>
        </p:nvSpPr>
        <p:spPr>
          <a:xfrm>
            <a:off x="1785938" y="571500"/>
            <a:ext cx="4000500" cy="418623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2"/>
          <p:cNvSpPr/>
          <p:nvPr/>
        </p:nvSpPr>
        <p:spPr>
          <a:xfrm>
            <a:off x="1785938" y="571500"/>
            <a:ext cx="4000500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3"/>
          <p:cNvSpPr/>
          <p:nvPr/>
        </p:nvSpPr>
        <p:spPr>
          <a:xfrm>
            <a:off x="1785938" y="1000125"/>
            <a:ext cx="40005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4"/>
          <p:cNvSpPr/>
          <p:nvPr/>
        </p:nvSpPr>
        <p:spPr>
          <a:xfrm>
            <a:off x="2000250" y="713482"/>
            <a:ext cx="56929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홈 &gt; 대시보드</a:t>
            </a:r>
            <a:endParaRPr lang="en-US" sz="683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7277" y="742950"/>
            <a:ext cx="75009" cy="857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833724" y="722412"/>
            <a:ext cx="4955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본사 관리자님</a:t>
            </a:r>
            <a:endParaRPr lang="en-US" sz="621" dirty="0"/>
          </a:p>
        </p:txBody>
      </p:sp>
      <p:sp>
        <p:nvSpPr>
          <p:cNvPr id="24" name="Shape 16"/>
          <p:cNvSpPr/>
          <p:nvPr/>
        </p:nvSpPr>
        <p:spPr>
          <a:xfrm>
            <a:off x="5400675" y="700088"/>
            <a:ext cx="171450" cy="171450"/>
          </a:xfrm>
          <a:prstGeom prst="ellipse">
            <a:avLst/>
          </a:prstGeom>
          <a:solidFill>
            <a:srgbClr val="EF4444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400675" y="70008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</a:t>
            </a:r>
            <a:endParaRPr lang="en-US" sz="485" dirty="0"/>
          </a:p>
        </p:txBody>
      </p:sp>
      <p:sp>
        <p:nvSpPr>
          <p:cNvPr id="26" name="Shape 18"/>
          <p:cNvSpPr/>
          <p:nvPr/>
        </p:nvSpPr>
        <p:spPr>
          <a:xfrm>
            <a:off x="1985963" y="1200150"/>
            <a:ext cx="1104881" cy="81795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2114550" y="1328738"/>
            <a:ext cx="8477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진행중 프로젝트</a:t>
            </a:r>
            <a:endParaRPr lang="en-US" sz="621" dirty="0"/>
          </a:p>
        </p:txBody>
      </p:sp>
      <p:sp>
        <p:nvSpPr>
          <p:cNvPr id="28" name="Text 20"/>
          <p:cNvSpPr/>
          <p:nvPr/>
        </p:nvSpPr>
        <p:spPr>
          <a:xfrm>
            <a:off x="2114550" y="1491258"/>
            <a:ext cx="84770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</a:rPr>
              <a:t>12 </a:t>
            </a:r>
            <a:pPr algn="l" indent="0" marL="0">
              <a:lnSpc>
                <a:spcPts val="1600"/>
              </a:lnSpc>
              <a:buNone/>
            </a:pPr>
            <a:r>
              <a:rPr lang="en-US" sz="727" dirty="0">
                <a:solidFill>
                  <a:srgbClr val="1E293B"/>
                </a:solidFill>
              </a:rPr>
              <a:t>개</a:t>
            </a:r>
            <a:endParaRPr lang="en-US" sz="1193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4550" y="1784152"/>
            <a:ext cx="58936" cy="7858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173486" y="1768078"/>
            <a:ext cx="44037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전월 대비 +2</a:t>
            </a:r>
            <a:endParaRPr lang="en-US" sz="568" dirty="0"/>
          </a:p>
        </p:txBody>
      </p:sp>
      <p:sp>
        <p:nvSpPr>
          <p:cNvPr id="31" name="Shape 22"/>
          <p:cNvSpPr/>
          <p:nvPr/>
        </p:nvSpPr>
        <p:spPr>
          <a:xfrm>
            <a:off x="2962256" y="1128713"/>
            <a:ext cx="200025" cy="200025"/>
          </a:xfrm>
          <a:prstGeom prst="ellipse">
            <a:avLst/>
          </a:prstGeom>
          <a:solidFill>
            <a:srgbClr val="EF4444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2962256" y="1128713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3" name="Shape 24"/>
          <p:cNvSpPr/>
          <p:nvPr/>
        </p:nvSpPr>
        <p:spPr>
          <a:xfrm>
            <a:off x="3233719" y="1200150"/>
            <a:ext cx="1104909" cy="81795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3362306" y="1328738"/>
            <a:ext cx="8477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금일 총 출역 인원</a:t>
            </a:r>
            <a:endParaRPr lang="en-US" sz="621" dirty="0"/>
          </a:p>
        </p:txBody>
      </p:sp>
      <p:sp>
        <p:nvSpPr>
          <p:cNvPr id="35" name="Text 26"/>
          <p:cNvSpPr/>
          <p:nvPr/>
        </p:nvSpPr>
        <p:spPr>
          <a:xfrm>
            <a:off x="3362306" y="1491258"/>
            <a:ext cx="84773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</a:rPr>
              <a:t>142 </a:t>
            </a:r>
            <a:pPr algn="l" indent="0" marL="0">
              <a:lnSpc>
                <a:spcPts val="1600"/>
              </a:lnSpc>
              <a:buNone/>
            </a:pPr>
            <a:r>
              <a:rPr lang="en-US" sz="727" dirty="0">
                <a:solidFill>
                  <a:srgbClr val="1E293B"/>
                </a:solidFill>
              </a:rPr>
              <a:t>명</a:t>
            </a:r>
            <a:endParaRPr lang="en-US" sz="1193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2306" y="1784152"/>
            <a:ext cx="58936" cy="78581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421242" y="1768078"/>
            <a:ext cx="5056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어제 대비 +5%</a:t>
            </a:r>
            <a:endParaRPr lang="en-US" sz="568" dirty="0"/>
          </a:p>
        </p:txBody>
      </p:sp>
      <p:sp>
        <p:nvSpPr>
          <p:cNvPr id="38" name="Shape 28"/>
          <p:cNvSpPr/>
          <p:nvPr/>
        </p:nvSpPr>
        <p:spPr>
          <a:xfrm>
            <a:off x="4481503" y="1200150"/>
            <a:ext cx="1104909" cy="81795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4610091" y="1328738"/>
            <a:ext cx="8477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이번달 예상 노무비</a:t>
            </a:r>
            <a:endParaRPr lang="en-US" sz="621" dirty="0"/>
          </a:p>
        </p:txBody>
      </p:sp>
      <p:sp>
        <p:nvSpPr>
          <p:cNvPr id="40" name="Text 30"/>
          <p:cNvSpPr/>
          <p:nvPr/>
        </p:nvSpPr>
        <p:spPr>
          <a:xfrm>
            <a:off x="4610091" y="1491258"/>
            <a:ext cx="84773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</a:rPr>
              <a:t>1.2 </a:t>
            </a:r>
            <a:pPr algn="l" indent="0" marL="0">
              <a:lnSpc>
                <a:spcPts val="1600"/>
              </a:lnSpc>
              <a:buNone/>
            </a:pPr>
            <a:r>
              <a:rPr lang="en-US" sz="727" dirty="0">
                <a:solidFill>
                  <a:srgbClr val="1E293B"/>
                </a:solidFill>
              </a:rPr>
              <a:t>억원</a:t>
            </a:r>
            <a:endParaRPr lang="en-US" sz="1193" dirty="0"/>
          </a:p>
        </p:txBody>
      </p:sp>
      <p:sp>
        <p:nvSpPr>
          <p:cNvPr id="41" name="Text 31"/>
          <p:cNvSpPr/>
          <p:nvPr/>
        </p:nvSpPr>
        <p:spPr>
          <a:xfrm>
            <a:off x="4610091" y="1760934"/>
            <a:ext cx="84773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예산 대비 45% 소진</a:t>
            </a:r>
            <a:endParaRPr lang="en-US" sz="568" dirty="0"/>
          </a:p>
        </p:txBody>
      </p:sp>
      <p:sp>
        <p:nvSpPr>
          <p:cNvPr id="42" name="Shape 32"/>
          <p:cNvSpPr/>
          <p:nvPr/>
        </p:nvSpPr>
        <p:spPr>
          <a:xfrm>
            <a:off x="1985963" y="2146697"/>
            <a:ext cx="3600450" cy="193774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2128838" y="2289572"/>
            <a:ext cx="33147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월별 노무비 지출 추이</a:t>
            </a:r>
            <a:endParaRPr lang="en-US" sz="683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8838" y="2527102"/>
            <a:ext cx="3286125" cy="1400175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5457825" y="2075259"/>
            <a:ext cx="200025" cy="200025"/>
          </a:xfrm>
          <a:prstGeom prst="ellipse">
            <a:avLst/>
          </a:prstGeom>
          <a:solidFill>
            <a:srgbClr val="EF4444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5457825" y="2075259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47" name="Text 36"/>
          <p:cNvSpPr/>
          <p:nvPr/>
        </p:nvSpPr>
        <p:spPr>
          <a:xfrm>
            <a:off x="6072188" y="357188"/>
            <a:ext cx="27146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[본사] 통합 대시보드</a:t>
            </a:r>
            <a:endParaRPr lang="en-US" sz="1397" dirty="0"/>
          </a:p>
        </p:txBody>
      </p:sp>
      <p:sp>
        <p:nvSpPr>
          <p:cNvPr id="48" name="Text 37"/>
          <p:cNvSpPr/>
          <p:nvPr/>
        </p:nvSpPr>
        <p:spPr>
          <a:xfrm>
            <a:off x="6072188" y="703659"/>
            <a:ext cx="27146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전체 현장 현황 및 핵심 지표 모니터링</a:t>
            </a:r>
            <a:endParaRPr lang="en-US" sz="727" dirty="0"/>
          </a:p>
        </p:txBody>
      </p:sp>
      <p:sp>
        <p:nvSpPr>
          <p:cNvPr id="49" name="Shape 38"/>
          <p:cNvSpPr/>
          <p:nvPr/>
        </p:nvSpPr>
        <p:spPr>
          <a:xfrm>
            <a:off x="6072188" y="1105495"/>
            <a:ext cx="342900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0" name="Shape 39"/>
          <p:cNvSpPr/>
          <p:nvPr/>
        </p:nvSpPr>
        <p:spPr>
          <a:xfrm>
            <a:off x="6072188" y="1357313"/>
            <a:ext cx="34290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1" name="Text 40"/>
          <p:cNvSpPr/>
          <p:nvPr/>
        </p:nvSpPr>
        <p:spPr>
          <a:xfrm>
            <a:off x="6072188" y="1105495"/>
            <a:ext cx="342900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No</a:t>
            </a:r>
            <a:endParaRPr lang="en-US" sz="584" dirty="0"/>
          </a:p>
        </p:txBody>
      </p:sp>
      <p:sp>
        <p:nvSpPr>
          <p:cNvPr id="52" name="Shape 41"/>
          <p:cNvSpPr/>
          <p:nvPr/>
        </p:nvSpPr>
        <p:spPr>
          <a:xfrm>
            <a:off x="6415088" y="1105495"/>
            <a:ext cx="642938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3" name="Shape 42"/>
          <p:cNvSpPr/>
          <p:nvPr/>
        </p:nvSpPr>
        <p:spPr>
          <a:xfrm>
            <a:off x="6415088" y="1357313"/>
            <a:ext cx="642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4" name="Text 43"/>
          <p:cNvSpPr/>
          <p:nvPr/>
        </p:nvSpPr>
        <p:spPr>
          <a:xfrm>
            <a:off x="6415088" y="1105495"/>
            <a:ext cx="642938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Element</a:t>
            </a:r>
            <a:endParaRPr lang="en-US" sz="584" dirty="0"/>
          </a:p>
        </p:txBody>
      </p:sp>
      <p:sp>
        <p:nvSpPr>
          <p:cNvPr id="55" name="Shape 44"/>
          <p:cNvSpPr/>
          <p:nvPr/>
        </p:nvSpPr>
        <p:spPr>
          <a:xfrm>
            <a:off x="7058025" y="1105495"/>
            <a:ext cx="1728788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6" name="Shape 45"/>
          <p:cNvSpPr/>
          <p:nvPr/>
        </p:nvSpPr>
        <p:spPr>
          <a:xfrm>
            <a:off x="7058025" y="1357313"/>
            <a:ext cx="17287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" name="Text 46"/>
          <p:cNvSpPr/>
          <p:nvPr/>
        </p:nvSpPr>
        <p:spPr>
          <a:xfrm>
            <a:off x="7058025" y="1105495"/>
            <a:ext cx="1728788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Implementation Spec</a:t>
            </a:r>
            <a:endParaRPr lang="en-US" sz="584" dirty="0"/>
          </a:p>
        </p:txBody>
      </p:sp>
      <p:sp>
        <p:nvSpPr>
          <p:cNvPr id="58" name="Shape 47"/>
          <p:cNvSpPr/>
          <p:nvPr/>
        </p:nvSpPr>
        <p:spPr>
          <a:xfrm>
            <a:off x="6143625" y="1435894"/>
            <a:ext cx="200025" cy="200025"/>
          </a:xfrm>
          <a:prstGeom prst="ellipse">
            <a:avLst/>
          </a:prstGeom>
          <a:solidFill>
            <a:srgbClr val="EF4444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6143625" y="1435894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60" name="Text 49"/>
          <p:cNvSpPr/>
          <p:nvPr/>
        </p:nvSpPr>
        <p:spPr>
          <a:xfrm>
            <a:off x="6415088" y="1364456"/>
            <a:ext cx="642938" cy="3786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User Profile</a:t>
            </a:r>
            <a:endParaRPr lang="en-US" sz="621" dirty="0"/>
          </a:p>
        </p:txBody>
      </p:sp>
      <p:sp>
        <p:nvSpPr>
          <p:cNvPr id="61" name="Text 50"/>
          <p:cNvSpPr/>
          <p:nvPr/>
        </p:nvSpPr>
        <p:spPr>
          <a:xfrm>
            <a:off x="7129463" y="1435894"/>
            <a:ext cx="15859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GET /api/v1/user/me</a:t>
            </a:r>
            <a:endParaRPr lang="en-US" sz="621" dirty="0"/>
          </a:p>
        </p:txBody>
      </p:sp>
      <p:sp>
        <p:nvSpPr>
          <p:cNvPr id="62" name="Text 51"/>
          <p:cNvSpPr/>
          <p:nvPr/>
        </p:nvSpPr>
        <p:spPr>
          <a:xfrm>
            <a:off x="7129463" y="1551980"/>
            <a:ext cx="15859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Role: HQ_ADMIN Check</a:t>
            </a:r>
            <a:endParaRPr lang="en-US" sz="621" dirty="0"/>
          </a:p>
        </p:txBody>
      </p:sp>
      <p:sp>
        <p:nvSpPr>
          <p:cNvPr id="63" name="Shape 52"/>
          <p:cNvSpPr/>
          <p:nvPr/>
        </p:nvSpPr>
        <p:spPr>
          <a:xfrm>
            <a:off x="6143625" y="1818084"/>
            <a:ext cx="200025" cy="200025"/>
          </a:xfrm>
          <a:prstGeom prst="ellipse">
            <a:avLst/>
          </a:prstGeom>
          <a:solidFill>
            <a:srgbClr val="EF4444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64" name="Text 53"/>
          <p:cNvSpPr/>
          <p:nvPr/>
        </p:nvSpPr>
        <p:spPr>
          <a:xfrm>
            <a:off x="6143625" y="1818084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65" name="Text 54"/>
          <p:cNvSpPr/>
          <p:nvPr/>
        </p:nvSpPr>
        <p:spPr>
          <a:xfrm>
            <a:off x="6415088" y="1743075"/>
            <a:ext cx="642938" cy="7304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KPI Cards</a:t>
            </a:r>
            <a:endParaRPr lang="en-US" sz="621" dirty="0"/>
          </a:p>
        </p:txBody>
      </p:sp>
      <p:sp>
        <p:nvSpPr>
          <p:cNvPr id="66" name="Text 55"/>
          <p:cNvSpPr/>
          <p:nvPr/>
        </p:nvSpPr>
        <p:spPr>
          <a:xfrm>
            <a:off x="7129463" y="1818084"/>
            <a:ext cx="15859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GET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/api/v1/hq/dashboard/summary</a:t>
            </a:r>
            <a:endParaRPr lang="en-US" sz="621" dirty="0"/>
          </a:p>
        </p:txBody>
      </p:sp>
      <p:sp>
        <p:nvSpPr>
          <p:cNvPr id="67" name="Text 56"/>
          <p:cNvSpPr/>
          <p:nvPr/>
        </p:nvSpPr>
        <p:spPr>
          <a:xfrm>
            <a:off x="7129463" y="2050256"/>
            <a:ext cx="15859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Refresh: Every 5 mins or manual</a:t>
            </a:r>
            <a:endParaRPr lang="en-US" sz="621" dirty="0"/>
          </a:p>
        </p:txBody>
      </p:sp>
      <p:sp>
        <p:nvSpPr>
          <p:cNvPr id="68" name="Text 57"/>
          <p:cNvSpPr/>
          <p:nvPr/>
        </p:nvSpPr>
        <p:spPr>
          <a:xfrm>
            <a:off x="7129463" y="2166342"/>
            <a:ext cx="15859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Data: { activeProjects, todayWorkers, monthlyCost }</a:t>
            </a:r>
            <a:endParaRPr lang="en-US" sz="621" dirty="0"/>
          </a:p>
        </p:txBody>
      </p:sp>
      <p:sp>
        <p:nvSpPr>
          <p:cNvPr id="69" name="Shape 58"/>
          <p:cNvSpPr/>
          <p:nvPr/>
        </p:nvSpPr>
        <p:spPr>
          <a:xfrm>
            <a:off x="6143625" y="2548533"/>
            <a:ext cx="200025" cy="200025"/>
          </a:xfrm>
          <a:prstGeom prst="ellipse">
            <a:avLst/>
          </a:prstGeom>
          <a:solidFill>
            <a:srgbClr val="EF4444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70" name="Text 59"/>
          <p:cNvSpPr/>
          <p:nvPr/>
        </p:nvSpPr>
        <p:spPr>
          <a:xfrm>
            <a:off x="6143625" y="2548533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71" name="Text 60"/>
          <p:cNvSpPr/>
          <p:nvPr/>
        </p:nvSpPr>
        <p:spPr>
          <a:xfrm>
            <a:off x="6386513" y="2473523"/>
            <a:ext cx="642938" cy="4982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Cost Chart</a:t>
            </a:r>
            <a:endParaRPr lang="en-US" sz="621" dirty="0"/>
          </a:p>
        </p:txBody>
      </p:sp>
      <p:sp>
        <p:nvSpPr>
          <p:cNvPr id="72" name="Text 61"/>
          <p:cNvSpPr/>
          <p:nvPr/>
        </p:nvSpPr>
        <p:spPr>
          <a:xfrm>
            <a:off x="7100888" y="2548533"/>
            <a:ext cx="16144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Lib: Chart.js (Bar Chart)</a:t>
            </a:r>
            <a:endParaRPr lang="en-US" sz="621" dirty="0"/>
          </a:p>
        </p:txBody>
      </p:sp>
      <p:sp>
        <p:nvSpPr>
          <p:cNvPr id="73" name="Text 62"/>
          <p:cNvSpPr/>
          <p:nvPr/>
        </p:nvSpPr>
        <p:spPr>
          <a:xfrm>
            <a:off x="7100888" y="2664619"/>
            <a:ext cx="16144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GET /api/v1/hq/stats/cost</a:t>
            </a:r>
            <a:endParaRPr lang="en-US" sz="621" dirty="0"/>
          </a:p>
        </p:txBody>
      </p:sp>
      <p:sp>
        <p:nvSpPr>
          <p:cNvPr id="74" name="Text 63"/>
          <p:cNvSpPr/>
          <p:nvPr/>
        </p:nvSpPr>
        <p:spPr>
          <a:xfrm>
            <a:off x="7100888" y="2780705"/>
            <a:ext cx="16144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Params: period=monthly, year=2026</a:t>
            </a:r>
            <a:endParaRPr lang="en-US" sz="621" dirty="0"/>
          </a:p>
        </p:txBody>
      </p:sp>
      <p:sp>
        <p:nvSpPr>
          <p:cNvPr id="75" name="Shape 64"/>
          <p:cNvSpPr/>
          <p:nvPr/>
        </p:nvSpPr>
        <p:spPr>
          <a:xfrm>
            <a:off x="6072188" y="3118247"/>
            <a:ext cx="2714625" cy="92690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6" name="Text 65"/>
          <p:cNvSpPr/>
          <p:nvPr/>
        </p:nvSpPr>
        <p:spPr>
          <a:xfrm>
            <a:off x="6179344" y="3225403"/>
            <a:ext cx="25003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59E0B"/>
                </a:solidFill>
              </a:rPr>
              <a:t>Technical Note</a:t>
            </a:r>
            <a:endParaRPr lang="en-US" sz="634" dirty="0"/>
          </a:p>
        </p:txBody>
      </p:sp>
      <p:sp>
        <p:nvSpPr>
          <p:cNvPr id="77" name="Text 66"/>
          <p:cNvSpPr/>
          <p:nvPr/>
        </p:nvSpPr>
        <p:spPr>
          <a:xfrm>
            <a:off x="6286500" y="3414713"/>
            <a:ext cx="6238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Multi-tenancy:</a:t>
            </a:r>
            <a:endParaRPr lang="en-US" sz="584" dirty="0"/>
          </a:p>
        </p:txBody>
      </p:sp>
      <p:sp>
        <p:nvSpPr>
          <p:cNvPr id="78" name="Text 67"/>
          <p:cNvSpPr/>
          <p:nvPr/>
        </p:nvSpPr>
        <p:spPr>
          <a:xfrm>
            <a:off x="6910322" y="3414713"/>
            <a:ext cx="103659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Data is strictly filtered by</a:t>
            </a:r>
            <a:endParaRPr lang="en-US" sz="621" dirty="0"/>
          </a:p>
        </p:txBody>
      </p:sp>
      <p:sp>
        <p:nvSpPr>
          <p:cNvPr id="79" name="Shape 68"/>
          <p:cNvSpPr/>
          <p:nvPr/>
        </p:nvSpPr>
        <p:spPr>
          <a:xfrm>
            <a:off x="7946920" y="3405783"/>
            <a:ext cx="402924" cy="1357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0" name="Text 69"/>
          <p:cNvSpPr/>
          <p:nvPr/>
        </p:nvSpPr>
        <p:spPr>
          <a:xfrm>
            <a:off x="7946920" y="3405783"/>
            <a:ext cx="402924" cy="13573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tenant_id</a:t>
            </a:r>
            <a:endParaRPr lang="en-US" sz="568" dirty="0"/>
          </a:p>
        </p:txBody>
      </p:sp>
      <p:sp>
        <p:nvSpPr>
          <p:cNvPr id="81" name="Text 70"/>
          <p:cNvSpPr/>
          <p:nvPr/>
        </p:nvSpPr>
        <p:spPr>
          <a:xfrm>
            <a:off x="6286500" y="3414713"/>
            <a:ext cx="2275368" cy="244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in all queries.</a:t>
            </a:r>
            <a:endParaRPr lang="en-US" sz="621" dirty="0"/>
          </a:p>
        </p:txBody>
      </p:sp>
      <p:sp>
        <p:nvSpPr>
          <p:cNvPr id="82" name="Text 71"/>
          <p:cNvSpPr/>
          <p:nvPr/>
        </p:nvSpPr>
        <p:spPr>
          <a:xfrm>
            <a:off x="6286500" y="3671888"/>
            <a:ext cx="5800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Performance:</a:t>
            </a:r>
            <a:endParaRPr lang="en-US" sz="584" dirty="0"/>
          </a:p>
        </p:txBody>
      </p:sp>
      <p:sp>
        <p:nvSpPr>
          <p:cNvPr id="83" name="Text 72"/>
          <p:cNvSpPr/>
          <p:nvPr/>
        </p:nvSpPr>
        <p:spPr>
          <a:xfrm>
            <a:off x="6286500" y="3671888"/>
            <a:ext cx="2269871" cy="244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Dashboard stats are cached in Redis (TTL: 5min).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5014913" cy="4157663"/>
          </a:xfrm>
          <a:prstGeom prst="rect">
            <a:avLst/>
          </a:prstGeom>
          <a:solidFill>
            <a:srgbClr val="F1F5F9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1285875" cy="41433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571500"/>
            <a:ext cx="1285875" cy="389334"/>
          </a:xfrm>
          <a:prstGeom prst="rect">
            <a:avLst/>
          </a:prstGeom>
          <a:noFill/>
          <a:ln/>
        </p:spPr>
        <p:txBody>
          <a:bodyPr wrap="square" lIns="170053" tIns="0" rIns="170053" bIns="255143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SmartCON</a:t>
            </a:r>
            <a:endParaRPr lang="en-US" sz="88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67991"/>
            <a:ext cx="105370" cy="928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8308" y="1046559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대시보드</a:t>
            </a:r>
            <a:endParaRPr lang="en-US" sz="674" dirty="0"/>
          </a:p>
        </p:txBody>
      </p:sp>
      <p:sp>
        <p:nvSpPr>
          <p:cNvPr id="8" name="Shape 4"/>
          <p:cNvSpPr/>
          <p:nvPr/>
        </p:nvSpPr>
        <p:spPr>
          <a:xfrm>
            <a:off x="428625" y="1268016"/>
            <a:ext cx="1285875" cy="30718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Shape 5"/>
          <p:cNvSpPr/>
          <p:nvPr/>
        </p:nvSpPr>
        <p:spPr>
          <a:xfrm>
            <a:off x="428625" y="1268016"/>
            <a:ext cx="21431" cy="30718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75172"/>
            <a:ext cx="69652" cy="928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2589" y="1353741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프로젝트</a:t>
            </a:r>
            <a:endParaRPr lang="en-US" sz="674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82353"/>
            <a:ext cx="116086" cy="928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9023" y="1660922"/>
            <a:ext cx="4513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노무자 관리</a:t>
            </a:r>
            <a:endParaRPr lang="en-US" sz="674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89534"/>
            <a:ext cx="69652" cy="9286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2589" y="1968103"/>
            <a:ext cx="3659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정산 관리</a:t>
            </a:r>
            <a:endParaRPr lang="en-US" sz="674" dirty="0"/>
          </a:p>
        </p:txBody>
      </p:sp>
      <p:sp>
        <p:nvSpPr>
          <p:cNvPr id="16" name="Shape 9"/>
          <p:cNvSpPr/>
          <p:nvPr/>
        </p:nvSpPr>
        <p:spPr>
          <a:xfrm>
            <a:off x="1714500" y="428625"/>
            <a:ext cx="371475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0"/>
          <p:cNvSpPr/>
          <p:nvPr/>
        </p:nvSpPr>
        <p:spPr>
          <a:xfrm>
            <a:off x="1714500" y="785813"/>
            <a:ext cx="37147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1"/>
          <p:cNvSpPr/>
          <p:nvPr/>
        </p:nvSpPr>
        <p:spPr>
          <a:xfrm>
            <a:off x="4970906" y="543818"/>
            <a:ext cx="315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관리자님</a:t>
            </a:r>
            <a:endParaRPr lang="en-US" sz="621" dirty="0"/>
          </a:p>
        </p:txBody>
      </p:sp>
      <p:sp>
        <p:nvSpPr>
          <p:cNvPr id="19" name="Text 12"/>
          <p:cNvSpPr/>
          <p:nvPr/>
        </p:nvSpPr>
        <p:spPr>
          <a:xfrm>
            <a:off x="1857375" y="928688"/>
            <a:ext cx="34290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프로젝트 관리</a:t>
            </a:r>
            <a:endParaRPr lang="en-US" sz="885" dirty="0"/>
          </a:p>
        </p:txBody>
      </p:sp>
      <p:sp>
        <p:nvSpPr>
          <p:cNvPr id="20" name="Shape 13"/>
          <p:cNvSpPr/>
          <p:nvPr/>
        </p:nvSpPr>
        <p:spPr>
          <a:xfrm>
            <a:off x="1857375" y="1225153"/>
            <a:ext cx="999037" cy="342900"/>
          </a:xfrm>
          <a:prstGeom prst="rect">
            <a:avLst/>
          </a:prstGeom>
          <a:solidFill>
            <a:srgbClr val="EFEFE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4199269" y="1225153"/>
            <a:ext cx="387018" cy="3429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15"/>
          <p:cNvSpPr/>
          <p:nvPr/>
        </p:nvSpPr>
        <p:spPr>
          <a:xfrm>
            <a:off x="4199269" y="1225153"/>
            <a:ext cx="387018" cy="34290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검색</a:t>
            </a:r>
            <a:endParaRPr lang="en-US" sz="584" dirty="0"/>
          </a:p>
        </p:txBody>
      </p:sp>
      <p:sp>
        <p:nvSpPr>
          <p:cNvPr id="23" name="Shape 16"/>
          <p:cNvSpPr/>
          <p:nvPr/>
        </p:nvSpPr>
        <p:spPr>
          <a:xfrm>
            <a:off x="2428875" y="46434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17"/>
          <p:cNvSpPr/>
          <p:nvPr/>
        </p:nvSpPr>
        <p:spPr>
          <a:xfrm>
            <a:off x="2428875" y="46434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25" name="Shape 18"/>
          <p:cNvSpPr/>
          <p:nvPr/>
        </p:nvSpPr>
        <p:spPr>
          <a:xfrm>
            <a:off x="4586288" y="1225153"/>
            <a:ext cx="700088" cy="3429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19"/>
          <p:cNvSpPr/>
          <p:nvPr/>
        </p:nvSpPr>
        <p:spPr>
          <a:xfrm>
            <a:off x="4586288" y="1225153"/>
            <a:ext cx="700088" cy="34290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+ 프로젝트 등록</a:t>
            </a:r>
            <a:endParaRPr lang="en-US" sz="584" dirty="0"/>
          </a:p>
        </p:txBody>
      </p:sp>
      <p:sp>
        <p:nvSpPr>
          <p:cNvPr id="27" name="Shape 20"/>
          <p:cNvSpPr/>
          <p:nvPr/>
        </p:nvSpPr>
        <p:spPr>
          <a:xfrm>
            <a:off x="5357813" y="46434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1"/>
          <p:cNvSpPr/>
          <p:nvPr/>
        </p:nvSpPr>
        <p:spPr>
          <a:xfrm>
            <a:off x="5357813" y="46434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29" name="Shape 22"/>
          <p:cNvSpPr/>
          <p:nvPr/>
        </p:nvSpPr>
        <p:spPr>
          <a:xfrm>
            <a:off x="1857375" y="1675209"/>
            <a:ext cx="3429000" cy="171985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857375" y="1675209"/>
            <a:ext cx="342063" cy="2732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4"/>
          <p:cNvSpPr/>
          <p:nvPr/>
        </p:nvSpPr>
        <p:spPr>
          <a:xfrm>
            <a:off x="1857375" y="1941314"/>
            <a:ext cx="34206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5"/>
          <p:cNvSpPr/>
          <p:nvPr/>
        </p:nvSpPr>
        <p:spPr>
          <a:xfrm>
            <a:off x="1857375" y="1675209"/>
            <a:ext cx="342063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ID</a:t>
            </a:r>
            <a:endParaRPr lang="en-US" sz="584" dirty="0"/>
          </a:p>
        </p:txBody>
      </p:sp>
      <p:sp>
        <p:nvSpPr>
          <p:cNvPr id="33" name="Shape 26"/>
          <p:cNvSpPr/>
          <p:nvPr/>
        </p:nvSpPr>
        <p:spPr>
          <a:xfrm>
            <a:off x="2199438" y="1675209"/>
            <a:ext cx="739992" cy="2732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Shape 27"/>
          <p:cNvSpPr/>
          <p:nvPr/>
        </p:nvSpPr>
        <p:spPr>
          <a:xfrm>
            <a:off x="2199438" y="1941314"/>
            <a:ext cx="739992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28"/>
          <p:cNvSpPr/>
          <p:nvPr/>
        </p:nvSpPr>
        <p:spPr>
          <a:xfrm>
            <a:off x="2199438" y="1675209"/>
            <a:ext cx="739992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프로젝트명</a:t>
            </a:r>
            <a:endParaRPr lang="en-US" sz="584" dirty="0"/>
          </a:p>
        </p:txBody>
      </p:sp>
      <p:sp>
        <p:nvSpPr>
          <p:cNvPr id="36" name="Shape 29"/>
          <p:cNvSpPr/>
          <p:nvPr/>
        </p:nvSpPr>
        <p:spPr>
          <a:xfrm>
            <a:off x="2939430" y="1675209"/>
            <a:ext cx="559836" cy="2732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Shape 30"/>
          <p:cNvSpPr/>
          <p:nvPr/>
        </p:nvSpPr>
        <p:spPr>
          <a:xfrm>
            <a:off x="2939430" y="1941314"/>
            <a:ext cx="559836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1"/>
          <p:cNvSpPr/>
          <p:nvPr/>
        </p:nvSpPr>
        <p:spPr>
          <a:xfrm>
            <a:off x="2939430" y="1675209"/>
            <a:ext cx="559836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현장명</a:t>
            </a:r>
            <a:endParaRPr lang="en-US" sz="584" dirty="0"/>
          </a:p>
        </p:txBody>
      </p:sp>
      <p:sp>
        <p:nvSpPr>
          <p:cNvPr id="39" name="Shape 32"/>
          <p:cNvSpPr/>
          <p:nvPr/>
        </p:nvSpPr>
        <p:spPr>
          <a:xfrm>
            <a:off x="3499265" y="1675209"/>
            <a:ext cx="871398" cy="2732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33"/>
          <p:cNvSpPr/>
          <p:nvPr/>
        </p:nvSpPr>
        <p:spPr>
          <a:xfrm>
            <a:off x="3499265" y="1941314"/>
            <a:ext cx="87139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4"/>
          <p:cNvSpPr/>
          <p:nvPr/>
        </p:nvSpPr>
        <p:spPr>
          <a:xfrm>
            <a:off x="3499265" y="1675209"/>
            <a:ext cx="871398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기간</a:t>
            </a:r>
            <a:endParaRPr lang="en-US" sz="584" dirty="0"/>
          </a:p>
        </p:txBody>
      </p:sp>
      <p:sp>
        <p:nvSpPr>
          <p:cNvPr id="42" name="Shape 35"/>
          <p:cNvSpPr/>
          <p:nvPr/>
        </p:nvSpPr>
        <p:spPr>
          <a:xfrm>
            <a:off x="4370663" y="1675209"/>
            <a:ext cx="454605" cy="2732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Shape 36"/>
          <p:cNvSpPr/>
          <p:nvPr/>
        </p:nvSpPr>
        <p:spPr>
          <a:xfrm>
            <a:off x="4370663" y="1941314"/>
            <a:ext cx="45460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37"/>
          <p:cNvSpPr/>
          <p:nvPr/>
        </p:nvSpPr>
        <p:spPr>
          <a:xfrm>
            <a:off x="4370663" y="1675209"/>
            <a:ext cx="454605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상태</a:t>
            </a:r>
            <a:endParaRPr lang="en-US" sz="584" dirty="0"/>
          </a:p>
        </p:txBody>
      </p:sp>
      <p:sp>
        <p:nvSpPr>
          <p:cNvPr id="45" name="Shape 38"/>
          <p:cNvSpPr/>
          <p:nvPr/>
        </p:nvSpPr>
        <p:spPr>
          <a:xfrm>
            <a:off x="4825268" y="1675209"/>
            <a:ext cx="461107" cy="2732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Shape 39"/>
          <p:cNvSpPr/>
          <p:nvPr/>
        </p:nvSpPr>
        <p:spPr>
          <a:xfrm>
            <a:off x="4825268" y="1941314"/>
            <a:ext cx="461107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0"/>
          <p:cNvSpPr/>
          <p:nvPr/>
        </p:nvSpPr>
        <p:spPr>
          <a:xfrm>
            <a:off x="4825268" y="1675209"/>
            <a:ext cx="461107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관리</a:t>
            </a:r>
            <a:endParaRPr lang="en-US" sz="584" dirty="0"/>
          </a:p>
        </p:txBody>
      </p:sp>
      <p:sp>
        <p:nvSpPr>
          <p:cNvPr id="48" name="Text 41"/>
          <p:cNvSpPr/>
          <p:nvPr/>
        </p:nvSpPr>
        <p:spPr>
          <a:xfrm>
            <a:off x="1857375" y="1944886"/>
            <a:ext cx="342063" cy="34647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P001</a:t>
            </a:r>
            <a:endParaRPr lang="en-US" sz="621" dirty="0"/>
          </a:p>
        </p:txBody>
      </p:sp>
      <p:sp>
        <p:nvSpPr>
          <p:cNvPr id="49" name="Text 42"/>
          <p:cNvSpPr/>
          <p:nvPr/>
        </p:nvSpPr>
        <p:spPr>
          <a:xfrm>
            <a:off x="2199438" y="1944886"/>
            <a:ext cx="739992" cy="34647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강남 오피스 신축</a:t>
            </a:r>
            <a:endParaRPr lang="en-US" sz="621" dirty="0"/>
          </a:p>
        </p:txBody>
      </p:sp>
      <p:sp>
        <p:nvSpPr>
          <p:cNvPr id="50" name="Text 43"/>
          <p:cNvSpPr/>
          <p:nvPr/>
        </p:nvSpPr>
        <p:spPr>
          <a:xfrm>
            <a:off x="2939430" y="1944886"/>
            <a:ext cx="559836" cy="34647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서울 강남구</a:t>
            </a:r>
            <a:endParaRPr lang="en-US" sz="621" dirty="0"/>
          </a:p>
        </p:txBody>
      </p:sp>
      <p:sp>
        <p:nvSpPr>
          <p:cNvPr id="51" name="Text 44"/>
          <p:cNvSpPr/>
          <p:nvPr/>
        </p:nvSpPr>
        <p:spPr>
          <a:xfrm>
            <a:off x="3499265" y="1944886"/>
            <a:ext cx="871398" cy="34647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2025.01 ~ 2026.06</a:t>
            </a:r>
            <a:endParaRPr lang="en-US" sz="621" dirty="0"/>
          </a:p>
        </p:txBody>
      </p:sp>
      <p:sp>
        <p:nvSpPr>
          <p:cNvPr id="52" name="Shape 45"/>
          <p:cNvSpPr/>
          <p:nvPr/>
        </p:nvSpPr>
        <p:spPr>
          <a:xfrm>
            <a:off x="4442101" y="2056507"/>
            <a:ext cx="311479" cy="126802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53" name="Text 46"/>
          <p:cNvSpPr/>
          <p:nvPr/>
        </p:nvSpPr>
        <p:spPr>
          <a:xfrm>
            <a:off x="4442101" y="2056507"/>
            <a:ext cx="311479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진행중</a:t>
            </a:r>
            <a:endParaRPr lang="en-US" sz="485" dirty="0"/>
          </a:p>
        </p:txBody>
      </p:sp>
      <p:sp>
        <p:nvSpPr>
          <p:cNvPr id="54" name="Shape 47"/>
          <p:cNvSpPr/>
          <p:nvPr/>
        </p:nvSpPr>
        <p:spPr>
          <a:xfrm>
            <a:off x="4896706" y="2016323"/>
            <a:ext cx="317897" cy="20002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4896706" y="2016323"/>
            <a:ext cx="317897" cy="20002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91" dirty="0">
                <a:solidFill>
                  <a:srgbClr val="475569"/>
                </a:solidFill>
              </a:rPr>
              <a:t>수정</a:t>
            </a:r>
            <a:endParaRPr lang="en-US" sz="691" dirty="0"/>
          </a:p>
        </p:txBody>
      </p:sp>
      <p:sp>
        <p:nvSpPr>
          <p:cNvPr id="56" name="Text 49"/>
          <p:cNvSpPr/>
          <p:nvPr/>
        </p:nvSpPr>
        <p:spPr>
          <a:xfrm>
            <a:off x="1857375" y="2277070"/>
            <a:ext cx="342063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P002</a:t>
            </a:r>
            <a:endParaRPr lang="en-US" sz="621" dirty="0"/>
          </a:p>
        </p:txBody>
      </p:sp>
      <p:sp>
        <p:nvSpPr>
          <p:cNvPr id="57" name="Text 50"/>
          <p:cNvSpPr/>
          <p:nvPr/>
        </p:nvSpPr>
        <p:spPr>
          <a:xfrm>
            <a:off x="2199438" y="2277070"/>
            <a:ext cx="73999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판교 데이터센터</a:t>
            </a:r>
            <a:endParaRPr lang="en-US" sz="621" dirty="0"/>
          </a:p>
        </p:txBody>
      </p:sp>
      <p:sp>
        <p:nvSpPr>
          <p:cNvPr id="58" name="Text 51"/>
          <p:cNvSpPr/>
          <p:nvPr/>
        </p:nvSpPr>
        <p:spPr>
          <a:xfrm>
            <a:off x="2939430" y="2277070"/>
            <a:ext cx="559836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경기 성남시</a:t>
            </a:r>
            <a:endParaRPr lang="en-US" sz="621" dirty="0"/>
          </a:p>
        </p:txBody>
      </p:sp>
      <p:sp>
        <p:nvSpPr>
          <p:cNvPr id="59" name="Text 52"/>
          <p:cNvSpPr/>
          <p:nvPr/>
        </p:nvSpPr>
        <p:spPr>
          <a:xfrm>
            <a:off x="3499265" y="2277070"/>
            <a:ext cx="871398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2024.03 ~ 2025.12</a:t>
            </a:r>
            <a:endParaRPr lang="en-US" sz="621" dirty="0"/>
          </a:p>
        </p:txBody>
      </p:sp>
      <p:sp>
        <p:nvSpPr>
          <p:cNvPr id="60" name="Shape 53"/>
          <p:cNvSpPr/>
          <p:nvPr/>
        </p:nvSpPr>
        <p:spPr>
          <a:xfrm>
            <a:off x="4442101" y="2392263"/>
            <a:ext cx="311479" cy="126802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61" name="Text 54"/>
          <p:cNvSpPr/>
          <p:nvPr/>
        </p:nvSpPr>
        <p:spPr>
          <a:xfrm>
            <a:off x="4442101" y="2392263"/>
            <a:ext cx="311479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진행중</a:t>
            </a:r>
            <a:endParaRPr lang="en-US" sz="485" dirty="0"/>
          </a:p>
        </p:txBody>
      </p:sp>
      <p:sp>
        <p:nvSpPr>
          <p:cNvPr id="62" name="Shape 55"/>
          <p:cNvSpPr/>
          <p:nvPr/>
        </p:nvSpPr>
        <p:spPr>
          <a:xfrm>
            <a:off x="4896706" y="2352080"/>
            <a:ext cx="317897" cy="20002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4896706" y="2352080"/>
            <a:ext cx="317897" cy="20002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91" dirty="0">
                <a:solidFill>
                  <a:srgbClr val="475569"/>
                </a:solidFill>
              </a:rPr>
              <a:t>수정</a:t>
            </a:r>
            <a:endParaRPr lang="en-US" sz="691" dirty="0"/>
          </a:p>
        </p:txBody>
      </p:sp>
      <p:sp>
        <p:nvSpPr>
          <p:cNvPr id="64" name="Text 57"/>
          <p:cNvSpPr/>
          <p:nvPr/>
        </p:nvSpPr>
        <p:spPr>
          <a:xfrm>
            <a:off x="1857375" y="2612827"/>
            <a:ext cx="342063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P003</a:t>
            </a:r>
            <a:endParaRPr lang="en-US" sz="621" dirty="0"/>
          </a:p>
        </p:txBody>
      </p:sp>
      <p:sp>
        <p:nvSpPr>
          <p:cNvPr id="65" name="Text 58"/>
          <p:cNvSpPr/>
          <p:nvPr/>
        </p:nvSpPr>
        <p:spPr>
          <a:xfrm>
            <a:off x="2199438" y="2612827"/>
            <a:ext cx="73999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부산 물류센터</a:t>
            </a:r>
            <a:endParaRPr lang="en-US" sz="621" dirty="0"/>
          </a:p>
        </p:txBody>
      </p:sp>
      <p:sp>
        <p:nvSpPr>
          <p:cNvPr id="66" name="Text 59"/>
          <p:cNvSpPr/>
          <p:nvPr/>
        </p:nvSpPr>
        <p:spPr>
          <a:xfrm>
            <a:off x="2939430" y="2612827"/>
            <a:ext cx="559836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부산 강서구</a:t>
            </a:r>
            <a:endParaRPr lang="en-US" sz="621" dirty="0"/>
          </a:p>
        </p:txBody>
      </p:sp>
      <p:sp>
        <p:nvSpPr>
          <p:cNvPr id="67" name="Text 60"/>
          <p:cNvSpPr/>
          <p:nvPr/>
        </p:nvSpPr>
        <p:spPr>
          <a:xfrm>
            <a:off x="3499265" y="2612827"/>
            <a:ext cx="871398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2023.01 ~ 2024.12</a:t>
            </a:r>
            <a:endParaRPr lang="en-US" sz="621" dirty="0"/>
          </a:p>
        </p:txBody>
      </p:sp>
      <p:sp>
        <p:nvSpPr>
          <p:cNvPr id="68" name="Shape 61"/>
          <p:cNvSpPr/>
          <p:nvPr/>
        </p:nvSpPr>
        <p:spPr>
          <a:xfrm>
            <a:off x="4442101" y="2728020"/>
            <a:ext cx="245762" cy="126802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69" name="Text 62"/>
          <p:cNvSpPr/>
          <p:nvPr/>
        </p:nvSpPr>
        <p:spPr>
          <a:xfrm>
            <a:off x="4442101" y="2728020"/>
            <a:ext cx="245762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64748B"/>
                </a:solidFill>
              </a:rPr>
              <a:t>완료</a:t>
            </a:r>
            <a:endParaRPr lang="en-US" sz="485" dirty="0"/>
          </a:p>
        </p:txBody>
      </p:sp>
      <p:sp>
        <p:nvSpPr>
          <p:cNvPr id="70" name="Shape 63"/>
          <p:cNvSpPr/>
          <p:nvPr/>
        </p:nvSpPr>
        <p:spPr>
          <a:xfrm>
            <a:off x="4896706" y="2687836"/>
            <a:ext cx="317897" cy="20002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4896706" y="2687836"/>
            <a:ext cx="317897" cy="20002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91" dirty="0">
                <a:solidFill>
                  <a:srgbClr val="475569"/>
                </a:solidFill>
              </a:rPr>
              <a:t>보기</a:t>
            </a:r>
            <a:endParaRPr lang="en-US" sz="691" dirty="0"/>
          </a:p>
        </p:txBody>
      </p:sp>
      <p:sp>
        <p:nvSpPr>
          <p:cNvPr id="72" name="Shape 65"/>
          <p:cNvSpPr/>
          <p:nvPr/>
        </p:nvSpPr>
        <p:spPr>
          <a:xfrm>
            <a:off x="2928938" y="185737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3" name="Text 66"/>
          <p:cNvSpPr/>
          <p:nvPr/>
        </p:nvSpPr>
        <p:spPr>
          <a:xfrm>
            <a:off x="2928938" y="18573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74" name="Text 67"/>
          <p:cNvSpPr/>
          <p:nvPr/>
        </p:nvSpPr>
        <p:spPr>
          <a:xfrm>
            <a:off x="1857375" y="3095030"/>
            <a:ext cx="34290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&lt; 1 2 3 4 5 &gt;</a:t>
            </a:r>
            <a:endParaRPr lang="en-US" sz="621" dirty="0"/>
          </a:p>
        </p:txBody>
      </p:sp>
      <p:sp>
        <p:nvSpPr>
          <p:cNvPr id="75" name="Text 68"/>
          <p:cNvSpPr/>
          <p:nvPr/>
        </p:nvSpPr>
        <p:spPr>
          <a:xfrm>
            <a:off x="5715000" y="428625"/>
            <a:ext cx="30003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[본사] 프로젝트 관리 (PC)</a:t>
            </a:r>
            <a:endParaRPr lang="en-US" sz="1397" dirty="0"/>
          </a:p>
        </p:txBody>
      </p:sp>
      <p:sp>
        <p:nvSpPr>
          <p:cNvPr id="76" name="Text 69"/>
          <p:cNvSpPr/>
          <p:nvPr/>
        </p:nvSpPr>
        <p:spPr>
          <a:xfrm>
            <a:off x="5715000" y="775097"/>
            <a:ext cx="30003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프로젝트 목록 조회, 검색 및 신규 등록</a:t>
            </a:r>
            <a:endParaRPr lang="en-US" sz="727" dirty="0"/>
          </a:p>
        </p:txBody>
      </p:sp>
      <p:sp>
        <p:nvSpPr>
          <p:cNvPr id="77" name="Shape 70"/>
          <p:cNvSpPr/>
          <p:nvPr/>
        </p:nvSpPr>
        <p:spPr>
          <a:xfrm>
            <a:off x="5715000" y="1176933"/>
            <a:ext cx="285750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8" name="Shape 71"/>
          <p:cNvSpPr/>
          <p:nvPr/>
        </p:nvSpPr>
        <p:spPr>
          <a:xfrm>
            <a:off x="5715000" y="1428750"/>
            <a:ext cx="2857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9" name="Text 72"/>
          <p:cNvSpPr/>
          <p:nvPr/>
        </p:nvSpPr>
        <p:spPr>
          <a:xfrm>
            <a:off x="5715000" y="1176933"/>
            <a:ext cx="285750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No</a:t>
            </a:r>
            <a:endParaRPr lang="en-US" sz="584" dirty="0"/>
          </a:p>
        </p:txBody>
      </p:sp>
      <p:sp>
        <p:nvSpPr>
          <p:cNvPr id="80" name="Shape 73"/>
          <p:cNvSpPr/>
          <p:nvPr/>
        </p:nvSpPr>
        <p:spPr>
          <a:xfrm>
            <a:off x="6000750" y="1176933"/>
            <a:ext cx="714375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1" name="Shape 74"/>
          <p:cNvSpPr/>
          <p:nvPr/>
        </p:nvSpPr>
        <p:spPr>
          <a:xfrm>
            <a:off x="6000750" y="1428750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2" name="Text 75"/>
          <p:cNvSpPr/>
          <p:nvPr/>
        </p:nvSpPr>
        <p:spPr>
          <a:xfrm>
            <a:off x="6000750" y="1176933"/>
            <a:ext cx="714375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Element</a:t>
            </a:r>
            <a:endParaRPr lang="en-US" sz="584" dirty="0"/>
          </a:p>
        </p:txBody>
      </p:sp>
      <p:sp>
        <p:nvSpPr>
          <p:cNvPr id="83" name="Shape 76"/>
          <p:cNvSpPr/>
          <p:nvPr/>
        </p:nvSpPr>
        <p:spPr>
          <a:xfrm>
            <a:off x="6715125" y="1176933"/>
            <a:ext cx="2000250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4" name="Shape 77"/>
          <p:cNvSpPr/>
          <p:nvPr/>
        </p:nvSpPr>
        <p:spPr>
          <a:xfrm>
            <a:off x="6715125" y="1428750"/>
            <a:ext cx="2000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5" name="Text 78"/>
          <p:cNvSpPr/>
          <p:nvPr/>
        </p:nvSpPr>
        <p:spPr>
          <a:xfrm>
            <a:off x="6715125" y="1176933"/>
            <a:ext cx="2000250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Implementation Spec</a:t>
            </a:r>
            <a:endParaRPr lang="en-US" sz="584" dirty="0"/>
          </a:p>
        </p:txBody>
      </p:sp>
      <p:sp>
        <p:nvSpPr>
          <p:cNvPr id="86" name="Shape 79"/>
          <p:cNvSpPr/>
          <p:nvPr/>
        </p:nvSpPr>
        <p:spPr>
          <a:xfrm>
            <a:off x="5786438" y="150733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7" name="Text 80"/>
          <p:cNvSpPr/>
          <p:nvPr/>
        </p:nvSpPr>
        <p:spPr>
          <a:xfrm>
            <a:off x="5786438" y="15073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88" name="Text 81"/>
          <p:cNvSpPr/>
          <p:nvPr/>
        </p:nvSpPr>
        <p:spPr>
          <a:xfrm>
            <a:off x="6000750" y="1435894"/>
            <a:ext cx="714375" cy="4947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Search/Filter</a:t>
            </a:r>
            <a:endParaRPr lang="en-US" sz="621" dirty="0"/>
          </a:p>
        </p:txBody>
      </p:sp>
      <p:sp>
        <p:nvSpPr>
          <p:cNvPr id="89" name="Text 82"/>
          <p:cNvSpPr/>
          <p:nvPr/>
        </p:nvSpPr>
        <p:spPr>
          <a:xfrm>
            <a:off x="6786563" y="1507331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GET /api/v1/projects</a:t>
            </a:r>
            <a:endParaRPr lang="en-US" sz="621" dirty="0"/>
          </a:p>
        </p:txBody>
      </p:sp>
      <p:sp>
        <p:nvSpPr>
          <p:cNvPr id="90" name="Text 83"/>
          <p:cNvSpPr/>
          <p:nvPr/>
        </p:nvSpPr>
        <p:spPr>
          <a:xfrm>
            <a:off x="6786563" y="1623417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Params: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keyword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,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status</a:t>
            </a:r>
            <a:endParaRPr lang="en-US" sz="621" dirty="0"/>
          </a:p>
        </p:txBody>
      </p:sp>
      <p:sp>
        <p:nvSpPr>
          <p:cNvPr id="91" name="Text 84"/>
          <p:cNvSpPr/>
          <p:nvPr/>
        </p:nvSpPr>
        <p:spPr>
          <a:xfrm>
            <a:off x="6786563" y="1739503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Debounce: 300ms for input</a:t>
            </a:r>
            <a:endParaRPr lang="en-US" sz="621" dirty="0"/>
          </a:p>
        </p:txBody>
      </p:sp>
      <p:sp>
        <p:nvSpPr>
          <p:cNvPr id="92" name="Shape 85"/>
          <p:cNvSpPr/>
          <p:nvPr/>
        </p:nvSpPr>
        <p:spPr>
          <a:xfrm>
            <a:off x="5786438" y="200560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3" name="Text 86"/>
          <p:cNvSpPr/>
          <p:nvPr/>
        </p:nvSpPr>
        <p:spPr>
          <a:xfrm>
            <a:off x="5786438" y="200560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94" name="Text 87"/>
          <p:cNvSpPr/>
          <p:nvPr/>
        </p:nvSpPr>
        <p:spPr>
          <a:xfrm>
            <a:off x="6000750" y="1930598"/>
            <a:ext cx="714375" cy="38219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Register Btn</a:t>
            </a:r>
            <a:endParaRPr lang="en-US" sz="621" dirty="0"/>
          </a:p>
        </p:txBody>
      </p:sp>
      <p:sp>
        <p:nvSpPr>
          <p:cNvPr id="95" name="Text 88"/>
          <p:cNvSpPr/>
          <p:nvPr/>
        </p:nvSpPr>
        <p:spPr>
          <a:xfrm>
            <a:off x="6786563" y="2005608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Action: Open 'Create Project' Modal</a:t>
            </a:r>
            <a:endParaRPr lang="en-US" sz="621" dirty="0"/>
          </a:p>
        </p:txBody>
      </p:sp>
      <p:sp>
        <p:nvSpPr>
          <p:cNvPr id="96" name="Text 89"/>
          <p:cNvSpPr/>
          <p:nvPr/>
        </p:nvSpPr>
        <p:spPr>
          <a:xfrm>
            <a:off x="6786563" y="2121694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Permission: HQ_ADMIN only</a:t>
            </a:r>
            <a:endParaRPr lang="en-US" sz="621" dirty="0"/>
          </a:p>
        </p:txBody>
      </p:sp>
      <p:sp>
        <p:nvSpPr>
          <p:cNvPr id="97" name="Shape 90"/>
          <p:cNvSpPr/>
          <p:nvPr/>
        </p:nvSpPr>
        <p:spPr>
          <a:xfrm>
            <a:off x="5786438" y="238779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8" name="Text 91"/>
          <p:cNvSpPr/>
          <p:nvPr/>
        </p:nvSpPr>
        <p:spPr>
          <a:xfrm>
            <a:off x="5786438" y="238779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99" name="Text 92"/>
          <p:cNvSpPr/>
          <p:nvPr/>
        </p:nvSpPr>
        <p:spPr>
          <a:xfrm>
            <a:off x="6000750" y="2312789"/>
            <a:ext cx="714375" cy="4982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Data Table</a:t>
            </a:r>
            <a:endParaRPr lang="en-US" sz="621" dirty="0"/>
          </a:p>
        </p:txBody>
      </p:sp>
      <p:sp>
        <p:nvSpPr>
          <p:cNvPr id="100" name="Text 93"/>
          <p:cNvSpPr/>
          <p:nvPr/>
        </p:nvSpPr>
        <p:spPr>
          <a:xfrm>
            <a:off x="6786563" y="2387798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Columns: Name, Site, Period, Status</a:t>
            </a:r>
            <a:endParaRPr lang="en-US" sz="621" dirty="0"/>
          </a:p>
        </p:txBody>
      </p:sp>
      <p:sp>
        <p:nvSpPr>
          <p:cNvPr id="101" name="Text 94"/>
          <p:cNvSpPr/>
          <p:nvPr/>
        </p:nvSpPr>
        <p:spPr>
          <a:xfrm>
            <a:off x="6786563" y="2503884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Status Badge: Ongoing(Green), Done(Gray)</a:t>
            </a:r>
            <a:endParaRPr lang="en-US" sz="621" dirty="0"/>
          </a:p>
        </p:txBody>
      </p:sp>
      <p:sp>
        <p:nvSpPr>
          <p:cNvPr id="102" name="Text 95"/>
          <p:cNvSpPr/>
          <p:nvPr/>
        </p:nvSpPr>
        <p:spPr>
          <a:xfrm>
            <a:off x="6786563" y="2619970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Row Click: Navigate to Detail Page</a:t>
            </a:r>
            <a:endParaRPr lang="en-US" sz="621" dirty="0"/>
          </a:p>
        </p:txBody>
      </p:sp>
      <p:sp>
        <p:nvSpPr>
          <p:cNvPr id="103" name="Text 96"/>
          <p:cNvSpPr/>
          <p:nvPr/>
        </p:nvSpPr>
        <p:spPr>
          <a:xfrm>
            <a:off x="5715000" y="2811066"/>
            <a:ext cx="285750" cy="38219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-</a:t>
            </a:r>
            <a:endParaRPr lang="en-US" sz="621" dirty="0"/>
          </a:p>
        </p:txBody>
      </p:sp>
      <p:sp>
        <p:nvSpPr>
          <p:cNvPr id="104" name="Text 97"/>
          <p:cNvSpPr/>
          <p:nvPr/>
        </p:nvSpPr>
        <p:spPr>
          <a:xfrm>
            <a:off x="6000750" y="2811066"/>
            <a:ext cx="714375" cy="38219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Pagination</a:t>
            </a:r>
            <a:endParaRPr lang="en-US" sz="621" dirty="0"/>
          </a:p>
        </p:txBody>
      </p:sp>
      <p:sp>
        <p:nvSpPr>
          <p:cNvPr id="105" name="Text 98"/>
          <p:cNvSpPr/>
          <p:nvPr/>
        </p:nvSpPr>
        <p:spPr>
          <a:xfrm>
            <a:off x="6786563" y="2886075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Server-side pagination</a:t>
            </a:r>
            <a:endParaRPr lang="en-US" sz="621" dirty="0"/>
          </a:p>
        </p:txBody>
      </p:sp>
      <p:sp>
        <p:nvSpPr>
          <p:cNvPr id="106" name="Text 99"/>
          <p:cNvSpPr/>
          <p:nvPr/>
        </p:nvSpPr>
        <p:spPr>
          <a:xfrm>
            <a:off x="6786563" y="3002161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Params: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page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,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size=10</a:t>
            </a:r>
            <a:endParaRPr lang="en-US" sz="621" dirty="0"/>
          </a:p>
        </p:txBody>
      </p:sp>
      <p:sp>
        <p:nvSpPr>
          <p:cNvPr id="107" name="Shape 100"/>
          <p:cNvSpPr/>
          <p:nvPr/>
        </p:nvSpPr>
        <p:spPr>
          <a:xfrm>
            <a:off x="5715000" y="3339703"/>
            <a:ext cx="3000375" cy="73402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8" name="Text 101"/>
          <p:cNvSpPr/>
          <p:nvPr/>
        </p:nvSpPr>
        <p:spPr>
          <a:xfrm>
            <a:off x="5822156" y="3446859"/>
            <a:ext cx="2786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9E0B"/>
                </a:solidFill>
              </a:rPr>
              <a:t>Create Modal Specs</a:t>
            </a:r>
            <a:endParaRPr lang="en-US" sz="584" dirty="0"/>
          </a:p>
        </p:txBody>
      </p:sp>
      <p:sp>
        <p:nvSpPr>
          <p:cNvPr id="109" name="Text 102"/>
          <p:cNvSpPr/>
          <p:nvPr/>
        </p:nvSpPr>
        <p:spPr>
          <a:xfrm>
            <a:off x="5929313" y="3604022"/>
            <a:ext cx="24872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CBD5E1"/>
                </a:solidFill>
              </a:rPr>
              <a:t>Fields:</a:t>
            </a:r>
            <a:endParaRPr lang="en-US" sz="534" dirty="0"/>
          </a:p>
        </p:txBody>
      </p:sp>
      <p:sp>
        <p:nvSpPr>
          <p:cNvPr id="110" name="Text 103"/>
          <p:cNvSpPr/>
          <p:nvPr/>
        </p:nvSpPr>
        <p:spPr>
          <a:xfrm>
            <a:off x="6178032" y="3604022"/>
            <a:ext cx="188296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Name(Req), Site Address, Start/End Date, Manager</a:t>
            </a:r>
            <a:endParaRPr lang="en-US" sz="568" dirty="0"/>
          </a:p>
        </p:txBody>
      </p:sp>
      <p:sp>
        <p:nvSpPr>
          <p:cNvPr id="111" name="Text 104"/>
          <p:cNvSpPr/>
          <p:nvPr/>
        </p:nvSpPr>
        <p:spPr>
          <a:xfrm>
            <a:off x="5929313" y="3721894"/>
            <a:ext cx="15654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CBD5E1"/>
                </a:solidFill>
              </a:rPr>
              <a:t>API:</a:t>
            </a:r>
            <a:endParaRPr lang="en-US" sz="534" dirty="0"/>
          </a:p>
        </p:txBody>
      </p:sp>
      <p:sp>
        <p:nvSpPr>
          <p:cNvPr id="112" name="Shape 105"/>
          <p:cNvSpPr/>
          <p:nvPr/>
        </p:nvSpPr>
        <p:spPr>
          <a:xfrm>
            <a:off x="6106316" y="3707606"/>
            <a:ext cx="882225" cy="1357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3" name="Text 106"/>
          <p:cNvSpPr/>
          <p:nvPr/>
        </p:nvSpPr>
        <p:spPr>
          <a:xfrm>
            <a:off x="6106316" y="3707606"/>
            <a:ext cx="882225" cy="13573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POST /api/v1/projects</a:t>
            </a:r>
            <a:endParaRPr lang="en-US" sz="568" dirty="0"/>
          </a:p>
        </p:txBody>
      </p:sp>
      <p:sp>
        <p:nvSpPr>
          <p:cNvPr id="114" name="Text 107"/>
          <p:cNvSpPr/>
          <p:nvPr/>
        </p:nvSpPr>
        <p:spPr>
          <a:xfrm>
            <a:off x="5929313" y="3839766"/>
            <a:ext cx="42284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CBD5E1"/>
                </a:solidFill>
              </a:rPr>
              <a:t>Validation:</a:t>
            </a:r>
            <a:endParaRPr lang="en-US" sz="534" dirty="0"/>
          </a:p>
        </p:txBody>
      </p:sp>
      <p:sp>
        <p:nvSpPr>
          <p:cNvPr id="115" name="Text 108"/>
          <p:cNvSpPr/>
          <p:nvPr/>
        </p:nvSpPr>
        <p:spPr>
          <a:xfrm>
            <a:off x="6352161" y="3839766"/>
            <a:ext cx="81237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End Date &gt; Start Date</a:t>
            </a:r>
            <a:endParaRPr lang="en-US" sz="56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5014913" cy="4157663"/>
          </a:xfrm>
          <a:prstGeom prst="rect">
            <a:avLst/>
          </a:prstGeom>
          <a:solidFill>
            <a:srgbClr val="F1F5F9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5000625" cy="41433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428625"/>
            <a:ext cx="5000625" cy="4143375"/>
          </a:xfrm>
          <a:prstGeom prst="rect">
            <a:avLst/>
          </a:prstGeom>
          <a:solidFill>
            <a:srgbClr val="0F172A">
              <a:alpha val="4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143000" y="601861"/>
            <a:ext cx="3571875" cy="3796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601861"/>
            <a:ext cx="3571875" cy="3857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" y="980480"/>
            <a:ext cx="357187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1285875" y="712589"/>
            <a:ext cx="90069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신규 프로젝트 등록</a:t>
            </a:r>
            <a:endParaRPr lang="en-US" sz="784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3" y="738485"/>
            <a:ext cx="71438" cy="114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1594" y="1162645"/>
            <a:ext cx="32146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프로젝트명 *</a:t>
            </a:r>
            <a:endParaRPr lang="en-US" sz="584" dirty="0"/>
          </a:p>
        </p:txBody>
      </p:sp>
      <p:sp>
        <p:nvSpPr>
          <p:cNvPr id="12" name="Shape 8"/>
          <p:cNvSpPr/>
          <p:nvPr/>
        </p:nvSpPr>
        <p:spPr>
          <a:xfrm>
            <a:off x="4321969" y="134123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9"/>
          <p:cNvSpPr/>
          <p:nvPr/>
        </p:nvSpPr>
        <p:spPr>
          <a:xfrm>
            <a:off x="4321969" y="134123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4" name="Text 10"/>
          <p:cNvSpPr/>
          <p:nvPr/>
        </p:nvSpPr>
        <p:spPr>
          <a:xfrm>
            <a:off x="1321594" y="1703784"/>
            <a:ext cx="32146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현장 주소 *</a:t>
            </a:r>
            <a:endParaRPr lang="en-US" sz="584" dirty="0"/>
          </a:p>
        </p:txBody>
      </p:sp>
      <p:sp>
        <p:nvSpPr>
          <p:cNvPr id="15" name="Shape 11"/>
          <p:cNvSpPr/>
          <p:nvPr/>
        </p:nvSpPr>
        <p:spPr>
          <a:xfrm>
            <a:off x="4150519" y="1873448"/>
            <a:ext cx="385763" cy="264319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2"/>
          <p:cNvSpPr/>
          <p:nvPr/>
        </p:nvSpPr>
        <p:spPr>
          <a:xfrm>
            <a:off x="4150519" y="1873448"/>
            <a:ext cx="385763" cy="264319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검색</a:t>
            </a:r>
            <a:endParaRPr lang="en-US" sz="621" dirty="0"/>
          </a:p>
        </p:txBody>
      </p:sp>
      <p:sp>
        <p:nvSpPr>
          <p:cNvPr id="17" name="Shape 13"/>
          <p:cNvSpPr/>
          <p:nvPr/>
        </p:nvSpPr>
        <p:spPr>
          <a:xfrm>
            <a:off x="3964781" y="188237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4"/>
          <p:cNvSpPr/>
          <p:nvPr/>
        </p:nvSpPr>
        <p:spPr>
          <a:xfrm>
            <a:off x="3964781" y="188237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9" name="Text 15"/>
          <p:cNvSpPr/>
          <p:nvPr/>
        </p:nvSpPr>
        <p:spPr>
          <a:xfrm>
            <a:off x="1321594" y="2244923"/>
            <a:ext cx="32146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공사 기간</a:t>
            </a:r>
            <a:endParaRPr lang="en-US" sz="584" dirty="0"/>
          </a:p>
        </p:txBody>
      </p:sp>
      <p:sp>
        <p:nvSpPr>
          <p:cNvPr id="20" name="Text 16"/>
          <p:cNvSpPr/>
          <p:nvPr/>
        </p:nvSpPr>
        <p:spPr>
          <a:xfrm>
            <a:off x="2896260" y="2486025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~</a:t>
            </a:r>
            <a:endParaRPr lang="en-US" sz="834" dirty="0"/>
          </a:p>
        </p:txBody>
      </p:sp>
      <p:sp>
        <p:nvSpPr>
          <p:cNvPr id="21" name="Text 17"/>
          <p:cNvSpPr/>
          <p:nvPr/>
        </p:nvSpPr>
        <p:spPr>
          <a:xfrm>
            <a:off x="1321594" y="2819995"/>
            <a:ext cx="32146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현장 관리자</a:t>
            </a:r>
            <a:endParaRPr lang="en-US" sz="584" dirty="0"/>
          </a:p>
        </p:txBody>
      </p:sp>
      <p:sp>
        <p:nvSpPr>
          <p:cNvPr id="22" name="Shape 18"/>
          <p:cNvSpPr/>
          <p:nvPr/>
        </p:nvSpPr>
        <p:spPr>
          <a:xfrm>
            <a:off x="1321594" y="2989659"/>
            <a:ext cx="3214688" cy="275034"/>
          </a:xfrm>
          <a:prstGeom prst="rect">
            <a:avLst/>
          </a:prstGeom>
          <a:solidFill>
            <a:srgbClr val="EFEFE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321594" y="3364706"/>
            <a:ext cx="32146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상태</a:t>
            </a:r>
            <a:endParaRPr lang="en-US" sz="584" dirty="0"/>
          </a:p>
        </p:txBody>
      </p:sp>
      <p:sp>
        <p:nvSpPr>
          <p:cNvPr id="24" name="Text 20"/>
          <p:cNvSpPr/>
          <p:nvPr/>
        </p:nvSpPr>
        <p:spPr>
          <a:xfrm>
            <a:off x="1514475" y="3570089"/>
            <a:ext cx="2563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준비중</a:t>
            </a:r>
            <a:endParaRPr lang="en-US" sz="674" dirty="0"/>
          </a:p>
        </p:txBody>
      </p:sp>
      <p:sp>
        <p:nvSpPr>
          <p:cNvPr id="25" name="Text 21"/>
          <p:cNvSpPr/>
          <p:nvPr/>
        </p:nvSpPr>
        <p:spPr>
          <a:xfrm>
            <a:off x="2106569" y="3570089"/>
            <a:ext cx="2563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진행중</a:t>
            </a:r>
            <a:endParaRPr lang="en-US" sz="674" dirty="0"/>
          </a:p>
        </p:txBody>
      </p:sp>
      <p:sp>
        <p:nvSpPr>
          <p:cNvPr id="26" name="Shape 22"/>
          <p:cNvSpPr/>
          <p:nvPr/>
        </p:nvSpPr>
        <p:spPr>
          <a:xfrm>
            <a:off x="1143000" y="3884414"/>
            <a:ext cx="3571875" cy="50363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Shape 23"/>
          <p:cNvSpPr/>
          <p:nvPr/>
        </p:nvSpPr>
        <p:spPr>
          <a:xfrm>
            <a:off x="1143000" y="3884414"/>
            <a:ext cx="357187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4"/>
          <p:cNvSpPr/>
          <p:nvPr/>
        </p:nvSpPr>
        <p:spPr>
          <a:xfrm>
            <a:off x="3321844" y="3995142"/>
            <a:ext cx="485775" cy="28217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21844" y="3995142"/>
            <a:ext cx="485775" cy="28217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취소</a:t>
            </a:r>
            <a:endParaRPr lang="en-US" sz="634" dirty="0"/>
          </a:p>
        </p:txBody>
      </p:sp>
      <p:sp>
        <p:nvSpPr>
          <p:cNvPr id="30" name="Shape 26"/>
          <p:cNvSpPr/>
          <p:nvPr/>
        </p:nvSpPr>
        <p:spPr>
          <a:xfrm>
            <a:off x="3879056" y="4002286"/>
            <a:ext cx="657225" cy="26789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7"/>
          <p:cNvSpPr/>
          <p:nvPr/>
        </p:nvSpPr>
        <p:spPr>
          <a:xfrm>
            <a:off x="3879056" y="4002286"/>
            <a:ext cx="657225" cy="267891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등록하기</a:t>
            </a:r>
            <a:endParaRPr lang="en-US" sz="634" dirty="0"/>
          </a:p>
        </p:txBody>
      </p:sp>
      <p:sp>
        <p:nvSpPr>
          <p:cNvPr id="32" name="Shape 28"/>
          <p:cNvSpPr/>
          <p:nvPr/>
        </p:nvSpPr>
        <p:spPr>
          <a:xfrm>
            <a:off x="5214938" y="50006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29"/>
          <p:cNvSpPr/>
          <p:nvPr/>
        </p:nvSpPr>
        <p:spPr>
          <a:xfrm>
            <a:off x="5214938" y="50006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34" name="Text 30"/>
          <p:cNvSpPr/>
          <p:nvPr/>
        </p:nvSpPr>
        <p:spPr>
          <a:xfrm>
            <a:off x="5715000" y="428625"/>
            <a:ext cx="30003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[본사] 프로젝트 등록/상세</a:t>
            </a:r>
            <a:endParaRPr lang="en-US" sz="1397" dirty="0"/>
          </a:p>
        </p:txBody>
      </p:sp>
      <p:sp>
        <p:nvSpPr>
          <p:cNvPr id="35" name="Text 31"/>
          <p:cNvSpPr/>
          <p:nvPr/>
        </p:nvSpPr>
        <p:spPr>
          <a:xfrm>
            <a:off x="5715000" y="775097"/>
            <a:ext cx="30003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프로젝트 CRUD 및 상세 정보 관리</a:t>
            </a:r>
            <a:endParaRPr lang="en-US" sz="727" dirty="0"/>
          </a:p>
        </p:txBody>
      </p:sp>
      <p:sp>
        <p:nvSpPr>
          <p:cNvPr id="36" name="Shape 32"/>
          <p:cNvSpPr/>
          <p:nvPr/>
        </p:nvSpPr>
        <p:spPr>
          <a:xfrm>
            <a:off x="5715000" y="1176933"/>
            <a:ext cx="285750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Shape 33"/>
          <p:cNvSpPr/>
          <p:nvPr/>
        </p:nvSpPr>
        <p:spPr>
          <a:xfrm>
            <a:off x="5715000" y="1428750"/>
            <a:ext cx="2857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Text 34"/>
          <p:cNvSpPr/>
          <p:nvPr/>
        </p:nvSpPr>
        <p:spPr>
          <a:xfrm>
            <a:off x="5715000" y="1176933"/>
            <a:ext cx="285750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No</a:t>
            </a:r>
            <a:endParaRPr lang="en-US" sz="584" dirty="0"/>
          </a:p>
        </p:txBody>
      </p:sp>
      <p:sp>
        <p:nvSpPr>
          <p:cNvPr id="39" name="Shape 35"/>
          <p:cNvSpPr/>
          <p:nvPr/>
        </p:nvSpPr>
        <p:spPr>
          <a:xfrm>
            <a:off x="6000750" y="1176933"/>
            <a:ext cx="714375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Shape 36"/>
          <p:cNvSpPr/>
          <p:nvPr/>
        </p:nvSpPr>
        <p:spPr>
          <a:xfrm>
            <a:off x="6000750" y="1428750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Text 37"/>
          <p:cNvSpPr/>
          <p:nvPr/>
        </p:nvSpPr>
        <p:spPr>
          <a:xfrm>
            <a:off x="6000750" y="1176933"/>
            <a:ext cx="714375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Element</a:t>
            </a:r>
            <a:endParaRPr lang="en-US" sz="584" dirty="0"/>
          </a:p>
        </p:txBody>
      </p:sp>
      <p:sp>
        <p:nvSpPr>
          <p:cNvPr id="42" name="Shape 38"/>
          <p:cNvSpPr/>
          <p:nvPr/>
        </p:nvSpPr>
        <p:spPr>
          <a:xfrm>
            <a:off x="6715125" y="1176933"/>
            <a:ext cx="2000250" cy="2661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Shape 39"/>
          <p:cNvSpPr/>
          <p:nvPr/>
        </p:nvSpPr>
        <p:spPr>
          <a:xfrm>
            <a:off x="6715125" y="1428750"/>
            <a:ext cx="2000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Text 40"/>
          <p:cNvSpPr/>
          <p:nvPr/>
        </p:nvSpPr>
        <p:spPr>
          <a:xfrm>
            <a:off x="6715125" y="1176933"/>
            <a:ext cx="2000250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Implementation Spec</a:t>
            </a:r>
            <a:endParaRPr lang="en-US" sz="584" dirty="0"/>
          </a:p>
        </p:txBody>
      </p:sp>
      <p:sp>
        <p:nvSpPr>
          <p:cNvPr id="45" name="Shape 41"/>
          <p:cNvSpPr/>
          <p:nvPr/>
        </p:nvSpPr>
        <p:spPr>
          <a:xfrm>
            <a:off x="5786438" y="150733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6" name="Text 42"/>
          <p:cNvSpPr/>
          <p:nvPr/>
        </p:nvSpPr>
        <p:spPr>
          <a:xfrm>
            <a:off x="5786438" y="15073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7" name="Text 43"/>
          <p:cNvSpPr/>
          <p:nvPr/>
        </p:nvSpPr>
        <p:spPr>
          <a:xfrm>
            <a:off x="6000750" y="1435894"/>
            <a:ext cx="714375" cy="3786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Inputs</a:t>
            </a:r>
            <a:endParaRPr lang="en-US" sz="621" dirty="0"/>
          </a:p>
        </p:txBody>
      </p:sp>
      <p:sp>
        <p:nvSpPr>
          <p:cNvPr id="48" name="Text 44"/>
          <p:cNvSpPr/>
          <p:nvPr/>
        </p:nvSpPr>
        <p:spPr>
          <a:xfrm>
            <a:off x="6786563" y="1507331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Name: Max 100 chars, Required</a:t>
            </a:r>
            <a:endParaRPr lang="en-US" sz="621" dirty="0"/>
          </a:p>
        </p:txBody>
      </p:sp>
      <p:sp>
        <p:nvSpPr>
          <p:cNvPr id="49" name="Text 45"/>
          <p:cNvSpPr/>
          <p:nvPr/>
        </p:nvSpPr>
        <p:spPr>
          <a:xfrm>
            <a:off x="6786563" y="1623417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Validation: Check duplicate name</a:t>
            </a:r>
            <a:endParaRPr lang="en-US" sz="621" dirty="0"/>
          </a:p>
        </p:txBody>
      </p:sp>
      <p:sp>
        <p:nvSpPr>
          <p:cNvPr id="50" name="Shape 46"/>
          <p:cNvSpPr/>
          <p:nvPr/>
        </p:nvSpPr>
        <p:spPr>
          <a:xfrm>
            <a:off x="5786438" y="188952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7"/>
          <p:cNvSpPr/>
          <p:nvPr/>
        </p:nvSpPr>
        <p:spPr>
          <a:xfrm>
            <a:off x="5786438" y="188952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2" name="Text 48"/>
          <p:cNvSpPr/>
          <p:nvPr/>
        </p:nvSpPr>
        <p:spPr>
          <a:xfrm>
            <a:off x="6000750" y="1814513"/>
            <a:ext cx="714375" cy="38219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Address</a:t>
            </a:r>
            <a:endParaRPr lang="en-US" sz="621" dirty="0"/>
          </a:p>
        </p:txBody>
      </p:sp>
      <p:sp>
        <p:nvSpPr>
          <p:cNvPr id="53" name="Text 49"/>
          <p:cNvSpPr/>
          <p:nvPr/>
        </p:nvSpPr>
        <p:spPr>
          <a:xfrm>
            <a:off x="6786563" y="1889522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Integration: Daum Postcode API</a:t>
            </a:r>
            <a:endParaRPr lang="en-US" sz="621" dirty="0"/>
          </a:p>
        </p:txBody>
      </p:sp>
      <p:sp>
        <p:nvSpPr>
          <p:cNvPr id="54" name="Text 50"/>
          <p:cNvSpPr/>
          <p:nvPr/>
        </p:nvSpPr>
        <p:spPr>
          <a:xfrm>
            <a:off x="6786563" y="2005608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Save: Zipcode, Address, Detail Address</a:t>
            </a:r>
            <a:endParaRPr lang="en-US" sz="621" dirty="0"/>
          </a:p>
        </p:txBody>
      </p:sp>
      <p:sp>
        <p:nvSpPr>
          <p:cNvPr id="55" name="Shape 51"/>
          <p:cNvSpPr/>
          <p:nvPr/>
        </p:nvSpPr>
        <p:spPr>
          <a:xfrm>
            <a:off x="5786438" y="227171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52"/>
          <p:cNvSpPr/>
          <p:nvPr/>
        </p:nvSpPr>
        <p:spPr>
          <a:xfrm>
            <a:off x="5786438" y="22717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7" name="Text 53"/>
          <p:cNvSpPr/>
          <p:nvPr/>
        </p:nvSpPr>
        <p:spPr>
          <a:xfrm>
            <a:off x="6000750" y="2196703"/>
            <a:ext cx="714375" cy="6143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Submit</a:t>
            </a:r>
            <a:endParaRPr lang="en-US" sz="621" dirty="0"/>
          </a:p>
        </p:txBody>
      </p:sp>
      <p:sp>
        <p:nvSpPr>
          <p:cNvPr id="58" name="Text 54"/>
          <p:cNvSpPr/>
          <p:nvPr/>
        </p:nvSpPr>
        <p:spPr>
          <a:xfrm>
            <a:off x="6786563" y="2271713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POST /api/v1/projects</a:t>
            </a:r>
            <a:endParaRPr lang="en-US" sz="621" dirty="0"/>
          </a:p>
        </p:txBody>
      </p:sp>
      <p:sp>
        <p:nvSpPr>
          <p:cNvPr id="59" name="Text 55"/>
          <p:cNvSpPr/>
          <p:nvPr/>
        </p:nvSpPr>
        <p:spPr>
          <a:xfrm>
            <a:off x="6786563" y="2387798"/>
            <a:ext cx="18573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Payload: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name, address, startDate, endDate,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managerId, status }</a:t>
            </a:r>
            <a:endParaRPr lang="en-US" sz="621" dirty="0"/>
          </a:p>
        </p:txBody>
      </p:sp>
      <p:sp>
        <p:nvSpPr>
          <p:cNvPr id="60" name="Text 56"/>
          <p:cNvSpPr/>
          <p:nvPr/>
        </p:nvSpPr>
        <p:spPr>
          <a:xfrm>
            <a:off x="6786563" y="2619970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Success: Toast + Refresh List</a:t>
            </a:r>
            <a:endParaRPr lang="en-US" sz="621" dirty="0"/>
          </a:p>
        </p:txBody>
      </p:sp>
      <p:sp>
        <p:nvSpPr>
          <p:cNvPr id="61" name="Text 57"/>
          <p:cNvSpPr/>
          <p:nvPr/>
        </p:nvSpPr>
        <p:spPr>
          <a:xfrm>
            <a:off x="5715000" y="2811066"/>
            <a:ext cx="285750" cy="38219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-</a:t>
            </a:r>
            <a:endParaRPr lang="en-US" sz="621" dirty="0"/>
          </a:p>
        </p:txBody>
      </p:sp>
      <p:sp>
        <p:nvSpPr>
          <p:cNvPr id="62" name="Text 58"/>
          <p:cNvSpPr/>
          <p:nvPr/>
        </p:nvSpPr>
        <p:spPr>
          <a:xfrm>
            <a:off x="6000750" y="2811066"/>
            <a:ext cx="714375" cy="38219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Update</a:t>
            </a:r>
            <a:endParaRPr lang="en-US" sz="621" dirty="0"/>
          </a:p>
        </p:txBody>
      </p:sp>
      <p:sp>
        <p:nvSpPr>
          <p:cNvPr id="63" name="Text 59"/>
          <p:cNvSpPr/>
          <p:nvPr/>
        </p:nvSpPr>
        <p:spPr>
          <a:xfrm>
            <a:off x="6786563" y="2886075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PUT /api/v1/projects/{id}</a:t>
            </a:r>
            <a:endParaRPr lang="en-US" sz="621" dirty="0"/>
          </a:p>
        </p:txBody>
      </p:sp>
      <p:sp>
        <p:nvSpPr>
          <p:cNvPr id="64" name="Text 60"/>
          <p:cNvSpPr/>
          <p:nvPr/>
        </p:nvSpPr>
        <p:spPr>
          <a:xfrm>
            <a:off x="6786563" y="3002161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Mode: Edit Modal (Pre-filled data)</a:t>
            </a:r>
            <a:endParaRPr lang="en-US" sz="621" dirty="0"/>
          </a:p>
        </p:txBody>
      </p:sp>
      <p:sp>
        <p:nvSpPr>
          <p:cNvPr id="65" name="Shape 61"/>
          <p:cNvSpPr/>
          <p:nvPr/>
        </p:nvSpPr>
        <p:spPr>
          <a:xfrm>
            <a:off x="5715000" y="3339703"/>
            <a:ext cx="3000375" cy="73402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5822156" y="3446859"/>
            <a:ext cx="2786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9E0B"/>
                </a:solidFill>
              </a:rPr>
              <a:t>Detail View Specs (Read)</a:t>
            </a:r>
            <a:endParaRPr lang="en-US" sz="584" dirty="0"/>
          </a:p>
        </p:txBody>
      </p:sp>
      <p:sp>
        <p:nvSpPr>
          <p:cNvPr id="67" name="Text 63"/>
          <p:cNvSpPr/>
          <p:nvPr/>
        </p:nvSpPr>
        <p:spPr>
          <a:xfrm>
            <a:off x="5929313" y="3604022"/>
            <a:ext cx="15654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CBD5E1"/>
                </a:solidFill>
              </a:rPr>
              <a:t>API:</a:t>
            </a:r>
            <a:endParaRPr lang="en-US" sz="534" dirty="0"/>
          </a:p>
        </p:txBody>
      </p:sp>
      <p:sp>
        <p:nvSpPr>
          <p:cNvPr id="68" name="Shape 64"/>
          <p:cNvSpPr/>
          <p:nvPr/>
        </p:nvSpPr>
        <p:spPr>
          <a:xfrm>
            <a:off x="6106316" y="3589734"/>
            <a:ext cx="988628" cy="1357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9" name="Text 65"/>
          <p:cNvSpPr/>
          <p:nvPr/>
        </p:nvSpPr>
        <p:spPr>
          <a:xfrm>
            <a:off x="6106316" y="3589734"/>
            <a:ext cx="988628" cy="13573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GET /api/v1/projects/{id}</a:t>
            </a:r>
            <a:endParaRPr lang="en-US" sz="568" dirty="0"/>
          </a:p>
        </p:txBody>
      </p:sp>
      <p:sp>
        <p:nvSpPr>
          <p:cNvPr id="70" name="Text 66"/>
          <p:cNvSpPr/>
          <p:nvPr/>
        </p:nvSpPr>
        <p:spPr>
          <a:xfrm>
            <a:off x="5929313" y="3721894"/>
            <a:ext cx="19787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CBD5E1"/>
                </a:solidFill>
              </a:rPr>
              <a:t>Tabs:</a:t>
            </a:r>
            <a:endParaRPr lang="en-US" sz="534" dirty="0"/>
          </a:p>
        </p:txBody>
      </p:sp>
      <p:sp>
        <p:nvSpPr>
          <p:cNvPr id="71" name="Text 67"/>
          <p:cNvSpPr/>
          <p:nvPr/>
        </p:nvSpPr>
        <p:spPr>
          <a:xfrm>
            <a:off x="6127189" y="3721894"/>
            <a:ext cx="12689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Info, Workers, Attendance History</a:t>
            </a:r>
            <a:endParaRPr lang="en-US" sz="568" dirty="0"/>
          </a:p>
        </p:txBody>
      </p:sp>
      <p:sp>
        <p:nvSpPr>
          <p:cNvPr id="72" name="Text 68"/>
          <p:cNvSpPr/>
          <p:nvPr/>
        </p:nvSpPr>
        <p:spPr>
          <a:xfrm>
            <a:off x="5929313" y="3839766"/>
            <a:ext cx="27796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CBD5E1"/>
                </a:solidFill>
              </a:rPr>
              <a:t>Delete:</a:t>
            </a:r>
            <a:endParaRPr lang="en-US" sz="534" dirty="0"/>
          </a:p>
        </p:txBody>
      </p:sp>
      <p:sp>
        <p:nvSpPr>
          <p:cNvPr id="73" name="Shape 69"/>
          <p:cNvSpPr/>
          <p:nvPr/>
        </p:nvSpPr>
        <p:spPr>
          <a:xfrm>
            <a:off x="6227731" y="3825478"/>
            <a:ext cx="1117355" cy="1357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4" name="Text 70"/>
          <p:cNvSpPr/>
          <p:nvPr/>
        </p:nvSpPr>
        <p:spPr>
          <a:xfrm>
            <a:off x="6227731" y="3825478"/>
            <a:ext cx="1117355" cy="13573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DELETE /api/v1/projects/{id}</a:t>
            </a:r>
            <a:endParaRPr lang="en-US" sz="568" dirty="0"/>
          </a:p>
        </p:txBody>
      </p:sp>
      <p:sp>
        <p:nvSpPr>
          <p:cNvPr id="75" name="Text 71"/>
          <p:cNvSpPr/>
          <p:nvPr/>
        </p:nvSpPr>
        <p:spPr>
          <a:xfrm>
            <a:off x="7345087" y="3839766"/>
            <a:ext cx="47307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(Soft Delete)</a:t>
            </a:r>
            <a:endParaRPr lang="en-US" sz="56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F8FAFC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50069"/>
            <a:ext cx="100013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6692" y="525066"/>
            <a:ext cx="7955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실시간 출역 현황</a:t>
            </a:r>
            <a:endParaRPr lang="en-US" sz="78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141" y="550069"/>
            <a:ext cx="114300" cy="1143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8625" y="785813"/>
            <a:ext cx="2286000" cy="26967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5"/>
          <p:cNvSpPr/>
          <p:nvPr/>
        </p:nvSpPr>
        <p:spPr>
          <a:xfrm>
            <a:off x="535781" y="857250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총원</a:t>
            </a:r>
            <a:endParaRPr lang="en-US" sz="621" dirty="0"/>
          </a:p>
        </p:txBody>
      </p:sp>
      <p:sp>
        <p:nvSpPr>
          <p:cNvPr id="11" name="Text 6"/>
          <p:cNvSpPr/>
          <p:nvPr/>
        </p:nvSpPr>
        <p:spPr>
          <a:xfrm>
            <a:off x="729249" y="857250"/>
            <a:ext cx="9808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45</a:t>
            </a:r>
            <a:endParaRPr lang="en-US" sz="584" dirty="0"/>
          </a:p>
        </p:txBody>
      </p:sp>
      <p:sp>
        <p:nvSpPr>
          <p:cNvPr id="12" name="Text 7"/>
          <p:cNvSpPr/>
          <p:nvPr/>
        </p:nvSpPr>
        <p:spPr>
          <a:xfrm>
            <a:off x="1450349" y="857250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출근</a:t>
            </a:r>
            <a:endParaRPr lang="en-US" sz="621" dirty="0"/>
          </a:p>
        </p:txBody>
      </p:sp>
      <p:sp>
        <p:nvSpPr>
          <p:cNvPr id="13" name="Text 8"/>
          <p:cNvSpPr/>
          <p:nvPr/>
        </p:nvSpPr>
        <p:spPr>
          <a:xfrm>
            <a:off x="1643816" y="857250"/>
            <a:ext cx="9808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40</a:t>
            </a:r>
            <a:endParaRPr lang="en-US" sz="584" dirty="0"/>
          </a:p>
        </p:txBody>
      </p:sp>
      <p:sp>
        <p:nvSpPr>
          <p:cNvPr id="14" name="Text 9"/>
          <p:cNvSpPr/>
          <p:nvPr/>
        </p:nvSpPr>
        <p:spPr>
          <a:xfrm>
            <a:off x="2364916" y="857250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대기</a:t>
            </a:r>
            <a:endParaRPr lang="en-US" sz="621" dirty="0"/>
          </a:p>
        </p:txBody>
      </p:sp>
      <p:sp>
        <p:nvSpPr>
          <p:cNvPr id="15" name="Text 10"/>
          <p:cNvSpPr/>
          <p:nvPr/>
        </p:nvSpPr>
        <p:spPr>
          <a:xfrm>
            <a:off x="2558383" y="857250"/>
            <a:ext cx="4905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9E0B"/>
                </a:solidFill>
              </a:rPr>
              <a:t>5</a:t>
            </a:r>
            <a:endParaRPr lang="en-US" sz="584" dirty="0"/>
          </a:p>
        </p:txBody>
      </p:sp>
      <p:sp>
        <p:nvSpPr>
          <p:cNvPr id="16" name="Shape 11"/>
          <p:cNvSpPr/>
          <p:nvPr/>
        </p:nvSpPr>
        <p:spPr>
          <a:xfrm>
            <a:off x="2500313" y="50006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2"/>
          <p:cNvSpPr/>
          <p:nvPr/>
        </p:nvSpPr>
        <p:spPr>
          <a:xfrm>
            <a:off x="2500313" y="50006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8" name="Shape 13"/>
          <p:cNvSpPr/>
          <p:nvPr/>
        </p:nvSpPr>
        <p:spPr>
          <a:xfrm>
            <a:off x="514350" y="1141214"/>
            <a:ext cx="2114550" cy="79295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85788" y="1212652"/>
            <a:ext cx="64589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김철수 (철근팀)</a:t>
            </a:r>
            <a:endParaRPr lang="en-US" sz="683" dirty="0"/>
          </a:p>
        </p:txBody>
      </p:sp>
      <p:sp>
        <p:nvSpPr>
          <p:cNvPr id="20" name="Text 15"/>
          <p:cNvSpPr/>
          <p:nvPr/>
        </p:nvSpPr>
        <p:spPr>
          <a:xfrm>
            <a:off x="2183504" y="1212652"/>
            <a:ext cx="37395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07:55 AM</a:t>
            </a:r>
            <a:endParaRPr lang="en-US" sz="621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8" y="1424285"/>
            <a:ext cx="58936" cy="785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6155" y="1406426"/>
            <a:ext cx="4682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현장 내 (15m)</a:t>
            </a:r>
            <a:endParaRPr lang="en-US" sz="568" dirty="0"/>
          </a:p>
        </p:txBody>
      </p:sp>
      <p:sp>
        <p:nvSpPr>
          <p:cNvPr id="23" name="Text 17"/>
          <p:cNvSpPr/>
          <p:nvPr/>
        </p:nvSpPr>
        <p:spPr>
          <a:xfrm>
            <a:off x="1205871" y="1400175"/>
            <a:ext cx="50706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안면인식 98%</a:t>
            </a:r>
            <a:endParaRPr lang="en-US" sz="621" dirty="0"/>
          </a:p>
        </p:txBody>
      </p:sp>
      <p:sp>
        <p:nvSpPr>
          <p:cNvPr id="24" name="Shape 18"/>
          <p:cNvSpPr/>
          <p:nvPr/>
        </p:nvSpPr>
        <p:spPr>
          <a:xfrm>
            <a:off x="585788" y="1648420"/>
            <a:ext cx="957263" cy="200025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5" name="Text 19"/>
          <p:cNvSpPr/>
          <p:nvPr/>
        </p:nvSpPr>
        <p:spPr>
          <a:xfrm>
            <a:off x="585788" y="1648420"/>
            <a:ext cx="957263" cy="200025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승인</a:t>
            </a:r>
            <a:endParaRPr lang="en-US" sz="584" dirty="0"/>
          </a:p>
        </p:txBody>
      </p:sp>
      <p:sp>
        <p:nvSpPr>
          <p:cNvPr id="26" name="Shape 20"/>
          <p:cNvSpPr/>
          <p:nvPr/>
        </p:nvSpPr>
        <p:spPr>
          <a:xfrm>
            <a:off x="1600200" y="1648420"/>
            <a:ext cx="957263" cy="200025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7" name="Text 21"/>
          <p:cNvSpPr/>
          <p:nvPr/>
        </p:nvSpPr>
        <p:spPr>
          <a:xfrm>
            <a:off x="1600200" y="1648420"/>
            <a:ext cx="957263" cy="200025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91B1B"/>
                </a:solidFill>
              </a:rPr>
              <a:t>반려</a:t>
            </a:r>
            <a:endParaRPr lang="en-US" sz="584" dirty="0"/>
          </a:p>
        </p:txBody>
      </p:sp>
      <p:sp>
        <p:nvSpPr>
          <p:cNvPr id="28" name="Shape 22"/>
          <p:cNvSpPr/>
          <p:nvPr/>
        </p:nvSpPr>
        <p:spPr>
          <a:xfrm>
            <a:off x="2557463" y="106977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3"/>
          <p:cNvSpPr/>
          <p:nvPr/>
        </p:nvSpPr>
        <p:spPr>
          <a:xfrm>
            <a:off x="2557463" y="106977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30" name="Shape 24"/>
          <p:cNvSpPr/>
          <p:nvPr/>
        </p:nvSpPr>
        <p:spPr>
          <a:xfrm>
            <a:off x="514350" y="1977033"/>
            <a:ext cx="2114550" cy="68937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85788" y="2048470"/>
            <a:ext cx="64589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이영희 (전기팀)</a:t>
            </a:r>
            <a:endParaRPr lang="en-US" sz="683" dirty="0"/>
          </a:p>
        </p:txBody>
      </p:sp>
      <p:sp>
        <p:nvSpPr>
          <p:cNvPr id="32" name="Text 26"/>
          <p:cNvSpPr/>
          <p:nvPr/>
        </p:nvSpPr>
        <p:spPr>
          <a:xfrm>
            <a:off x="2183504" y="2048470"/>
            <a:ext cx="37395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07:48 AM</a:t>
            </a:r>
            <a:endParaRPr lang="en-US" sz="621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8" y="2253853"/>
            <a:ext cx="58936" cy="78581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66155" y="2235994"/>
            <a:ext cx="42332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현장 내 (5m)</a:t>
            </a:r>
            <a:endParaRPr lang="en-US" sz="568" dirty="0"/>
          </a:p>
        </p:txBody>
      </p:sp>
      <p:sp>
        <p:nvSpPr>
          <p:cNvPr id="35" name="Shape 28"/>
          <p:cNvSpPr/>
          <p:nvPr/>
        </p:nvSpPr>
        <p:spPr>
          <a:xfrm>
            <a:off x="585788" y="2409230"/>
            <a:ext cx="423937" cy="17145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29"/>
          <p:cNvSpPr/>
          <p:nvPr/>
        </p:nvSpPr>
        <p:spPr>
          <a:xfrm>
            <a:off x="585788" y="2409230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승인 완료</a:t>
            </a:r>
            <a:endParaRPr lang="en-US" sz="534" dirty="0"/>
          </a:p>
        </p:txBody>
      </p:sp>
      <p:sp>
        <p:nvSpPr>
          <p:cNvPr id="37" name="Shape 30"/>
          <p:cNvSpPr/>
          <p:nvPr/>
        </p:nvSpPr>
        <p:spPr>
          <a:xfrm>
            <a:off x="514350" y="2709267"/>
            <a:ext cx="2114550" cy="78045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85788" y="2780705"/>
            <a:ext cx="64589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박민수 (설비팀)</a:t>
            </a:r>
            <a:endParaRPr lang="en-US" sz="683" dirty="0"/>
          </a:p>
        </p:txBody>
      </p:sp>
      <p:sp>
        <p:nvSpPr>
          <p:cNvPr id="39" name="Text 32"/>
          <p:cNvSpPr/>
          <p:nvPr/>
        </p:nvSpPr>
        <p:spPr>
          <a:xfrm>
            <a:off x="2183504" y="2780705"/>
            <a:ext cx="37395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08:02 AM</a:t>
            </a:r>
            <a:endParaRPr lang="en-US" sz="621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8" y="2986088"/>
            <a:ext cx="78581" cy="78581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5800" y="2968228"/>
            <a:ext cx="51323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F4444"/>
                </a:solidFill>
              </a:rPr>
              <a:t>현장 밖 (500m)</a:t>
            </a:r>
            <a:endParaRPr lang="en-US" sz="568" dirty="0"/>
          </a:p>
        </p:txBody>
      </p:sp>
      <p:sp>
        <p:nvSpPr>
          <p:cNvPr id="42" name="Shape 34"/>
          <p:cNvSpPr/>
          <p:nvPr/>
        </p:nvSpPr>
        <p:spPr>
          <a:xfrm>
            <a:off x="585788" y="3203972"/>
            <a:ext cx="957263" cy="200025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35"/>
          <p:cNvSpPr/>
          <p:nvPr/>
        </p:nvSpPr>
        <p:spPr>
          <a:xfrm>
            <a:off x="585788" y="3203972"/>
            <a:ext cx="957263" cy="200025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승인</a:t>
            </a:r>
            <a:endParaRPr lang="en-US" sz="584" dirty="0"/>
          </a:p>
        </p:txBody>
      </p:sp>
      <p:sp>
        <p:nvSpPr>
          <p:cNvPr id="44" name="Shape 36"/>
          <p:cNvSpPr/>
          <p:nvPr/>
        </p:nvSpPr>
        <p:spPr>
          <a:xfrm>
            <a:off x="1600200" y="3203972"/>
            <a:ext cx="957263" cy="200025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5" name="Text 37"/>
          <p:cNvSpPr/>
          <p:nvPr/>
        </p:nvSpPr>
        <p:spPr>
          <a:xfrm>
            <a:off x="1600200" y="3203972"/>
            <a:ext cx="957263" cy="200025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91B1B"/>
                </a:solidFill>
              </a:rPr>
              <a:t>반려</a:t>
            </a:r>
            <a:endParaRPr lang="en-US" sz="584" dirty="0"/>
          </a:p>
        </p:txBody>
      </p:sp>
      <p:sp>
        <p:nvSpPr>
          <p:cNvPr id="46" name="Shape 38"/>
          <p:cNvSpPr/>
          <p:nvPr/>
        </p:nvSpPr>
        <p:spPr>
          <a:xfrm>
            <a:off x="2557463" y="285214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39"/>
          <p:cNvSpPr/>
          <p:nvPr/>
        </p:nvSpPr>
        <p:spPr>
          <a:xfrm>
            <a:off x="2557463" y="285214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48" name="Text 40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[현장] 출역 관리 (Mobile Web)</a:t>
            </a:r>
            <a:endParaRPr lang="en-US" sz="1602" dirty="0"/>
          </a:p>
        </p:txBody>
      </p:sp>
      <p:sp>
        <p:nvSpPr>
          <p:cNvPr id="49" name="Text 41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실시간 출역 모니터링 및 승인/반려 처리</a:t>
            </a:r>
            <a:endParaRPr lang="en-US" sz="834" dirty="0"/>
          </a:p>
        </p:txBody>
      </p:sp>
      <p:sp>
        <p:nvSpPr>
          <p:cNvPr id="50" name="Shape 42"/>
          <p:cNvSpPr/>
          <p:nvPr/>
        </p:nvSpPr>
        <p:spPr>
          <a:xfrm>
            <a:off x="3429000" y="1232297"/>
            <a:ext cx="31432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1" name="Shape 43"/>
          <p:cNvSpPr/>
          <p:nvPr/>
        </p:nvSpPr>
        <p:spPr>
          <a:xfrm>
            <a:off x="3429000" y="1523405"/>
            <a:ext cx="31432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" name="Text 44"/>
          <p:cNvSpPr/>
          <p:nvPr/>
        </p:nvSpPr>
        <p:spPr>
          <a:xfrm>
            <a:off x="3429000" y="1232297"/>
            <a:ext cx="31432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53" name="Shape 45"/>
          <p:cNvSpPr/>
          <p:nvPr/>
        </p:nvSpPr>
        <p:spPr>
          <a:xfrm>
            <a:off x="3743325" y="1232297"/>
            <a:ext cx="83453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4" name="Shape 46"/>
          <p:cNvSpPr/>
          <p:nvPr/>
        </p:nvSpPr>
        <p:spPr>
          <a:xfrm>
            <a:off x="3743325" y="1523405"/>
            <a:ext cx="83453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5" name="Text 47"/>
          <p:cNvSpPr/>
          <p:nvPr/>
        </p:nvSpPr>
        <p:spPr>
          <a:xfrm>
            <a:off x="3743325" y="1232297"/>
            <a:ext cx="83453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56" name="Shape 48"/>
          <p:cNvSpPr/>
          <p:nvPr/>
        </p:nvSpPr>
        <p:spPr>
          <a:xfrm>
            <a:off x="4577860" y="1232297"/>
            <a:ext cx="413751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7" name="Shape 49"/>
          <p:cNvSpPr/>
          <p:nvPr/>
        </p:nvSpPr>
        <p:spPr>
          <a:xfrm>
            <a:off x="4577860" y="1523405"/>
            <a:ext cx="413751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8" name="Text 50"/>
          <p:cNvSpPr/>
          <p:nvPr/>
        </p:nvSpPr>
        <p:spPr>
          <a:xfrm>
            <a:off x="4577860" y="1232297"/>
            <a:ext cx="413751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59" name="Shape 51"/>
          <p:cNvSpPr/>
          <p:nvPr/>
        </p:nvSpPr>
        <p:spPr>
          <a:xfrm>
            <a:off x="3514725" y="161627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0" name="Text 52"/>
          <p:cNvSpPr/>
          <p:nvPr/>
        </p:nvSpPr>
        <p:spPr>
          <a:xfrm>
            <a:off x="3514725" y="161627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61" name="Text 53"/>
          <p:cNvSpPr/>
          <p:nvPr/>
        </p:nvSpPr>
        <p:spPr>
          <a:xfrm>
            <a:off x="3743325" y="1530548"/>
            <a:ext cx="834535" cy="4286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Summary</a:t>
            </a:r>
            <a:endParaRPr lang="en-US" sz="674" dirty="0"/>
          </a:p>
        </p:txBody>
      </p:sp>
      <p:sp>
        <p:nvSpPr>
          <p:cNvPr id="62" name="Text 54"/>
          <p:cNvSpPr/>
          <p:nvPr/>
        </p:nvSpPr>
        <p:spPr>
          <a:xfrm>
            <a:off x="4663585" y="1616273"/>
            <a:ext cx="39660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GET /api/v1/site/attendance/summary</a:t>
            </a:r>
            <a:endParaRPr lang="en-US" sz="674" dirty="0"/>
          </a:p>
        </p:txBody>
      </p:sp>
      <p:sp>
        <p:nvSpPr>
          <p:cNvPr id="63" name="Text 55"/>
          <p:cNvSpPr/>
          <p:nvPr/>
        </p:nvSpPr>
        <p:spPr>
          <a:xfrm>
            <a:off x="4663585" y="1743075"/>
            <a:ext cx="39660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Updates: Real-time via WebSocket</a:t>
            </a:r>
            <a:endParaRPr lang="en-US" sz="674" dirty="0"/>
          </a:p>
        </p:txBody>
      </p:sp>
      <p:sp>
        <p:nvSpPr>
          <p:cNvPr id="64" name="Shape 56"/>
          <p:cNvSpPr/>
          <p:nvPr/>
        </p:nvSpPr>
        <p:spPr>
          <a:xfrm>
            <a:off x="3514725" y="204847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5" name="Text 57"/>
          <p:cNvSpPr/>
          <p:nvPr/>
        </p:nvSpPr>
        <p:spPr>
          <a:xfrm>
            <a:off x="3514725" y="204847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6" name="Text 58"/>
          <p:cNvSpPr/>
          <p:nvPr/>
        </p:nvSpPr>
        <p:spPr>
          <a:xfrm>
            <a:off x="3743325" y="1959173"/>
            <a:ext cx="834535" cy="5589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Approve/Reject</a:t>
            </a:r>
            <a:endParaRPr lang="en-US" sz="674" dirty="0"/>
          </a:p>
        </p:txBody>
      </p:sp>
      <p:sp>
        <p:nvSpPr>
          <p:cNvPr id="67" name="Text 59"/>
          <p:cNvSpPr/>
          <p:nvPr/>
        </p:nvSpPr>
        <p:spPr>
          <a:xfrm>
            <a:off x="4663585" y="2048470"/>
            <a:ext cx="39660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Approve: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/api/v1/site/attendance/{id}/approve</a:t>
            </a:r>
            <a:endParaRPr lang="en-US" sz="674" dirty="0"/>
          </a:p>
        </p:txBody>
      </p:sp>
      <p:sp>
        <p:nvSpPr>
          <p:cNvPr id="68" name="Text 60"/>
          <p:cNvSpPr/>
          <p:nvPr/>
        </p:nvSpPr>
        <p:spPr>
          <a:xfrm>
            <a:off x="4663585" y="2175272"/>
            <a:ext cx="39660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Reject: Open Modal -&gt; Input Reason -&gt; POST</a:t>
            </a:r>
            <a:endParaRPr lang="en-US" sz="674" dirty="0"/>
          </a:p>
        </p:txBody>
      </p:sp>
      <p:sp>
        <p:nvSpPr>
          <p:cNvPr id="69" name="Text 61"/>
          <p:cNvSpPr/>
          <p:nvPr/>
        </p:nvSpPr>
        <p:spPr>
          <a:xfrm>
            <a:off x="4663585" y="2302073"/>
            <a:ext cx="39660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Optimistic UI Update (Immediate feedback)</a:t>
            </a:r>
            <a:endParaRPr lang="en-US" sz="674" dirty="0"/>
          </a:p>
        </p:txBody>
      </p:sp>
      <p:sp>
        <p:nvSpPr>
          <p:cNvPr id="70" name="Shape 62"/>
          <p:cNvSpPr/>
          <p:nvPr/>
        </p:nvSpPr>
        <p:spPr>
          <a:xfrm>
            <a:off x="3514725" y="260746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1" name="Text 63"/>
          <p:cNvSpPr/>
          <p:nvPr/>
        </p:nvSpPr>
        <p:spPr>
          <a:xfrm>
            <a:off x="3514725" y="260746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72" name="Text 64"/>
          <p:cNvSpPr/>
          <p:nvPr/>
        </p:nvSpPr>
        <p:spPr>
          <a:xfrm>
            <a:off x="3743325" y="2518172"/>
            <a:ext cx="834535" cy="5589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GPS Check</a:t>
            </a:r>
            <a:endParaRPr lang="en-US" sz="674" dirty="0"/>
          </a:p>
        </p:txBody>
      </p:sp>
      <p:sp>
        <p:nvSpPr>
          <p:cNvPr id="73" name="Text 65"/>
          <p:cNvSpPr/>
          <p:nvPr/>
        </p:nvSpPr>
        <p:spPr>
          <a:xfrm>
            <a:off x="4663585" y="2607469"/>
            <a:ext cx="39660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Logic: Calculate distance between Site Center &amp; Worker</a:t>
            </a:r>
            <a:endParaRPr lang="en-US" sz="674" dirty="0"/>
          </a:p>
        </p:txBody>
      </p:sp>
      <p:sp>
        <p:nvSpPr>
          <p:cNvPr id="74" name="Text 66"/>
          <p:cNvSpPr/>
          <p:nvPr/>
        </p:nvSpPr>
        <p:spPr>
          <a:xfrm>
            <a:off x="4663585" y="2734270"/>
            <a:ext cx="39660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Warning: If distance &gt; Allowed Radius (e.g. 100m)</a:t>
            </a:r>
            <a:endParaRPr lang="en-US" sz="674" dirty="0"/>
          </a:p>
        </p:txBody>
      </p:sp>
      <p:sp>
        <p:nvSpPr>
          <p:cNvPr id="75" name="Text 67"/>
          <p:cNvSpPr/>
          <p:nvPr/>
        </p:nvSpPr>
        <p:spPr>
          <a:xfrm>
            <a:off x="4663585" y="2861072"/>
            <a:ext cx="39660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Display: Red warning icon + Distance</a:t>
            </a:r>
            <a:endParaRPr lang="en-US" sz="674" dirty="0"/>
          </a:p>
        </p:txBody>
      </p:sp>
      <p:sp>
        <p:nvSpPr>
          <p:cNvPr id="76" name="Shape 68"/>
          <p:cNvSpPr/>
          <p:nvPr/>
        </p:nvSpPr>
        <p:spPr>
          <a:xfrm>
            <a:off x="3429000" y="3223617"/>
            <a:ext cx="5286375" cy="92690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7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6156" y="3348633"/>
            <a:ext cx="69652" cy="92869"/>
          </a:xfrm>
          <a:prstGeom prst="rect">
            <a:avLst/>
          </a:prstGeom>
        </p:spPr>
      </p:pic>
      <p:sp>
        <p:nvSpPr>
          <p:cNvPr id="78" name="Text 69"/>
          <p:cNvSpPr/>
          <p:nvPr/>
        </p:nvSpPr>
        <p:spPr>
          <a:xfrm>
            <a:off x="3605808" y="3330773"/>
            <a:ext cx="147663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59E0B"/>
                </a:solidFill>
              </a:rPr>
              <a:t>Real-time Updates (WebSocket)</a:t>
            </a:r>
            <a:endParaRPr lang="en-US" sz="634" dirty="0"/>
          </a:p>
        </p:txBody>
      </p:sp>
      <p:sp>
        <p:nvSpPr>
          <p:cNvPr id="79" name="Text 70"/>
          <p:cNvSpPr/>
          <p:nvPr/>
        </p:nvSpPr>
        <p:spPr>
          <a:xfrm>
            <a:off x="3536156" y="3514725"/>
            <a:ext cx="5072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Endpoint: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/ws/site/attendance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Event: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ATTENDANCE_REQUEST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Payload: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{ workerId, name, time, gpsStatus, faceMatchScore }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Behavior: Prepend new request to the list with animation.</a:t>
            </a:r>
            <a:endParaRPr lang="en-US" sz="62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" y="342900"/>
            <a:ext cx="2400300" cy="440055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42900" y="342900"/>
            <a:ext cx="2286000" cy="357188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" y="464344"/>
            <a:ext cx="100013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7225" y="439341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안면인식 등록</a:t>
            </a:r>
            <a:endParaRPr lang="en-US" sz="784" dirty="0"/>
          </a:p>
        </p:txBody>
      </p:sp>
      <p:sp>
        <p:nvSpPr>
          <p:cNvPr id="7" name="Shape 3"/>
          <p:cNvSpPr/>
          <p:nvPr/>
        </p:nvSpPr>
        <p:spPr>
          <a:xfrm>
            <a:off x="342900" y="342900"/>
            <a:ext cx="2286000" cy="42862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4"/>
          <p:cNvSpPr/>
          <p:nvPr/>
        </p:nvSpPr>
        <p:spPr>
          <a:xfrm>
            <a:off x="685800" y="1471613"/>
            <a:ext cx="1600200" cy="2028825"/>
          </a:xfrm>
          <a:prstGeom prst="round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361" y="2128838"/>
            <a:ext cx="625078" cy="71437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200275" y="141446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6"/>
          <p:cNvSpPr/>
          <p:nvPr/>
        </p:nvSpPr>
        <p:spPr>
          <a:xfrm>
            <a:off x="2200275" y="141446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2" name="Text 7"/>
          <p:cNvSpPr/>
          <p:nvPr/>
        </p:nvSpPr>
        <p:spPr>
          <a:xfrm>
            <a:off x="342900" y="3339703"/>
            <a:ext cx="22860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정면을 응시하고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촬영 버튼을 눌러주세요</a:t>
            </a:r>
            <a:endParaRPr lang="en-US" sz="727" dirty="0"/>
          </a:p>
        </p:txBody>
      </p:sp>
      <p:sp>
        <p:nvSpPr>
          <p:cNvPr id="13" name="Shape 8"/>
          <p:cNvSpPr/>
          <p:nvPr/>
        </p:nvSpPr>
        <p:spPr>
          <a:xfrm>
            <a:off x="342900" y="3771900"/>
            <a:ext cx="2286000" cy="857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9"/>
          <p:cNvSpPr/>
          <p:nvPr/>
        </p:nvSpPr>
        <p:spPr>
          <a:xfrm>
            <a:off x="1207294" y="3921919"/>
            <a:ext cx="557213" cy="557213"/>
          </a:xfrm>
          <a:prstGeom prst="ellipse">
            <a:avLst/>
          </a:prstGeom>
          <a:solidFill>
            <a:srgbClr val="FFFFFF"/>
          </a:solidFill>
          <a:ln w="27432">
            <a:solidFill>
              <a:srgbClr val="CBD5E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771650" y="384333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1"/>
          <p:cNvSpPr/>
          <p:nvPr/>
        </p:nvSpPr>
        <p:spPr>
          <a:xfrm>
            <a:off x="1771650" y="384333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7" name="Text 12"/>
          <p:cNvSpPr/>
          <p:nvPr/>
        </p:nvSpPr>
        <p:spPr>
          <a:xfrm>
            <a:off x="3343275" y="342900"/>
            <a:ext cx="545782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[노무자] 안면인식 등록 (App)</a:t>
            </a:r>
            <a:endParaRPr lang="en-US" sz="1602" dirty="0"/>
          </a:p>
        </p:txBody>
      </p:sp>
      <p:sp>
        <p:nvSpPr>
          <p:cNvPr id="18" name="Text 13"/>
          <p:cNvSpPr/>
          <p:nvPr/>
        </p:nvSpPr>
        <p:spPr>
          <a:xfrm>
            <a:off x="3343275" y="732234"/>
            <a:ext cx="54578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본인 인증 및 출역 관리를 위한 안면 데이터 등록</a:t>
            </a:r>
            <a:endParaRPr lang="en-US" sz="834" dirty="0"/>
          </a:p>
        </p:txBody>
      </p:sp>
      <p:sp>
        <p:nvSpPr>
          <p:cNvPr id="19" name="Shape 14"/>
          <p:cNvSpPr/>
          <p:nvPr/>
        </p:nvSpPr>
        <p:spPr>
          <a:xfrm>
            <a:off x="3343275" y="1260872"/>
            <a:ext cx="31432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5"/>
          <p:cNvSpPr/>
          <p:nvPr/>
        </p:nvSpPr>
        <p:spPr>
          <a:xfrm>
            <a:off x="3343275" y="1551980"/>
            <a:ext cx="31432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6"/>
          <p:cNvSpPr/>
          <p:nvPr/>
        </p:nvSpPr>
        <p:spPr>
          <a:xfrm>
            <a:off x="3343275" y="1260872"/>
            <a:ext cx="31432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22" name="Shape 17"/>
          <p:cNvSpPr/>
          <p:nvPr/>
        </p:nvSpPr>
        <p:spPr>
          <a:xfrm>
            <a:off x="3657600" y="1260872"/>
            <a:ext cx="71437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18"/>
          <p:cNvSpPr/>
          <p:nvPr/>
        </p:nvSpPr>
        <p:spPr>
          <a:xfrm>
            <a:off x="3657600" y="1551980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19"/>
          <p:cNvSpPr/>
          <p:nvPr/>
        </p:nvSpPr>
        <p:spPr>
          <a:xfrm>
            <a:off x="3657600" y="1260872"/>
            <a:ext cx="71437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25" name="Shape 20"/>
          <p:cNvSpPr/>
          <p:nvPr/>
        </p:nvSpPr>
        <p:spPr>
          <a:xfrm>
            <a:off x="4371975" y="1260872"/>
            <a:ext cx="442912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1"/>
          <p:cNvSpPr/>
          <p:nvPr/>
        </p:nvSpPr>
        <p:spPr>
          <a:xfrm>
            <a:off x="4371975" y="1551980"/>
            <a:ext cx="442912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2"/>
          <p:cNvSpPr/>
          <p:nvPr/>
        </p:nvSpPr>
        <p:spPr>
          <a:xfrm>
            <a:off x="4371975" y="1260872"/>
            <a:ext cx="442912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28" name="Shape 23"/>
          <p:cNvSpPr/>
          <p:nvPr/>
        </p:nvSpPr>
        <p:spPr>
          <a:xfrm>
            <a:off x="3429000" y="164484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4"/>
          <p:cNvSpPr/>
          <p:nvPr/>
        </p:nvSpPr>
        <p:spPr>
          <a:xfrm>
            <a:off x="3429000" y="164484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30" name="Text 25"/>
          <p:cNvSpPr/>
          <p:nvPr/>
        </p:nvSpPr>
        <p:spPr>
          <a:xfrm>
            <a:off x="3657600" y="1559123"/>
            <a:ext cx="714375" cy="5554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Camera View</a:t>
            </a:r>
            <a:endParaRPr lang="en-US" sz="674" dirty="0"/>
          </a:p>
        </p:txBody>
      </p:sp>
      <p:sp>
        <p:nvSpPr>
          <p:cNvPr id="31" name="Text 26"/>
          <p:cNvSpPr/>
          <p:nvPr/>
        </p:nvSpPr>
        <p:spPr>
          <a:xfrm>
            <a:off x="4457700" y="1644848"/>
            <a:ext cx="42576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Native Camera API (iOS/Android)</a:t>
            </a:r>
            <a:endParaRPr lang="en-US" sz="674" dirty="0"/>
          </a:p>
        </p:txBody>
      </p:sp>
      <p:sp>
        <p:nvSpPr>
          <p:cNvPr id="32" name="Text 27"/>
          <p:cNvSpPr/>
          <p:nvPr/>
        </p:nvSpPr>
        <p:spPr>
          <a:xfrm>
            <a:off x="4457700" y="1771650"/>
            <a:ext cx="42576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Overlay: Face guide frame</a:t>
            </a:r>
            <a:endParaRPr lang="en-US" sz="674" dirty="0"/>
          </a:p>
        </p:txBody>
      </p:sp>
      <p:sp>
        <p:nvSpPr>
          <p:cNvPr id="33" name="Text 28"/>
          <p:cNvSpPr/>
          <p:nvPr/>
        </p:nvSpPr>
        <p:spPr>
          <a:xfrm>
            <a:off x="4457700" y="1898452"/>
            <a:ext cx="42576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Logic: Client-side face detection (ML Kit)</a:t>
            </a:r>
            <a:endParaRPr lang="en-US" sz="674" dirty="0"/>
          </a:p>
        </p:txBody>
      </p:sp>
      <p:sp>
        <p:nvSpPr>
          <p:cNvPr id="34" name="Shape 29"/>
          <p:cNvSpPr/>
          <p:nvPr/>
        </p:nvSpPr>
        <p:spPr>
          <a:xfrm>
            <a:off x="3429000" y="220384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0"/>
          <p:cNvSpPr/>
          <p:nvPr/>
        </p:nvSpPr>
        <p:spPr>
          <a:xfrm>
            <a:off x="3429000" y="220384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36" name="Text 31"/>
          <p:cNvSpPr/>
          <p:nvPr/>
        </p:nvSpPr>
        <p:spPr>
          <a:xfrm>
            <a:off x="3657600" y="2114550"/>
            <a:ext cx="714375" cy="5589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Shutter Btn</a:t>
            </a:r>
            <a:endParaRPr lang="en-US" sz="674" dirty="0"/>
          </a:p>
        </p:txBody>
      </p:sp>
      <p:sp>
        <p:nvSpPr>
          <p:cNvPr id="37" name="Text 32"/>
          <p:cNvSpPr/>
          <p:nvPr/>
        </p:nvSpPr>
        <p:spPr>
          <a:xfrm>
            <a:off x="4457700" y="2203847"/>
            <a:ext cx="42576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Action: Capture &amp; Crop Face</a:t>
            </a:r>
            <a:endParaRPr lang="en-US" sz="674" dirty="0"/>
          </a:p>
        </p:txBody>
      </p:sp>
      <p:sp>
        <p:nvSpPr>
          <p:cNvPr id="38" name="Text 33"/>
          <p:cNvSpPr/>
          <p:nvPr/>
        </p:nvSpPr>
        <p:spPr>
          <a:xfrm>
            <a:off x="4457700" y="2330648"/>
            <a:ext cx="42576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Validation: Ensure single face detected</a:t>
            </a:r>
            <a:endParaRPr lang="en-US" sz="674" dirty="0"/>
          </a:p>
        </p:txBody>
      </p:sp>
      <p:sp>
        <p:nvSpPr>
          <p:cNvPr id="39" name="Text 34"/>
          <p:cNvSpPr/>
          <p:nvPr/>
        </p:nvSpPr>
        <p:spPr>
          <a:xfrm>
            <a:off x="4457700" y="2457450"/>
            <a:ext cx="42576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/api/v1/worker/face</a:t>
            </a:r>
            <a:endParaRPr lang="en-US" sz="674" dirty="0"/>
          </a:p>
        </p:txBody>
      </p:sp>
      <p:sp>
        <p:nvSpPr>
          <p:cNvPr id="40" name="Text 35"/>
          <p:cNvSpPr/>
          <p:nvPr/>
        </p:nvSpPr>
        <p:spPr>
          <a:xfrm>
            <a:off x="3343275" y="2673548"/>
            <a:ext cx="314325" cy="4500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</a:t>
            </a:r>
            <a:endParaRPr lang="en-US" sz="674" dirty="0"/>
          </a:p>
        </p:txBody>
      </p:sp>
      <p:sp>
        <p:nvSpPr>
          <p:cNvPr id="41" name="Text 36"/>
          <p:cNvSpPr/>
          <p:nvPr/>
        </p:nvSpPr>
        <p:spPr>
          <a:xfrm>
            <a:off x="3657600" y="2673548"/>
            <a:ext cx="714375" cy="4500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Feedback</a:t>
            </a:r>
            <a:endParaRPr lang="en-US" sz="674" dirty="0"/>
          </a:p>
        </p:txBody>
      </p:sp>
      <p:sp>
        <p:nvSpPr>
          <p:cNvPr id="42" name="Text 37"/>
          <p:cNvSpPr/>
          <p:nvPr/>
        </p:nvSpPr>
        <p:spPr>
          <a:xfrm>
            <a:off x="4457700" y="2762845"/>
            <a:ext cx="42576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Success: "등록되었습니다" (Toast) -&gt; Home</a:t>
            </a:r>
            <a:endParaRPr lang="en-US" sz="674" dirty="0"/>
          </a:p>
        </p:txBody>
      </p:sp>
      <p:sp>
        <p:nvSpPr>
          <p:cNvPr id="43" name="Text 38"/>
          <p:cNvSpPr/>
          <p:nvPr/>
        </p:nvSpPr>
        <p:spPr>
          <a:xfrm>
            <a:off x="4457700" y="2898577"/>
            <a:ext cx="42576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Fail: "얼굴을 인식할 수 없습니다" (Alert)</a:t>
            </a:r>
            <a:endParaRPr lang="en-US" sz="674" dirty="0"/>
          </a:p>
        </p:txBody>
      </p:sp>
      <p:sp>
        <p:nvSpPr>
          <p:cNvPr id="44" name="Text 39"/>
          <p:cNvSpPr/>
          <p:nvPr/>
        </p:nvSpPr>
        <p:spPr>
          <a:xfrm>
            <a:off x="3343275" y="3341489"/>
            <a:ext cx="54578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9E0B"/>
                </a:solidFill>
              </a:rPr>
              <a:t>Data Processing Flow</a:t>
            </a:r>
            <a:endParaRPr lang="en-US" sz="683" dirty="0"/>
          </a:p>
        </p:txBody>
      </p:sp>
      <p:sp>
        <p:nvSpPr>
          <p:cNvPr id="45" name="Shape 40"/>
          <p:cNvSpPr/>
          <p:nvPr/>
        </p:nvSpPr>
        <p:spPr>
          <a:xfrm>
            <a:off x="3343275" y="3548658"/>
            <a:ext cx="5457825" cy="68044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3486150" y="3691533"/>
            <a:ext cx="1132284" cy="38040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588" y="3762970"/>
            <a:ext cx="989409" cy="85725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3891809" y="3884414"/>
            <a:ext cx="32096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Capture</a:t>
            </a:r>
            <a:endParaRPr lang="en-US" sz="621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872" y="3825478"/>
            <a:ext cx="71438" cy="114300"/>
          </a:xfrm>
          <a:prstGeom prst="rect">
            <a:avLst/>
          </a:prstGeom>
        </p:spPr>
      </p:pic>
      <p:sp>
        <p:nvSpPr>
          <p:cNvPr id="50" name="Shape 43"/>
          <p:cNvSpPr/>
          <p:nvPr/>
        </p:nvSpPr>
        <p:spPr>
          <a:xfrm>
            <a:off x="4832747" y="3691533"/>
            <a:ext cx="1132284" cy="38040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4184" y="3762970"/>
            <a:ext cx="989409" cy="85725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5122236" y="3884414"/>
            <a:ext cx="5532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Crop &amp; Resize</a:t>
            </a:r>
            <a:endParaRPr lang="en-US" sz="621" dirty="0"/>
          </a:p>
        </p:txBody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6469" y="3825478"/>
            <a:ext cx="71438" cy="114300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6179344" y="3691533"/>
            <a:ext cx="1132284" cy="38040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0781" y="3762970"/>
            <a:ext cx="989409" cy="85725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6600379" y="3884414"/>
            <a:ext cx="2901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Upload</a:t>
            </a:r>
            <a:endParaRPr lang="en-US" sz="621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3066" y="3825478"/>
            <a:ext cx="71438" cy="114300"/>
          </a:xfrm>
          <a:prstGeom prst="rect">
            <a:avLst/>
          </a:prstGeom>
        </p:spPr>
      </p:pic>
      <p:sp>
        <p:nvSpPr>
          <p:cNvPr id="58" name="Shape 47"/>
          <p:cNvSpPr/>
          <p:nvPr/>
        </p:nvSpPr>
        <p:spPr>
          <a:xfrm>
            <a:off x="7525941" y="3691533"/>
            <a:ext cx="1132284" cy="38040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97378" y="3762970"/>
            <a:ext cx="989409" cy="85725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7686591" y="3884414"/>
            <a:ext cx="8109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FaceNet Embedding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F8FAFC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50069"/>
            <a:ext cx="100013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1565" y="525066"/>
            <a:ext cx="76583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전자 근로계약서</a:t>
            </a:r>
            <a:endParaRPr lang="en-US" sz="78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169" y="550069"/>
            <a:ext cx="114300" cy="1143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8625" y="785813"/>
            <a:ext cx="2286000" cy="22663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5"/>
          <p:cNvSpPr/>
          <p:nvPr/>
        </p:nvSpPr>
        <p:spPr>
          <a:xfrm>
            <a:off x="571500" y="928688"/>
            <a:ext cx="20002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일용직 근로계약서</a:t>
            </a:r>
            <a:endParaRPr lang="en-US" sz="683" dirty="0"/>
          </a:p>
        </p:txBody>
      </p:sp>
      <p:sp>
        <p:nvSpPr>
          <p:cNvPr id="11" name="Text 6"/>
          <p:cNvSpPr/>
          <p:nvPr/>
        </p:nvSpPr>
        <p:spPr>
          <a:xfrm>
            <a:off x="571500" y="1160134"/>
            <a:ext cx="2000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334155"/>
                </a:solidFill>
              </a:rPr>
              <a:t>1. 근로 계약 기간</a:t>
            </a:r>
            <a:endParaRPr lang="en-US" sz="534" dirty="0"/>
          </a:p>
        </p:txBody>
      </p:sp>
      <p:sp>
        <p:nvSpPr>
          <p:cNvPr id="12" name="Text 7"/>
          <p:cNvSpPr/>
          <p:nvPr/>
        </p:nvSpPr>
        <p:spPr>
          <a:xfrm>
            <a:off x="571500" y="1323352"/>
            <a:ext cx="132047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475569"/>
                </a:solidFill>
              </a:rPr>
              <a:t>2026년 02월 15일 ~ 2026년 02월 28일</a:t>
            </a:r>
            <a:endParaRPr lang="en-US" sz="568" dirty="0"/>
          </a:p>
        </p:txBody>
      </p:sp>
      <p:sp>
        <p:nvSpPr>
          <p:cNvPr id="13" name="Text 8"/>
          <p:cNvSpPr/>
          <p:nvPr/>
        </p:nvSpPr>
        <p:spPr>
          <a:xfrm>
            <a:off x="571500" y="1547292"/>
            <a:ext cx="2000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334155"/>
                </a:solidFill>
              </a:rPr>
              <a:t>2. 근무 장소 및 업무 내용</a:t>
            </a:r>
            <a:endParaRPr lang="en-US" sz="534" dirty="0"/>
          </a:p>
        </p:txBody>
      </p:sp>
      <p:sp>
        <p:nvSpPr>
          <p:cNvPr id="14" name="Text 9"/>
          <p:cNvSpPr/>
          <p:nvPr/>
        </p:nvSpPr>
        <p:spPr>
          <a:xfrm>
            <a:off x="571500" y="1710510"/>
            <a:ext cx="114807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475569"/>
                </a:solidFill>
              </a:rPr>
              <a:t>장소: 서울시 강남구 역삼동 123-45</a:t>
            </a:r>
            <a:endParaRPr lang="en-US" sz="568" dirty="0"/>
          </a:p>
        </p:txBody>
      </p:sp>
      <p:sp>
        <p:nvSpPr>
          <p:cNvPr id="15" name="Text 10"/>
          <p:cNvSpPr/>
          <p:nvPr/>
        </p:nvSpPr>
        <p:spPr>
          <a:xfrm>
            <a:off x="571500" y="1836223"/>
            <a:ext cx="9184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475569"/>
                </a:solidFill>
              </a:rPr>
              <a:t>업무: 철근 배근 및 정리 작업</a:t>
            </a:r>
            <a:endParaRPr lang="en-US" sz="568" dirty="0"/>
          </a:p>
        </p:txBody>
      </p:sp>
      <p:sp>
        <p:nvSpPr>
          <p:cNvPr id="16" name="Text 11"/>
          <p:cNvSpPr/>
          <p:nvPr/>
        </p:nvSpPr>
        <p:spPr>
          <a:xfrm>
            <a:off x="571500" y="2060163"/>
            <a:ext cx="2000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334155"/>
                </a:solidFill>
              </a:rPr>
              <a:t>3. 근로 시간 및 휴게 시간</a:t>
            </a:r>
            <a:endParaRPr lang="en-US" sz="534" dirty="0"/>
          </a:p>
        </p:txBody>
      </p:sp>
      <p:sp>
        <p:nvSpPr>
          <p:cNvPr id="17" name="Text 12"/>
          <p:cNvSpPr/>
          <p:nvPr/>
        </p:nvSpPr>
        <p:spPr>
          <a:xfrm>
            <a:off x="571500" y="2223381"/>
            <a:ext cx="9096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475569"/>
                </a:solidFill>
              </a:rPr>
              <a:t>07:00 ~ 16:00 (휴게 1시간)</a:t>
            </a:r>
            <a:endParaRPr lang="en-US" sz="568" dirty="0"/>
          </a:p>
        </p:txBody>
      </p:sp>
      <p:sp>
        <p:nvSpPr>
          <p:cNvPr id="18" name="Shape 13"/>
          <p:cNvSpPr/>
          <p:nvPr/>
        </p:nvSpPr>
        <p:spPr>
          <a:xfrm>
            <a:off x="2428875" y="100012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4"/>
          <p:cNvSpPr/>
          <p:nvPr/>
        </p:nvSpPr>
        <p:spPr>
          <a:xfrm>
            <a:off x="2428875" y="100012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20" name="Shape 15"/>
          <p:cNvSpPr/>
          <p:nvPr/>
        </p:nvSpPr>
        <p:spPr>
          <a:xfrm>
            <a:off x="428625" y="3052167"/>
            <a:ext cx="2286000" cy="113407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428625" y="3052167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7"/>
          <p:cNvSpPr/>
          <p:nvPr/>
        </p:nvSpPr>
        <p:spPr>
          <a:xfrm>
            <a:off x="535781" y="3166467"/>
            <a:ext cx="20716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서명 (Signature)</a:t>
            </a:r>
            <a:endParaRPr lang="en-US" sz="584" dirty="0"/>
          </a:p>
        </p:txBody>
      </p:sp>
      <p:sp>
        <p:nvSpPr>
          <p:cNvPr id="23" name="Shape 18"/>
          <p:cNvSpPr/>
          <p:nvPr/>
        </p:nvSpPr>
        <p:spPr>
          <a:xfrm>
            <a:off x="535781" y="3350419"/>
            <a:ext cx="2071688" cy="728663"/>
          </a:xfrm>
          <a:prstGeom prst="rect">
            <a:avLst/>
          </a:prstGeom>
          <a:solidFill>
            <a:srgbClr val="FFFFFF"/>
          </a:solidFill>
          <a:ln w="9144">
            <a:solidFill>
              <a:srgbClr val="94A3B8"/>
            </a:solidFill>
            <a:prstDash val="dash"/>
          </a:ln>
        </p:spPr>
      </p:sp>
      <p:sp>
        <p:nvSpPr>
          <p:cNvPr id="24" name="Text 19"/>
          <p:cNvSpPr/>
          <p:nvPr/>
        </p:nvSpPr>
        <p:spPr>
          <a:xfrm rot="-300000">
            <a:off x="964423" y="3462907"/>
            <a:ext cx="51435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홍길동</a:t>
            </a:r>
            <a:endParaRPr lang="en-US" sz="1269" dirty="0"/>
          </a:p>
        </p:txBody>
      </p:sp>
      <p:sp>
        <p:nvSpPr>
          <p:cNvPr id="25" name="Shape 20"/>
          <p:cNvSpPr/>
          <p:nvPr/>
        </p:nvSpPr>
        <p:spPr>
          <a:xfrm>
            <a:off x="2428875" y="71437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1"/>
          <p:cNvSpPr/>
          <p:nvPr/>
        </p:nvSpPr>
        <p:spPr>
          <a:xfrm>
            <a:off x="2428875" y="7143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27" name="Shape 22"/>
          <p:cNvSpPr/>
          <p:nvPr/>
        </p:nvSpPr>
        <p:spPr>
          <a:xfrm>
            <a:off x="428625" y="4186238"/>
            <a:ext cx="2286000" cy="52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428625" y="4186238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4"/>
          <p:cNvSpPr/>
          <p:nvPr/>
        </p:nvSpPr>
        <p:spPr>
          <a:xfrm>
            <a:off x="535781" y="4300538"/>
            <a:ext cx="1000125" cy="30718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5"/>
          <p:cNvSpPr/>
          <p:nvPr/>
        </p:nvSpPr>
        <p:spPr>
          <a:xfrm>
            <a:off x="535781" y="4300538"/>
            <a:ext cx="1000125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</a:rPr>
              <a:t>초기화</a:t>
            </a:r>
            <a:endParaRPr lang="en-US" sz="683" dirty="0"/>
          </a:p>
        </p:txBody>
      </p:sp>
      <p:sp>
        <p:nvSpPr>
          <p:cNvPr id="31" name="Shape 26"/>
          <p:cNvSpPr/>
          <p:nvPr/>
        </p:nvSpPr>
        <p:spPr>
          <a:xfrm>
            <a:off x="1607344" y="4300538"/>
            <a:ext cx="1000125" cy="30718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7"/>
          <p:cNvSpPr/>
          <p:nvPr/>
        </p:nvSpPr>
        <p:spPr>
          <a:xfrm>
            <a:off x="1607344" y="4300538"/>
            <a:ext cx="1000125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서명 완료</a:t>
            </a:r>
            <a:endParaRPr lang="en-US" sz="683" dirty="0"/>
          </a:p>
        </p:txBody>
      </p:sp>
      <p:sp>
        <p:nvSpPr>
          <p:cNvPr id="33" name="Shape 28"/>
          <p:cNvSpPr/>
          <p:nvPr/>
        </p:nvSpPr>
        <p:spPr>
          <a:xfrm>
            <a:off x="2428875" y="57150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29"/>
          <p:cNvSpPr/>
          <p:nvPr/>
        </p:nvSpPr>
        <p:spPr>
          <a:xfrm>
            <a:off x="2428875" y="57150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35" name="Text 30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[노무자] 전자 계약 서명 (App)</a:t>
            </a:r>
            <a:endParaRPr lang="en-US" sz="1602" dirty="0"/>
          </a:p>
        </p:txBody>
      </p:sp>
      <p:sp>
        <p:nvSpPr>
          <p:cNvPr id="36" name="Text 31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근로계약서 확인 및 전자 서명 프로세스</a:t>
            </a:r>
            <a:endParaRPr lang="en-US" sz="834" dirty="0"/>
          </a:p>
        </p:txBody>
      </p:sp>
      <p:sp>
        <p:nvSpPr>
          <p:cNvPr id="37" name="Shape 32"/>
          <p:cNvSpPr/>
          <p:nvPr/>
        </p:nvSpPr>
        <p:spPr>
          <a:xfrm>
            <a:off x="3429000" y="1346597"/>
            <a:ext cx="31432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3"/>
          <p:cNvSpPr/>
          <p:nvPr/>
        </p:nvSpPr>
        <p:spPr>
          <a:xfrm>
            <a:off x="3429000" y="1637705"/>
            <a:ext cx="31432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4"/>
          <p:cNvSpPr/>
          <p:nvPr/>
        </p:nvSpPr>
        <p:spPr>
          <a:xfrm>
            <a:off x="3429000" y="1346597"/>
            <a:ext cx="31432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40" name="Shape 35"/>
          <p:cNvSpPr/>
          <p:nvPr/>
        </p:nvSpPr>
        <p:spPr>
          <a:xfrm>
            <a:off x="3743325" y="1346597"/>
            <a:ext cx="71437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6"/>
          <p:cNvSpPr/>
          <p:nvPr/>
        </p:nvSpPr>
        <p:spPr>
          <a:xfrm>
            <a:off x="3743325" y="1637705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37"/>
          <p:cNvSpPr/>
          <p:nvPr/>
        </p:nvSpPr>
        <p:spPr>
          <a:xfrm>
            <a:off x="3743325" y="1346597"/>
            <a:ext cx="71437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43" name="Shape 38"/>
          <p:cNvSpPr/>
          <p:nvPr/>
        </p:nvSpPr>
        <p:spPr>
          <a:xfrm>
            <a:off x="4457700" y="1346597"/>
            <a:ext cx="425767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Shape 39"/>
          <p:cNvSpPr/>
          <p:nvPr/>
        </p:nvSpPr>
        <p:spPr>
          <a:xfrm>
            <a:off x="4457700" y="1637705"/>
            <a:ext cx="42576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40"/>
          <p:cNvSpPr/>
          <p:nvPr/>
        </p:nvSpPr>
        <p:spPr>
          <a:xfrm>
            <a:off x="4457700" y="1346597"/>
            <a:ext cx="425767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46" name="Shape 41"/>
          <p:cNvSpPr/>
          <p:nvPr/>
        </p:nvSpPr>
        <p:spPr>
          <a:xfrm>
            <a:off x="3514725" y="173057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42"/>
          <p:cNvSpPr/>
          <p:nvPr/>
        </p:nvSpPr>
        <p:spPr>
          <a:xfrm>
            <a:off x="3514725" y="173057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8" name="Text 43"/>
          <p:cNvSpPr/>
          <p:nvPr/>
        </p:nvSpPr>
        <p:spPr>
          <a:xfrm>
            <a:off x="3743325" y="1644848"/>
            <a:ext cx="714375" cy="5554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PDF Viewer</a:t>
            </a:r>
            <a:endParaRPr lang="en-US" sz="674" dirty="0"/>
          </a:p>
        </p:txBody>
      </p:sp>
      <p:sp>
        <p:nvSpPr>
          <p:cNvPr id="49" name="Text 44"/>
          <p:cNvSpPr/>
          <p:nvPr/>
        </p:nvSpPr>
        <p:spPr>
          <a:xfrm>
            <a:off x="4543425" y="1730573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react-pdf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or Native Viewer</a:t>
            </a:r>
            <a:endParaRPr lang="en-US" sz="674" dirty="0"/>
          </a:p>
        </p:txBody>
      </p:sp>
      <p:sp>
        <p:nvSpPr>
          <p:cNvPr id="50" name="Text 45"/>
          <p:cNvSpPr/>
          <p:nvPr/>
        </p:nvSpPr>
        <p:spPr>
          <a:xfrm>
            <a:off x="4543425" y="1857375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Source: S3 Presigned URL</a:t>
            </a:r>
            <a:endParaRPr lang="en-US" sz="674" dirty="0"/>
          </a:p>
        </p:txBody>
      </p:sp>
      <p:sp>
        <p:nvSpPr>
          <p:cNvPr id="51" name="Text 46"/>
          <p:cNvSpPr/>
          <p:nvPr/>
        </p:nvSpPr>
        <p:spPr>
          <a:xfrm>
            <a:off x="4543425" y="1984177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Feature: Pinch-to-zoom, Scroll required</a:t>
            </a:r>
            <a:endParaRPr lang="en-US" sz="674" dirty="0"/>
          </a:p>
        </p:txBody>
      </p:sp>
      <p:sp>
        <p:nvSpPr>
          <p:cNvPr id="52" name="Shape 47"/>
          <p:cNvSpPr/>
          <p:nvPr/>
        </p:nvSpPr>
        <p:spPr>
          <a:xfrm>
            <a:off x="3514725" y="228957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3" name="Text 48"/>
          <p:cNvSpPr/>
          <p:nvPr/>
        </p:nvSpPr>
        <p:spPr>
          <a:xfrm>
            <a:off x="3514725" y="228957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4" name="Text 49"/>
          <p:cNvSpPr/>
          <p:nvPr/>
        </p:nvSpPr>
        <p:spPr>
          <a:xfrm>
            <a:off x="3743325" y="2200275"/>
            <a:ext cx="714375" cy="5589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Signature Pad</a:t>
            </a:r>
            <a:endParaRPr lang="en-US" sz="674" dirty="0"/>
          </a:p>
        </p:txBody>
      </p:sp>
      <p:sp>
        <p:nvSpPr>
          <p:cNvPr id="55" name="Text 50"/>
          <p:cNvSpPr/>
          <p:nvPr/>
        </p:nvSpPr>
        <p:spPr>
          <a:xfrm>
            <a:off x="4543425" y="2289572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react-signature-canvas</a:t>
            </a:r>
            <a:endParaRPr lang="en-US" sz="674" dirty="0"/>
          </a:p>
        </p:txBody>
      </p:sp>
      <p:sp>
        <p:nvSpPr>
          <p:cNvPr id="56" name="Text 51"/>
          <p:cNvSpPr/>
          <p:nvPr/>
        </p:nvSpPr>
        <p:spPr>
          <a:xfrm>
            <a:off x="4543425" y="2416373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Output: Base64 PNG (Transparent BG)</a:t>
            </a:r>
            <a:endParaRPr lang="en-US" sz="674" dirty="0"/>
          </a:p>
        </p:txBody>
      </p:sp>
      <p:sp>
        <p:nvSpPr>
          <p:cNvPr id="57" name="Text 52"/>
          <p:cNvSpPr/>
          <p:nvPr/>
        </p:nvSpPr>
        <p:spPr>
          <a:xfrm>
            <a:off x="4543425" y="2543175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Validation: Minimum stroke length check</a:t>
            </a:r>
            <a:endParaRPr lang="en-US" sz="674" dirty="0"/>
          </a:p>
        </p:txBody>
      </p:sp>
      <p:sp>
        <p:nvSpPr>
          <p:cNvPr id="58" name="Shape 53"/>
          <p:cNvSpPr/>
          <p:nvPr/>
        </p:nvSpPr>
        <p:spPr>
          <a:xfrm>
            <a:off x="3514725" y="284857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9" name="Text 54"/>
          <p:cNvSpPr/>
          <p:nvPr/>
        </p:nvSpPr>
        <p:spPr>
          <a:xfrm>
            <a:off x="3514725" y="284857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0" name="Text 55"/>
          <p:cNvSpPr/>
          <p:nvPr/>
        </p:nvSpPr>
        <p:spPr>
          <a:xfrm>
            <a:off x="3743325" y="2759273"/>
            <a:ext cx="714375" cy="5589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Submit</a:t>
            </a:r>
            <a:endParaRPr lang="en-US" sz="674" dirty="0"/>
          </a:p>
        </p:txBody>
      </p:sp>
      <p:sp>
        <p:nvSpPr>
          <p:cNvPr id="61" name="Text 56"/>
          <p:cNvSpPr/>
          <p:nvPr/>
        </p:nvSpPr>
        <p:spPr>
          <a:xfrm>
            <a:off x="4543425" y="2848570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/api/v1/contracts/{id}/sign</a:t>
            </a:r>
            <a:endParaRPr lang="en-US" sz="674" dirty="0"/>
          </a:p>
        </p:txBody>
      </p:sp>
      <p:sp>
        <p:nvSpPr>
          <p:cNvPr id="62" name="Text 57"/>
          <p:cNvSpPr/>
          <p:nvPr/>
        </p:nvSpPr>
        <p:spPr>
          <a:xfrm>
            <a:off x="4543425" y="2975372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Payload: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{ signatureImage: "base64..." }</a:t>
            </a:r>
            <a:endParaRPr lang="en-US" sz="674" dirty="0"/>
          </a:p>
        </p:txBody>
      </p:sp>
      <p:sp>
        <p:nvSpPr>
          <p:cNvPr id="63" name="Text 58"/>
          <p:cNvSpPr/>
          <p:nvPr/>
        </p:nvSpPr>
        <p:spPr>
          <a:xfrm>
            <a:off x="4543425" y="3102173"/>
            <a:ext cx="4086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Backend: Merge Image + PDF -&gt; Save to S3</a:t>
            </a:r>
            <a:endParaRPr lang="en-US" sz="674" dirty="0"/>
          </a:p>
        </p:txBody>
      </p:sp>
      <p:sp>
        <p:nvSpPr>
          <p:cNvPr id="64" name="Shape 59"/>
          <p:cNvSpPr/>
          <p:nvPr/>
        </p:nvSpPr>
        <p:spPr>
          <a:xfrm>
            <a:off x="3429000" y="3536156"/>
            <a:ext cx="5286375" cy="90011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5" name="Shape 60"/>
          <p:cNvSpPr/>
          <p:nvPr/>
        </p:nvSpPr>
        <p:spPr>
          <a:xfrm>
            <a:off x="3429000" y="3536156"/>
            <a:ext cx="28575" cy="900113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156" y="3661172"/>
            <a:ext cx="75009" cy="100013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3611166" y="3643313"/>
            <a:ext cx="12349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9E0B"/>
                </a:solidFill>
              </a:rPr>
              <a:t>Legal Validity &amp; Security</a:t>
            </a:r>
            <a:endParaRPr lang="en-US" sz="683" dirty="0"/>
          </a:p>
        </p:txBody>
      </p:sp>
      <p:sp>
        <p:nvSpPr>
          <p:cNvPr id="68" name="Text 62"/>
          <p:cNvSpPr/>
          <p:nvPr/>
        </p:nvSpPr>
        <p:spPr>
          <a:xfrm>
            <a:off x="3536156" y="3814763"/>
            <a:ext cx="5072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-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Timestamping: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Server records exact signing time (KST).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Audit Log: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IP address and Device ID are logged.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Storage: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Final PDF is encrypted (AES-256) in S3 Bucket.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Library: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Use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iText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or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PDFBox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(Java) for merging.</a:t>
            </a:r>
            <a:endParaRPr lang="en-US" sz="62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4331" y="364331"/>
            <a:ext cx="2400300" cy="4400550"/>
          </a:xfrm>
          <a:prstGeom prst="rect">
            <a:avLst/>
          </a:prstGeom>
          <a:solidFill>
            <a:srgbClr val="F8FAFC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4331" y="364331"/>
            <a:ext cx="22860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364331" y="721519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92" y="485775"/>
            <a:ext cx="285750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23842" y="460772"/>
            <a:ext cx="5669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2026년 2월</a:t>
            </a:r>
            <a:endParaRPr lang="en-US" sz="78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93" y="485775"/>
            <a:ext cx="285750" cy="1143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35831" y="4714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5"/>
          <p:cNvSpPr/>
          <p:nvPr/>
        </p:nvSpPr>
        <p:spPr>
          <a:xfrm>
            <a:off x="935831" y="47148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1" name="Shape 6"/>
          <p:cNvSpPr/>
          <p:nvPr/>
        </p:nvSpPr>
        <p:spPr>
          <a:xfrm>
            <a:off x="471488" y="828675"/>
            <a:ext cx="2071688" cy="86796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7"/>
          <p:cNvSpPr/>
          <p:nvPr/>
        </p:nvSpPr>
        <p:spPr>
          <a:xfrm>
            <a:off x="614363" y="971550"/>
            <a:ext cx="1785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>
                    <a:alpha val="90000"/>
                  </a:srgbClr>
                </a:solidFill>
              </a:rPr>
              <a:t>이번 달 예상 급여</a:t>
            </a:r>
            <a:endParaRPr lang="en-US" sz="621" dirty="0"/>
          </a:p>
        </p:txBody>
      </p:sp>
      <p:sp>
        <p:nvSpPr>
          <p:cNvPr id="13" name="Text 8"/>
          <p:cNvSpPr/>
          <p:nvPr/>
        </p:nvSpPr>
        <p:spPr>
          <a:xfrm>
            <a:off x="614363" y="1134070"/>
            <a:ext cx="17859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3,200,000 </a:t>
            </a:r>
            <a:pPr algn="l" indent="0" marL="0">
              <a:lnSpc>
                <a:spcPts val="16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원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614363" y="1439466"/>
            <a:ext cx="41366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총 16.0 공수</a:t>
            </a:r>
            <a:endParaRPr lang="en-US" sz="568" dirty="0"/>
          </a:p>
        </p:txBody>
      </p:sp>
      <p:sp>
        <p:nvSpPr>
          <p:cNvPr id="15" name="Text 10"/>
          <p:cNvSpPr/>
          <p:nvPr/>
        </p:nvSpPr>
        <p:spPr>
          <a:xfrm>
            <a:off x="1872221" y="1439466"/>
            <a:ext cx="5280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단가 200,000원</a:t>
            </a:r>
            <a:endParaRPr lang="en-US" sz="568" dirty="0"/>
          </a:p>
        </p:txBody>
      </p:sp>
      <p:sp>
        <p:nvSpPr>
          <p:cNvPr id="16" name="Shape 11"/>
          <p:cNvSpPr/>
          <p:nvPr/>
        </p:nvSpPr>
        <p:spPr>
          <a:xfrm>
            <a:off x="2471738" y="75723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2"/>
          <p:cNvSpPr/>
          <p:nvPr/>
        </p:nvSpPr>
        <p:spPr>
          <a:xfrm>
            <a:off x="2471738" y="75723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8" name="Text 13"/>
          <p:cNvSpPr/>
          <p:nvPr/>
        </p:nvSpPr>
        <p:spPr>
          <a:xfrm>
            <a:off x="471488" y="1803797"/>
            <a:ext cx="29593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일</a:t>
            </a:r>
            <a:endParaRPr lang="en-US" sz="568" dirty="0"/>
          </a:p>
        </p:txBody>
      </p:sp>
      <p:sp>
        <p:nvSpPr>
          <p:cNvPr id="19" name="Text 14"/>
          <p:cNvSpPr/>
          <p:nvPr/>
        </p:nvSpPr>
        <p:spPr>
          <a:xfrm>
            <a:off x="767423" y="1803797"/>
            <a:ext cx="2959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월</a:t>
            </a:r>
            <a:endParaRPr lang="en-US" sz="568" dirty="0"/>
          </a:p>
        </p:txBody>
      </p:sp>
      <p:sp>
        <p:nvSpPr>
          <p:cNvPr id="20" name="Text 15"/>
          <p:cNvSpPr/>
          <p:nvPr/>
        </p:nvSpPr>
        <p:spPr>
          <a:xfrm>
            <a:off x="1063386" y="1803797"/>
            <a:ext cx="2959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화</a:t>
            </a:r>
            <a:endParaRPr lang="en-US" sz="568" dirty="0"/>
          </a:p>
        </p:txBody>
      </p:sp>
      <p:sp>
        <p:nvSpPr>
          <p:cNvPr id="21" name="Text 16"/>
          <p:cNvSpPr/>
          <p:nvPr/>
        </p:nvSpPr>
        <p:spPr>
          <a:xfrm>
            <a:off x="1359350" y="1803797"/>
            <a:ext cx="29593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수</a:t>
            </a:r>
            <a:endParaRPr lang="en-US" sz="568" dirty="0"/>
          </a:p>
        </p:txBody>
      </p:sp>
      <p:sp>
        <p:nvSpPr>
          <p:cNvPr id="22" name="Text 17"/>
          <p:cNvSpPr/>
          <p:nvPr/>
        </p:nvSpPr>
        <p:spPr>
          <a:xfrm>
            <a:off x="1655285" y="1803797"/>
            <a:ext cx="2959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목</a:t>
            </a:r>
            <a:endParaRPr lang="en-US" sz="568" dirty="0"/>
          </a:p>
        </p:txBody>
      </p:sp>
      <p:sp>
        <p:nvSpPr>
          <p:cNvPr id="23" name="Text 18"/>
          <p:cNvSpPr/>
          <p:nvPr/>
        </p:nvSpPr>
        <p:spPr>
          <a:xfrm>
            <a:off x="1951248" y="1803797"/>
            <a:ext cx="2959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금</a:t>
            </a:r>
            <a:endParaRPr lang="en-US" sz="568" dirty="0"/>
          </a:p>
        </p:txBody>
      </p:sp>
      <p:sp>
        <p:nvSpPr>
          <p:cNvPr id="24" name="Text 19"/>
          <p:cNvSpPr/>
          <p:nvPr/>
        </p:nvSpPr>
        <p:spPr>
          <a:xfrm>
            <a:off x="2247212" y="1803797"/>
            <a:ext cx="29593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토</a:t>
            </a:r>
            <a:endParaRPr lang="en-US" sz="568" dirty="0"/>
          </a:p>
        </p:txBody>
      </p:sp>
      <p:sp>
        <p:nvSpPr>
          <p:cNvPr id="25" name="Text 20"/>
          <p:cNvSpPr/>
          <p:nvPr/>
        </p:nvSpPr>
        <p:spPr>
          <a:xfrm>
            <a:off x="471488" y="1975247"/>
            <a:ext cx="265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29</a:t>
            </a:r>
            <a:endParaRPr lang="en-US" sz="621" dirty="0"/>
          </a:p>
        </p:txBody>
      </p:sp>
      <p:sp>
        <p:nvSpPr>
          <p:cNvPr id="26" name="Text 21"/>
          <p:cNvSpPr/>
          <p:nvPr/>
        </p:nvSpPr>
        <p:spPr>
          <a:xfrm>
            <a:off x="772530" y="1975247"/>
            <a:ext cx="2653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30</a:t>
            </a:r>
            <a:endParaRPr lang="en-US" sz="621" dirty="0"/>
          </a:p>
        </p:txBody>
      </p:sp>
      <p:sp>
        <p:nvSpPr>
          <p:cNvPr id="27" name="Text 22"/>
          <p:cNvSpPr/>
          <p:nvPr/>
        </p:nvSpPr>
        <p:spPr>
          <a:xfrm>
            <a:off x="1073600" y="1975247"/>
            <a:ext cx="265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31</a:t>
            </a:r>
            <a:endParaRPr lang="en-US" sz="621" dirty="0"/>
          </a:p>
        </p:txBody>
      </p:sp>
      <p:sp>
        <p:nvSpPr>
          <p:cNvPr id="28" name="Shape 23"/>
          <p:cNvSpPr/>
          <p:nvPr/>
        </p:nvSpPr>
        <p:spPr>
          <a:xfrm>
            <a:off x="1374642" y="1975247"/>
            <a:ext cx="265351" cy="257175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29" name="Text 24"/>
          <p:cNvSpPr/>
          <p:nvPr/>
        </p:nvSpPr>
        <p:spPr>
          <a:xfrm>
            <a:off x="1374642" y="1975247"/>
            <a:ext cx="2653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1</a:t>
            </a:r>
            <a:endParaRPr lang="en-US" sz="584" dirty="0"/>
          </a:p>
        </p:txBody>
      </p:sp>
      <p:sp>
        <p:nvSpPr>
          <p:cNvPr id="30" name="Shape 25"/>
          <p:cNvSpPr/>
          <p:nvPr/>
        </p:nvSpPr>
        <p:spPr>
          <a:xfrm>
            <a:off x="1675712" y="1975247"/>
            <a:ext cx="265323" cy="257175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31" name="Text 26"/>
          <p:cNvSpPr/>
          <p:nvPr/>
        </p:nvSpPr>
        <p:spPr>
          <a:xfrm>
            <a:off x="1675712" y="1975247"/>
            <a:ext cx="265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2</a:t>
            </a:r>
            <a:endParaRPr lang="en-US" sz="584" dirty="0"/>
          </a:p>
        </p:txBody>
      </p:sp>
      <p:sp>
        <p:nvSpPr>
          <p:cNvPr id="32" name="Shape 27"/>
          <p:cNvSpPr/>
          <p:nvPr/>
        </p:nvSpPr>
        <p:spPr>
          <a:xfrm>
            <a:off x="1976754" y="1975247"/>
            <a:ext cx="265351" cy="257175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33" name="Text 28"/>
          <p:cNvSpPr/>
          <p:nvPr/>
        </p:nvSpPr>
        <p:spPr>
          <a:xfrm>
            <a:off x="1976754" y="1975247"/>
            <a:ext cx="2653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3</a:t>
            </a:r>
            <a:endParaRPr lang="en-US" sz="584" dirty="0"/>
          </a:p>
        </p:txBody>
      </p:sp>
      <p:sp>
        <p:nvSpPr>
          <p:cNvPr id="34" name="Text 29"/>
          <p:cNvSpPr/>
          <p:nvPr/>
        </p:nvSpPr>
        <p:spPr>
          <a:xfrm>
            <a:off x="2277824" y="1975247"/>
            <a:ext cx="265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4</a:t>
            </a:r>
            <a:endParaRPr lang="en-US" sz="621" dirty="0"/>
          </a:p>
        </p:txBody>
      </p:sp>
      <p:sp>
        <p:nvSpPr>
          <p:cNvPr id="35" name="Shape 30"/>
          <p:cNvSpPr/>
          <p:nvPr/>
        </p:nvSpPr>
        <p:spPr>
          <a:xfrm>
            <a:off x="471488" y="2268141"/>
            <a:ext cx="265323" cy="257175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36" name="Text 31"/>
          <p:cNvSpPr/>
          <p:nvPr/>
        </p:nvSpPr>
        <p:spPr>
          <a:xfrm>
            <a:off x="471488" y="2268141"/>
            <a:ext cx="265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5</a:t>
            </a:r>
            <a:endParaRPr lang="en-US" sz="584" dirty="0"/>
          </a:p>
        </p:txBody>
      </p:sp>
      <p:sp>
        <p:nvSpPr>
          <p:cNvPr id="37" name="Shape 32"/>
          <p:cNvSpPr/>
          <p:nvPr/>
        </p:nvSpPr>
        <p:spPr>
          <a:xfrm>
            <a:off x="772530" y="2268141"/>
            <a:ext cx="265351" cy="257175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38" name="Text 33"/>
          <p:cNvSpPr/>
          <p:nvPr/>
        </p:nvSpPr>
        <p:spPr>
          <a:xfrm>
            <a:off x="772530" y="2268141"/>
            <a:ext cx="2653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6</a:t>
            </a:r>
            <a:endParaRPr lang="en-US" sz="584" dirty="0"/>
          </a:p>
        </p:txBody>
      </p:sp>
      <p:sp>
        <p:nvSpPr>
          <p:cNvPr id="39" name="Text 34"/>
          <p:cNvSpPr/>
          <p:nvPr/>
        </p:nvSpPr>
        <p:spPr>
          <a:xfrm>
            <a:off x="1073600" y="2268141"/>
            <a:ext cx="265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7</a:t>
            </a:r>
            <a:endParaRPr lang="en-US" sz="621" dirty="0"/>
          </a:p>
        </p:txBody>
      </p:sp>
      <p:sp>
        <p:nvSpPr>
          <p:cNvPr id="40" name="Text 35"/>
          <p:cNvSpPr/>
          <p:nvPr/>
        </p:nvSpPr>
        <p:spPr>
          <a:xfrm>
            <a:off x="1374642" y="2268141"/>
            <a:ext cx="2653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8</a:t>
            </a:r>
            <a:endParaRPr lang="en-US" sz="621" dirty="0"/>
          </a:p>
        </p:txBody>
      </p:sp>
      <p:sp>
        <p:nvSpPr>
          <p:cNvPr id="41" name="Shape 36"/>
          <p:cNvSpPr/>
          <p:nvPr/>
        </p:nvSpPr>
        <p:spPr>
          <a:xfrm>
            <a:off x="1675712" y="2268141"/>
            <a:ext cx="265323" cy="257175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42" name="Text 37"/>
          <p:cNvSpPr/>
          <p:nvPr/>
        </p:nvSpPr>
        <p:spPr>
          <a:xfrm>
            <a:off x="1675712" y="2268141"/>
            <a:ext cx="265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9</a:t>
            </a:r>
            <a:endParaRPr lang="en-US" sz="584" dirty="0"/>
          </a:p>
        </p:txBody>
      </p:sp>
      <p:sp>
        <p:nvSpPr>
          <p:cNvPr id="43" name="Shape 38"/>
          <p:cNvSpPr/>
          <p:nvPr/>
        </p:nvSpPr>
        <p:spPr>
          <a:xfrm>
            <a:off x="1976754" y="2268141"/>
            <a:ext cx="265351" cy="257175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44" name="Text 39"/>
          <p:cNvSpPr/>
          <p:nvPr/>
        </p:nvSpPr>
        <p:spPr>
          <a:xfrm>
            <a:off x="1976754" y="2268141"/>
            <a:ext cx="2653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10</a:t>
            </a:r>
            <a:endParaRPr lang="en-US" sz="584" dirty="0"/>
          </a:p>
        </p:txBody>
      </p:sp>
      <p:sp>
        <p:nvSpPr>
          <p:cNvPr id="45" name="Shape 40"/>
          <p:cNvSpPr/>
          <p:nvPr/>
        </p:nvSpPr>
        <p:spPr>
          <a:xfrm>
            <a:off x="2277824" y="2268141"/>
            <a:ext cx="265323" cy="257175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46" name="Text 41"/>
          <p:cNvSpPr/>
          <p:nvPr/>
        </p:nvSpPr>
        <p:spPr>
          <a:xfrm>
            <a:off x="2277824" y="2268141"/>
            <a:ext cx="265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11</a:t>
            </a:r>
            <a:endParaRPr lang="en-US" sz="584" dirty="0"/>
          </a:p>
        </p:txBody>
      </p:sp>
      <p:sp>
        <p:nvSpPr>
          <p:cNvPr id="47" name="Shape 42"/>
          <p:cNvSpPr/>
          <p:nvPr/>
        </p:nvSpPr>
        <p:spPr>
          <a:xfrm>
            <a:off x="471488" y="2561034"/>
            <a:ext cx="265323" cy="257175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48" name="Text 43"/>
          <p:cNvSpPr/>
          <p:nvPr/>
        </p:nvSpPr>
        <p:spPr>
          <a:xfrm>
            <a:off x="471488" y="2561034"/>
            <a:ext cx="265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12</a:t>
            </a:r>
            <a:endParaRPr lang="en-US" sz="584" dirty="0"/>
          </a:p>
        </p:txBody>
      </p:sp>
      <p:sp>
        <p:nvSpPr>
          <p:cNvPr id="49" name="Shape 44"/>
          <p:cNvSpPr/>
          <p:nvPr/>
        </p:nvSpPr>
        <p:spPr>
          <a:xfrm>
            <a:off x="772530" y="2561034"/>
            <a:ext cx="265351" cy="257175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50" name="Text 45"/>
          <p:cNvSpPr/>
          <p:nvPr/>
        </p:nvSpPr>
        <p:spPr>
          <a:xfrm>
            <a:off x="772530" y="2561034"/>
            <a:ext cx="2653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13</a:t>
            </a:r>
            <a:endParaRPr lang="en-US" sz="584" dirty="0"/>
          </a:p>
        </p:txBody>
      </p:sp>
      <p:sp>
        <p:nvSpPr>
          <p:cNvPr id="51" name="Shape 46"/>
          <p:cNvSpPr/>
          <p:nvPr/>
        </p:nvSpPr>
        <p:spPr>
          <a:xfrm>
            <a:off x="1073600" y="2561034"/>
            <a:ext cx="265323" cy="2571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2" name="Text 47"/>
          <p:cNvSpPr/>
          <p:nvPr/>
        </p:nvSpPr>
        <p:spPr>
          <a:xfrm>
            <a:off x="1073600" y="2561034"/>
            <a:ext cx="265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14</a:t>
            </a:r>
            <a:endParaRPr lang="en-US" sz="621" dirty="0"/>
          </a:p>
        </p:txBody>
      </p:sp>
      <p:sp>
        <p:nvSpPr>
          <p:cNvPr id="53" name="Shape 48"/>
          <p:cNvSpPr/>
          <p:nvPr/>
        </p:nvSpPr>
        <p:spPr>
          <a:xfrm>
            <a:off x="2364581" y="107870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Text 49"/>
          <p:cNvSpPr/>
          <p:nvPr/>
        </p:nvSpPr>
        <p:spPr>
          <a:xfrm>
            <a:off x="2364581" y="10787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5" name="Shape 50"/>
          <p:cNvSpPr/>
          <p:nvPr/>
        </p:nvSpPr>
        <p:spPr>
          <a:xfrm>
            <a:off x="364331" y="2925366"/>
            <a:ext cx="2286000" cy="172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1"/>
          <p:cNvSpPr/>
          <p:nvPr/>
        </p:nvSpPr>
        <p:spPr>
          <a:xfrm>
            <a:off x="364331" y="2925366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Text 52"/>
          <p:cNvSpPr/>
          <p:nvPr/>
        </p:nvSpPr>
        <p:spPr>
          <a:xfrm>
            <a:off x="471488" y="3032522"/>
            <a:ext cx="20716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2월 14일 (금)</a:t>
            </a:r>
            <a:endParaRPr lang="en-US" sz="584" dirty="0"/>
          </a:p>
        </p:txBody>
      </p:sp>
      <p:sp>
        <p:nvSpPr>
          <p:cNvPr id="58" name="Text 53"/>
          <p:cNvSpPr/>
          <p:nvPr/>
        </p:nvSpPr>
        <p:spPr>
          <a:xfrm>
            <a:off x="471488" y="3230761"/>
            <a:ext cx="8414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강남 오피스 신축 공사</a:t>
            </a:r>
            <a:endParaRPr lang="en-US" sz="634" dirty="0"/>
          </a:p>
        </p:txBody>
      </p:sp>
      <p:sp>
        <p:nvSpPr>
          <p:cNvPr id="59" name="Text 54"/>
          <p:cNvSpPr/>
          <p:nvPr/>
        </p:nvSpPr>
        <p:spPr>
          <a:xfrm>
            <a:off x="471488" y="3395067"/>
            <a:ext cx="8414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07:00 ~ 16:00</a:t>
            </a:r>
            <a:endParaRPr lang="en-US" sz="568" dirty="0"/>
          </a:p>
        </p:txBody>
      </p:sp>
      <p:sp>
        <p:nvSpPr>
          <p:cNvPr id="60" name="Text 55"/>
          <p:cNvSpPr/>
          <p:nvPr/>
        </p:nvSpPr>
        <p:spPr>
          <a:xfrm>
            <a:off x="2180127" y="3241477"/>
            <a:ext cx="3630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1.0 공수</a:t>
            </a:r>
            <a:endParaRPr lang="en-US" sz="634" dirty="0"/>
          </a:p>
        </p:txBody>
      </p:sp>
      <p:sp>
        <p:nvSpPr>
          <p:cNvPr id="61" name="Text 56"/>
          <p:cNvSpPr/>
          <p:nvPr/>
        </p:nvSpPr>
        <p:spPr>
          <a:xfrm>
            <a:off x="2180127" y="3377208"/>
            <a:ext cx="3630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200,000원</a:t>
            </a:r>
            <a:endParaRPr lang="en-US" sz="568" dirty="0"/>
          </a:p>
        </p:txBody>
      </p:sp>
      <p:sp>
        <p:nvSpPr>
          <p:cNvPr id="62" name="Text 57"/>
          <p:cNvSpPr/>
          <p:nvPr/>
        </p:nvSpPr>
        <p:spPr>
          <a:xfrm>
            <a:off x="3364706" y="364331"/>
            <a:ext cx="541496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[노무자] 나의 출역 현황 (App)</a:t>
            </a:r>
            <a:endParaRPr lang="en-US" sz="1602" dirty="0"/>
          </a:p>
        </p:txBody>
      </p:sp>
      <p:sp>
        <p:nvSpPr>
          <p:cNvPr id="63" name="Text 58"/>
          <p:cNvSpPr/>
          <p:nvPr/>
        </p:nvSpPr>
        <p:spPr>
          <a:xfrm>
            <a:off x="3364706" y="753666"/>
            <a:ext cx="54149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월간 출역 캘린더 및 예상 급여 조회</a:t>
            </a:r>
            <a:endParaRPr lang="en-US" sz="834" dirty="0"/>
          </a:p>
        </p:txBody>
      </p:sp>
      <p:sp>
        <p:nvSpPr>
          <p:cNvPr id="64" name="Shape 59"/>
          <p:cNvSpPr/>
          <p:nvPr/>
        </p:nvSpPr>
        <p:spPr>
          <a:xfrm>
            <a:off x="3364706" y="1282303"/>
            <a:ext cx="31432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5" name="Shape 60"/>
          <p:cNvSpPr/>
          <p:nvPr/>
        </p:nvSpPr>
        <p:spPr>
          <a:xfrm>
            <a:off x="3364706" y="1573411"/>
            <a:ext cx="31432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6" name="Text 61"/>
          <p:cNvSpPr/>
          <p:nvPr/>
        </p:nvSpPr>
        <p:spPr>
          <a:xfrm>
            <a:off x="3364706" y="1282303"/>
            <a:ext cx="31432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67" name="Shape 62"/>
          <p:cNvSpPr/>
          <p:nvPr/>
        </p:nvSpPr>
        <p:spPr>
          <a:xfrm>
            <a:off x="3679031" y="1282303"/>
            <a:ext cx="71437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8" name="Shape 63"/>
          <p:cNvSpPr/>
          <p:nvPr/>
        </p:nvSpPr>
        <p:spPr>
          <a:xfrm>
            <a:off x="3679031" y="1573411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9" name="Text 64"/>
          <p:cNvSpPr/>
          <p:nvPr/>
        </p:nvSpPr>
        <p:spPr>
          <a:xfrm>
            <a:off x="3679031" y="1282303"/>
            <a:ext cx="714375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70" name="Shape 65"/>
          <p:cNvSpPr/>
          <p:nvPr/>
        </p:nvSpPr>
        <p:spPr>
          <a:xfrm>
            <a:off x="4393406" y="1282303"/>
            <a:ext cx="4386263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1" name="Shape 66"/>
          <p:cNvSpPr/>
          <p:nvPr/>
        </p:nvSpPr>
        <p:spPr>
          <a:xfrm>
            <a:off x="4393406" y="1573411"/>
            <a:ext cx="4386263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2" name="Text 67"/>
          <p:cNvSpPr/>
          <p:nvPr/>
        </p:nvSpPr>
        <p:spPr>
          <a:xfrm>
            <a:off x="4393406" y="1282303"/>
            <a:ext cx="4386263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73" name="Shape 68"/>
          <p:cNvSpPr/>
          <p:nvPr/>
        </p:nvSpPr>
        <p:spPr>
          <a:xfrm>
            <a:off x="3450431" y="166628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4" name="Text 69"/>
          <p:cNvSpPr/>
          <p:nvPr/>
        </p:nvSpPr>
        <p:spPr>
          <a:xfrm>
            <a:off x="3450431" y="166628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75" name="Text 70"/>
          <p:cNvSpPr/>
          <p:nvPr/>
        </p:nvSpPr>
        <p:spPr>
          <a:xfrm>
            <a:off x="3679031" y="1580555"/>
            <a:ext cx="714375" cy="5554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Month Nav</a:t>
            </a:r>
            <a:endParaRPr lang="en-US" sz="674" dirty="0"/>
          </a:p>
        </p:txBody>
      </p:sp>
      <p:sp>
        <p:nvSpPr>
          <p:cNvPr id="76" name="Text 71"/>
          <p:cNvSpPr/>
          <p:nvPr/>
        </p:nvSpPr>
        <p:spPr>
          <a:xfrm>
            <a:off x="4479131" y="1666280"/>
            <a:ext cx="42148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Action: Change Year/Month</a:t>
            </a:r>
            <a:endParaRPr lang="en-US" sz="674" dirty="0"/>
          </a:p>
        </p:txBody>
      </p:sp>
      <p:sp>
        <p:nvSpPr>
          <p:cNvPr id="77" name="Text 72"/>
          <p:cNvSpPr/>
          <p:nvPr/>
        </p:nvSpPr>
        <p:spPr>
          <a:xfrm>
            <a:off x="4479131" y="1793081"/>
            <a:ext cx="42148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GET /api/v1/worker/attendance/monthly</a:t>
            </a:r>
            <a:endParaRPr lang="en-US" sz="674" dirty="0"/>
          </a:p>
        </p:txBody>
      </p:sp>
      <p:sp>
        <p:nvSpPr>
          <p:cNvPr id="78" name="Text 73"/>
          <p:cNvSpPr/>
          <p:nvPr/>
        </p:nvSpPr>
        <p:spPr>
          <a:xfrm>
            <a:off x="4479131" y="1919883"/>
            <a:ext cx="42148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Params: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?year=2026&amp;month=02</a:t>
            </a:r>
            <a:endParaRPr lang="en-US" sz="674" dirty="0"/>
          </a:p>
        </p:txBody>
      </p:sp>
      <p:sp>
        <p:nvSpPr>
          <p:cNvPr id="79" name="Shape 74"/>
          <p:cNvSpPr/>
          <p:nvPr/>
        </p:nvSpPr>
        <p:spPr>
          <a:xfrm>
            <a:off x="3450431" y="222527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0" name="Text 75"/>
          <p:cNvSpPr/>
          <p:nvPr/>
        </p:nvSpPr>
        <p:spPr>
          <a:xfrm>
            <a:off x="3450431" y="222527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81" name="Text 76"/>
          <p:cNvSpPr/>
          <p:nvPr/>
        </p:nvSpPr>
        <p:spPr>
          <a:xfrm>
            <a:off x="3679031" y="2135981"/>
            <a:ext cx="714375" cy="5589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Salary Card</a:t>
            </a:r>
            <a:endParaRPr lang="en-US" sz="674" dirty="0"/>
          </a:p>
        </p:txBody>
      </p:sp>
      <p:sp>
        <p:nvSpPr>
          <p:cNvPr id="82" name="Text 77"/>
          <p:cNvSpPr/>
          <p:nvPr/>
        </p:nvSpPr>
        <p:spPr>
          <a:xfrm>
            <a:off x="4479131" y="2225278"/>
            <a:ext cx="42148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Data: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totalGongsu * unitPrice</a:t>
            </a:r>
            <a:endParaRPr lang="en-US" sz="674" dirty="0"/>
          </a:p>
        </p:txBody>
      </p:sp>
      <p:sp>
        <p:nvSpPr>
          <p:cNvPr id="83" name="Text 78"/>
          <p:cNvSpPr/>
          <p:nvPr/>
        </p:nvSpPr>
        <p:spPr>
          <a:xfrm>
            <a:off x="4479131" y="2352080"/>
            <a:ext cx="42148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Unit Price: Fetched from latest Contract</a:t>
            </a:r>
            <a:endParaRPr lang="en-US" sz="674" dirty="0"/>
          </a:p>
        </p:txBody>
      </p:sp>
      <p:sp>
        <p:nvSpPr>
          <p:cNvPr id="84" name="Text 79"/>
          <p:cNvSpPr/>
          <p:nvPr/>
        </p:nvSpPr>
        <p:spPr>
          <a:xfrm>
            <a:off x="4479131" y="2478881"/>
            <a:ext cx="42148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Display: Comma separated format</a:t>
            </a:r>
            <a:endParaRPr lang="en-US" sz="674" dirty="0"/>
          </a:p>
        </p:txBody>
      </p:sp>
      <p:sp>
        <p:nvSpPr>
          <p:cNvPr id="85" name="Shape 80"/>
          <p:cNvSpPr/>
          <p:nvPr/>
        </p:nvSpPr>
        <p:spPr>
          <a:xfrm>
            <a:off x="3450431" y="278427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6" name="Text 81"/>
          <p:cNvSpPr/>
          <p:nvPr/>
        </p:nvSpPr>
        <p:spPr>
          <a:xfrm>
            <a:off x="3450431" y="278427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87" name="Text 82"/>
          <p:cNvSpPr/>
          <p:nvPr/>
        </p:nvSpPr>
        <p:spPr>
          <a:xfrm>
            <a:off x="3679031" y="2694980"/>
            <a:ext cx="714375" cy="5589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Calendar</a:t>
            </a:r>
            <a:endParaRPr lang="en-US" sz="674" dirty="0"/>
          </a:p>
        </p:txBody>
      </p:sp>
      <p:sp>
        <p:nvSpPr>
          <p:cNvPr id="88" name="Text 83"/>
          <p:cNvSpPr/>
          <p:nvPr/>
        </p:nvSpPr>
        <p:spPr>
          <a:xfrm>
            <a:off x="4479131" y="2784277"/>
            <a:ext cx="42148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Rendering: Map attendance list to dates</a:t>
            </a:r>
            <a:endParaRPr lang="en-US" sz="674" dirty="0"/>
          </a:p>
        </p:txBody>
      </p:sp>
      <p:sp>
        <p:nvSpPr>
          <p:cNvPr id="89" name="Text 84"/>
          <p:cNvSpPr/>
          <p:nvPr/>
        </p:nvSpPr>
        <p:spPr>
          <a:xfrm>
            <a:off x="4479131" y="2911078"/>
            <a:ext cx="42148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Style: Green (Full), Yellow (0.5), Red (Absent)</a:t>
            </a:r>
            <a:endParaRPr lang="en-US" sz="674" dirty="0"/>
          </a:p>
        </p:txBody>
      </p:sp>
      <p:sp>
        <p:nvSpPr>
          <p:cNvPr id="90" name="Text 85"/>
          <p:cNvSpPr/>
          <p:nvPr/>
        </p:nvSpPr>
        <p:spPr>
          <a:xfrm>
            <a:off x="4479131" y="3037880"/>
            <a:ext cx="42148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Interaction: Tap date to filter list below</a:t>
            </a:r>
            <a:endParaRPr lang="en-US" sz="674" dirty="0"/>
          </a:p>
        </p:txBody>
      </p:sp>
      <p:sp>
        <p:nvSpPr>
          <p:cNvPr id="91" name="Shape 86"/>
          <p:cNvSpPr/>
          <p:nvPr/>
        </p:nvSpPr>
        <p:spPr>
          <a:xfrm>
            <a:off x="3364706" y="3471863"/>
            <a:ext cx="5414963" cy="92690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9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863" y="3596878"/>
            <a:ext cx="69652" cy="92869"/>
          </a:xfrm>
          <a:prstGeom prst="rect">
            <a:avLst/>
          </a:prstGeom>
        </p:spPr>
      </p:pic>
      <p:sp>
        <p:nvSpPr>
          <p:cNvPr id="93" name="Text 87"/>
          <p:cNvSpPr/>
          <p:nvPr/>
        </p:nvSpPr>
        <p:spPr>
          <a:xfrm>
            <a:off x="3541514" y="3579019"/>
            <a:ext cx="112782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Salary Calculation Logic</a:t>
            </a:r>
            <a:endParaRPr lang="en-US" sz="634" dirty="0"/>
          </a:p>
        </p:txBody>
      </p:sp>
      <p:sp>
        <p:nvSpPr>
          <p:cNvPr id="94" name="Text 88"/>
          <p:cNvSpPr/>
          <p:nvPr/>
        </p:nvSpPr>
        <p:spPr>
          <a:xfrm>
            <a:off x="3471863" y="3762970"/>
            <a:ext cx="52006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1. Fetch Monthly Attendance List.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2. Sum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gongsu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for all 'Approved' records.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3. Multiply by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daily_wage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from active Contract.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4. Note: This is an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estimate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(before tax/deductions).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2026-01-19T05:31:52Z</dcterms:created>
  <dcterms:modified xsi:type="dcterms:W3CDTF">2026-01-19T05:31:52Z</dcterms:modified>
</cp:coreProperties>
</file>