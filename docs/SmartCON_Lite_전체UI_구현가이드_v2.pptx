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96323"/>
            <a:ext cx="40005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SmartCON Lite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UI 명세 및 구현 가이드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1287828"/>
            <a:ext cx="4000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4A3B8"/>
                </a:solidFill>
              </a:rPr>
              <a:t>v2.0 | 초급 풀스택 개발자용 통합 가이드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428625" y="1780747"/>
            <a:ext cx="4000500" cy="286643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2938" y="2002203"/>
            <a:ext cx="3571875" cy="60900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0094" y="2116503"/>
            <a:ext cx="3357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Client Layer (Multi-Platform)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750094" y="2323672"/>
            <a:ext cx="738736" cy="1732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Shape 6"/>
          <p:cNvSpPr/>
          <p:nvPr/>
        </p:nvSpPr>
        <p:spPr>
          <a:xfrm>
            <a:off x="750094" y="2323672"/>
            <a:ext cx="21431" cy="1732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750094" y="2323672"/>
            <a:ext cx="738736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PC Web (React)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1524549" y="2323672"/>
            <a:ext cx="785366" cy="1732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9"/>
          <p:cNvSpPr/>
          <p:nvPr/>
        </p:nvSpPr>
        <p:spPr>
          <a:xfrm>
            <a:off x="1524549" y="2323672"/>
            <a:ext cx="21431" cy="1732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1524549" y="2323672"/>
            <a:ext cx="785366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Mobile App (RN)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2345634" y="2323672"/>
            <a:ext cx="612046" cy="1732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2"/>
          <p:cNvSpPr/>
          <p:nvPr/>
        </p:nvSpPr>
        <p:spPr>
          <a:xfrm>
            <a:off x="2345634" y="2323672"/>
            <a:ext cx="21431" cy="1732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2345634" y="2323672"/>
            <a:ext cx="612046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Mobile Web</a:t>
            </a:r>
            <a:endParaRPr lang="en-US" sz="621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198" y="2732652"/>
            <a:ext cx="85725" cy="114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873923" y="2711221"/>
            <a:ext cx="11956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REST API / WebSocket</a:t>
            </a:r>
            <a:endParaRPr lang="en-US" sz="834" dirty="0"/>
          </a:p>
        </p:txBody>
      </p:sp>
      <p:sp>
        <p:nvSpPr>
          <p:cNvPr id="19" name="Shape 15"/>
          <p:cNvSpPr/>
          <p:nvPr/>
        </p:nvSpPr>
        <p:spPr>
          <a:xfrm>
            <a:off x="642938" y="2902316"/>
            <a:ext cx="3571875" cy="60900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50094" y="3016616"/>
            <a:ext cx="3357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Server Layer (Business Logic)</a:t>
            </a:r>
            <a:endParaRPr lang="en-US" sz="683" dirty="0"/>
          </a:p>
        </p:txBody>
      </p:sp>
      <p:sp>
        <p:nvSpPr>
          <p:cNvPr id="21" name="Shape 17"/>
          <p:cNvSpPr/>
          <p:nvPr/>
        </p:nvSpPr>
        <p:spPr>
          <a:xfrm>
            <a:off x="750094" y="3223785"/>
            <a:ext cx="733323" cy="1732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18"/>
          <p:cNvSpPr/>
          <p:nvPr/>
        </p:nvSpPr>
        <p:spPr>
          <a:xfrm>
            <a:off x="750094" y="3223785"/>
            <a:ext cx="733323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Spring Boot 3.2</a:t>
            </a:r>
            <a:endParaRPr lang="en-US" sz="621" dirty="0"/>
          </a:p>
        </p:txBody>
      </p:sp>
      <p:sp>
        <p:nvSpPr>
          <p:cNvPr id="23" name="Shape 19"/>
          <p:cNvSpPr/>
          <p:nvPr/>
        </p:nvSpPr>
        <p:spPr>
          <a:xfrm>
            <a:off x="1540566" y="3223785"/>
            <a:ext cx="953551" cy="1732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0"/>
          <p:cNvSpPr/>
          <p:nvPr/>
        </p:nvSpPr>
        <p:spPr>
          <a:xfrm>
            <a:off x="1540566" y="3223785"/>
            <a:ext cx="953551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Spring Security (JWT)</a:t>
            </a:r>
            <a:endParaRPr lang="en-US" sz="621" dirty="0"/>
          </a:p>
        </p:txBody>
      </p:sp>
      <p:sp>
        <p:nvSpPr>
          <p:cNvPr id="25" name="Shape 21"/>
          <p:cNvSpPr/>
          <p:nvPr/>
        </p:nvSpPr>
        <p:spPr>
          <a:xfrm>
            <a:off x="2551268" y="3223785"/>
            <a:ext cx="742504" cy="1732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2"/>
          <p:cNvSpPr/>
          <p:nvPr/>
        </p:nvSpPr>
        <p:spPr>
          <a:xfrm>
            <a:off x="2551268" y="3223785"/>
            <a:ext cx="742504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Hibernate Filter</a:t>
            </a:r>
            <a:endParaRPr lang="en-US" sz="621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481" y="3632764"/>
            <a:ext cx="85725" cy="1143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033206" y="3611333"/>
            <a:ext cx="8770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JDBC / AWS SDK</a:t>
            </a:r>
            <a:endParaRPr lang="en-US" sz="834" dirty="0"/>
          </a:p>
        </p:txBody>
      </p:sp>
      <p:sp>
        <p:nvSpPr>
          <p:cNvPr id="29" name="Shape 24"/>
          <p:cNvSpPr/>
          <p:nvPr/>
        </p:nvSpPr>
        <p:spPr>
          <a:xfrm>
            <a:off x="642938" y="3802428"/>
            <a:ext cx="3571875" cy="60900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50094" y="3916728"/>
            <a:ext cx="3357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Infra &amp; Data Layer</a:t>
            </a:r>
            <a:endParaRPr lang="en-US" sz="683" dirty="0"/>
          </a:p>
        </p:txBody>
      </p:sp>
      <p:sp>
        <p:nvSpPr>
          <p:cNvPr id="31" name="Shape 26"/>
          <p:cNvSpPr/>
          <p:nvPr/>
        </p:nvSpPr>
        <p:spPr>
          <a:xfrm>
            <a:off x="750094" y="4123897"/>
            <a:ext cx="538042" cy="1732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27"/>
          <p:cNvSpPr/>
          <p:nvPr/>
        </p:nvSpPr>
        <p:spPr>
          <a:xfrm>
            <a:off x="750094" y="4123897"/>
            <a:ext cx="53804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MySQL 8.0</a:t>
            </a:r>
            <a:endParaRPr lang="en-US" sz="621" dirty="0"/>
          </a:p>
        </p:txBody>
      </p:sp>
      <p:sp>
        <p:nvSpPr>
          <p:cNvPr id="33" name="Shape 28"/>
          <p:cNvSpPr/>
          <p:nvPr/>
        </p:nvSpPr>
        <p:spPr>
          <a:xfrm>
            <a:off x="1345285" y="4123897"/>
            <a:ext cx="475227" cy="1732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9"/>
          <p:cNvSpPr/>
          <p:nvPr/>
        </p:nvSpPr>
        <p:spPr>
          <a:xfrm>
            <a:off x="1345285" y="4123897"/>
            <a:ext cx="475227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Redis 7.0</a:t>
            </a:r>
            <a:endParaRPr lang="en-US" sz="621" dirty="0"/>
          </a:p>
        </p:txBody>
      </p:sp>
      <p:sp>
        <p:nvSpPr>
          <p:cNvPr id="35" name="Shape 30"/>
          <p:cNvSpPr/>
          <p:nvPr/>
        </p:nvSpPr>
        <p:spPr>
          <a:xfrm>
            <a:off x="1877662" y="4123897"/>
            <a:ext cx="410849" cy="1732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1"/>
          <p:cNvSpPr/>
          <p:nvPr/>
        </p:nvSpPr>
        <p:spPr>
          <a:xfrm>
            <a:off x="1877662" y="4123897"/>
            <a:ext cx="410849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AWS S3</a:t>
            </a:r>
            <a:endParaRPr lang="en-US" sz="621" dirty="0"/>
          </a:p>
        </p:txBody>
      </p:sp>
      <p:sp>
        <p:nvSpPr>
          <p:cNvPr id="37" name="Shape 32"/>
          <p:cNvSpPr/>
          <p:nvPr/>
        </p:nvSpPr>
        <p:spPr>
          <a:xfrm>
            <a:off x="2345661" y="4123897"/>
            <a:ext cx="598401" cy="1732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Text 33"/>
          <p:cNvSpPr/>
          <p:nvPr/>
        </p:nvSpPr>
        <p:spPr>
          <a:xfrm>
            <a:off x="2345661" y="4123897"/>
            <a:ext cx="598401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FaceNet (AI)</a:t>
            </a:r>
            <a:endParaRPr lang="en-US" sz="621" dirty="0"/>
          </a:p>
        </p:txBody>
      </p:sp>
      <p:sp>
        <p:nvSpPr>
          <p:cNvPr id="39" name="Shape 34"/>
          <p:cNvSpPr/>
          <p:nvPr/>
        </p:nvSpPr>
        <p:spPr>
          <a:xfrm>
            <a:off x="4714875" y="428625"/>
            <a:ext cx="4000500" cy="4286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4714875" y="428625"/>
            <a:ext cx="7144" cy="4286250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660797"/>
            <a:ext cx="150019" cy="17145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079206" y="621506"/>
            <a:ext cx="2079194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개발 로드맵 (2/16 완성 목표)</a:t>
            </a:r>
            <a:endParaRPr lang="en-US" sz="1193" dirty="0"/>
          </a:p>
        </p:txBody>
      </p:sp>
      <p:sp>
        <p:nvSpPr>
          <p:cNvPr id="43" name="Shape 37"/>
          <p:cNvSpPr/>
          <p:nvPr/>
        </p:nvSpPr>
        <p:spPr>
          <a:xfrm>
            <a:off x="4857750" y="1157288"/>
            <a:ext cx="14288" cy="329326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Text 38"/>
          <p:cNvSpPr/>
          <p:nvPr/>
        </p:nvSpPr>
        <p:spPr>
          <a:xfrm>
            <a:off x="5072063" y="1094780"/>
            <a:ext cx="9777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Phase 1: 핵심 기능</a:t>
            </a:r>
            <a:endParaRPr lang="en-US" sz="784" dirty="0"/>
          </a:p>
        </p:txBody>
      </p:sp>
      <p:sp>
        <p:nvSpPr>
          <p:cNvPr id="45" name="Shape 39"/>
          <p:cNvSpPr/>
          <p:nvPr/>
        </p:nvSpPr>
        <p:spPr>
          <a:xfrm>
            <a:off x="6106957" y="1128768"/>
            <a:ext cx="171450" cy="11251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0"/>
          <p:cNvSpPr/>
          <p:nvPr/>
        </p:nvSpPr>
        <p:spPr>
          <a:xfrm>
            <a:off x="6106957" y="1128768"/>
            <a:ext cx="171450" cy="112514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F172A"/>
                </a:solidFill>
              </a:rPr>
              <a:t>P1</a:t>
            </a:r>
            <a:endParaRPr lang="en-US" sz="485" dirty="0"/>
          </a:p>
        </p:txBody>
      </p:sp>
      <p:sp>
        <p:nvSpPr>
          <p:cNvPr id="47" name="Shape 41"/>
          <p:cNvSpPr/>
          <p:nvPr/>
        </p:nvSpPr>
        <p:spPr>
          <a:xfrm>
            <a:off x="8218075" y="1090315"/>
            <a:ext cx="497300" cy="155377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8" name="Text 42"/>
          <p:cNvSpPr/>
          <p:nvPr/>
        </p:nvSpPr>
        <p:spPr>
          <a:xfrm>
            <a:off x="8218075" y="1090315"/>
            <a:ext cx="497300" cy="15537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2/1 ~ 2/7</a:t>
            </a:r>
            <a:endParaRPr lang="en-US" sz="674" dirty="0"/>
          </a:p>
        </p:txBody>
      </p:sp>
      <p:sp>
        <p:nvSpPr>
          <p:cNvPr id="49" name="Text 43"/>
          <p:cNvSpPr/>
          <p:nvPr/>
        </p:nvSpPr>
        <p:spPr>
          <a:xfrm>
            <a:off x="5072063" y="1307306"/>
            <a:ext cx="364331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공통 로그인 및 회원가입 (소셜/관리자)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내 정보 관리 (안면/계좌)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본사/현장 대시보드 및 캘린더</a:t>
            </a:r>
            <a:endParaRPr lang="en-US" sz="727" dirty="0"/>
          </a:p>
        </p:txBody>
      </p:sp>
      <p:sp>
        <p:nvSpPr>
          <p:cNvPr id="50" name="Text 44"/>
          <p:cNvSpPr/>
          <p:nvPr/>
        </p:nvSpPr>
        <p:spPr>
          <a:xfrm>
            <a:off x="5072063" y="2016323"/>
            <a:ext cx="9777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Phase 2: 관리 기능</a:t>
            </a:r>
            <a:endParaRPr lang="en-US" sz="784" dirty="0"/>
          </a:p>
        </p:txBody>
      </p:sp>
      <p:sp>
        <p:nvSpPr>
          <p:cNvPr id="51" name="Shape 45"/>
          <p:cNvSpPr/>
          <p:nvPr/>
        </p:nvSpPr>
        <p:spPr>
          <a:xfrm>
            <a:off x="6106957" y="2050312"/>
            <a:ext cx="171450" cy="11251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46"/>
          <p:cNvSpPr/>
          <p:nvPr/>
        </p:nvSpPr>
        <p:spPr>
          <a:xfrm>
            <a:off x="6106957" y="2050312"/>
            <a:ext cx="171450" cy="112514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F172A"/>
                </a:solidFill>
              </a:rPr>
              <a:t>P2</a:t>
            </a:r>
            <a:endParaRPr lang="en-US" sz="485" dirty="0"/>
          </a:p>
        </p:txBody>
      </p:sp>
      <p:sp>
        <p:nvSpPr>
          <p:cNvPr id="53" name="Shape 47"/>
          <p:cNvSpPr/>
          <p:nvPr/>
        </p:nvSpPr>
        <p:spPr>
          <a:xfrm>
            <a:off x="8164943" y="2011859"/>
            <a:ext cx="550432" cy="155377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54" name="Text 48"/>
          <p:cNvSpPr/>
          <p:nvPr/>
        </p:nvSpPr>
        <p:spPr>
          <a:xfrm>
            <a:off x="8164943" y="2011859"/>
            <a:ext cx="550432" cy="15537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2/8 ~ 2/12</a:t>
            </a:r>
            <a:endParaRPr lang="en-US" sz="674" dirty="0"/>
          </a:p>
        </p:txBody>
      </p:sp>
      <p:sp>
        <p:nvSpPr>
          <p:cNvPr id="55" name="Text 49"/>
          <p:cNvSpPr/>
          <p:nvPr/>
        </p:nvSpPr>
        <p:spPr>
          <a:xfrm>
            <a:off x="5072063" y="2228850"/>
            <a:ext cx="364331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프로젝트 목록 및 상세 관리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통합 출역 현황 조회 및 필터링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근로계약 및 노무자 현황 관리</a:t>
            </a:r>
            <a:endParaRPr lang="en-US" sz="727" dirty="0"/>
          </a:p>
        </p:txBody>
      </p:sp>
      <p:sp>
        <p:nvSpPr>
          <p:cNvPr id="56" name="Text 50"/>
          <p:cNvSpPr/>
          <p:nvPr/>
        </p:nvSpPr>
        <p:spPr>
          <a:xfrm>
            <a:off x="5072063" y="2937867"/>
            <a:ext cx="9777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Phase 3: 고급 기능</a:t>
            </a:r>
            <a:endParaRPr lang="en-US" sz="784" dirty="0"/>
          </a:p>
        </p:txBody>
      </p:sp>
      <p:sp>
        <p:nvSpPr>
          <p:cNvPr id="57" name="Shape 51"/>
          <p:cNvSpPr/>
          <p:nvPr/>
        </p:nvSpPr>
        <p:spPr>
          <a:xfrm>
            <a:off x="6106957" y="2971856"/>
            <a:ext cx="171450" cy="11251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Text 52"/>
          <p:cNvSpPr/>
          <p:nvPr/>
        </p:nvSpPr>
        <p:spPr>
          <a:xfrm>
            <a:off x="6106957" y="2971856"/>
            <a:ext cx="171450" cy="112514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F172A"/>
                </a:solidFill>
              </a:rPr>
              <a:t>P3</a:t>
            </a:r>
            <a:endParaRPr lang="en-US" sz="485" dirty="0"/>
          </a:p>
        </p:txBody>
      </p:sp>
      <p:sp>
        <p:nvSpPr>
          <p:cNvPr id="59" name="Shape 53"/>
          <p:cNvSpPr/>
          <p:nvPr/>
        </p:nvSpPr>
        <p:spPr>
          <a:xfrm>
            <a:off x="8111840" y="2933402"/>
            <a:ext cx="603535" cy="155377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0" name="Text 54"/>
          <p:cNvSpPr/>
          <p:nvPr/>
        </p:nvSpPr>
        <p:spPr>
          <a:xfrm>
            <a:off x="8111840" y="2933402"/>
            <a:ext cx="603535" cy="15537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2/13 ~ 2/16</a:t>
            </a:r>
            <a:endParaRPr lang="en-US" sz="674" dirty="0"/>
          </a:p>
        </p:txBody>
      </p:sp>
      <p:sp>
        <p:nvSpPr>
          <p:cNvPr id="61" name="Text 55"/>
          <p:cNvSpPr/>
          <p:nvPr/>
        </p:nvSpPr>
        <p:spPr>
          <a:xfrm>
            <a:off x="5072063" y="3150394"/>
            <a:ext cx="364331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신규 프로젝트 등록 및 초대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신규 출역자 승인 프로세스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작업 일보 및 전자 계약 서명</a:t>
            </a:r>
            <a:endParaRPr lang="en-US" sz="727" dirty="0"/>
          </a:p>
        </p:txBody>
      </p:sp>
      <p:sp>
        <p:nvSpPr>
          <p:cNvPr id="62" name="Text 56"/>
          <p:cNvSpPr/>
          <p:nvPr/>
        </p:nvSpPr>
        <p:spPr>
          <a:xfrm>
            <a:off x="5072063" y="3850481"/>
            <a:ext cx="94802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</a:rPr>
              <a:t>Phase 4: 선택 기능</a:t>
            </a:r>
            <a:endParaRPr lang="en-US" sz="784" dirty="0"/>
          </a:p>
        </p:txBody>
      </p:sp>
      <p:sp>
        <p:nvSpPr>
          <p:cNvPr id="63" name="Shape 57"/>
          <p:cNvSpPr/>
          <p:nvPr/>
        </p:nvSpPr>
        <p:spPr>
          <a:xfrm>
            <a:off x="8212131" y="3850481"/>
            <a:ext cx="503244" cy="16430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4" name="Text 58"/>
          <p:cNvSpPr/>
          <p:nvPr/>
        </p:nvSpPr>
        <p:spPr>
          <a:xfrm>
            <a:off x="8212131" y="3850481"/>
            <a:ext cx="503244" cy="164306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2/16 이후</a:t>
            </a:r>
            <a:endParaRPr lang="en-US" sz="674" dirty="0"/>
          </a:p>
        </p:txBody>
      </p:sp>
      <p:sp>
        <p:nvSpPr>
          <p:cNvPr id="65" name="Text 59"/>
          <p:cNvSpPr/>
          <p:nvPr/>
        </p:nvSpPr>
        <p:spPr>
          <a:xfrm>
            <a:off x="5072063" y="4071938"/>
            <a:ext cx="364331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• 구독 결제 및 청구서 관리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 • 본사 관리자 계정 관리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 • 급여 명세서 상세 조회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257675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12930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714500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3"/>
          <p:cNvSpPr/>
          <p:nvPr/>
        </p:nvSpPr>
        <p:spPr>
          <a:xfrm>
            <a:off x="927739" y="855464"/>
            <a:ext cx="128777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SmartCON Lite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053843" y="1160859"/>
            <a:ext cx="10355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스마트 건설 인력 관리 플랫폼</a:t>
            </a:r>
            <a:endParaRPr lang="en-US" sz="621" dirty="0"/>
          </a:p>
        </p:txBody>
      </p:sp>
      <p:sp>
        <p:nvSpPr>
          <p:cNvPr id="8" name="Shape 5"/>
          <p:cNvSpPr/>
          <p:nvPr/>
        </p:nvSpPr>
        <p:spPr>
          <a:xfrm>
            <a:off x="428625" y="1714500"/>
            <a:ext cx="2286000" cy="37326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714500"/>
            <a:ext cx="1143000" cy="373261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개인사용자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571625" y="1714500"/>
            <a:ext cx="1143000" cy="373261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관리자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1485900" y="5000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1485900" y="5000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571500" y="2302073"/>
            <a:ext cx="2000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SNS 계정으로 간편하게 시작하세요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571500" y="2607469"/>
            <a:ext cx="2000250" cy="342900"/>
          </a:xfrm>
          <a:prstGeom prst="rect">
            <a:avLst/>
          </a:prstGeom>
          <a:solidFill>
            <a:srgbClr val="FEE5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26" y="2728913"/>
            <a:ext cx="100013" cy="10001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76276" y="2706588"/>
            <a:ext cx="76212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카카오로 시작하기</a:t>
            </a:r>
            <a:endParaRPr lang="en-US" sz="683" dirty="0"/>
          </a:p>
        </p:txBody>
      </p:sp>
      <p:sp>
        <p:nvSpPr>
          <p:cNvPr id="17" name="Shape 13"/>
          <p:cNvSpPr/>
          <p:nvPr/>
        </p:nvSpPr>
        <p:spPr>
          <a:xfrm>
            <a:off x="2471738" y="253603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4"/>
          <p:cNvSpPr/>
          <p:nvPr/>
        </p:nvSpPr>
        <p:spPr>
          <a:xfrm>
            <a:off x="2471738" y="25360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9" name="Shape 15"/>
          <p:cNvSpPr/>
          <p:nvPr/>
        </p:nvSpPr>
        <p:spPr>
          <a:xfrm>
            <a:off x="571500" y="3057525"/>
            <a:ext cx="2000250" cy="3429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0" name="Text 16"/>
          <p:cNvSpPr/>
          <p:nvPr/>
        </p:nvSpPr>
        <p:spPr>
          <a:xfrm>
            <a:off x="1113113" y="3161109"/>
            <a:ext cx="834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N</a:t>
            </a:r>
            <a:endParaRPr lang="en-US" sz="683" dirty="0"/>
          </a:p>
        </p:txBody>
      </p:sp>
      <p:sp>
        <p:nvSpPr>
          <p:cNvPr id="21" name="Text 17"/>
          <p:cNvSpPr/>
          <p:nvPr/>
        </p:nvSpPr>
        <p:spPr>
          <a:xfrm>
            <a:off x="1267988" y="3156645"/>
            <a:ext cx="76212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네이버로 시작하기</a:t>
            </a:r>
            <a:endParaRPr lang="en-US" sz="683" dirty="0"/>
          </a:p>
        </p:txBody>
      </p:sp>
      <p:sp>
        <p:nvSpPr>
          <p:cNvPr id="22" name="Shape 18"/>
          <p:cNvSpPr/>
          <p:nvPr/>
        </p:nvSpPr>
        <p:spPr>
          <a:xfrm>
            <a:off x="571500" y="3800475"/>
            <a:ext cx="2000250" cy="35718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1500" y="3800475"/>
            <a:ext cx="2000250" cy="357188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사업자번호 입력</a:t>
            </a:r>
            <a:endParaRPr lang="en-US" sz="727" dirty="0"/>
          </a:p>
        </p:txBody>
      </p:sp>
      <p:sp>
        <p:nvSpPr>
          <p:cNvPr id="24" name="Shape 20"/>
          <p:cNvSpPr/>
          <p:nvPr/>
        </p:nvSpPr>
        <p:spPr>
          <a:xfrm>
            <a:off x="2543175" y="57150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1"/>
          <p:cNvSpPr/>
          <p:nvPr/>
        </p:nvSpPr>
        <p:spPr>
          <a:xfrm>
            <a:off x="2543175" y="5715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26" name="Text 22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[공통] 로그인 및 회원가입</a:t>
            </a:r>
            <a:endParaRPr lang="en-US" sz="1602" dirty="0"/>
          </a:p>
        </p:txBody>
      </p:sp>
      <p:sp>
        <p:nvSpPr>
          <p:cNvPr id="27" name="Text 23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개인(소셜) 및 관리자(사업자번호) 이원화 로그인 프로세스</a:t>
            </a:r>
            <a:endParaRPr lang="en-US" sz="834" dirty="0"/>
          </a:p>
        </p:txBody>
      </p:sp>
      <p:sp>
        <p:nvSpPr>
          <p:cNvPr id="28" name="Shape 24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5"/>
          <p:cNvSpPr/>
          <p:nvPr/>
        </p:nvSpPr>
        <p:spPr>
          <a:xfrm>
            <a:off x="3429000" y="1637705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6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31" name="Shape 27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Shape 28"/>
          <p:cNvSpPr/>
          <p:nvPr/>
        </p:nvSpPr>
        <p:spPr>
          <a:xfrm>
            <a:off x="3786188" y="1637705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29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UI Element</a:t>
            </a:r>
            <a:endParaRPr lang="en-US" sz="634" dirty="0"/>
          </a:p>
        </p:txBody>
      </p:sp>
      <p:sp>
        <p:nvSpPr>
          <p:cNvPr id="34" name="Shape 30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1"/>
          <p:cNvSpPr/>
          <p:nvPr/>
        </p:nvSpPr>
        <p:spPr>
          <a:xfrm>
            <a:off x="4643438" y="1637705"/>
            <a:ext cx="4071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2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37" name="Shape 33"/>
          <p:cNvSpPr/>
          <p:nvPr/>
        </p:nvSpPr>
        <p:spPr>
          <a:xfrm>
            <a:off x="3514725" y="173057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4"/>
          <p:cNvSpPr/>
          <p:nvPr/>
        </p:nvSpPr>
        <p:spPr>
          <a:xfrm>
            <a:off x="3514725" y="17305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39" name="Text 35"/>
          <p:cNvSpPr/>
          <p:nvPr/>
        </p:nvSpPr>
        <p:spPr>
          <a:xfrm>
            <a:off x="3871913" y="1739503"/>
            <a:ext cx="5609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로그인 유형 탭</a:t>
            </a:r>
            <a:endParaRPr lang="en-US" sz="634" dirty="0"/>
          </a:p>
        </p:txBody>
      </p:sp>
      <p:sp>
        <p:nvSpPr>
          <p:cNvPr id="40" name="Text 36"/>
          <p:cNvSpPr/>
          <p:nvPr/>
        </p:nvSpPr>
        <p:spPr>
          <a:xfrm>
            <a:off x="4729163" y="173057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State: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loginType: 'personal' | 'admin'</a:t>
            </a:r>
            <a:endParaRPr lang="en-US" sz="674" dirty="0"/>
          </a:p>
        </p:txBody>
      </p:sp>
      <p:sp>
        <p:nvSpPr>
          <p:cNvPr id="41" name="Text 37"/>
          <p:cNvSpPr/>
          <p:nvPr/>
        </p:nvSpPr>
        <p:spPr>
          <a:xfrm>
            <a:off x="4729163" y="1857375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개인: 소셜 로그인 버튼 노출</a:t>
            </a:r>
            <a:endParaRPr lang="en-US" sz="674" dirty="0"/>
          </a:p>
        </p:txBody>
      </p:sp>
      <p:sp>
        <p:nvSpPr>
          <p:cNvPr id="42" name="Text 38"/>
          <p:cNvSpPr/>
          <p:nvPr/>
        </p:nvSpPr>
        <p:spPr>
          <a:xfrm>
            <a:off x="4729163" y="1993106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관리자: 사업자번호/비밀번호 입력 폼 노출</a:t>
            </a:r>
            <a:endParaRPr lang="en-US" sz="674" dirty="0"/>
          </a:p>
        </p:txBody>
      </p:sp>
      <p:sp>
        <p:nvSpPr>
          <p:cNvPr id="43" name="Shape 39"/>
          <p:cNvSpPr/>
          <p:nvPr/>
        </p:nvSpPr>
        <p:spPr>
          <a:xfrm>
            <a:off x="3514725" y="230743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Text 40"/>
          <p:cNvSpPr/>
          <p:nvPr/>
        </p:nvSpPr>
        <p:spPr>
          <a:xfrm>
            <a:off x="3514725" y="23074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45" name="Text 41"/>
          <p:cNvSpPr/>
          <p:nvPr/>
        </p:nvSpPr>
        <p:spPr>
          <a:xfrm>
            <a:off x="3871913" y="2316361"/>
            <a:ext cx="4513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소셜 로그인</a:t>
            </a:r>
            <a:endParaRPr lang="en-US" sz="634" dirty="0"/>
          </a:p>
        </p:txBody>
      </p:sp>
      <p:sp>
        <p:nvSpPr>
          <p:cNvPr id="46" name="Text 42"/>
          <p:cNvSpPr/>
          <p:nvPr/>
        </p:nvSpPr>
        <p:spPr>
          <a:xfrm>
            <a:off x="4729163" y="2307431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react-native-kakao-login</a:t>
            </a:r>
            <a:endParaRPr lang="en-US" sz="674" dirty="0"/>
          </a:p>
        </p:txBody>
      </p:sp>
      <p:sp>
        <p:nvSpPr>
          <p:cNvPr id="47" name="Text 43"/>
          <p:cNvSpPr/>
          <p:nvPr/>
        </p:nvSpPr>
        <p:spPr>
          <a:xfrm>
            <a:off x="4729163" y="2434233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Logic: OAuth2 토큰 획득 → 백엔드 전송 → CI 값 확인</a:t>
            </a:r>
            <a:endParaRPr lang="en-US" sz="674" dirty="0"/>
          </a:p>
        </p:txBody>
      </p:sp>
      <p:sp>
        <p:nvSpPr>
          <p:cNvPr id="48" name="Text 44"/>
          <p:cNvSpPr/>
          <p:nvPr/>
        </p:nvSpPr>
        <p:spPr>
          <a:xfrm>
            <a:off x="4729163" y="2569964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POST /api/v1/auth/social</a:t>
            </a:r>
            <a:endParaRPr lang="en-US" sz="674" dirty="0"/>
          </a:p>
        </p:txBody>
      </p:sp>
      <p:sp>
        <p:nvSpPr>
          <p:cNvPr id="49" name="Text 45"/>
          <p:cNvSpPr/>
          <p:nvPr/>
        </p:nvSpPr>
        <p:spPr>
          <a:xfrm>
            <a:off x="4729163" y="2696766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Case 1 (기존): JWT 발급 및 로그인 완료</a:t>
            </a:r>
            <a:endParaRPr lang="en-US" sz="674" dirty="0"/>
          </a:p>
        </p:txBody>
      </p:sp>
      <p:sp>
        <p:nvSpPr>
          <p:cNvPr id="50" name="Text 46"/>
          <p:cNvSpPr/>
          <p:nvPr/>
        </p:nvSpPr>
        <p:spPr>
          <a:xfrm>
            <a:off x="4729163" y="2832497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Case 2 (신규): 회원가입 화면으로 이동 (전화번호 인증)</a:t>
            </a:r>
            <a:endParaRPr lang="en-US" sz="674" dirty="0"/>
          </a:p>
        </p:txBody>
      </p:sp>
      <p:sp>
        <p:nvSpPr>
          <p:cNvPr id="51" name="Shape 47"/>
          <p:cNvSpPr/>
          <p:nvPr/>
        </p:nvSpPr>
        <p:spPr>
          <a:xfrm>
            <a:off x="3514725" y="314682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2" name="Text 48"/>
          <p:cNvSpPr/>
          <p:nvPr/>
        </p:nvSpPr>
        <p:spPr>
          <a:xfrm>
            <a:off x="3514725" y="314682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53" name="Text 49"/>
          <p:cNvSpPr/>
          <p:nvPr/>
        </p:nvSpPr>
        <p:spPr>
          <a:xfrm>
            <a:off x="3871913" y="3155752"/>
            <a:ext cx="53678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관리자 로그인</a:t>
            </a:r>
            <a:endParaRPr lang="en-US" sz="634" dirty="0"/>
          </a:p>
        </p:txBody>
      </p:sp>
      <p:sp>
        <p:nvSpPr>
          <p:cNvPr id="54" name="Text 50"/>
          <p:cNvSpPr/>
          <p:nvPr/>
        </p:nvSpPr>
        <p:spPr>
          <a:xfrm>
            <a:off x="4729163" y="3146822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Input: 사업자번호(10자리), 비밀번호</a:t>
            </a:r>
            <a:endParaRPr lang="en-US" sz="674" dirty="0"/>
          </a:p>
        </p:txBody>
      </p:sp>
      <p:sp>
        <p:nvSpPr>
          <p:cNvPr id="55" name="Text 51"/>
          <p:cNvSpPr/>
          <p:nvPr/>
        </p:nvSpPr>
        <p:spPr>
          <a:xfrm>
            <a:off x="4729163" y="3282553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Logic: 1차 인증 성공 시 이메일 2FA 코드 발송</a:t>
            </a:r>
            <a:endParaRPr lang="en-US" sz="674" dirty="0"/>
          </a:p>
        </p:txBody>
      </p:sp>
      <p:sp>
        <p:nvSpPr>
          <p:cNvPr id="56" name="Text 52"/>
          <p:cNvSpPr/>
          <p:nvPr/>
        </p:nvSpPr>
        <p:spPr>
          <a:xfrm>
            <a:off x="4729163" y="3418284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POST /api/v1/auth/admin/login</a:t>
            </a:r>
            <a:endParaRPr lang="en-US" sz="674" dirty="0"/>
          </a:p>
        </p:txBody>
      </p:sp>
      <p:sp>
        <p:nvSpPr>
          <p:cNvPr id="57" name="Shape 53"/>
          <p:cNvSpPr/>
          <p:nvPr/>
        </p:nvSpPr>
        <p:spPr>
          <a:xfrm>
            <a:off x="3429000" y="3702248"/>
            <a:ext cx="5286375" cy="7715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3571875" y="3845123"/>
            <a:ext cx="50006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회원가입 프로세스 (신규 사용자)</a:t>
            </a:r>
            <a:endParaRPr lang="en-US" sz="683" dirty="0"/>
          </a:p>
        </p:txBody>
      </p:sp>
      <p:sp>
        <p:nvSpPr>
          <p:cNvPr id="59" name="Shape 55"/>
          <p:cNvSpPr/>
          <p:nvPr/>
        </p:nvSpPr>
        <p:spPr>
          <a:xfrm>
            <a:off x="3571875" y="4061222"/>
            <a:ext cx="602363" cy="25538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3571875" y="4061222"/>
            <a:ext cx="602363" cy="25538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소셜 로그인</a:t>
            </a:r>
            <a:endParaRPr lang="en-US" sz="621" dirty="0"/>
          </a:p>
        </p:txBody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388" y="4146054"/>
            <a:ext cx="75009" cy="85725"/>
          </a:xfrm>
          <a:prstGeom prst="rect">
            <a:avLst/>
          </a:prstGeom>
        </p:spPr>
      </p:pic>
      <p:sp>
        <p:nvSpPr>
          <p:cNvPr id="62" name="Shape 57"/>
          <p:cNvSpPr/>
          <p:nvPr/>
        </p:nvSpPr>
        <p:spPr>
          <a:xfrm>
            <a:off x="4377835" y="4061222"/>
            <a:ext cx="770995" cy="25538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377835" y="4061222"/>
            <a:ext cx="770995" cy="25538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CI 값 없음 (404)</a:t>
            </a:r>
            <a:endParaRPr lang="en-US" sz="621" dirty="0"/>
          </a:p>
        </p:txBody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980" y="4146054"/>
            <a:ext cx="75009" cy="85725"/>
          </a:xfrm>
          <a:prstGeom prst="rect">
            <a:avLst/>
          </a:prstGeom>
        </p:spPr>
      </p:pic>
      <p:sp>
        <p:nvSpPr>
          <p:cNvPr id="65" name="Shape 59"/>
          <p:cNvSpPr/>
          <p:nvPr/>
        </p:nvSpPr>
        <p:spPr>
          <a:xfrm>
            <a:off x="5352427" y="4061222"/>
            <a:ext cx="523503" cy="25538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5352427" y="4061222"/>
            <a:ext cx="523503" cy="25538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약관 동의</a:t>
            </a:r>
            <a:endParaRPr lang="en-US" sz="621" dirty="0"/>
          </a:p>
        </p:txBody>
      </p:sp>
      <p:pic>
        <p:nvPicPr>
          <p:cNvPr id="6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080" y="4146054"/>
            <a:ext cx="75009" cy="85725"/>
          </a:xfrm>
          <a:prstGeom prst="rect">
            <a:avLst/>
          </a:prstGeom>
        </p:spPr>
      </p:pic>
      <p:sp>
        <p:nvSpPr>
          <p:cNvPr id="68" name="Shape 61"/>
          <p:cNvSpPr/>
          <p:nvPr/>
        </p:nvSpPr>
        <p:spPr>
          <a:xfrm>
            <a:off x="6079527" y="4061222"/>
            <a:ext cx="695399" cy="25538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6079527" y="4061222"/>
            <a:ext cx="695399" cy="25538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SMS 본인인증</a:t>
            </a:r>
            <a:endParaRPr lang="en-US" sz="621" dirty="0"/>
          </a:p>
        </p:txBody>
      </p:sp>
      <p:pic>
        <p:nvPicPr>
          <p:cNvPr id="7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076" y="4146054"/>
            <a:ext cx="75009" cy="85725"/>
          </a:xfrm>
          <a:prstGeom prst="rect">
            <a:avLst/>
          </a:prstGeom>
        </p:spPr>
      </p:pic>
      <p:sp>
        <p:nvSpPr>
          <p:cNvPr id="71" name="Shape 63"/>
          <p:cNvSpPr/>
          <p:nvPr/>
        </p:nvSpPr>
        <p:spPr>
          <a:xfrm>
            <a:off x="6978523" y="4061222"/>
            <a:ext cx="730197" cy="25538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72" name="Text 64"/>
          <p:cNvSpPr/>
          <p:nvPr/>
        </p:nvSpPr>
        <p:spPr>
          <a:xfrm>
            <a:off x="6978523" y="4061222"/>
            <a:ext cx="730197" cy="25538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CI 매핑 및 가입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257675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50069"/>
            <a:ext cx="100013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3571" y="525066"/>
            <a:ext cx="5852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내 정보 관리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2436577" y="539353"/>
            <a:ext cx="1708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저장</a:t>
            </a:r>
            <a:endParaRPr lang="en-US" sz="634" dirty="0"/>
          </a:p>
        </p:txBody>
      </p:sp>
      <p:sp>
        <p:nvSpPr>
          <p:cNvPr id="9" name="Shape 5"/>
          <p:cNvSpPr/>
          <p:nvPr/>
        </p:nvSpPr>
        <p:spPr>
          <a:xfrm>
            <a:off x="1285875" y="928688"/>
            <a:ext cx="571500" cy="57150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863" y="1107281"/>
            <a:ext cx="187523" cy="214313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685925" y="1328738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788" y="1371600"/>
            <a:ext cx="85725" cy="8572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757363" y="9286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8"/>
          <p:cNvSpPr/>
          <p:nvPr/>
        </p:nvSpPr>
        <p:spPr>
          <a:xfrm>
            <a:off x="1757363" y="9286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5" name="Text 9"/>
          <p:cNvSpPr/>
          <p:nvPr/>
        </p:nvSpPr>
        <p:spPr>
          <a:xfrm>
            <a:off x="571500" y="1643063"/>
            <a:ext cx="2000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이름</a:t>
            </a:r>
            <a:endParaRPr lang="en-US" sz="621" dirty="0"/>
          </a:p>
        </p:txBody>
      </p:sp>
      <p:sp>
        <p:nvSpPr>
          <p:cNvPr id="16" name="Shape 10"/>
          <p:cNvSpPr/>
          <p:nvPr/>
        </p:nvSpPr>
        <p:spPr>
          <a:xfrm>
            <a:off x="571500" y="1805583"/>
            <a:ext cx="2000250" cy="30003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71500" y="1805583"/>
            <a:ext cx="2000250" cy="300038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홍길동</a:t>
            </a:r>
            <a:endParaRPr lang="en-US" sz="674" dirty="0"/>
          </a:p>
        </p:txBody>
      </p:sp>
      <p:sp>
        <p:nvSpPr>
          <p:cNvPr id="18" name="Shape 12"/>
          <p:cNvSpPr/>
          <p:nvPr/>
        </p:nvSpPr>
        <p:spPr>
          <a:xfrm>
            <a:off x="2614613" y="4286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3"/>
          <p:cNvSpPr/>
          <p:nvPr/>
        </p:nvSpPr>
        <p:spPr>
          <a:xfrm>
            <a:off x="2614613" y="4286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20" name="Text 14"/>
          <p:cNvSpPr/>
          <p:nvPr/>
        </p:nvSpPr>
        <p:spPr>
          <a:xfrm>
            <a:off x="571500" y="2234208"/>
            <a:ext cx="2000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급여 계좌</a:t>
            </a:r>
            <a:endParaRPr lang="en-US" sz="621" dirty="0"/>
          </a:p>
        </p:txBody>
      </p:sp>
      <p:sp>
        <p:nvSpPr>
          <p:cNvPr id="21" name="Shape 15"/>
          <p:cNvSpPr/>
          <p:nvPr/>
        </p:nvSpPr>
        <p:spPr>
          <a:xfrm>
            <a:off x="571500" y="2396728"/>
            <a:ext cx="2000250" cy="30003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71500" y="2396728"/>
            <a:ext cx="2000250" cy="300038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신한은행 110-123-456789</a:t>
            </a:r>
            <a:endParaRPr lang="en-US" sz="674" dirty="0"/>
          </a:p>
        </p:txBody>
      </p:sp>
      <p:sp>
        <p:nvSpPr>
          <p:cNvPr id="23" name="Shape 17"/>
          <p:cNvSpPr/>
          <p:nvPr/>
        </p:nvSpPr>
        <p:spPr>
          <a:xfrm>
            <a:off x="571500" y="2825353"/>
            <a:ext cx="2000250" cy="49113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78656" y="2932509"/>
            <a:ext cx="536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안면인식 정보</a:t>
            </a:r>
            <a:endParaRPr lang="en-US" sz="634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3088779"/>
            <a:ext cx="85725" cy="857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0100" y="3068241"/>
            <a:ext cx="3377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등록 완료</a:t>
            </a:r>
            <a:endParaRPr lang="en-US" sz="621" dirty="0"/>
          </a:p>
        </p:txBody>
      </p:sp>
      <p:sp>
        <p:nvSpPr>
          <p:cNvPr id="27" name="Shape 20"/>
          <p:cNvSpPr/>
          <p:nvPr/>
        </p:nvSpPr>
        <p:spPr>
          <a:xfrm>
            <a:off x="2056535" y="2957513"/>
            <a:ext cx="408059" cy="212527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1"/>
          <p:cNvSpPr/>
          <p:nvPr/>
        </p:nvSpPr>
        <p:spPr>
          <a:xfrm>
            <a:off x="2056535" y="2957513"/>
            <a:ext cx="408059" cy="212527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재등록</a:t>
            </a:r>
            <a:endParaRPr lang="en-US" sz="621" dirty="0"/>
          </a:p>
        </p:txBody>
      </p:sp>
      <p:sp>
        <p:nvSpPr>
          <p:cNvPr id="29" name="Shape 22"/>
          <p:cNvSpPr/>
          <p:nvPr/>
        </p:nvSpPr>
        <p:spPr>
          <a:xfrm>
            <a:off x="2614613" y="3571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3"/>
          <p:cNvSpPr/>
          <p:nvPr/>
        </p:nvSpPr>
        <p:spPr>
          <a:xfrm>
            <a:off x="2614613" y="3571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31" name="Text 24"/>
          <p:cNvSpPr/>
          <p:nvPr/>
        </p:nvSpPr>
        <p:spPr>
          <a:xfrm>
            <a:off x="571500" y="3445073"/>
            <a:ext cx="2000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연결된 소셜 계정</a:t>
            </a:r>
            <a:endParaRPr lang="en-US" sz="621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29025"/>
            <a:ext cx="92869" cy="9286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5806" y="3607594"/>
            <a:ext cx="10059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카카오 (2026.01.20 연결)</a:t>
            </a:r>
            <a:endParaRPr lang="en-US" sz="674" dirty="0"/>
          </a:p>
        </p:txBody>
      </p:sp>
      <p:sp>
        <p:nvSpPr>
          <p:cNvPr id="34" name="Shape 26"/>
          <p:cNvSpPr/>
          <p:nvPr/>
        </p:nvSpPr>
        <p:spPr>
          <a:xfrm>
            <a:off x="2614613" y="4286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27"/>
          <p:cNvSpPr/>
          <p:nvPr/>
        </p:nvSpPr>
        <p:spPr>
          <a:xfrm>
            <a:off x="2614613" y="4286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36" name="Text 28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[공통] 내 정보 관리</a:t>
            </a:r>
            <a:endParaRPr lang="en-US" sz="1602" dirty="0"/>
          </a:p>
        </p:txBody>
      </p:sp>
      <p:sp>
        <p:nvSpPr>
          <p:cNvPr id="37" name="Text 29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개인정보, 계좌, 안면정보 및 소셜 계정 통합 관리</a:t>
            </a:r>
            <a:endParaRPr lang="en-US" sz="834" dirty="0"/>
          </a:p>
        </p:txBody>
      </p:sp>
      <p:sp>
        <p:nvSpPr>
          <p:cNvPr id="38" name="Shape 30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Shape 31"/>
          <p:cNvSpPr/>
          <p:nvPr/>
        </p:nvSpPr>
        <p:spPr>
          <a:xfrm>
            <a:off x="3429000" y="1637705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2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41" name="Shape 33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Shape 34"/>
          <p:cNvSpPr/>
          <p:nvPr/>
        </p:nvSpPr>
        <p:spPr>
          <a:xfrm>
            <a:off x="3786188" y="1637705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" name="Text 35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UI Element</a:t>
            </a:r>
            <a:endParaRPr lang="en-US" sz="634" dirty="0"/>
          </a:p>
        </p:txBody>
      </p:sp>
      <p:sp>
        <p:nvSpPr>
          <p:cNvPr id="44" name="Shape 36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Shape 37"/>
          <p:cNvSpPr/>
          <p:nvPr/>
        </p:nvSpPr>
        <p:spPr>
          <a:xfrm>
            <a:off x="4643438" y="1637705"/>
            <a:ext cx="4071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38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47" name="Shape 39"/>
          <p:cNvSpPr/>
          <p:nvPr/>
        </p:nvSpPr>
        <p:spPr>
          <a:xfrm>
            <a:off x="3514725" y="173057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8" name="Text 40"/>
          <p:cNvSpPr/>
          <p:nvPr/>
        </p:nvSpPr>
        <p:spPr>
          <a:xfrm>
            <a:off x="3514725" y="17305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49" name="Text 41"/>
          <p:cNvSpPr/>
          <p:nvPr/>
        </p:nvSpPr>
        <p:spPr>
          <a:xfrm>
            <a:off x="3871913" y="1739503"/>
            <a:ext cx="4513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프로필 사진</a:t>
            </a:r>
            <a:endParaRPr lang="en-US" sz="634" dirty="0"/>
          </a:p>
        </p:txBody>
      </p:sp>
      <p:sp>
        <p:nvSpPr>
          <p:cNvPr id="50" name="Text 42"/>
          <p:cNvSpPr/>
          <p:nvPr/>
        </p:nvSpPr>
        <p:spPr>
          <a:xfrm>
            <a:off x="4729163" y="1730573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Action: 이미지 선택 및 크롭 (ImagePicker)</a:t>
            </a:r>
            <a:endParaRPr lang="en-US" sz="674" dirty="0"/>
          </a:p>
        </p:txBody>
      </p:sp>
      <p:sp>
        <p:nvSpPr>
          <p:cNvPr id="51" name="Text 43"/>
          <p:cNvSpPr/>
          <p:nvPr/>
        </p:nvSpPr>
        <p:spPr>
          <a:xfrm>
            <a:off x="4729163" y="1866305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POST /api/v1/users/profile-image</a:t>
            </a:r>
            <a:endParaRPr lang="en-US" sz="674" dirty="0"/>
          </a:p>
        </p:txBody>
      </p:sp>
      <p:sp>
        <p:nvSpPr>
          <p:cNvPr id="52" name="Text 44"/>
          <p:cNvSpPr/>
          <p:nvPr/>
        </p:nvSpPr>
        <p:spPr>
          <a:xfrm>
            <a:off x="4729163" y="1993106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Storage: S3 업로드 후 URL 저장</a:t>
            </a:r>
            <a:endParaRPr lang="en-US" sz="674" dirty="0"/>
          </a:p>
        </p:txBody>
      </p:sp>
      <p:sp>
        <p:nvSpPr>
          <p:cNvPr id="53" name="Shape 45"/>
          <p:cNvSpPr/>
          <p:nvPr/>
        </p:nvSpPr>
        <p:spPr>
          <a:xfrm>
            <a:off x="3514725" y="230743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Text 46"/>
          <p:cNvSpPr/>
          <p:nvPr/>
        </p:nvSpPr>
        <p:spPr>
          <a:xfrm>
            <a:off x="3514725" y="23074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55" name="Text 47"/>
          <p:cNvSpPr/>
          <p:nvPr/>
        </p:nvSpPr>
        <p:spPr>
          <a:xfrm>
            <a:off x="3871913" y="2316361"/>
            <a:ext cx="5609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기본 정보 수정</a:t>
            </a:r>
            <a:endParaRPr lang="en-US" sz="634" dirty="0"/>
          </a:p>
        </p:txBody>
      </p:sp>
      <p:sp>
        <p:nvSpPr>
          <p:cNvPr id="56" name="Text 48"/>
          <p:cNvSpPr/>
          <p:nvPr/>
        </p:nvSpPr>
        <p:spPr>
          <a:xfrm>
            <a:off x="4729163" y="2307431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Fields: 이름, 전화번호, 이메일, 주소, 비상연락처</a:t>
            </a:r>
            <a:endParaRPr lang="en-US" sz="674" dirty="0"/>
          </a:p>
        </p:txBody>
      </p:sp>
      <p:sp>
        <p:nvSpPr>
          <p:cNvPr id="57" name="Text 49"/>
          <p:cNvSpPr/>
          <p:nvPr/>
        </p:nvSpPr>
        <p:spPr>
          <a:xfrm>
            <a:off x="4729163" y="2443163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Valid: 전화번호 형식, 이메일 형식 검사</a:t>
            </a:r>
            <a:endParaRPr lang="en-US" sz="674" dirty="0"/>
          </a:p>
        </p:txBody>
      </p:sp>
      <p:sp>
        <p:nvSpPr>
          <p:cNvPr id="58" name="Text 50"/>
          <p:cNvSpPr/>
          <p:nvPr/>
        </p:nvSpPr>
        <p:spPr>
          <a:xfrm>
            <a:off x="4729163" y="2578894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Secure: 주민번호는 마스킹 처리되어 표시 (수정 불가)</a:t>
            </a:r>
            <a:endParaRPr lang="en-US" sz="674" dirty="0"/>
          </a:p>
        </p:txBody>
      </p:sp>
      <p:sp>
        <p:nvSpPr>
          <p:cNvPr id="59" name="Shape 51"/>
          <p:cNvSpPr/>
          <p:nvPr/>
        </p:nvSpPr>
        <p:spPr>
          <a:xfrm>
            <a:off x="3514725" y="289321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0" name="Text 52"/>
          <p:cNvSpPr/>
          <p:nvPr/>
        </p:nvSpPr>
        <p:spPr>
          <a:xfrm>
            <a:off x="3514725" y="289321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61" name="Text 53"/>
          <p:cNvSpPr/>
          <p:nvPr/>
        </p:nvSpPr>
        <p:spPr>
          <a:xfrm>
            <a:off x="3871913" y="2902148"/>
            <a:ext cx="53678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안면정보 관리</a:t>
            </a:r>
            <a:endParaRPr lang="en-US" sz="634" dirty="0"/>
          </a:p>
        </p:txBody>
      </p:sp>
      <p:sp>
        <p:nvSpPr>
          <p:cNvPr id="62" name="Text 54"/>
          <p:cNvSpPr/>
          <p:nvPr/>
        </p:nvSpPr>
        <p:spPr>
          <a:xfrm>
            <a:off x="4729163" y="2893219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Status: 등록됨 / 미등록 (현장별 관리 가능)</a:t>
            </a:r>
            <a:endParaRPr lang="en-US" sz="674" dirty="0"/>
          </a:p>
        </p:txBody>
      </p:sp>
      <p:sp>
        <p:nvSpPr>
          <p:cNvPr id="63" name="Text 55"/>
          <p:cNvSpPr/>
          <p:nvPr/>
        </p:nvSpPr>
        <p:spPr>
          <a:xfrm>
            <a:off x="4729163" y="3028950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Action: '재등록' 클릭 시 안면인식 카메라 화면으로 이동</a:t>
            </a:r>
            <a:endParaRPr lang="en-US" sz="674" dirty="0"/>
          </a:p>
        </p:txBody>
      </p:sp>
      <p:sp>
        <p:nvSpPr>
          <p:cNvPr id="64" name="Text 56"/>
          <p:cNvSpPr/>
          <p:nvPr/>
        </p:nvSpPr>
        <p:spPr>
          <a:xfrm>
            <a:off x="4729163" y="3164681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GET /api/v1/users/face-status</a:t>
            </a:r>
            <a:endParaRPr lang="en-US" sz="674" dirty="0"/>
          </a:p>
        </p:txBody>
      </p:sp>
      <p:sp>
        <p:nvSpPr>
          <p:cNvPr id="65" name="Shape 57"/>
          <p:cNvSpPr/>
          <p:nvPr/>
        </p:nvSpPr>
        <p:spPr>
          <a:xfrm>
            <a:off x="3514725" y="347007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6" name="Text 58"/>
          <p:cNvSpPr/>
          <p:nvPr/>
        </p:nvSpPr>
        <p:spPr>
          <a:xfrm>
            <a:off x="3514725" y="347007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67" name="Text 59"/>
          <p:cNvSpPr/>
          <p:nvPr/>
        </p:nvSpPr>
        <p:spPr>
          <a:xfrm>
            <a:off x="3871913" y="3479006"/>
            <a:ext cx="5609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소셜 계정 연동</a:t>
            </a:r>
            <a:endParaRPr lang="en-US" sz="634" dirty="0"/>
          </a:p>
        </p:txBody>
      </p:sp>
      <p:sp>
        <p:nvSpPr>
          <p:cNvPr id="68" name="Text 60"/>
          <p:cNvSpPr/>
          <p:nvPr/>
        </p:nvSpPr>
        <p:spPr>
          <a:xfrm>
            <a:off x="4729163" y="3470077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List: 연결된 소셜 제공자(Kakao, Naver) 목록 표시</a:t>
            </a:r>
            <a:endParaRPr lang="en-US" sz="674" dirty="0"/>
          </a:p>
        </p:txBody>
      </p:sp>
      <p:sp>
        <p:nvSpPr>
          <p:cNvPr id="69" name="Text 61"/>
          <p:cNvSpPr/>
          <p:nvPr/>
        </p:nvSpPr>
        <p:spPr>
          <a:xfrm>
            <a:off x="4729163" y="3605808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Action: 연결 해제 또는 추가 연결</a:t>
            </a:r>
            <a:endParaRPr lang="en-US" sz="674" dirty="0"/>
          </a:p>
        </p:txBody>
      </p:sp>
      <p:sp>
        <p:nvSpPr>
          <p:cNvPr id="70" name="Text 62"/>
          <p:cNvSpPr/>
          <p:nvPr/>
        </p:nvSpPr>
        <p:spPr>
          <a:xfrm>
            <a:off x="4729163" y="3741539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Logic: 최소 1개의 로그인 수단 유지 필수</a:t>
            </a:r>
            <a:endParaRPr lang="en-US" sz="67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5729288" cy="4443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5750" y="285750"/>
            <a:ext cx="5715000" cy="2214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500063"/>
            <a:ext cx="5715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3"/>
          <p:cNvSpPr/>
          <p:nvPr/>
        </p:nvSpPr>
        <p:spPr>
          <a:xfrm>
            <a:off x="850106" y="339328"/>
            <a:ext cx="65200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SmartCON Admin</a:t>
            </a:r>
            <a:endParaRPr lang="en-US" sz="568" dirty="0"/>
          </a:p>
        </p:txBody>
      </p:sp>
      <p:sp>
        <p:nvSpPr>
          <p:cNvPr id="7" name="Shape 4"/>
          <p:cNvSpPr/>
          <p:nvPr/>
        </p:nvSpPr>
        <p:spPr>
          <a:xfrm>
            <a:off x="285750" y="500063"/>
            <a:ext cx="1435894" cy="421481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Shape 5"/>
          <p:cNvSpPr/>
          <p:nvPr/>
        </p:nvSpPr>
        <p:spPr>
          <a:xfrm>
            <a:off x="1714500" y="500063"/>
            <a:ext cx="7144" cy="421481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6"/>
          <p:cNvSpPr/>
          <p:nvPr/>
        </p:nvSpPr>
        <p:spPr>
          <a:xfrm>
            <a:off x="285750" y="642938"/>
            <a:ext cx="1428750" cy="332184"/>
          </a:xfrm>
          <a:prstGeom prst="rect">
            <a:avLst/>
          </a:prstGeom>
          <a:noFill/>
          <a:ln/>
        </p:spPr>
        <p:txBody>
          <a:bodyPr wrap="square" lIns="170053" tIns="0" rIns="170053" bIns="187071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SmartCON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285750" y="975122"/>
            <a:ext cx="1428750" cy="30718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1693069" y="975122"/>
            <a:ext cx="21431" cy="30718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82278"/>
            <a:ext cx="105370" cy="928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5433" y="1060847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대시보드</a:t>
            </a:r>
            <a:endParaRPr lang="en-US" sz="674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389459"/>
            <a:ext cx="69652" cy="928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9714" y="1368028"/>
            <a:ext cx="536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프로젝트 현황</a:t>
            </a:r>
            <a:endParaRPr lang="en-US" sz="674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696641"/>
            <a:ext cx="116086" cy="928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148" y="1675209"/>
            <a:ext cx="3659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출역 현황</a:t>
            </a:r>
            <a:endParaRPr lang="en-US" sz="674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003822"/>
            <a:ext cx="105370" cy="9286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5433" y="1982391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근로계약</a:t>
            </a:r>
            <a:endParaRPr lang="en-US" sz="674" dirty="0"/>
          </a:p>
        </p:txBody>
      </p:sp>
      <p:sp>
        <p:nvSpPr>
          <p:cNvPr id="20" name="Shape 13"/>
          <p:cNvSpPr/>
          <p:nvPr/>
        </p:nvSpPr>
        <p:spPr>
          <a:xfrm>
            <a:off x="1714500" y="500063"/>
            <a:ext cx="4286250" cy="421481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4"/>
          <p:cNvSpPr/>
          <p:nvPr/>
        </p:nvSpPr>
        <p:spPr>
          <a:xfrm>
            <a:off x="1885950" y="671513"/>
            <a:ext cx="82582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통합 대시보드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5058445" y="711696"/>
            <a:ext cx="7708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2026.01.20 (월) 기준</a:t>
            </a:r>
            <a:endParaRPr lang="en-US" sz="621" dirty="0"/>
          </a:p>
        </p:txBody>
      </p:sp>
      <p:sp>
        <p:nvSpPr>
          <p:cNvPr id="23" name="Shape 16"/>
          <p:cNvSpPr/>
          <p:nvPr/>
        </p:nvSpPr>
        <p:spPr>
          <a:xfrm>
            <a:off x="1885950" y="1007269"/>
            <a:ext cx="1247756" cy="80724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985963" y="1107281"/>
            <a:ext cx="10477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진행중 현장</a:t>
            </a:r>
            <a:endParaRPr lang="en-US" sz="621" dirty="0"/>
          </a:p>
        </p:txBody>
      </p:sp>
      <p:sp>
        <p:nvSpPr>
          <p:cNvPr id="25" name="Text 18"/>
          <p:cNvSpPr/>
          <p:nvPr/>
        </p:nvSpPr>
        <p:spPr>
          <a:xfrm>
            <a:off x="1985963" y="1276945"/>
            <a:ext cx="10477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12</a:t>
            </a:r>
            <a:endParaRPr lang="en-US" sz="1397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5963" y="1609130"/>
            <a:ext cx="58936" cy="7858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044898" y="1593056"/>
            <a:ext cx="44037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전월 대비 +2</a:t>
            </a:r>
            <a:endParaRPr lang="en-US" sz="568" dirty="0"/>
          </a:p>
        </p:txBody>
      </p:sp>
      <p:sp>
        <p:nvSpPr>
          <p:cNvPr id="28" name="Shape 20"/>
          <p:cNvSpPr/>
          <p:nvPr/>
        </p:nvSpPr>
        <p:spPr>
          <a:xfrm>
            <a:off x="3033694" y="93583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1"/>
          <p:cNvSpPr/>
          <p:nvPr/>
        </p:nvSpPr>
        <p:spPr>
          <a:xfrm>
            <a:off x="3033694" y="9358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30" name="Shape 22"/>
          <p:cNvSpPr/>
          <p:nvPr/>
        </p:nvSpPr>
        <p:spPr>
          <a:xfrm>
            <a:off x="3233719" y="1007269"/>
            <a:ext cx="1247784" cy="80724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3333731" y="1107281"/>
            <a:ext cx="104775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금일 총 출역자</a:t>
            </a:r>
            <a:endParaRPr lang="en-US" sz="621" dirty="0"/>
          </a:p>
        </p:txBody>
      </p:sp>
      <p:sp>
        <p:nvSpPr>
          <p:cNvPr id="32" name="Text 24"/>
          <p:cNvSpPr/>
          <p:nvPr/>
        </p:nvSpPr>
        <p:spPr>
          <a:xfrm>
            <a:off x="3333731" y="1276945"/>
            <a:ext cx="104775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1,240</a:t>
            </a:r>
            <a:endParaRPr lang="en-US" sz="1397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731" y="1609130"/>
            <a:ext cx="58936" cy="7858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392667" y="1593056"/>
            <a:ext cx="41297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98% 출석률</a:t>
            </a:r>
            <a:endParaRPr lang="en-US" sz="568" dirty="0"/>
          </a:p>
        </p:txBody>
      </p:sp>
      <p:sp>
        <p:nvSpPr>
          <p:cNvPr id="35" name="Shape 26"/>
          <p:cNvSpPr/>
          <p:nvPr/>
        </p:nvSpPr>
        <p:spPr>
          <a:xfrm>
            <a:off x="4581516" y="1007269"/>
            <a:ext cx="1247784" cy="807244"/>
          </a:xfrm>
          <a:prstGeom prst="rect">
            <a:avLst/>
          </a:prstGeom>
          <a:solidFill>
            <a:srgbClr val="0F172A"/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4681528" y="1107281"/>
            <a:ext cx="104775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미서명 계약</a:t>
            </a:r>
            <a:endParaRPr lang="en-US" sz="621" dirty="0"/>
          </a:p>
        </p:txBody>
      </p:sp>
      <p:sp>
        <p:nvSpPr>
          <p:cNvPr id="37" name="Text 28"/>
          <p:cNvSpPr/>
          <p:nvPr/>
        </p:nvSpPr>
        <p:spPr>
          <a:xfrm>
            <a:off x="4681528" y="1276945"/>
            <a:ext cx="104775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F4444"/>
                </a:solidFill>
              </a:rPr>
              <a:t>45</a:t>
            </a:r>
            <a:endParaRPr lang="en-US" sz="1397" dirty="0"/>
          </a:p>
        </p:txBody>
      </p:sp>
      <p:sp>
        <p:nvSpPr>
          <p:cNvPr id="38" name="Text 29"/>
          <p:cNvSpPr/>
          <p:nvPr/>
        </p:nvSpPr>
        <p:spPr>
          <a:xfrm>
            <a:off x="4681528" y="1585913"/>
            <a:ext cx="10477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F4444"/>
                </a:solidFill>
              </a:rPr>
              <a:t>즉시 확인 필요</a:t>
            </a:r>
            <a:endParaRPr lang="en-US" sz="568" dirty="0"/>
          </a:p>
        </p:txBody>
      </p:sp>
      <p:sp>
        <p:nvSpPr>
          <p:cNvPr id="39" name="Shape 30"/>
          <p:cNvSpPr/>
          <p:nvPr/>
        </p:nvSpPr>
        <p:spPr>
          <a:xfrm>
            <a:off x="5729288" y="93583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1"/>
          <p:cNvSpPr/>
          <p:nvPr/>
        </p:nvSpPr>
        <p:spPr>
          <a:xfrm>
            <a:off x="5729288" y="9358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41" name="Shape 32"/>
          <p:cNvSpPr/>
          <p:nvPr/>
        </p:nvSpPr>
        <p:spPr>
          <a:xfrm>
            <a:off x="1885950" y="1928813"/>
            <a:ext cx="2357438" cy="150197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1985963" y="2028825"/>
            <a:ext cx="21431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월별 출역 추이 (최근 6개월)</a:t>
            </a:r>
            <a:endParaRPr lang="en-US" sz="683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5963" y="2244923"/>
            <a:ext cx="2143125" cy="1071563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4129088" y="18573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5"/>
          <p:cNvSpPr/>
          <p:nvPr/>
        </p:nvSpPr>
        <p:spPr>
          <a:xfrm>
            <a:off x="4129088" y="18573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46" name="Shape 36"/>
          <p:cNvSpPr/>
          <p:nvPr/>
        </p:nvSpPr>
        <p:spPr>
          <a:xfrm>
            <a:off x="4329113" y="1928813"/>
            <a:ext cx="2357438" cy="150197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4429125" y="2028825"/>
            <a:ext cx="21431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공종별 인원 분포</a:t>
            </a:r>
            <a:endParaRPr lang="en-US" sz="683" dirty="0"/>
          </a:p>
        </p:txBody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9125" y="2244923"/>
            <a:ext cx="2143125" cy="1071563"/>
          </a:xfrm>
          <a:prstGeom prst="rect">
            <a:avLst/>
          </a:prstGeom>
        </p:spPr>
      </p:pic>
      <p:sp>
        <p:nvSpPr>
          <p:cNvPr id="49" name="Shape 38"/>
          <p:cNvSpPr/>
          <p:nvPr/>
        </p:nvSpPr>
        <p:spPr>
          <a:xfrm>
            <a:off x="1885950" y="3545086"/>
            <a:ext cx="3943350" cy="62865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1675" y="3630811"/>
            <a:ext cx="585788" cy="442913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2643188" y="3727252"/>
            <a:ext cx="12393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실시간 안면인식 현황</a:t>
            </a:r>
            <a:endParaRPr lang="en-US" sz="634" dirty="0"/>
          </a:p>
        </p:txBody>
      </p:sp>
      <p:sp>
        <p:nvSpPr>
          <p:cNvPr id="52" name="Text 40"/>
          <p:cNvSpPr/>
          <p:nvPr/>
        </p:nvSpPr>
        <p:spPr>
          <a:xfrm>
            <a:off x="2643188" y="3862983"/>
            <a:ext cx="123932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최근 인증: 홍길동 (A현장) - 10:42 AM</a:t>
            </a:r>
            <a:endParaRPr lang="en-US" sz="568" dirty="0"/>
          </a:p>
        </p:txBody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6605" y="3808512"/>
            <a:ext cx="85725" cy="85725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5562330" y="3794224"/>
            <a:ext cx="181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Live</a:t>
            </a:r>
            <a:endParaRPr lang="en-US" sz="621" dirty="0"/>
          </a:p>
        </p:txBody>
      </p:sp>
      <p:sp>
        <p:nvSpPr>
          <p:cNvPr id="55" name="Text 42"/>
          <p:cNvSpPr/>
          <p:nvPr/>
        </p:nvSpPr>
        <p:spPr>
          <a:xfrm>
            <a:off x="6286500" y="285750"/>
            <a:ext cx="257175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[본사] 통합 대시보드</a:t>
            </a:r>
            <a:endParaRPr lang="en-US" sz="1602" dirty="0"/>
          </a:p>
        </p:txBody>
      </p:sp>
      <p:sp>
        <p:nvSpPr>
          <p:cNvPr id="56" name="Text 43"/>
          <p:cNvSpPr/>
          <p:nvPr/>
        </p:nvSpPr>
        <p:spPr>
          <a:xfrm>
            <a:off x="6286500" y="675084"/>
            <a:ext cx="2571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전체 현장 운영 현황 및 핵심 지표(KPI) 모니터링</a:t>
            </a:r>
            <a:endParaRPr lang="en-US" sz="834" dirty="0"/>
          </a:p>
        </p:txBody>
      </p:sp>
      <p:sp>
        <p:nvSpPr>
          <p:cNvPr id="57" name="Shape 44"/>
          <p:cNvSpPr/>
          <p:nvPr/>
        </p:nvSpPr>
        <p:spPr>
          <a:xfrm>
            <a:off x="6286500" y="1075134"/>
            <a:ext cx="338491" cy="2768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8" name="Shape 45"/>
          <p:cNvSpPr/>
          <p:nvPr/>
        </p:nvSpPr>
        <p:spPr>
          <a:xfrm>
            <a:off x="6286500" y="1337667"/>
            <a:ext cx="33849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9" name="Text 46"/>
          <p:cNvSpPr/>
          <p:nvPr/>
        </p:nvSpPr>
        <p:spPr>
          <a:xfrm>
            <a:off x="6286500" y="1075134"/>
            <a:ext cx="338491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60" name="Shape 47"/>
          <p:cNvSpPr/>
          <p:nvPr/>
        </p:nvSpPr>
        <p:spPr>
          <a:xfrm>
            <a:off x="6624991" y="1075134"/>
            <a:ext cx="708487" cy="2768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Shape 48"/>
          <p:cNvSpPr/>
          <p:nvPr/>
        </p:nvSpPr>
        <p:spPr>
          <a:xfrm>
            <a:off x="6624991" y="1337667"/>
            <a:ext cx="708487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2" name="Text 49"/>
          <p:cNvSpPr/>
          <p:nvPr/>
        </p:nvSpPr>
        <p:spPr>
          <a:xfrm>
            <a:off x="6624991" y="1075134"/>
            <a:ext cx="708487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UI Element</a:t>
            </a:r>
            <a:endParaRPr lang="en-US" sz="634" dirty="0"/>
          </a:p>
        </p:txBody>
      </p:sp>
      <p:sp>
        <p:nvSpPr>
          <p:cNvPr id="63" name="Shape 50"/>
          <p:cNvSpPr/>
          <p:nvPr/>
        </p:nvSpPr>
        <p:spPr>
          <a:xfrm>
            <a:off x="7333478" y="1075134"/>
            <a:ext cx="1524772" cy="2768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4" name="Shape 51"/>
          <p:cNvSpPr/>
          <p:nvPr/>
        </p:nvSpPr>
        <p:spPr>
          <a:xfrm>
            <a:off x="7333478" y="1337667"/>
            <a:ext cx="1524772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5" name="Text 52"/>
          <p:cNvSpPr/>
          <p:nvPr/>
        </p:nvSpPr>
        <p:spPr>
          <a:xfrm>
            <a:off x="7333478" y="1075134"/>
            <a:ext cx="1524772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66" name="Shape 53"/>
          <p:cNvSpPr/>
          <p:nvPr/>
        </p:nvSpPr>
        <p:spPr>
          <a:xfrm>
            <a:off x="6357938" y="141624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7" name="Text 54"/>
          <p:cNvSpPr/>
          <p:nvPr/>
        </p:nvSpPr>
        <p:spPr>
          <a:xfrm>
            <a:off x="6357938" y="141624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68" name="Text 55"/>
          <p:cNvSpPr/>
          <p:nvPr/>
        </p:nvSpPr>
        <p:spPr>
          <a:xfrm>
            <a:off x="6696428" y="1425178"/>
            <a:ext cx="5609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요약 통계 카드</a:t>
            </a:r>
            <a:endParaRPr lang="en-US" sz="634" dirty="0"/>
          </a:p>
        </p:txBody>
      </p:sp>
      <p:sp>
        <p:nvSpPr>
          <p:cNvPr id="69" name="Text 56"/>
          <p:cNvSpPr/>
          <p:nvPr/>
        </p:nvSpPr>
        <p:spPr>
          <a:xfrm>
            <a:off x="7404915" y="1416248"/>
            <a:ext cx="1381897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GET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/api/v1/hq/dashboard/summary</a:t>
            </a:r>
            <a:endParaRPr lang="en-US" sz="674" dirty="0"/>
          </a:p>
        </p:txBody>
      </p:sp>
      <p:sp>
        <p:nvSpPr>
          <p:cNvPr id="70" name="Text 57"/>
          <p:cNvSpPr/>
          <p:nvPr/>
        </p:nvSpPr>
        <p:spPr>
          <a:xfrm>
            <a:off x="7404915" y="1669852"/>
            <a:ext cx="138189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Data: 진행 현장 수, 총 출역자, 미서명 계약 건수</a:t>
            </a:r>
            <a:endParaRPr lang="en-US" sz="674" dirty="0"/>
          </a:p>
        </p:txBody>
      </p:sp>
      <p:sp>
        <p:nvSpPr>
          <p:cNvPr id="71" name="Text 58"/>
          <p:cNvSpPr/>
          <p:nvPr/>
        </p:nvSpPr>
        <p:spPr>
          <a:xfrm>
            <a:off x="7404915" y="1941314"/>
            <a:ext cx="1381897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Refresh: 1분 간격 자동 갱신 (React Query)</a:t>
            </a:r>
            <a:endParaRPr lang="en-US" sz="674" dirty="0"/>
          </a:p>
        </p:txBody>
      </p:sp>
      <p:sp>
        <p:nvSpPr>
          <p:cNvPr id="72" name="Shape 59"/>
          <p:cNvSpPr/>
          <p:nvPr/>
        </p:nvSpPr>
        <p:spPr>
          <a:xfrm>
            <a:off x="6357938" y="235386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3" name="Text 60"/>
          <p:cNvSpPr/>
          <p:nvPr/>
        </p:nvSpPr>
        <p:spPr>
          <a:xfrm>
            <a:off x="6357938" y="235386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74" name="Text 61"/>
          <p:cNvSpPr/>
          <p:nvPr/>
        </p:nvSpPr>
        <p:spPr>
          <a:xfrm>
            <a:off x="6696428" y="2362795"/>
            <a:ext cx="560952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미서명 계약 알림</a:t>
            </a:r>
            <a:endParaRPr lang="en-US" sz="634" dirty="0"/>
          </a:p>
        </p:txBody>
      </p:sp>
      <p:sp>
        <p:nvSpPr>
          <p:cNvPr id="75" name="Text 62"/>
          <p:cNvSpPr/>
          <p:nvPr/>
        </p:nvSpPr>
        <p:spPr>
          <a:xfrm>
            <a:off x="7404915" y="2353866"/>
            <a:ext cx="138189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Logic: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count &gt; 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일 경우 Red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Border 강조</a:t>
            </a:r>
            <a:endParaRPr lang="en-US" sz="674" dirty="0"/>
          </a:p>
        </p:txBody>
      </p:sp>
      <p:sp>
        <p:nvSpPr>
          <p:cNvPr id="76" name="Text 63"/>
          <p:cNvSpPr/>
          <p:nvPr/>
        </p:nvSpPr>
        <p:spPr>
          <a:xfrm>
            <a:off x="7404915" y="2625328"/>
            <a:ext cx="138189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Action: 클릭 시 '근로계약 현황' 페이지로 필터링 이동</a:t>
            </a:r>
            <a:endParaRPr lang="en-US" sz="674" dirty="0"/>
          </a:p>
        </p:txBody>
      </p:sp>
      <p:sp>
        <p:nvSpPr>
          <p:cNvPr id="77" name="Text 64"/>
          <p:cNvSpPr/>
          <p:nvPr/>
        </p:nvSpPr>
        <p:spPr>
          <a:xfrm>
            <a:off x="7404915" y="2896791"/>
            <a:ext cx="138189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Param: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?status=UNSIGNED</a:t>
            </a:r>
            <a:endParaRPr lang="en-US" sz="674" dirty="0"/>
          </a:p>
        </p:txBody>
      </p:sp>
      <p:sp>
        <p:nvSpPr>
          <p:cNvPr id="78" name="Shape 65"/>
          <p:cNvSpPr/>
          <p:nvPr/>
        </p:nvSpPr>
        <p:spPr>
          <a:xfrm>
            <a:off x="6357938" y="317361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9" name="Text 66"/>
          <p:cNvSpPr/>
          <p:nvPr/>
        </p:nvSpPr>
        <p:spPr>
          <a:xfrm>
            <a:off x="6357938" y="317361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80" name="Text 67"/>
          <p:cNvSpPr/>
          <p:nvPr/>
        </p:nvSpPr>
        <p:spPr>
          <a:xfrm>
            <a:off x="6696428" y="3182541"/>
            <a:ext cx="53678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데이터 시각화</a:t>
            </a:r>
            <a:endParaRPr lang="en-US" sz="634" dirty="0"/>
          </a:p>
        </p:txBody>
      </p:sp>
      <p:sp>
        <p:nvSpPr>
          <p:cNvPr id="81" name="Text 68"/>
          <p:cNvSpPr/>
          <p:nvPr/>
        </p:nvSpPr>
        <p:spPr>
          <a:xfrm>
            <a:off x="7404915" y="3173611"/>
            <a:ext cx="138189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Chart.js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or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Recharts</a:t>
            </a:r>
            <a:endParaRPr lang="en-US" sz="674" dirty="0"/>
          </a:p>
        </p:txBody>
      </p:sp>
      <p:sp>
        <p:nvSpPr>
          <p:cNvPr id="82" name="Text 69"/>
          <p:cNvSpPr/>
          <p:nvPr/>
        </p:nvSpPr>
        <p:spPr>
          <a:xfrm>
            <a:off x="7404915" y="3300413"/>
            <a:ext cx="1381897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Chart 1: 월별 총 출역 공수 (Bar Chart)</a:t>
            </a:r>
            <a:endParaRPr lang="en-US" sz="674" dirty="0"/>
          </a:p>
        </p:txBody>
      </p:sp>
      <p:sp>
        <p:nvSpPr>
          <p:cNvPr id="83" name="Text 70"/>
          <p:cNvSpPr/>
          <p:nvPr/>
        </p:nvSpPr>
        <p:spPr>
          <a:xfrm>
            <a:off x="7404915" y="3562945"/>
            <a:ext cx="1381897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Chart 2: 금일 공종별 투입 비율 (Doughnut Chart)</a:t>
            </a:r>
            <a:endParaRPr lang="en-US" sz="674" dirty="0"/>
          </a:p>
        </p:txBody>
      </p:sp>
      <p:sp>
        <p:nvSpPr>
          <p:cNvPr id="84" name="Text 71"/>
          <p:cNvSpPr/>
          <p:nvPr/>
        </p:nvSpPr>
        <p:spPr>
          <a:xfrm>
            <a:off x="7404915" y="3825478"/>
            <a:ext cx="1381897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GET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/api/v1/hq/dashboard/charts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77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5715000" cy="43005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5715000" cy="29289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14375"/>
            <a:ext cx="5715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3"/>
          <p:cNvSpPr/>
          <p:nvPr/>
        </p:nvSpPr>
        <p:spPr>
          <a:xfrm>
            <a:off x="1035844" y="485775"/>
            <a:ext cx="5000625" cy="1714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035844" y="485775"/>
            <a:ext cx="5000625" cy="171450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smartcon.site/admin/projects</a:t>
            </a:r>
            <a:endParaRPr lang="en-US" sz="568" dirty="0"/>
          </a:p>
        </p:txBody>
      </p:sp>
      <p:sp>
        <p:nvSpPr>
          <p:cNvPr id="8" name="Shape 5"/>
          <p:cNvSpPr/>
          <p:nvPr/>
        </p:nvSpPr>
        <p:spPr>
          <a:xfrm>
            <a:off x="571500" y="857250"/>
            <a:ext cx="1614488" cy="255389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7225" y="921544"/>
            <a:ext cx="4855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현장명 검색...</a:t>
            </a:r>
            <a:endParaRPr lang="en-US" sz="621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942082"/>
            <a:ext cx="85725" cy="857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43138" y="857250"/>
            <a:ext cx="1042988" cy="255389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328863" y="914400"/>
            <a:ext cx="3377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전체 현장</a:t>
            </a:r>
            <a:endParaRPr lang="en-US" sz="621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103" y="934938"/>
            <a:ext cx="75009" cy="857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071688" y="6429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0"/>
          <p:cNvSpPr/>
          <p:nvPr/>
        </p:nvSpPr>
        <p:spPr>
          <a:xfrm>
            <a:off x="2071688" y="6429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6" name="Shape 11"/>
          <p:cNvSpPr/>
          <p:nvPr/>
        </p:nvSpPr>
        <p:spPr>
          <a:xfrm>
            <a:off x="5158764" y="857250"/>
            <a:ext cx="841986" cy="24110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064" y="934938"/>
            <a:ext cx="75009" cy="857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0936" y="914400"/>
            <a:ext cx="4955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신규 프로젝트</a:t>
            </a:r>
            <a:endParaRPr lang="en-US" sz="584" dirty="0"/>
          </a:p>
        </p:txBody>
      </p:sp>
      <p:sp>
        <p:nvSpPr>
          <p:cNvPr id="19" name="Shape 13"/>
          <p:cNvSpPr/>
          <p:nvPr/>
        </p:nvSpPr>
        <p:spPr>
          <a:xfrm>
            <a:off x="6043613" y="6429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4"/>
          <p:cNvSpPr/>
          <p:nvPr/>
        </p:nvSpPr>
        <p:spPr>
          <a:xfrm>
            <a:off x="6043613" y="6429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21" name="Shape 15"/>
          <p:cNvSpPr/>
          <p:nvPr/>
        </p:nvSpPr>
        <p:spPr>
          <a:xfrm>
            <a:off x="571500" y="1241227"/>
            <a:ext cx="1521842" cy="2732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16"/>
          <p:cNvSpPr/>
          <p:nvPr/>
        </p:nvSpPr>
        <p:spPr>
          <a:xfrm>
            <a:off x="571500" y="1507331"/>
            <a:ext cx="1521842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17"/>
          <p:cNvSpPr/>
          <p:nvPr/>
        </p:nvSpPr>
        <p:spPr>
          <a:xfrm>
            <a:off x="571500" y="1241227"/>
            <a:ext cx="1521842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현장명</a:t>
            </a:r>
            <a:endParaRPr lang="en-US" sz="584" dirty="0"/>
          </a:p>
        </p:txBody>
      </p:sp>
      <p:sp>
        <p:nvSpPr>
          <p:cNvPr id="24" name="Shape 18"/>
          <p:cNvSpPr/>
          <p:nvPr/>
        </p:nvSpPr>
        <p:spPr>
          <a:xfrm>
            <a:off x="2093342" y="1241227"/>
            <a:ext cx="1517796" cy="2732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Shape 19"/>
          <p:cNvSpPr/>
          <p:nvPr/>
        </p:nvSpPr>
        <p:spPr>
          <a:xfrm>
            <a:off x="2093342" y="1507331"/>
            <a:ext cx="1517796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0"/>
          <p:cNvSpPr/>
          <p:nvPr/>
        </p:nvSpPr>
        <p:spPr>
          <a:xfrm>
            <a:off x="2093342" y="1241227"/>
            <a:ext cx="1517796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공사기간</a:t>
            </a:r>
            <a:endParaRPr lang="en-US" sz="584" dirty="0"/>
          </a:p>
        </p:txBody>
      </p:sp>
      <p:sp>
        <p:nvSpPr>
          <p:cNvPr id="27" name="Shape 21"/>
          <p:cNvSpPr/>
          <p:nvPr/>
        </p:nvSpPr>
        <p:spPr>
          <a:xfrm>
            <a:off x="3611138" y="1241227"/>
            <a:ext cx="798816" cy="2732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Shape 22"/>
          <p:cNvSpPr/>
          <p:nvPr/>
        </p:nvSpPr>
        <p:spPr>
          <a:xfrm>
            <a:off x="3611138" y="1507331"/>
            <a:ext cx="798816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3"/>
          <p:cNvSpPr/>
          <p:nvPr/>
        </p:nvSpPr>
        <p:spPr>
          <a:xfrm>
            <a:off x="3611138" y="1241227"/>
            <a:ext cx="798816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현장소장</a:t>
            </a:r>
            <a:endParaRPr lang="en-US" sz="584" dirty="0"/>
          </a:p>
        </p:txBody>
      </p:sp>
      <p:sp>
        <p:nvSpPr>
          <p:cNvPr id="30" name="Shape 24"/>
          <p:cNvSpPr/>
          <p:nvPr/>
        </p:nvSpPr>
        <p:spPr>
          <a:xfrm>
            <a:off x="4409954" y="1241227"/>
            <a:ext cx="791868" cy="2732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Shape 25"/>
          <p:cNvSpPr/>
          <p:nvPr/>
        </p:nvSpPr>
        <p:spPr>
          <a:xfrm>
            <a:off x="4409954" y="1507331"/>
            <a:ext cx="791868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26"/>
          <p:cNvSpPr/>
          <p:nvPr/>
        </p:nvSpPr>
        <p:spPr>
          <a:xfrm>
            <a:off x="4409954" y="1241227"/>
            <a:ext cx="791868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상태</a:t>
            </a:r>
            <a:endParaRPr lang="en-US" sz="584" dirty="0"/>
          </a:p>
        </p:txBody>
      </p:sp>
      <p:sp>
        <p:nvSpPr>
          <p:cNvPr id="33" name="Shape 27"/>
          <p:cNvSpPr/>
          <p:nvPr/>
        </p:nvSpPr>
        <p:spPr>
          <a:xfrm>
            <a:off x="5201822" y="1241227"/>
            <a:ext cx="798928" cy="2732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Shape 28"/>
          <p:cNvSpPr/>
          <p:nvPr/>
        </p:nvSpPr>
        <p:spPr>
          <a:xfrm>
            <a:off x="5201822" y="1507331"/>
            <a:ext cx="798928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Text 29"/>
          <p:cNvSpPr/>
          <p:nvPr/>
        </p:nvSpPr>
        <p:spPr>
          <a:xfrm>
            <a:off x="5201822" y="1241227"/>
            <a:ext cx="798928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출역인원</a:t>
            </a:r>
            <a:endParaRPr lang="en-US" sz="584" dirty="0"/>
          </a:p>
        </p:txBody>
      </p:sp>
      <p:sp>
        <p:nvSpPr>
          <p:cNvPr id="36" name="Text 30"/>
          <p:cNvSpPr/>
          <p:nvPr/>
        </p:nvSpPr>
        <p:spPr>
          <a:xfrm>
            <a:off x="571500" y="1510903"/>
            <a:ext cx="1521842" cy="30182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강남 A타워 신축공사</a:t>
            </a:r>
            <a:endParaRPr lang="en-US" sz="621" dirty="0"/>
          </a:p>
        </p:txBody>
      </p:sp>
      <p:sp>
        <p:nvSpPr>
          <p:cNvPr id="37" name="Text 31"/>
          <p:cNvSpPr/>
          <p:nvPr/>
        </p:nvSpPr>
        <p:spPr>
          <a:xfrm>
            <a:off x="2093342" y="1510903"/>
            <a:ext cx="1517796" cy="30182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2025.01 ~ 2026.12</a:t>
            </a:r>
            <a:endParaRPr lang="en-US" sz="621" dirty="0"/>
          </a:p>
        </p:txBody>
      </p:sp>
      <p:sp>
        <p:nvSpPr>
          <p:cNvPr id="38" name="Text 32"/>
          <p:cNvSpPr/>
          <p:nvPr/>
        </p:nvSpPr>
        <p:spPr>
          <a:xfrm>
            <a:off x="3611138" y="1510903"/>
            <a:ext cx="798816" cy="30182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김현장</a:t>
            </a:r>
            <a:endParaRPr lang="en-US" sz="621" dirty="0"/>
          </a:p>
        </p:txBody>
      </p:sp>
      <p:sp>
        <p:nvSpPr>
          <p:cNvPr id="39" name="Shape 33"/>
          <p:cNvSpPr/>
          <p:nvPr/>
        </p:nvSpPr>
        <p:spPr>
          <a:xfrm>
            <a:off x="4481392" y="1600200"/>
            <a:ext cx="311479" cy="126802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0" name="Text 34"/>
          <p:cNvSpPr/>
          <p:nvPr/>
        </p:nvSpPr>
        <p:spPr>
          <a:xfrm>
            <a:off x="4481392" y="1600200"/>
            <a:ext cx="311479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진행중</a:t>
            </a:r>
            <a:endParaRPr lang="en-US" sz="485" dirty="0"/>
          </a:p>
        </p:txBody>
      </p:sp>
      <p:sp>
        <p:nvSpPr>
          <p:cNvPr id="41" name="Text 35"/>
          <p:cNvSpPr/>
          <p:nvPr/>
        </p:nvSpPr>
        <p:spPr>
          <a:xfrm>
            <a:off x="5201822" y="1510903"/>
            <a:ext cx="798928" cy="30182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45명</a:t>
            </a:r>
            <a:endParaRPr lang="en-US" sz="621" dirty="0"/>
          </a:p>
        </p:txBody>
      </p:sp>
      <p:sp>
        <p:nvSpPr>
          <p:cNvPr id="42" name="Text 36"/>
          <p:cNvSpPr/>
          <p:nvPr/>
        </p:nvSpPr>
        <p:spPr>
          <a:xfrm>
            <a:off x="571500" y="1812727"/>
            <a:ext cx="1521842" cy="30539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판교 데이터센터</a:t>
            </a:r>
            <a:endParaRPr lang="en-US" sz="621" dirty="0"/>
          </a:p>
        </p:txBody>
      </p:sp>
      <p:sp>
        <p:nvSpPr>
          <p:cNvPr id="43" name="Text 37"/>
          <p:cNvSpPr/>
          <p:nvPr/>
        </p:nvSpPr>
        <p:spPr>
          <a:xfrm>
            <a:off x="2093342" y="1812727"/>
            <a:ext cx="1517796" cy="30539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2024.06 ~ 2025.12</a:t>
            </a:r>
            <a:endParaRPr lang="en-US" sz="621" dirty="0"/>
          </a:p>
        </p:txBody>
      </p:sp>
      <p:sp>
        <p:nvSpPr>
          <p:cNvPr id="44" name="Text 38"/>
          <p:cNvSpPr/>
          <p:nvPr/>
        </p:nvSpPr>
        <p:spPr>
          <a:xfrm>
            <a:off x="3611138" y="1812727"/>
            <a:ext cx="798816" cy="30539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이소장</a:t>
            </a:r>
            <a:endParaRPr lang="en-US" sz="621" dirty="0"/>
          </a:p>
        </p:txBody>
      </p:sp>
      <p:sp>
        <p:nvSpPr>
          <p:cNvPr id="45" name="Shape 39"/>
          <p:cNvSpPr/>
          <p:nvPr/>
        </p:nvSpPr>
        <p:spPr>
          <a:xfrm>
            <a:off x="4481392" y="1905595"/>
            <a:ext cx="311479" cy="126802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6" name="Text 40"/>
          <p:cNvSpPr/>
          <p:nvPr/>
        </p:nvSpPr>
        <p:spPr>
          <a:xfrm>
            <a:off x="4481392" y="1905595"/>
            <a:ext cx="311479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진행중</a:t>
            </a:r>
            <a:endParaRPr lang="en-US" sz="485" dirty="0"/>
          </a:p>
        </p:txBody>
      </p:sp>
      <p:sp>
        <p:nvSpPr>
          <p:cNvPr id="47" name="Text 41"/>
          <p:cNvSpPr/>
          <p:nvPr/>
        </p:nvSpPr>
        <p:spPr>
          <a:xfrm>
            <a:off x="5201822" y="1812727"/>
            <a:ext cx="798928" cy="30539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128명</a:t>
            </a:r>
            <a:endParaRPr lang="en-US" sz="621" dirty="0"/>
          </a:p>
        </p:txBody>
      </p:sp>
      <p:sp>
        <p:nvSpPr>
          <p:cNvPr id="48" name="Text 42"/>
          <p:cNvSpPr/>
          <p:nvPr/>
        </p:nvSpPr>
        <p:spPr>
          <a:xfrm>
            <a:off x="571500" y="2118122"/>
            <a:ext cx="1521842" cy="30539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부산 물류센터</a:t>
            </a:r>
            <a:endParaRPr lang="en-US" sz="621" dirty="0"/>
          </a:p>
        </p:txBody>
      </p:sp>
      <p:sp>
        <p:nvSpPr>
          <p:cNvPr id="49" name="Text 43"/>
          <p:cNvSpPr/>
          <p:nvPr/>
        </p:nvSpPr>
        <p:spPr>
          <a:xfrm>
            <a:off x="2093342" y="2118122"/>
            <a:ext cx="1517796" cy="30539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2023.01 ~ 2024.12</a:t>
            </a:r>
            <a:endParaRPr lang="en-US" sz="621" dirty="0"/>
          </a:p>
        </p:txBody>
      </p:sp>
      <p:sp>
        <p:nvSpPr>
          <p:cNvPr id="50" name="Text 44"/>
          <p:cNvSpPr/>
          <p:nvPr/>
        </p:nvSpPr>
        <p:spPr>
          <a:xfrm>
            <a:off x="3611138" y="2118122"/>
            <a:ext cx="798816" cy="30539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박관리</a:t>
            </a:r>
            <a:endParaRPr lang="en-US" sz="621" dirty="0"/>
          </a:p>
        </p:txBody>
      </p:sp>
      <p:sp>
        <p:nvSpPr>
          <p:cNvPr id="51" name="Shape 45"/>
          <p:cNvSpPr/>
          <p:nvPr/>
        </p:nvSpPr>
        <p:spPr>
          <a:xfrm>
            <a:off x="4481392" y="2210991"/>
            <a:ext cx="245762" cy="126802"/>
          </a:xfrm>
          <a:prstGeom prst="round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52" name="Text 46"/>
          <p:cNvSpPr/>
          <p:nvPr/>
        </p:nvSpPr>
        <p:spPr>
          <a:xfrm>
            <a:off x="4481392" y="2210991"/>
            <a:ext cx="245762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94A3B8"/>
                </a:solidFill>
              </a:rPr>
              <a:t>완료</a:t>
            </a:r>
            <a:endParaRPr lang="en-US" sz="485" dirty="0"/>
          </a:p>
        </p:txBody>
      </p:sp>
      <p:sp>
        <p:nvSpPr>
          <p:cNvPr id="53" name="Text 47"/>
          <p:cNvSpPr/>
          <p:nvPr/>
        </p:nvSpPr>
        <p:spPr>
          <a:xfrm>
            <a:off x="5201822" y="2118122"/>
            <a:ext cx="798928" cy="30539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0명</a:t>
            </a:r>
            <a:endParaRPr lang="en-US" sz="621" dirty="0"/>
          </a:p>
        </p:txBody>
      </p:sp>
      <p:sp>
        <p:nvSpPr>
          <p:cNvPr id="54" name="Shape 48"/>
          <p:cNvSpPr/>
          <p:nvPr/>
        </p:nvSpPr>
        <p:spPr>
          <a:xfrm>
            <a:off x="3286125" y="17859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49"/>
          <p:cNvSpPr/>
          <p:nvPr/>
        </p:nvSpPr>
        <p:spPr>
          <a:xfrm>
            <a:off x="3286125" y="17859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56" name="Shape 50"/>
          <p:cNvSpPr/>
          <p:nvPr/>
        </p:nvSpPr>
        <p:spPr>
          <a:xfrm>
            <a:off x="428625" y="714375"/>
            <a:ext cx="5715000" cy="40005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</p:sp>
      <p:sp>
        <p:nvSpPr>
          <p:cNvPr id="57" name="Shape 51"/>
          <p:cNvSpPr/>
          <p:nvPr/>
        </p:nvSpPr>
        <p:spPr>
          <a:xfrm>
            <a:off x="1707356" y="1770757"/>
            <a:ext cx="3157538" cy="188773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1857375" y="1920776"/>
            <a:ext cx="2857500" cy="2428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신규 프로젝트 등록</a:t>
            </a:r>
            <a:endParaRPr lang="en-US" sz="784" dirty="0"/>
          </a:p>
        </p:txBody>
      </p:sp>
      <p:sp>
        <p:nvSpPr>
          <p:cNvPr id="59" name="Text 53"/>
          <p:cNvSpPr/>
          <p:nvPr/>
        </p:nvSpPr>
        <p:spPr>
          <a:xfrm>
            <a:off x="1857375" y="2270820"/>
            <a:ext cx="2857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현장명</a:t>
            </a:r>
            <a:endParaRPr lang="en-US" sz="568" dirty="0"/>
          </a:p>
        </p:txBody>
      </p:sp>
      <p:sp>
        <p:nvSpPr>
          <p:cNvPr id="60" name="Text 54"/>
          <p:cNvSpPr/>
          <p:nvPr/>
        </p:nvSpPr>
        <p:spPr>
          <a:xfrm>
            <a:off x="1857375" y="2726234"/>
            <a:ext cx="2857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현장관리자 (다중 선택)</a:t>
            </a:r>
            <a:endParaRPr lang="en-US" sz="568" dirty="0"/>
          </a:p>
        </p:txBody>
      </p:sp>
      <p:sp>
        <p:nvSpPr>
          <p:cNvPr id="61" name="Shape 55"/>
          <p:cNvSpPr/>
          <p:nvPr/>
        </p:nvSpPr>
        <p:spPr>
          <a:xfrm>
            <a:off x="1857375" y="2869109"/>
            <a:ext cx="2857500" cy="255389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1914525" y="2933402"/>
            <a:ext cx="51848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김관리, 이팀장</a:t>
            </a:r>
            <a:endParaRPr lang="en-US" sz="621" dirty="0"/>
          </a:p>
        </p:txBody>
      </p:sp>
      <p:pic>
        <p:nvPicPr>
          <p:cNvPr id="6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933402"/>
            <a:ext cx="85725" cy="126802"/>
          </a:xfrm>
          <a:prstGeom prst="rect">
            <a:avLst/>
          </a:prstGeom>
        </p:spPr>
      </p:pic>
      <p:sp>
        <p:nvSpPr>
          <p:cNvPr id="64" name="Shape 57"/>
          <p:cNvSpPr/>
          <p:nvPr/>
        </p:nvSpPr>
        <p:spPr>
          <a:xfrm>
            <a:off x="1857375" y="3260229"/>
            <a:ext cx="2857500" cy="24110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5" name="Text 58"/>
          <p:cNvSpPr/>
          <p:nvPr/>
        </p:nvSpPr>
        <p:spPr>
          <a:xfrm>
            <a:off x="1857375" y="3260229"/>
            <a:ext cx="2857500" cy="241102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등록하기</a:t>
            </a:r>
            <a:endParaRPr lang="en-US" sz="584" dirty="0"/>
          </a:p>
        </p:txBody>
      </p:sp>
      <p:sp>
        <p:nvSpPr>
          <p:cNvPr id="66" name="Shape 59"/>
          <p:cNvSpPr/>
          <p:nvPr/>
        </p:nvSpPr>
        <p:spPr>
          <a:xfrm>
            <a:off x="6043613" y="6429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7" name="Text 60"/>
          <p:cNvSpPr/>
          <p:nvPr/>
        </p:nvSpPr>
        <p:spPr>
          <a:xfrm>
            <a:off x="6043613" y="6429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68" name="Text 61"/>
          <p:cNvSpPr/>
          <p:nvPr/>
        </p:nvSpPr>
        <p:spPr>
          <a:xfrm>
            <a:off x="6429375" y="428625"/>
            <a:ext cx="22860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[본사] 프로젝트 목록 및 등록</a:t>
            </a:r>
            <a:endParaRPr lang="en-US" sz="1397" dirty="0"/>
          </a:p>
        </p:txBody>
      </p:sp>
      <p:sp>
        <p:nvSpPr>
          <p:cNvPr id="69" name="Text 62"/>
          <p:cNvSpPr/>
          <p:nvPr/>
        </p:nvSpPr>
        <p:spPr>
          <a:xfrm>
            <a:off x="6429375" y="1064419"/>
            <a:ext cx="22860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현장 관리 및 신규 프로젝트 개설 (PC Web)</a:t>
            </a:r>
            <a:endParaRPr lang="en-US" sz="727" dirty="0"/>
          </a:p>
        </p:txBody>
      </p:sp>
      <p:sp>
        <p:nvSpPr>
          <p:cNvPr id="70" name="Shape 63"/>
          <p:cNvSpPr/>
          <p:nvPr/>
        </p:nvSpPr>
        <p:spPr>
          <a:xfrm>
            <a:off x="6429375" y="1409105"/>
            <a:ext cx="285750" cy="20895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1" name="Shape 64"/>
          <p:cNvSpPr/>
          <p:nvPr/>
        </p:nvSpPr>
        <p:spPr>
          <a:xfrm>
            <a:off x="6429375" y="1603772"/>
            <a:ext cx="2857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2" name="Text 65"/>
          <p:cNvSpPr/>
          <p:nvPr/>
        </p:nvSpPr>
        <p:spPr>
          <a:xfrm>
            <a:off x="6429375" y="1409105"/>
            <a:ext cx="285750" cy="208955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No</a:t>
            </a:r>
            <a:endParaRPr lang="en-US" sz="584" dirty="0"/>
          </a:p>
        </p:txBody>
      </p:sp>
      <p:sp>
        <p:nvSpPr>
          <p:cNvPr id="73" name="Shape 66"/>
          <p:cNvSpPr/>
          <p:nvPr/>
        </p:nvSpPr>
        <p:spPr>
          <a:xfrm>
            <a:off x="6715125" y="1409105"/>
            <a:ext cx="714375" cy="20895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4" name="Shape 67"/>
          <p:cNvSpPr/>
          <p:nvPr/>
        </p:nvSpPr>
        <p:spPr>
          <a:xfrm>
            <a:off x="6715125" y="1603772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5" name="Text 68"/>
          <p:cNvSpPr/>
          <p:nvPr/>
        </p:nvSpPr>
        <p:spPr>
          <a:xfrm>
            <a:off x="6715125" y="1409105"/>
            <a:ext cx="714375" cy="208955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UI Element</a:t>
            </a:r>
            <a:endParaRPr lang="en-US" sz="584" dirty="0"/>
          </a:p>
        </p:txBody>
      </p:sp>
      <p:sp>
        <p:nvSpPr>
          <p:cNvPr id="76" name="Shape 69"/>
          <p:cNvSpPr/>
          <p:nvPr/>
        </p:nvSpPr>
        <p:spPr>
          <a:xfrm>
            <a:off x="7429500" y="1409105"/>
            <a:ext cx="1285875" cy="20895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7" name="Shape 70"/>
          <p:cNvSpPr/>
          <p:nvPr/>
        </p:nvSpPr>
        <p:spPr>
          <a:xfrm>
            <a:off x="7429500" y="1603772"/>
            <a:ext cx="12858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8" name="Text 71"/>
          <p:cNvSpPr/>
          <p:nvPr/>
        </p:nvSpPr>
        <p:spPr>
          <a:xfrm>
            <a:off x="7429500" y="1409105"/>
            <a:ext cx="1285875" cy="208955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Implementation Spec</a:t>
            </a:r>
            <a:endParaRPr lang="en-US" sz="584" dirty="0"/>
          </a:p>
        </p:txBody>
      </p:sp>
      <p:sp>
        <p:nvSpPr>
          <p:cNvPr id="79" name="Shape 72"/>
          <p:cNvSpPr/>
          <p:nvPr/>
        </p:nvSpPr>
        <p:spPr>
          <a:xfrm>
            <a:off x="6486525" y="165377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0" name="Text 73"/>
          <p:cNvSpPr/>
          <p:nvPr/>
        </p:nvSpPr>
        <p:spPr>
          <a:xfrm>
            <a:off x="6486525" y="16537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81" name="Text 74"/>
          <p:cNvSpPr/>
          <p:nvPr/>
        </p:nvSpPr>
        <p:spPr>
          <a:xfrm>
            <a:off x="6772275" y="1664494"/>
            <a:ext cx="4389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검색 및 필터</a:t>
            </a:r>
            <a:endParaRPr lang="en-US" sz="584" dirty="0"/>
          </a:p>
        </p:txBody>
      </p:sp>
      <p:sp>
        <p:nvSpPr>
          <p:cNvPr id="82" name="Text 75"/>
          <p:cNvSpPr/>
          <p:nvPr/>
        </p:nvSpPr>
        <p:spPr>
          <a:xfrm>
            <a:off x="7486650" y="1653778"/>
            <a:ext cx="11715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Filter: 전체 / 진행중 / 완료</a:t>
            </a:r>
            <a:endParaRPr lang="en-US" sz="621" dirty="0"/>
          </a:p>
        </p:txBody>
      </p:sp>
      <p:sp>
        <p:nvSpPr>
          <p:cNvPr id="83" name="Text 76"/>
          <p:cNvSpPr/>
          <p:nvPr/>
        </p:nvSpPr>
        <p:spPr>
          <a:xfrm>
            <a:off x="7486650" y="1780580"/>
            <a:ext cx="11715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GET /api/v1/projects?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status={status}&amp;q={name}</a:t>
            </a:r>
            <a:endParaRPr lang="en-US" sz="621" dirty="0"/>
          </a:p>
        </p:txBody>
      </p:sp>
      <p:sp>
        <p:nvSpPr>
          <p:cNvPr id="84" name="Text 77"/>
          <p:cNvSpPr/>
          <p:nvPr/>
        </p:nvSpPr>
        <p:spPr>
          <a:xfrm>
            <a:off x="7486650" y="2012752"/>
            <a:ext cx="117157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Logic: Debounce (300ms) 적용</a:t>
            </a:r>
            <a:endParaRPr lang="en-US" sz="621" dirty="0"/>
          </a:p>
        </p:txBody>
      </p:sp>
      <p:sp>
        <p:nvSpPr>
          <p:cNvPr id="85" name="Shape 78"/>
          <p:cNvSpPr/>
          <p:nvPr/>
        </p:nvSpPr>
        <p:spPr>
          <a:xfrm>
            <a:off x="6486525" y="235922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6" name="Text 79"/>
          <p:cNvSpPr/>
          <p:nvPr/>
        </p:nvSpPr>
        <p:spPr>
          <a:xfrm>
            <a:off x="6486525" y="23592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87" name="Text 80"/>
          <p:cNvSpPr/>
          <p:nvPr/>
        </p:nvSpPr>
        <p:spPr>
          <a:xfrm>
            <a:off x="6772275" y="2369939"/>
            <a:ext cx="51778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신규 등록 버튼</a:t>
            </a:r>
            <a:endParaRPr lang="en-US" sz="584" dirty="0"/>
          </a:p>
        </p:txBody>
      </p:sp>
      <p:sp>
        <p:nvSpPr>
          <p:cNvPr id="88" name="Text 81"/>
          <p:cNvSpPr/>
          <p:nvPr/>
        </p:nvSpPr>
        <p:spPr>
          <a:xfrm>
            <a:off x="7486650" y="2359223"/>
            <a:ext cx="11715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Action: 모달 Open</a:t>
            </a:r>
            <a:endParaRPr lang="en-US" sz="621" dirty="0"/>
          </a:p>
        </p:txBody>
      </p:sp>
      <p:sp>
        <p:nvSpPr>
          <p:cNvPr id="89" name="Text 82"/>
          <p:cNvSpPr/>
          <p:nvPr/>
        </p:nvSpPr>
        <p:spPr>
          <a:xfrm>
            <a:off x="7486650" y="2486025"/>
            <a:ext cx="117157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Auth: 본사 관리자(HQ_ADMIN) 권한 체크</a:t>
            </a:r>
            <a:endParaRPr lang="en-US" sz="621" dirty="0"/>
          </a:p>
        </p:txBody>
      </p:sp>
      <p:sp>
        <p:nvSpPr>
          <p:cNvPr id="90" name="Shape 83"/>
          <p:cNvSpPr/>
          <p:nvPr/>
        </p:nvSpPr>
        <p:spPr>
          <a:xfrm>
            <a:off x="6486525" y="283249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1" name="Text 84"/>
          <p:cNvSpPr/>
          <p:nvPr/>
        </p:nvSpPr>
        <p:spPr>
          <a:xfrm>
            <a:off x="6486525" y="28324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92" name="Text 85"/>
          <p:cNvSpPr/>
          <p:nvPr/>
        </p:nvSpPr>
        <p:spPr>
          <a:xfrm>
            <a:off x="6772275" y="2843213"/>
            <a:ext cx="49551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프로젝트 목록</a:t>
            </a:r>
            <a:endParaRPr lang="en-US" sz="584" dirty="0"/>
          </a:p>
        </p:txBody>
      </p:sp>
      <p:sp>
        <p:nvSpPr>
          <p:cNvPr id="93" name="Text 86"/>
          <p:cNvSpPr/>
          <p:nvPr/>
        </p:nvSpPr>
        <p:spPr>
          <a:xfrm>
            <a:off x="7486650" y="2832497"/>
            <a:ext cx="11715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@tanstack/react-table</a:t>
            </a:r>
            <a:endParaRPr lang="en-US" sz="621" dirty="0"/>
          </a:p>
        </p:txBody>
      </p:sp>
      <p:sp>
        <p:nvSpPr>
          <p:cNvPr id="94" name="Text 87"/>
          <p:cNvSpPr/>
          <p:nvPr/>
        </p:nvSpPr>
        <p:spPr>
          <a:xfrm>
            <a:off x="7486650" y="3064669"/>
            <a:ext cx="117157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Columns: 현장명, 기간, 소장, 상태, 인원, 기기수</a:t>
            </a:r>
            <a:endParaRPr lang="en-US" sz="621" dirty="0"/>
          </a:p>
        </p:txBody>
      </p:sp>
      <p:sp>
        <p:nvSpPr>
          <p:cNvPr id="95" name="Text 88"/>
          <p:cNvSpPr/>
          <p:nvPr/>
        </p:nvSpPr>
        <p:spPr>
          <a:xfrm>
            <a:off x="7486650" y="3318272"/>
            <a:ext cx="117157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Feature: 페이지네이션 (10개씩), 정렬 기능</a:t>
            </a:r>
            <a:endParaRPr lang="en-US" sz="621" dirty="0"/>
          </a:p>
        </p:txBody>
      </p:sp>
      <p:sp>
        <p:nvSpPr>
          <p:cNvPr id="96" name="Shape 89"/>
          <p:cNvSpPr/>
          <p:nvPr/>
        </p:nvSpPr>
        <p:spPr>
          <a:xfrm>
            <a:off x="6486525" y="36647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7" name="Text 90"/>
          <p:cNvSpPr/>
          <p:nvPr/>
        </p:nvSpPr>
        <p:spPr>
          <a:xfrm>
            <a:off x="6486525" y="366474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98" name="Text 91"/>
          <p:cNvSpPr/>
          <p:nvPr/>
        </p:nvSpPr>
        <p:spPr>
          <a:xfrm>
            <a:off x="6772275" y="3675459"/>
            <a:ext cx="3377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등록 모달</a:t>
            </a:r>
            <a:endParaRPr lang="en-US" sz="584" dirty="0"/>
          </a:p>
        </p:txBody>
      </p:sp>
      <p:sp>
        <p:nvSpPr>
          <p:cNvPr id="99" name="Text 92"/>
          <p:cNvSpPr/>
          <p:nvPr/>
        </p:nvSpPr>
        <p:spPr>
          <a:xfrm>
            <a:off x="7486650" y="3664744"/>
            <a:ext cx="117157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Input: 현장명, 기간, 소장, 관리자(Multi-select)</a:t>
            </a:r>
            <a:endParaRPr lang="en-US" sz="621" dirty="0"/>
          </a:p>
        </p:txBody>
      </p:sp>
      <p:sp>
        <p:nvSpPr>
          <p:cNvPr id="100" name="Text 93"/>
          <p:cNvSpPr/>
          <p:nvPr/>
        </p:nvSpPr>
        <p:spPr>
          <a:xfrm>
            <a:off x="7486650" y="3918347"/>
            <a:ext cx="117157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Invite: 미등록 관리자는 이메일 입력 후 초대 발송</a:t>
            </a:r>
            <a:endParaRPr lang="en-US" sz="621" dirty="0"/>
          </a:p>
        </p:txBody>
      </p:sp>
      <p:sp>
        <p:nvSpPr>
          <p:cNvPr id="101" name="Text 94"/>
          <p:cNvSpPr/>
          <p:nvPr/>
        </p:nvSpPr>
        <p:spPr>
          <a:xfrm>
            <a:off x="7486650" y="4171950"/>
            <a:ext cx="11715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POST /api/v1/projects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02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5729288" cy="43005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5715000" cy="29289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14375"/>
            <a:ext cx="5715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3"/>
          <p:cNvSpPr/>
          <p:nvPr/>
        </p:nvSpPr>
        <p:spPr>
          <a:xfrm>
            <a:off x="1014413" y="485775"/>
            <a:ext cx="5022056" cy="1714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014413" y="485775"/>
            <a:ext cx="5022056" cy="17145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https://admin.smartcon.site/attendance</a:t>
            </a:r>
            <a:endParaRPr lang="en-US" sz="568" dirty="0"/>
          </a:p>
        </p:txBody>
      </p:sp>
      <p:sp>
        <p:nvSpPr>
          <p:cNvPr id="8" name="Shape 5"/>
          <p:cNvSpPr/>
          <p:nvPr/>
        </p:nvSpPr>
        <p:spPr>
          <a:xfrm>
            <a:off x="428625" y="714375"/>
            <a:ext cx="1328738" cy="4000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1750219" y="714375"/>
            <a:ext cx="7144" cy="4000500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950119"/>
            <a:ext cx="105370" cy="928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9745" y="928688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대시보드</a:t>
            </a:r>
            <a:endParaRPr lang="en-US" sz="674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264444"/>
            <a:ext cx="69652" cy="928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4027" y="1243013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프로젝트</a:t>
            </a:r>
            <a:endParaRPr lang="en-US" sz="674" dirty="0"/>
          </a:p>
        </p:txBody>
      </p:sp>
      <p:sp>
        <p:nvSpPr>
          <p:cNvPr id="14" name="Shape 9"/>
          <p:cNvSpPr/>
          <p:nvPr/>
        </p:nvSpPr>
        <p:spPr>
          <a:xfrm>
            <a:off x="571500" y="1485900"/>
            <a:ext cx="1042988" cy="278606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578769"/>
            <a:ext cx="116086" cy="9286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0461" y="1557338"/>
            <a:ext cx="3659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출역 현황</a:t>
            </a:r>
            <a:endParaRPr lang="en-US" sz="634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1893094"/>
            <a:ext cx="105370" cy="9286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9745" y="1871663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근로계약</a:t>
            </a:r>
            <a:endParaRPr lang="en-US" sz="674" dirty="0"/>
          </a:p>
        </p:txBody>
      </p:sp>
      <p:sp>
        <p:nvSpPr>
          <p:cNvPr id="19" name="Shape 12"/>
          <p:cNvSpPr/>
          <p:nvPr/>
        </p:nvSpPr>
        <p:spPr>
          <a:xfrm>
            <a:off x="1757363" y="714375"/>
            <a:ext cx="4386263" cy="4000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3"/>
          <p:cNvSpPr/>
          <p:nvPr/>
        </p:nvSpPr>
        <p:spPr>
          <a:xfrm>
            <a:off x="1971675" y="952798"/>
            <a:ext cx="86297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통합 출역 현황</a:t>
            </a:r>
            <a:endParaRPr lang="en-US" sz="987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4361" y="1017984"/>
            <a:ext cx="85725" cy="857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90086" y="1003697"/>
            <a:ext cx="51778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엑셀 다운로드</a:t>
            </a:r>
            <a:endParaRPr lang="en-US" sz="621" dirty="0"/>
          </a:p>
        </p:txBody>
      </p:sp>
      <p:sp>
        <p:nvSpPr>
          <p:cNvPr id="23" name="Shape 15"/>
          <p:cNvSpPr/>
          <p:nvPr/>
        </p:nvSpPr>
        <p:spPr>
          <a:xfrm>
            <a:off x="5686425" y="67865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16"/>
          <p:cNvSpPr/>
          <p:nvPr/>
        </p:nvSpPr>
        <p:spPr>
          <a:xfrm>
            <a:off x="5686425" y="6786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25" name="Shape 17"/>
          <p:cNvSpPr/>
          <p:nvPr/>
        </p:nvSpPr>
        <p:spPr>
          <a:xfrm>
            <a:off x="1971675" y="1326952"/>
            <a:ext cx="3957638" cy="5715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2093119" y="1486793"/>
            <a:ext cx="857250" cy="237530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433575" y="1434108"/>
            <a:ext cx="388581" cy="3429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0"/>
          <p:cNvSpPr/>
          <p:nvPr/>
        </p:nvSpPr>
        <p:spPr>
          <a:xfrm>
            <a:off x="5433575" y="1434108"/>
            <a:ext cx="388581" cy="34290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조회</a:t>
            </a:r>
            <a:endParaRPr lang="en-US" sz="584" dirty="0"/>
          </a:p>
        </p:txBody>
      </p:sp>
      <p:sp>
        <p:nvSpPr>
          <p:cNvPr id="29" name="Shape 21"/>
          <p:cNvSpPr/>
          <p:nvPr/>
        </p:nvSpPr>
        <p:spPr>
          <a:xfrm>
            <a:off x="3286125" y="3571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2"/>
          <p:cNvSpPr/>
          <p:nvPr/>
        </p:nvSpPr>
        <p:spPr>
          <a:xfrm>
            <a:off x="3286125" y="3571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31" name="Shape 23"/>
          <p:cNvSpPr/>
          <p:nvPr/>
        </p:nvSpPr>
        <p:spPr>
          <a:xfrm>
            <a:off x="1991320" y="2027039"/>
            <a:ext cx="372452" cy="30182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Shape 24"/>
          <p:cNvSpPr/>
          <p:nvPr/>
        </p:nvSpPr>
        <p:spPr>
          <a:xfrm>
            <a:off x="1991320" y="2321719"/>
            <a:ext cx="372452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25"/>
          <p:cNvSpPr/>
          <p:nvPr/>
        </p:nvSpPr>
        <p:spPr>
          <a:xfrm>
            <a:off x="1991320" y="2027039"/>
            <a:ext cx="372452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No</a:t>
            </a:r>
            <a:endParaRPr lang="en-US" sz="584" dirty="0"/>
          </a:p>
        </p:txBody>
      </p:sp>
      <p:sp>
        <p:nvSpPr>
          <p:cNvPr id="34" name="Shape 26"/>
          <p:cNvSpPr/>
          <p:nvPr/>
        </p:nvSpPr>
        <p:spPr>
          <a:xfrm>
            <a:off x="2363772" y="2027039"/>
            <a:ext cx="615311" cy="30182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Shape 27"/>
          <p:cNvSpPr/>
          <p:nvPr/>
        </p:nvSpPr>
        <p:spPr>
          <a:xfrm>
            <a:off x="2363772" y="2321719"/>
            <a:ext cx="615311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28"/>
          <p:cNvSpPr/>
          <p:nvPr/>
        </p:nvSpPr>
        <p:spPr>
          <a:xfrm>
            <a:off x="2363772" y="2027039"/>
            <a:ext cx="615311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현장명</a:t>
            </a:r>
            <a:endParaRPr lang="en-US" sz="584" dirty="0"/>
          </a:p>
        </p:txBody>
      </p:sp>
      <p:sp>
        <p:nvSpPr>
          <p:cNvPr id="37" name="Shape 29"/>
          <p:cNvSpPr/>
          <p:nvPr/>
        </p:nvSpPr>
        <p:spPr>
          <a:xfrm>
            <a:off x="2979083" y="2027039"/>
            <a:ext cx="516527" cy="30182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Shape 30"/>
          <p:cNvSpPr/>
          <p:nvPr/>
        </p:nvSpPr>
        <p:spPr>
          <a:xfrm>
            <a:off x="2979083" y="2321719"/>
            <a:ext cx="516527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1"/>
          <p:cNvSpPr/>
          <p:nvPr/>
        </p:nvSpPr>
        <p:spPr>
          <a:xfrm>
            <a:off x="2979083" y="2027039"/>
            <a:ext cx="516527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이름</a:t>
            </a:r>
            <a:endParaRPr lang="en-US" sz="584" dirty="0"/>
          </a:p>
        </p:txBody>
      </p:sp>
      <p:sp>
        <p:nvSpPr>
          <p:cNvPr id="40" name="Shape 32"/>
          <p:cNvSpPr/>
          <p:nvPr/>
        </p:nvSpPr>
        <p:spPr>
          <a:xfrm>
            <a:off x="3495610" y="2027039"/>
            <a:ext cx="416709" cy="30182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Shape 33"/>
          <p:cNvSpPr/>
          <p:nvPr/>
        </p:nvSpPr>
        <p:spPr>
          <a:xfrm>
            <a:off x="3495610" y="2321719"/>
            <a:ext cx="416709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34"/>
          <p:cNvSpPr/>
          <p:nvPr/>
        </p:nvSpPr>
        <p:spPr>
          <a:xfrm>
            <a:off x="3495610" y="2027039"/>
            <a:ext cx="416709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공종</a:t>
            </a:r>
            <a:endParaRPr lang="en-US" sz="584" dirty="0"/>
          </a:p>
        </p:txBody>
      </p:sp>
      <p:sp>
        <p:nvSpPr>
          <p:cNvPr id="43" name="Shape 35"/>
          <p:cNvSpPr/>
          <p:nvPr/>
        </p:nvSpPr>
        <p:spPr>
          <a:xfrm>
            <a:off x="3912319" y="2027039"/>
            <a:ext cx="494426" cy="30182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4" name="Shape 36"/>
          <p:cNvSpPr/>
          <p:nvPr/>
        </p:nvSpPr>
        <p:spPr>
          <a:xfrm>
            <a:off x="3912319" y="2321719"/>
            <a:ext cx="494426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37"/>
          <p:cNvSpPr/>
          <p:nvPr/>
        </p:nvSpPr>
        <p:spPr>
          <a:xfrm>
            <a:off x="3912319" y="2027039"/>
            <a:ext cx="494426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출근</a:t>
            </a:r>
            <a:endParaRPr lang="en-US" sz="584" dirty="0"/>
          </a:p>
        </p:txBody>
      </p:sp>
      <p:sp>
        <p:nvSpPr>
          <p:cNvPr id="46" name="Shape 38"/>
          <p:cNvSpPr/>
          <p:nvPr/>
        </p:nvSpPr>
        <p:spPr>
          <a:xfrm>
            <a:off x="4406745" y="2027039"/>
            <a:ext cx="494426" cy="30182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Shape 39"/>
          <p:cNvSpPr/>
          <p:nvPr/>
        </p:nvSpPr>
        <p:spPr>
          <a:xfrm>
            <a:off x="4406745" y="2321719"/>
            <a:ext cx="494426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8" name="Text 40"/>
          <p:cNvSpPr/>
          <p:nvPr/>
        </p:nvSpPr>
        <p:spPr>
          <a:xfrm>
            <a:off x="4406745" y="2027039"/>
            <a:ext cx="494426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퇴근</a:t>
            </a:r>
            <a:endParaRPr lang="en-US" sz="584" dirty="0"/>
          </a:p>
        </p:txBody>
      </p:sp>
      <p:sp>
        <p:nvSpPr>
          <p:cNvPr id="49" name="Shape 41"/>
          <p:cNvSpPr/>
          <p:nvPr/>
        </p:nvSpPr>
        <p:spPr>
          <a:xfrm>
            <a:off x="4901171" y="2027039"/>
            <a:ext cx="416709" cy="30182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0" name="Shape 42"/>
          <p:cNvSpPr/>
          <p:nvPr/>
        </p:nvSpPr>
        <p:spPr>
          <a:xfrm>
            <a:off x="4901171" y="2321719"/>
            <a:ext cx="416709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1" name="Text 43"/>
          <p:cNvSpPr/>
          <p:nvPr/>
        </p:nvSpPr>
        <p:spPr>
          <a:xfrm>
            <a:off x="4901171" y="2027039"/>
            <a:ext cx="416709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공수</a:t>
            </a:r>
            <a:endParaRPr lang="en-US" sz="584" dirty="0"/>
          </a:p>
        </p:txBody>
      </p:sp>
      <p:sp>
        <p:nvSpPr>
          <p:cNvPr id="52" name="Shape 44"/>
          <p:cNvSpPr/>
          <p:nvPr/>
        </p:nvSpPr>
        <p:spPr>
          <a:xfrm>
            <a:off x="5317880" y="2027039"/>
            <a:ext cx="611432" cy="30182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3" name="Shape 45"/>
          <p:cNvSpPr/>
          <p:nvPr/>
        </p:nvSpPr>
        <p:spPr>
          <a:xfrm>
            <a:off x="5317880" y="2321719"/>
            <a:ext cx="611432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4" name="Text 46"/>
          <p:cNvSpPr/>
          <p:nvPr/>
        </p:nvSpPr>
        <p:spPr>
          <a:xfrm>
            <a:off x="5317880" y="2027039"/>
            <a:ext cx="611432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상태</a:t>
            </a:r>
            <a:endParaRPr lang="en-US" sz="584" dirty="0"/>
          </a:p>
        </p:txBody>
      </p:sp>
      <p:sp>
        <p:nvSpPr>
          <p:cNvPr id="55" name="Text 47"/>
          <p:cNvSpPr/>
          <p:nvPr/>
        </p:nvSpPr>
        <p:spPr>
          <a:xfrm>
            <a:off x="1991320" y="2325291"/>
            <a:ext cx="372452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</a:t>
            </a:r>
            <a:endParaRPr lang="en-US" sz="621" dirty="0"/>
          </a:p>
        </p:txBody>
      </p:sp>
      <p:sp>
        <p:nvSpPr>
          <p:cNvPr id="56" name="Text 48"/>
          <p:cNvSpPr/>
          <p:nvPr/>
        </p:nvSpPr>
        <p:spPr>
          <a:xfrm>
            <a:off x="2363772" y="2325291"/>
            <a:ext cx="615311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A 아파트</a:t>
            </a:r>
            <a:endParaRPr lang="en-US" sz="621" dirty="0"/>
          </a:p>
        </p:txBody>
      </p:sp>
      <p:sp>
        <p:nvSpPr>
          <p:cNvPr id="57" name="Text 49"/>
          <p:cNvSpPr/>
          <p:nvPr/>
        </p:nvSpPr>
        <p:spPr>
          <a:xfrm>
            <a:off x="2979083" y="2325291"/>
            <a:ext cx="516527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김철수</a:t>
            </a:r>
            <a:endParaRPr lang="en-US" sz="621" dirty="0"/>
          </a:p>
        </p:txBody>
      </p:sp>
      <p:sp>
        <p:nvSpPr>
          <p:cNvPr id="58" name="Text 50"/>
          <p:cNvSpPr/>
          <p:nvPr/>
        </p:nvSpPr>
        <p:spPr>
          <a:xfrm>
            <a:off x="3495610" y="2325291"/>
            <a:ext cx="416709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철근</a:t>
            </a:r>
            <a:endParaRPr lang="en-US" sz="621" dirty="0"/>
          </a:p>
        </p:txBody>
      </p:sp>
      <p:sp>
        <p:nvSpPr>
          <p:cNvPr id="59" name="Text 51"/>
          <p:cNvSpPr/>
          <p:nvPr/>
        </p:nvSpPr>
        <p:spPr>
          <a:xfrm>
            <a:off x="3912319" y="2325291"/>
            <a:ext cx="494426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06:55</a:t>
            </a:r>
            <a:endParaRPr lang="en-US" sz="621" dirty="0"/>
          </a:p>
        </p:txBody>
      </p:sp>
      <p:sp>
        <p:nvSpPr>
          <p:cNvPr id="60" name="Text 52"/>
          <p:cNvSpPr/>
          <p:nvPr/>
        </p:nvSpPr>
        <p:spPr>
          <a:xfrm>
            <a:off x="4406745" y="2325291"/>
            <a:ext cx="494426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17:00</a:t>
            </a:r>
            <a:endParaRPr lang="en-US" sz="621" dirty="0"/>
          </a:p>
        </p:txBody>
      </p:sp>
      <p:sp>
        <p:nvSpPr>
          <p:cNvPr id="61" name="Text 53"/>
          <p:cNvSpPr/>
          <p:nvPr/>
        </p:nvSpPr>
        <p:spPr>
          <a:xfrm>
            <a:off x="4901171" y="2325291"/>
            <a:ext cx="416709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1.0</a:t>
            </a:r>
            <a:endParaRPr lang="en-US" sz="621" dirty="0"/>
          </a:p>
        </p:txBody>
      </p:sp>
      <p:sp>
        <p:nvSpPr>
          <p:cNvPr id="62" name="Shape 54"/>
          <p:cNvSpPr/>
          <p:nvPr/>
        </p:nvSpPr>
        <p:spPr>
          <a:xfrm>
            <a:off x="5403605" y="2414588"/>
            <a:ext cx="245762" cy="126802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63" name="Text 55"/>
          <p:cNvSpPr/>
          <p:nvPr/>
        </p:nvSpPr>
        <p:spPr>
          <a:xfrm>
            <a:off x="5403605" y="2414588"/>
            <a:ext cx="245762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정상</a:t>
            </a:r>
            <a:endParaRPr lang="en-US" sz="485" dirty="0"/>
          </a:p>
        </p:txBody>
      </p:sp>
      <p:sp>
        <p:nvSpPr>
          <p:cNvPr id="64" name="Text 56"/>
          <p:cNvSpPr/>
          <p:nvPr/>
        </p:nvSpPr>
        <p:spPr>
          <a:xfrm>
            <a:off x="1991320" y="2627114"/>
            <a:ext cx="372452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2</a:t>
            </a:r>
            <a:endParaRPr lang="en-US" sz="621" dirty="0"/>
          </a:p>
        </p:txBody>
      </p:sp>
      <p:sp>
        <p:nvSpPr>
          <p:cNvPr id="65" name="Text 57"/>
          <p:cNvSpPr/>
          <p:nvPr/>
        </p:nvSpPr>
        <p:spPr>
          <a:xfrm>
            <a:off x="2363772" y="2627114"/>
            <a:ext cx="615311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A 아파트</a:t>
            </a:r>
            <a:endParaRPr lang="en-US" sz="621" dirty="0"/>
          </a:p>
        </p:txBody>
      </p:sp>
      <p:sp>
        <p:nvSpPr>
          <p:cNvPr id="66" name="Text 58"/>
          <p:cNvSpPr/>
          <p:nvPr/>
        </p:nvSpPr>
        <p:spPr>
          <a:xfrm>
            <a:off x="2979083" y="2627114"/>
            <a:ext cx="516527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이영희</a:t>
            </a:r>
            <a:endParaRPr lang="en-US" sz="621" dirty="0"/>
          </a:p>
        </p:txBody>
      </p:sp>
      <p:sp>
        <p:nvSpPr>
          <p:cNvPr id="67" name="Text 59"/>
          <p:cNvSpPr/>
          <p:nvPr/>
        </p:nvSpPr>
        <p:spPr>
          <a:xfrm>
            <a:off x="3495610" y="2627114"/>
            <a:ext cx="416709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전기</a:t>
            </a:r>
            <a:endParaRPr lang="en-US" sz="621" dirty="0"/>
          </a:p>
        </p:txBody>
      </p:sp>
      <p:sp>
        <p:nvSpPr>
          <p:cNvPr id="68" name="Text 60"/>
          <p:cNvSpPr/>
          <p:nvPr/>
        </p:nvSpPr>
        <p:spPr>
          <a:xfrm>
            <a:off x="3912319" y="2627114"/>
            <a:ext cx="494426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07:10</a:t>
            </a:r>
            <a:endParaRPr lang="en-US" sz="621" dirty="0"/>
          </a:p>
        </p:txBody>
      </p:sp>
      <p:sp>
        <p:nvSpPr>
          <p:cNvPr id="69" name="Text 61"/>
          <p:cNvSpPr/>
          <p:nvPr/>
        </p:nvSpPr>
        <p:spPr>
          <a:xfrm>
            <a:off x="4406745" y="2627114"/>
            <a:ext cx="494426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17:00</a:t>
            </a:r>
            <a:endParaRPr lang="en-US" sz="621" dirty="0"/>
          </a:p>
        </p:txBody>
      </p:sp>
      <p:sp>
        <p:nvSpPr>
          <p:cNvPr id="70" name="Text 62"/>
          <p:cNvSpPr/>
          <p:nvPr/>
        </p:nvSpPr>
        <p:spPr>
          <a:xfrm>
            <a:off x="4901171" y="2627114"/>
            <a:ext cx="416709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1.0</a:t>
            </a:r>
            <a:endParaRPr lang="en-US" sz="621" dirty="0"/>
          </a:p>
        </p:txBody>
      </p:sp>
      <p:sp>
        <p:nvSpPr>
          <p:cNvPr id="71" name="Shape 63"/>
          <p:cNvSpPr/>
          <p:nvPr/>
        </p:nvSpPr>
        <p:spPr>
          <a:xfrm>
            <a:off x="5403605" y="2719983"/>
            <a:ext cx="245762" cy="126802"/>
          </a:xfrm>
          <a:prstGeom prst="round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72" name="Text 64"/>
          <p:cNvSpPr/>
          <p:nvPr/>
        </p:nvSpPr>
        <p:spPr>
          <a:xfrm>
            <a:off x="5403605" y="2719983"/>
            <a:ext cx="245762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59E0B"/>
                </a:solidFill>
              </a:rPr>
              <a:t>지각</a:t>
            </a:r>
            <a:endParaRPr lang="en-US" sz="485" dirty="0"/>
          </a:p>
        </p:txBody>
      </p:sp>
      <p:sp>
        <p:nvSpPr>
          <p:cNvPr id="73" name="Text 65"/>
          <p:cNvSpPr/>
          <p:nvPr/>
        </p:nvSpPr>
        <p:spPr>
          <a:xfrm>
            <a:off x="1991320" y="2932509"/>
            <a:ext cx="372452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3</a:t>
            </a:r>
            <a:endParaRPr lang="en-US" sz="621" dirty="0"/>
          </a:p>
        </p:txBody>
      </p:sp>
      <p:sp>
        <p:nvSpPr>
          <p:cNvPr id="74" name="Text 66"/>
          <p:cNvSpPr/>
          <p:nvPr/>
        </p:nvSpPr>
        <p:spPr>
          <a:xfrm>
            <a:off x="2363772" y="2932509"/>
            <a:ext cx="615311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B 오피스</a:t>
            </a:r>
            <a:endParaRPr lang="en-US" sz="621" dirty="0"/>
          </a:p>
        </p:txBody>
      </p:sp>
      <p:sp>
        <p:nvSpPr>
          <p:cNvPr id="75" name="Text 67"/>
          <p:cNvSpPr/>
          <p:nvPr/>
        </p:nvSpPr>
        <p:spPr>
          <a:xfrm>
            <a:off x="2979083" y="2932509"/>
            <a:ext cx="516527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박민수</a:t>
            </a:r>
            <a:endParaRPr lang="en-US" sz="621" dirty="0"/>
          </a:p>
        </p:txBody>
      </p:sp>
      <p:sp>
        <p:nvSpPr>
          <p:cNvPr id="76" name="Text 68"/>
          <p:cNvSpPr/>
          <p:nvPr/>
        </p:nvSpPr>
        <p:spPr>
          <a:xfrm>
            <a:off x="3495610" y="2932509"/>
            <a:ext cx="416709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설비</a:t>
            </a:r>
            <a:endParaRPr lang="en-US" sz="621" dirty="0"/>
          </a:p>
        </p:txBody>
      </p:sp>
      <p:sp>
        <p:nvSpPr>
          <p:cNvPr id="77" name="Text 69"/>
          <p:cNvSpPr/>
          <p:nvPr/>
        </p:nvSpPr>
        <p:spPr>
          <a:xfrm>
            <a:off x="3912319" y="2932509"/>
            <a:ext cx="494426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06:50</a:t>
            </a:r>
            <a:endParaRPr lang="en-US" sz="621" dirty="0"/>
          </a:p>
        </p:txBody>
      </p:sp>
      <p:sp>
        <p:nvSpPr>
          <p:cNvPr id="78" name="Text 70"/>
          <p:cNvSpPr/>
          <p:nvPr/>
        </p:nvSpPr>
        <p:spPr>
          <a:xfrm>
            <a:off x="4406745" y="2932509"/>
            <a:ext cx="494426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</a:t>
            </a:r>
            <a:endParaRPr lang="en-US" sz="621" dirty="0"/>
          </a:p>
        </p:txBody>
      </p:sp>
      <p:sp>
        <p:nvSpPr>
          <p:cNvPr id="79" name="Text 71"/>
          <p:cNvSpPr/>
          <p:nvPr/>
        </p:nvSpPr>
        <p:spPr>
          <a:xfrm>
            <a:off x="4901171" y="2932509"/>
            <a:ext cx="416709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0.5</a:t>
            </a:r>
            <a:endParaRPr lang="en-US" sz="621" dirty="0"/>
          </a:p>
        </p:txBody>
      </p:sp>
      <p:sp>
        <p:nvSpPr>
          <p:cNvPr id="80" name="Shape 72"/>
          <p:cNvSpPr/>
          <p:nvPr/>
        </p:nvSpPr>
        <p:spPr>
          <a:xfrm>
            <a:off x="5403605" y="3025378"/>
            <a:ext cx="311479" cy="126802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81" name="Text 73"/>
          <p:cNvSpPr/>
          <p:nvPr/>
        </p:nvSpPr>
        <p:spPr>
          <a:xfrm>
            <a:off x="5403605" y="3025378"/>
            <a:ext cx="311479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근무중</a:t>
            </a:r>
            <a:endParaRPr lang="en-US" sz="485" dirty="0"/>
          </a:p>
        </p:txBody>
      </p:sp>
      <p:sp>
        <p:nvSpPr>
          <p:cNvPr id="82" name="Text 74"/>
          <p:cNvSpPr/>
          <p:nvPr/>
        </p:nvSpPr>
        <p:spPr>
          <a:xfrm>
            <a:off x="1991320" y="3237905"/>
            <a:ext cx="372452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4</a:t>
            </a:r>
            <a:endParaRPr lang="en-US" sz="621" dirty="0"/>
          </a:p>
        </p:txBody>
      </p:sp>
      <p:sp>
        <p:nvSpPr>
          <p:cNvPr id="83" name="Text 75"/>
          <p:cNvSpPr/>
          <p:nvPr/>
        </p:nvSpPr>
        <p:spPr>
          <a:xfrm>
            <a:off x="2363772" y="3237905"/>
            <a:ext cx="615311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B 오피스</a:t>
            </a:r>
            <a:endParaRPr lang="en-US" sz="621" dirty="0"/>
          </a:p>
        </p:txBody>
      </p:sp>
      <p:sp>
        <p:nvSpPr>
          <p:cNvPr id="84" name="Text 76"/>
          <p:cNvSpPr/>
          <p:nvPr/>
        </p:nvSpPr>
        <p:spPr>
          <a:xfrm>
            <a:off x="2979083" y="3237905"/>
            <a:ext cx="516527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최준호</a:t>
            </a:r>
            <a:endParaRPr lang="en-US" sz="621" dirty="0"/>
          </a:p>
        </p:txBody>
      </p:sp>
      <p:sp>
        <p:nvSpPr>
          <p:cNvPr id="85" name="Text 77"/>
          <p:cNvSpPr/>
          <p:nvPr/>
        </p:nvSpPr>
        <p:spPr>
          <a:xfrm>
            <a:off x="3495610" y="3237905"/>
            <a:ext cx="416709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목공</a:t>
            </a:r>
            <a:endParaRPr lang="en-US" sz="621" dirty="0"/>
          </a:p>
        </p:txBody>
      </p:sp>
      <p:sp>
        <p:nvSpPr>
          <p:cNvPr id="86" name="Text 78"/>
          <p:cNvSpPr/>
          <p:nvPr/>
        </p:nvSpPr>
        <p:spPr>
          <a:xfrm>
            <a:off x="3912319" y="3237905"/>
            <a:ext cx="494426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06:45</a:t>
            </a:r>
            <a:endParaRPr lang="en-US" sz="621" dirty="0"/>
          </a:p>
        </p:txBody>
      </p:sp>
      <p:sp>
        <p:nvSpPr>
          <p:cNvPr id="87" name="Text 79"/>
          <p:cNvSpPr/>
          <p:nvPr/>
        </p:nvSpPr>
        <p:spPr>
          <a:xfrm>
            <a:off x="4406745" y="3237905"/>
            <a:ext cx="494426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17:00</a:t>
            </a:r>
            <a:endParaRPr lang="en-US" sz="621" dirty="0"/>
          </a:p>
        </p:txBody>
      </p:sp>
      <p:sp>
        <p:nvSpPr>
          <p:cNvPr id="88" name="Text 80"/>
          <p:cNvSpPr/>
          <p:nvPr/>
        </p:nvSpPr>
        <p:spPr>
          <a:xfrm>
            <a:off x="4901171" y="3237905"/>
            <a:ext cx="416709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1.0</a:t>
            </a:r>
            <a:endParaRPr lang="en-US" sz="621" dirty="0"/>
          </a:p>
        </p:txBody>
      </p:sp>
      <p:sp>
        <p:nvSpPr>
          <p:cNvPr id="89" name="Shape 81"/>
          <p:cNvSpPr/>
          <p:nvPr/>
        </p:nvSpPr>
        <p:spPr>
          <a:xfrm>
            <a:off x="5403605" y="3330773"/>
            <a:ext cx="245762" cy="126802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90" name="Text 82"/>
          <p:cNvSpPr/>
          <p:nvPr/>
        </p:nvSpPr>
        <p:spPr>
          <a:xfrm>
            <a:off x="5403605" y="3330773"/>
            <a:ext cx="245762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정상</a:t>
            </a:r>
            <a:endParaRPr lang="en-US" sz="485" dirty="0"/>
          </a:p>
        </p:txBody>
      </p:sp>
      <p:sp>
        <p:nvSpPr>
          <p:cNvPr id="91" name="Shape 83"/>
          <p:cNvSpPr/>
          <p:nvPr/>
        </p:nvSpPr>
        <p:spPr>
          <a:xfrm>
            <a:off x="3960316" y="278695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2" name="Text 84"/>
          <p:cNvSpPr/>
          <p:nvPr/>
        </p:nvSpPr>
        <p:spPr>
          <a:xfrm>
            <a:off x="3960316" y="278695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93" name="Text 85"/>
          <p:cNvSpPr/>
          <p:nvPr/>
        </p:nvSpPr>
        <p:spPr>
          <a:xfrm>
            <a:off x="6429375" y="428625"/>
            <a:ext cx="2286000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[본사] 통합 출역 및</a:t>
            </a:r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노무자 현황</a:t>
            </a:r>
            <a:endParaRPr lang="en-US" sz="1397" dirty="0"/>
          </a:p>
        </p:txBody>
      </p:sp>
      <p:sp>
        <p:nvSpPr>
          <p:cNvPr id="94" name="Text 86"/>
          <p:cNvSpPr/>
          <p:nvPr/>
        </p:nvSpPr>
        <p:spPr>
          <a:xfrm>
            <a:off x="6429375" y="1005818"/>
            <a:ext cx="22860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전체 현장 실시간 출역 모니터링 및 이력 관리</a:t>
            </a:r>
            <a:endParaRPr lang="en-US" sz="727" dirty="0"/>
          </a:p>
        </p:txBody>
      </p:sp>
      <p:sp>
        <p:nvSpPr>
          <p:cNvPr id="95" name="Shape 87"/>
          <p:cNvSpPr/>
          <p:nvPr/>
        </p:nvSpPr>
        <p:spPr>
          <a:xfrm>
            <a:off x="6429375" y="1514810"/>
            <a:ext cx="314325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6" name="Shape 88"/>
          <p:cNvSpPr/>
          <p:nvPr/>
        </p:nvSpPr>
        <p:spPr>
          <a:xfrm>
            <a:off x="6429375" y="1766627"/>
            <a:ext cx="31432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7" name="Text 89"/>
          <p:cNvSpPr/>
          <p:nvPr/>
        </p:nvSpPr>
        <p:spPr>
          <a:xfrm>
            <a:off x="6429375" y="1514810"/>
            <a:ext cx="314325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No</a:t>
            </a:r>
            <a:endParaRPr lang="en-US" sz="584" dirty="0"/>
          </a:p>
        </p:txBody>
      </p:sp>
      <p:sp>
        <p:nvSpPr>
          <p:cNvPr id="98" name="Shape 90"/>
          <p:cNvSpPr/>
          <p:nvPr/>
        </p:nvSpPr>
        <p:spPr>
          <a:xfrm>
            <a:off x="6743700" y="1514810"/>
            <a:ext cx="714375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9" name="Shape 91"/>
          <p:cNvSpPr/>
          <p:nvPr/>
        </p:nvSpPr>
        <p:spPr>
          <a:xfrm>
            <a:off x="6743700" y="1766627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0" name="Text 92"/>
          <p:cNvSpPr/>
          <p:nvPr/>
        </p:nvSpPr>
        <p:spPr>
          <a:xfrm>
            <a:off x="6743700" y="1514810"/>
            <a:ext cx="714375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UI Element</a:t>
            </a:r>
            <a:endParaRPr lang="en-US" sz="584" dirty="0"/>
          </a:p>
        </p:txBody>
      </p:sp>
      <p:sp>
        <p:nvSpPr>
          <p:cNvPr id="101" name="Shape 93"/>
          <p:cNvSpPr/>
          <p:nvPr/>
        </p:nvSpPr>
        <p:spPr>
          <a:xfrm>
            <a:off x="7458075" y="1514810"/>
            <a:ext cx="1257300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2" name="Shape 94"/>
          <p:cNvSpPr/>
          <p:nvPr/>
        </p:nvSpPr>
        <p:spPr>
          <a:xfrm>
            <a:off x="7458075" y="1766627"/>
            <a:ext cx="125730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3" name="Text 95"/>
          <p:cNvSpPr/>
          <p:nvPr/>
        </p:nvSpPr>
        <p:spPr>
          <a:xfrm>
            <a:off x="7458075" y="1514810"/>
            <a:ext cx="1257300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Implementation Spec</a:t>
            </a:r>
            <a:endParaRPr lang="en-US" sz="584" dirty="0"/>
          </a:p>
        </p:txBody>
      </p:sp>
      <p:sp>
        <p:nvSpPr>
          <p:cNvPr id="104" name="Shape 96"/>
          <p:cNvSpPr/>
          <p:nvPr/>
        </p:nvSpPr>
        <p:spPr>
          <a:xfrm>
            <a:off x="6500813" y="184520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5" name="Text 97"/>
          <p:cNvSpPr/>
          <p:nvPr/>
        </p:nvSpPr>
        <p:spPr>
          <a:xfrm>
            <a:off x="6500813" y="184520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06" name="Text 98"/>
          <p:cNvSpPr/>
          <p:nvPr/>
        </p:nvSpPr>
        <p:spPr>
          <a:xfrm>
            <a:off x="6815138" y="1855924"/>
            <a:ext cx="3377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통합 필터</a:t>
            </a:r>
            <a:endParaRPr lang="en-US" sz="584" dirty="0"/>
          </a:p>
        </p:txBody>
      </p:sp>
      <p:sp>
        <p:nvSpPr>
          <p:cNvPr id="107" name="Text 99"/>
          <p:cNvSpPr/>
          <p:nvPr/>
        </p:nvSpPr>
        <p:spPr>
          <a:xfrm>
            <a:off x="7529513" y="1845208"/>
            <a:ext cx="11144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GET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/api/v1/attendance</a:t>
            </a:r>
            <a:endParaRPr lang="en-US" sz="621" dirty="0"/>
          </a:p>
        </p:txBody>
      </p:sp>
      <p:sp>
        <p:nvSpPr>
          <p:cNvPr id="108" name="Text 100"/>
          <p:cNvSpPr/>
          <p:nvPr/>
        </p:nvSpPr>
        <p:spPr>
          <a:xfrm>
            <a:off x="7529513" y="2077380"/>
            <a:ext cx="11144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Params: date, projectId, keyword</a:t>
            </a:r>
            <a:endParaRPr lang="en-US" sz="621" dirty="0"/>
          </a:p>
        </p:txBody>
      </p:sp>
      <p:sp>
        <p:nvSpPr>
          <p:cNvPr id="109" name="Text 101"/>
          <p:cNvSpPr/>
          <p:nvPr/>
        </p:nvSpPr>
        <p:spPr>
          <a:xfrm>
            <a:off x="7529513" y="2309552"/>
            <a:ext cx="111442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Logic: QueryDSL 동적 쿼리 적용</a:t>
            </a:r>
            <a:endParaRPr lang="en-US" sz="621" dirty="0"/>
          </a:p>
        </p:txBody>
      </p:sp>
      <p:sp>
        <p:nvSpPr>
          <p:cNvPr id="110" name="Shape 102"/>
          <p:cNvSpPr/>
          <p:nvPr/>
        </p:nvSpPr>
        <p:spPr>
          <a:xfrm>
            <a:off x="6500813" y="271317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1" name="Text 103"/>
          <p:cNvSpPr/>
          <p:nvPr/>
        </p:nvSpPr>
        <p:spPr>
          <a:xfrm>
            <a:off x="6500813" y="271317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12" name="Text 104"/>
          <p:cNvSpPr/>
          <p:nvPr/>
        </p:nvSpPr>
        <p:spPr>
          <a:xfrm>
            <a:off x="6815138" y="2723890"/>
            <a:ext cx="49551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데이터 그리드</a:t>
            </a:r>
            <a:endParaRPr lang="en-US" sz="584" dirty="0"/>
          </a:p>
        </p:txBody>
      </p:sp>
      <p:sp>
        <p:nvSpPr>
          <p:cNvPr id="113" name="Text 105"/>
          <p:cNvSpPr/>
          <p:nvPr/>
        </p:nvSpPr>
        <p:spPr>
          <a:xfrm>
            <a:off x="7529513" y="2713174"/>
            <a:ext cx="11144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TanStack Table</a:t>
            </a:r>
            <a:endParaRPr lang="en-US" sz="621" dirty="0"/>
          </a:p>
        </p:txBody>
      </p:sp>
      <p:sp>
        <p:nvSpPr>
          <p:cNvPr id="114" name="Text 106"/>
          <p:cNvSpPr/>
          <p:nvPr/>
        </p:nvSpPr>
        <p:spPr>
          <a:xfrm>
            <a:off x="7529513" y="2829260"/>
            <a:ext cx="111442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Feat: 페이지네이션, 컬럼 정렬</a:t>
            </a:r>
            <a:endParaRPr lang="en-US" sz="621" dirty="0"/>
          </a:p>
        </p:txBody>
      </p:sp>
      <p:sp>
        <p:nvSpPr>
          <p:cNvPr id="115" name="Text 107"/>
          <p:cNvSpPr/>
          <p:nvPr/>
        </p:nvSpPr>
        <p:spPr>
          <a:xfrm>
            <a:off x="7529513" y="3082863"/>
            <a:ext cx="111442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Data: FaceNet 인증 시간 기준</a:t>
            </a:r>
            <a:endParaRPr lang="en-US" sz="621" dirty="0"/>
          </a:p>
        </p:txBody>
      </p:sp>
      <p:sp>
        <p:nvSpPr>
          <p:cNvPr id="116" name="Shape 108"/>
          <p:cNvSpPr/>
          <p:nvPr/>
        </p:nvSpPr>
        <p:spPr>
          <a:xfrm>
            <a:off x="6500813" y="348648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7" name="Text 109"/>
          <p:cNvSpPr/>
          <p:nvPr/>
        </p:nvSpPr>
        <p:spPr>
          <a:xfrm>
            <a:off x="6500813" y="348648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18" name="Text 110"/>
          <p:cNvSpPr/>
          <p:nvPr/>
        </p:nvSpPr>
        <p:spPr>
          <a:xfrm>
            <a:off x="6815138" y="3497200"/>
            <a:ext cx="49551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엑셀 다운로드</a:t>
            </a:r>
            <a:endParaRPr lang="en-US" sz="584" dirty="0"/>
          </a:p>
        </p:txBody>
      </p:sp>
      <p:sp>
        <p:nvSpPr>
          <p:cNvPr id="119" name="Text 111"/>
          <p:cNvSpPr/>
          <p:nvPr/>
        </p:nvSpPr>
        <p:spPr>
          <a:xfrm>
            <a:off x="7529513" y="3486485"/>
            <a:ext cx="11144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Apache POI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(Backend)</a:t>
            </a:r>
            <a:endParaRPr lang="en-US" sz="621" dirty="0"/>
          </a:p>
        </p:txBody>
      </p:sp>
      <p:sp>
        <p:nvSpPr>
          <p:cNvPr id="120" name="Text 112"/>
          <p:cNvSpPr/>
          <p:nvPr/>
        </p:nvSpPr>
        <p:spPr>
          <a:xfrm>
            <a:off x="7529513" y="3718657"/>
            <a:ext cx="111442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Action: 현재 필터 조건으로 전체 다운로드</a:t>
            </a:r>
            <a:endParaRPr lang="en-US" sz="621" dirty="0"/>
          </a:p>
        </p:txBody>
      </p:sp>
      <p:sp>
        <p:nvSpPr>
          <p:cNvPr id="121" name="Shape 113"/>
          <p:cNvSpPr/>
          <p:nvPr/>
        </p:nvSpPr>
        <p:spPr>
          <a:xfrm>
            <a:off x="6429375" y="4265154"/>
            <a:ext cx="2286000" cy="51077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22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6500813" y="4336591"/>
            <a:ext cx="1310125" cy="155377"/>
          </a:xfrm>
          <a:prstGeom prst="rect">
            <a:avLst/>
          </a:prstGeom>
        </p:spPr>
      </p:pic>
      <p:pic>
        <p:nvPicPr>
          <p:cNvPr id="1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5590" y="4588408"/>
            <a:ext cx="85725" cy="85725"/>
          </a:xfrm>
          <a:prstGeom prst="rect">
            <a:avLst/>
          </a:prstGeom>
        </p:spPr>
      </p:pic>
      <p:sp>
        <p:nvSpPr>
          <p:cNvPr id="124" name="Text 114"/>
          <p:cNvSpPr/>
          <p:nvPr/>
        </p:nvSpPr>
        <p:spPr>
          <a:xfrm>
            <a:off x="6951315" y="4574121"/>
            <a:ext cx="13278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FaceNet 기반 실시간 출역 인증 연동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778669"/>
            <a:ext cx="4667241" cy="35861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785813"/>
            <a:ext cx="4667241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042988"/>
            <a:ext cx="4667241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3"/>
          <p:cNvSpPr/>
          <p:nvPr/>
        </p:nvSpPr>
        <p:spPr>
          <a:xfrm>
            <a:off x="992981" y="856357"/>
            <a:ext cx="9826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SmartCON Site Manager</a:t>
            </a:r>
            <a:endParaRPr lang="en-US" sz="621" dirty="0"/>
          </a:p>
        </p:txBody>
      </p:sp>
      <p:sp>
        <p:nvSpPr>
          <p:cNvPr id="7" name="Shape 4"/>
          <p:cNvSpPr/>
          <p:nvPr/>
        </p:nvSpPr>
        <p:spPr>
          <a:xfrm>
            <a:off x="571500" y="1185863"/>
            <a:ext cx="4381491" cy="35540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8656" y="1293019"/>
            <a:ext cx="12966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현장명: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서울 강남구 오피스 신축공사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3913352" y="1293019"/>
            <a:ext cx="93248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기간: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2024.01 ~ 2025.12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4995853" y="7143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4995853" y="7143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571500" y="1669852"/>
            <a:ext cx="1389041" cy="62507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656" y="1777008"/>
            <a:ext cx="11747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금일 총 출역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678656" y="1939528"/>
            <a:ext cx="117472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142 </a:t>
            </a:r>
            <a:pPr algn="l" indent="0" marL="0">
              <a:lnSpc>
                <a:spcPts val="16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▲ 5</a:t>
            </a:r>
            <a:endParaRPr lang="en-US" sz="1193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791" y="1777008"/>
            <a:ext cx="178594" cy="14287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860528" y="159841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3"/>
          <p:cNvSpPr/>
          <p:nvPr/>
        </p:nvSpPr>
        <p:spPr>
          <a:xfrm>
            <a:off x="1860528" y="159841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8" name="Shape 14"/>
          <p:cNvSpPr/>
          <p:nvPr/>
        </p:nvSpPr>
        <p:spPr>
          <a:xfrm>
            <a:off x="2067697" y="1669852"/>
            <a:ext cx="1389069" cy="62507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174853" y="1777008"/>
            <a:ext cx="11747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신규 출역자</a:t>
            </a:r>
            <a:endParaRPr lang="en-US" sz="621" dirty="0"/>
          </a:p>
        </p:txBody>
      </p:sp>
      <p:sp>
        <p:nvSpPr>
          <p:cNvPr id="20" name="Text 16"/>
          <p:cNvSpPr/>
          <p:nvPr/>
        </p:nvSpPr>
        <p:spPr>
          <a:xfrm>
            <a:off x="2174853" y="1939528"/>
            <a:ext cx="11747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8 </a:t>
            </a:r>
            <a:pPr algn="l" indent="0" marL="0">
              <a:lnSpc>
                <a:spcPts val="1600"/>
              </a:lnSpc>
              <a:buNone/>
            </a:pPr>
            <a:r>
              <a:rPr lang="en-US" sz="683" b="1" dirty="0">
                <a:solidFill>
                  <a:srgbClr val="F59E0B"/>
                </a:solidFill>
              </a:rPr>
              <a:t>New</a:t>
            </a:r>
            <a:endParaRPr lang="en-US" sz="1193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016" y="1777008"/>
            <a:ext cx="178594" cy="14287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563922" y="1669852"/>
            <a:ext cx="1389069" cy="625078"/>
          </a:xfrm>
          <a:prstGeom prst="rect">
            <a:avLst/>
          </a:prstGeom>
          <a:solidFill>
            <a:srgbClr val="0F172A"/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671078" y="1777008"/>
            <a:ext cx="11747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미서명 계약</a:t>
            </a:r>
            <a:endParaRPr lang="en-US" sz="621" dirty="0"/>
          </a:p>
        </p:txBody>
      </p:sp>
      <p:sp>
        <p:nvSpPr>
          <p:cNvPr id="24" name="Text 19"/>
          <p:cNvSpPr/>
          <p:nvPr/>
        </p:nvSpPr>
        <p:spPr>
          <a:xfrm>
            <a:off x="3671078" y="1939528"/>
            <a:ext cx="11747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</a:rPr>
              <a:t>12</a:t>
            </a:r>
            <a:endParaRPr lang="en-US" sz="1193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100" y="1777008"/>
            <a:ext cx="160734" cy="14287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852978" y="159841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1"/>
          <p:cNvSpPr/>
          <p:nvPr/>
        </p:nvSpPr>
        <p:spPr>
          <a:xfrm>
            <a:off x="4852978" y="159841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28" name="Shape 22"/>
          <p:cNvSpPr/>
          <p:nvPr/>
        </p:nvSpPr>
        <p:spPr>
          <a:xfrm>
            <a:off x="571500" y="2423517"/>
            <a:ext cx="4381491" cy="62329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78656" y="2530673"/>
            <a:ext cx="416717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최근 1개월 출역 추이</a:t>
            </a:r>
            <a:endParaRPr lang="en-US" sz="683" dirty="0"/>
          </a:p>
        </p:txBody>
      </p:sp>
      <p:sp>
        <p:nvSpPr>
          <p:cNvPr id="30" name="Shape 24"/>
          <p:cNvSpPr/>
          <p:nvPr/>
        </p:nvSpPr>
        <p:spPr>
          <a:xfrm>
            <a:off x="4852978" y="235208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5"/>
          <p:cNvSpPr/>
          <p:nvPr/>
        </p:nvSpPr>
        <p:spPr>
          <a:xfrm>
            <a:off x="4852978" y="235208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2" name="Shape 26"/>
          <p:cNvSpPr/>
          <p:nvPr/>
        </p:nvSpPr>
        <p:spPr>
          <a:xfrm>
            <a:off x="3867141" y="2200275"/>
            <a:ext cx="1371600" cy="2657475"/>
          </a:xfrm>
          <a:prstGeom prst="rect">
            <a:avLst/>
          </a:prstGeom>
          <a:solidFill>
            <a:srgbClr val="000000"/>
          </a:solidFill>
          <a:ln w="45720">
            <a:solidFill>
              <a:srgbClr val="1E293B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66" y="2286000"/>
            <a:ext cx="1004032" cy="15537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81616" y="428625"/>
            <a:ext cx="333373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[현장] 현장 대시보드 및 개요</a:t>
            </a:r>
            <a:endParaRPr lang="en-US" sz="1602" dirty="0"/>
          </a:p>
        </p:txBody>
      </p:sp>
      <p:sp>
        <p:nvSpPr>
          <p:cNvPr id="35" name="Text 28"/>
          <p:cNvSpPr/>
          <p:nvPr/>
        </p:nvSpPr>
        <p:spPr>
          <a:xfrm>
            <a:off x="5381616" y="817959"/>
            <a:ext cx="333373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현장별 실시간 출역 현황 및 주요 업무 지표 모니터링</a:t>
            </a:r>
            <a:endParaRPr lang="en-US" sz="834" dirty="0"/>
          </a:p>
        </p:txBody>
      </p:sp>
      <p:sp>
        <p:nvSpPr>
          <p:cNvPr id="36" name="Shape 29"/>
          <p:cNvSpPr/>
          <p:nvPr/>
        </p:nvSpPr>
        <p:spPr>
          <a:xfrm>
            <a:off x="5381616" y="1346597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Shape 30"/>
          <p:cNvSpPr/>
          <p:nvPr/>
        </p:nvSpPr>
        <p:spPr>
          <a:xfrm>
            <a:off x="5381616" y="1637705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Text 31"/>
          <p:cNvSpPr/>
          <p:nvPr/>
        </p:nvSpPr>
        <p:spPr>
          <a:xfrm>
            <a:off x="5381616" y="1346597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39" name="Shape 32"/>
          <p:cNvSpPr/>
          <p:nvPr/>
        </p:nvSpPr>
        <p:spPr>
          <a:xfrm>
            <a:off x="5738803" y="1346597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Shape 33"/>
          <p:cNvSpPr/>
          <p:nvPr/>
        </p:nvSpPr>
        <p:spPr>
          <a:xfrm>
            <a:off x="5738803" y="1637705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Text 34"/>
          <p:cNvSpPr/>
          <p:nvPr/>
        </p:nvSpPr>
        <p:spPr>
          <a:xfrm>
            <a:off x="5738803" y="1346597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UI Element</a:t>
            </a:r>
            <a:endParaRPr lang="en-US" sz="634" dirty="0"/>
          </a:p>
        </p:txBody>
      </p:sp>
      <p:sp>
        <p:nvSpPr>
          <p:cNvPr id="42" name="Shape 35"/>
          <p:cNvSpPr/>
          <p:nvPr/>
        </p:nvSpPr>
        <p:spPr>
          <a:xfrm>
            <a:off x="6596053" y="1346597"/>
            <a:ext cx="2119294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Shape 36"/>
          <p:cNvSpPr/>
          <p:nvPr/>
        </p:nvSpPr>
        <p:spPr>
          <a:xfrm>
            <a:off x="6596053" y="1637705"/>
            <a:ext cx="2119294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Text 37"/>
          <p:cNvSpPr/>
          <p:nvPr/>
        </p:nvSpPr>
        <p:spPr>
          <a:xfrm>
            <a:off x="6596053" y="1346597"/>
            <a:ext cx="2119294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45" name="Shape 38"/>
          <p:cNvSpPr/>
          <p:nvPr/>
        </p:nvSpPr>
        <p:spPr>
          <a:xfrm>
            <a:off x="5467341" y="173057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6" name="Text 39"/>
          <p:cNvSpPr/>
          <p:nvPr/>
        </p:nvSpPr>
        <p:spPr>
          <a:xfrm>
            <a:off x="5467341" y="17305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47" name="Text 40"/>
          <p:cNvSpPr/>
          <p:nvPr/>
        </p:nvSpPr>
        <p:spPr>
          <a:xfrm>
            <a:off x="5824528" y="1739503"/>
            <a:ext cx="5609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핵심 지표 카드</a:t>
            </a:r>
            <a:endParaRPr lang="en-US" sz="634" dirty="0"/>
          </a:p>
        </p:txBody>
      </p:sp>
      <p:sp>
        <p:nvSpPr>
          <p:cNvPr id="48" name="Text 41"/>
          <p:cNvSpPr/>
          <p:nvPr/>
        </p:nvSpPr>
        <p:spPr>
          <a:xfrm>
            <a:off x="6681778" y="1730573"/>
            <a:ext cx="19478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Data: 금일 출역, 신규 출역, 미서명 계약 수</a:t>
            </a:r>
            <a:endParaRPr lang="en-US" sz="674" dirty="0"/>
          </a:p>
        </p:txBody>
      </p:sp>
      <p:sp>
        <p:nvSpPr>
          <p:cNvPr id="49" name="Text 42"/>
          <p:cNvSpPr/>
          <p:nvPr/>
        </p:nvSpPr>
        <p:spPr>
          <a:xfrm>
            <a:off x="6681778" y="1866305"/>
            <a:ext cx="19478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GET /api/v1/site/dashboard/stats</a:t>
            </a:r>
            <a:endParaRPr lang="en-US" sz="674" dirty="0"/>
          </a:p>
        </p:txBody>
      </p:sp>
      <p:sp>
        <p:nvSpPr>
          <p:cNvPr id="50" name="Text 43"/>
          <p:cNvSpPr/>
          <p:nvPr/>
        </p:nvSpPr>
        <p:spPr>
          <a:xfrm>
            <a:off x="6681778" y="1993106"/>
            <a:ext cx="19478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Refresh: 1분 주기 폴링 또는 WebSocket</a:t>
            </a:r>
            <a:endParaRPr lang="en-US" sz="674" dirty="0"/>
          </a:p>
        </p:txBody>
      </p:sp>
      <p:sp>
        <p:nvSpPr>
          <p:cNvPr id="51" name="Shape 44"/>
          <p:cNvSpPr/>
          <p:nvPr/>
        </p:nvSpPr>
        <p:spPr>
          <a:xfrm>
            <a:off x="5467341" y="230743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2" name="Text 45"/>
          <p:cNvSpPr/>
          <p:nvPr/>
        </p:nvSpPr>
        <p:spPr>
          <a:xfrm>
            <a:off x="5467341" y="23074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53" name="Text 46"/>
          <p:cNvSpPr/>
          <p:nvPr/>
        </p:nvSpPr>
        <p:spPr>
          <a:xfrm>
            <a:off x="5824528" y="2316361"/>
            <a:ext cx="5609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출역 추이 차트</a:t>
            </a:r>
            <a:endParaRPr lang="en-US" sz="634" dirty="0"/>
          </a:p>
        </p:txBody>
      </p:sp>
      <p:sp>
        <p:nvSpPr>
          <p:cNvPr id="54" name="Text 47"/>
          <p:cNvSpPr/>
          <p:nvPr/>
        </p:nvSpPr>
        <p:spPr>
          <a:xfrm>
            <a:off x="6681778" y="2307431"/>
            <a:ext cx="194784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Chart.js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(PC),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Victory Native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(App)</a:t>
            </a:r>
            <a:endParaRPr lang="en-US" sz="674" dirty="0"/>
          </a:p>
        </p:txBody>
      </p:sp>
      <p:sp>
        <p:nvSpPr>
          <p:cNvPr id="55" name="Text 48"/>
          <p:cNvSpPr/>
          <p:nvPr/>
        </p:nvSpPr>
        <p:spPr>
          <a:xfrm>
            <a:off x="6681778" y="2561034"/>
            <a:ext cx="19478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Type: Bar Chart (최근 1개월 일별 데이터)</a:t>
            </a:r>
            <a:endParaRPr lang="en-US" sz="674" dirty="0"/>
          </a:p>
        </p:txBody>
      </p:sp>
      <p:sp>
        <p:nvSpPr>
          <p:cNvPr id="56" name="Text 49"/>
          <p:cNvSpPr/>
          <p:nvPr/>
        </p:nvSpPr>
        <p:spPr>
          <a:xfrm>
            <a:off x="6681778" y="2696766"/>
            <a:ext cx="19478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Data: 공종별 스택 바 차트로 확장 가능</a:t>
            </a:r>
            <a:endParaRPr lang="en-US" sz="674" dirty="0"/>
          </a:p>
        </p:txBody>
      </p:sp>
      <p:sp>
        <p:nvSpPr>
          <p:cNvPr id="57" name="Shape 50"/>
          <p:cNvSpPr/>
          <p:nvPr/>
        </p:nvSpPr>
        <p:spPr>
          <a:xfrm>
            <a:off x="5467341" y="301109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8" name="Text 51"/>
          <p:cNvSpPr/>
          <p:nvPr/>
        </p:nvSpPr>
        <p:spPr>
          <a:xfrm>
            <a:off x="5467341" y="301109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59" name="Text 52"/>
          <p:cNvSpPr/>
          <p:nvPr/>
        </p:nvSpPr>
        <p:spPr>
          <a:xfrm>
            <a:off x="5824528" y="3020020"/>
            <a:ext cx="53678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프로젝트 개요</a:t>
            </a:r>
            <a:endParaRPr lang="en-US" sz="634" dirty="0"/>
          </a:p>
        </p:txBody>
      </p:sp>
      <p:sp>
        <p:nvSpPr>
          <p:cNvPr id="60" name="Text 53"/>
          <p:cNvSpPr/>
          <p:nvPr/>
        </p:nvSpPr>
        <p:spPr>
          <a:xfrm>
            <a:off x="6681778" y="3011091"/>
            <a:ext cx="19478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Info: 현장명, 공사기간, 현장소장, 안면인식기 수</a:t>
            </a:r>
            <a:endParaRPr lang="en-US" sz="674" dirty="0"/>
          </a:p>
        </p:txBody>
      </p:sp>
      <p:sp>
        <p:nvSpPr>
          <p:cNvPr id="61" name="Text 54"/>
          <p:cNvSpPr/>
          <p:nvPr/>
        </p:nvSpPr>
        <p:spPr>
          <a:xfrm>
            <a:off x="6681778" y="3146822"/>
            <a:ext cx="19478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Action: '수정' 버튼 클릭 시 상세 정보 모달 오픈</a:t>
            </a:r>
            <a:endParaRPr lang="en-US" sz="674" dirty="0"/>
          </a:p>
        </p:txBody>
      </p:sp>
      <p:sp>
        <p:nvSpPr>
          <p:cNvPr id="62" name="Text 55"/>
          <p:cNvSpPr/>
          <p:nvPr/>
        </p:nvSpPr>
        <p:spPr>
          <a:xfrm>
            <a:off x="6681778" y="3282553"/>
            <a:ext cx="19478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Role: 현장 관리자 이상만 수정 가능</a:t>
            </a:r>
            <a:endParaRPr lang="en-US" sz="674" dirty="0"/>
          </a:p>
        </p:txBody>
      </p:sp>
      <p:sp>
        <p:nvSpPr>
          <p:cNvPr id="63" name="Shape 56"/>
          <p:cNvSpPr/>
          <p:nvPr/>
        </p:nvSpPr>
        <p:spPr>
          <a:xfrm>
            <a:off x="5467341" y="359687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4" name="Text 57"/>
          <p:cNvSpPr/>
          <p:nvPr/>
        </p:nvSpPr>
        <p:spPr>
          <a:xfrm>
            <a:off x="5467341" y="35968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65" name="Text 58"/>
          <p:cNvSpPr/>
          <p:nvPr/>
        </p:nvSpPr>
        <p:spPr>
          <a:xfrm>
            <a:off x="5824528" y="3605808"/>
            <a:ext cx="4513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미서명 알림</a:t>
            </a:r>
            <a:endParaRPr lang="en-US" sz="634" dirty="0"/>
          </a:p>
        </p:txBody>
      </p:sp>
      <p:sp>
        <p:nvSpPr>
          <p:cNvPr id="66" name="Text 59"/>
          <p:cNvSpPr/>
          <p:nvPr/>
        </p:nvSpPr>
        <p:spPr>
          <a:xfrm>
            <a:off x="6681778" y="3596878"/>
            <a:ext cx="19478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Action: 클릭 시 '근로계약 현황' 화면으로 이동</a:t>
            </a:r>
            <a:endParaRPr lang="en-US" sz="674" dirty="0"/>
          </a:p>
        </p:txBody>
      </p:sp>
      <p:sp>
        <p:nvSpPr>
          <p:cNvPr id="67" name="Text 60"/>
          <p:cNvSpPr/>
          <p:nvPr/>
        </p:nvSpPr>
        <p:spPr>
          <a:xfrm>
            <a:off x="6681778" y="3732609"/>
            <a:ext cx="19478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Alert: 미서명 건수 &gt; 0 일 경우 붉은색 강조</a:t>
            </a:r>
            <a:endParaRPr lang="en-US" sz="674" dirty="0"/>
          </a:p>
        </p:txBody>
      </p:sp>
      <p:sp>
        <p:nvSpPr>
          <p:cNvPr id="68" name="Text 61"/>
          <p:cNvSpPr/>
          <p:nvPr/>
        </p:nvSpPr>
        <p:spPr>
          <a:xfrm>
            <a:off x="6681778" y="3868341"/>
            <a:ext cx="19478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Logic: 당일 출역자 중 계약서 미작성자 카운트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167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5586413" cy="38719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5572125" cy="29289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14375"/>
            <a:ext cx="5572125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3"/>
          <p:cNvSpPr/>
          <p:nvPr/>
        </p:nvSpPr>
        <p:spPr>
          <a:xfrm>
            <a:off x="1035844" y="485775"/>
            <a:ext cx="4857750" cy="1714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035844" y="485775"/>
            <a:ext cx="4857750" cy="171450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smartcon.site/attendance/live</a:t>
            </a:r>
            <a:endParaRPr lang="en-US" sz="568" dirty="0"/>
          </a:p>
        </p:txBody>
      </p:sp>
      <p:sp>
        <p:nvSpPr>
          <p:cNvPr id="8" name="Text 5"/>
          <p:cNvSpPr/>
          <p:nvPr/>
        </p:nvSpPr>
        <p:spPr>
          <a:xfrm>
            <a:off x="514350" y="800100"/>
            <a:ext cx="54006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실시간 출역 현황 (A공구)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514350" y="1123355"/>
            <a:ext cx="1042988" cy="24467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4350" y="1123355"/>
            <a:ext cx="1042988" cy="24467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2026-01-20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1614488" y="1117997"/>
            <a:ext cx="1042988" cy="255389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4488" y="1117997"/>
            <a:ext cx="1042988" cy="25538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전체 공종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2714625" y="1117997"/>
            <a:ext cx="2728913" cy="255389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14625" y="1117997"/>
            <a:ext cx="2728913" cy="25538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이름 검색...</a:t>
            </a:r>
            <a:endParaRPr lang="en-US" sz="621" dirty="0"/>
          </a:p>
        </p:txBody>
      </p:sp>
      <p:sp>
        <p:nvSpPr>
          <p:cNvPr id="15" name="Shape 12"/>
          <p:cNvSpPr/>
          <p:nvPr/>
        </p:nvSpPr>
        <p:spPr>
          <a:xfrm>
            <a:off x="5514975" y="1124248"/>
            <a:ext cx="40005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5514975" y="1124248"/>
            <a:ext cx="400050" cy="22860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조회</a:t>
            </a:r>
            <a:endParaRPr lang="en-US" sz="584" dirty="0"/>
          </a:p>
        </p:txBody>
      </p:sp>
      <p:sp>
        <p:nvSpPr>
          <p:cNvPr id="17" name="Shape 14"/>
          <p:cNvSpPr/>
          <p:nvPr/>
        </p:nvSpPr>
        <p:spPr>
          <a:xfrm>
            <a:off x="571500" y="3571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3571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514350" y="1444823"/>
            <a:ext cx="683819" cy="24824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7"/>
          <p:cNvSpPr/>
          <p:nvPr/>
        </p:nvSpPr>
        <p:spPr>
          <a:xfrm>
            <a:off x="514350" y="1678781"/>
            <a:ext cx="683819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8"/>
          <p:cNvSpPr/>
          <p:nvPr/>
        </p:nvSpPr>
        <p:spPr>
          <a:xfrm>
            <a:off x="514350" y="1444823"/>
            <a:ext cx="683819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이름/팀</a:t>
            </a:r>
            <a:endParaRPr lang="en-US" sz="584" dirty="0"/>
          </a:p>
        </p:txBody>
      </p:sp>
      <p:sp>
        <p:nvSpPr>
          <p:cNvPr id="22" name="Shape 19"/>
          <p:cNvSpPr/>
          <p:nvPr/>
        </p:nvSpPr>
        <p:spPr>
          <a:xfrm>
            <a:off x="1198169" y="1444823"/>
            <a:ext cx="823847" cy="24824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0"/>
          <p:cNvSpPr/>
          <p:nvPr/>
        </p:nvSpPr>
        <p:spPr>
          <a:xfrm>
            <a:off x="1198169" y="1678781"/>
            <a:ext cx="823847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1"/>
          <p:cNvSpPr/>
          <p:nvPr/>
        </p:nvSpPr>
        <p:spPr>
          <a:xfrm>
            <a:off x="1198169" y="1444823"/>
            <a:ext cx="823847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출근/퇴근</a:t>
            </a:r>
            <a:endParaRPr lang="en-US" sz="584" dirty="0"/>
          </a:p>
        </p:txBody>
      </p:sp>
      <p:sp>
        <p:nvSpPr>
          <p:cNvPr id="25" name="Shape 22"/>
          <p:cNvSpPr/>
          <p:nvPr/>
        </p:nvSpPr>
        <p:spPr>
          <a:xfrm>
            <a:off x="2022016" y="1444823"/>
            <a:ext cx="1192588" cy="24824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Shape 23"/>
          <p:cNvSpPr/>
          <p:nvPr/>
        </p:nvSpPr>
        <p:spPr>
          <a:xfrm>
            <a:off x="2022016" y="1678781"/>
            <a:ext cx="11925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4"/>
          <p:cNvSpPr/>
          <p:nvPr/>
        </p:nvSpPr>
        <p:spPr>
          <a:xfrm>
            <a:off x="2022016" y="1444823"/>
            <a:ext cx="1192588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공수</a:t>
            </a:r>
            <a:endParaRPr lang="en-US" sz="584" dirty="0"/>
          </a:p>
        </p:txBody>
      </p:sp>
      <p:sp>
        <p:nvSpPr>
          <p:cNvPr id="28" name="Shape 25"/>
          <p:cNvSpPr/>
          <p:nvPr/>
        </p:nvSpPr>
        <p:spPr>
          <a:xfrm>
            <a:off x="3214604" y="1444823"/>
            <a:ext cx="1192588" cy="24824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Shape 26"/>
          <p:cNvSpPr/>
          <p:nvPr/>
        </p:nvSpPr>
        <p:spPr>
          <a:xfrm>
            <a:off x="3214604" y="1678781"/>
            <a:ext cx="11925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7"/>
          <p:cNvSpPr/>
          <p:nvPr/>
        </p:nvSpPr>
        <p:spPr>
          <a:xfrm>
            <a:off x="3214604" y="1444823"/>
            <a:ext cx="1192588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단가(원)</a:t>
            </a:r>
            <a:endParaRPr lang="en-US" sz="584" dirty="0"/>
          </a:p>
        </p:txBody>
      </p:sp>
      <p:sp>
        <p:nvSpPr>
          <p:cNvPr id="31" name="Shape 28"/>
          <p:cNvSpPr/>
          <p:nvPr/>
        </p:nvSpPr>
        <p:spPr>
          <a:xfrm>
            <a:off x="4407191" y="1444823"/>
            <a:ext cx="919562" cy="24824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Shape 29"/>
          <p:cNvSpPr/>
          <p:nvPr/>
        </p:nvSpPr>
        <p:spPr>
          <a:xfrm>
            <a:off x="4407191" y="1678781"/>
            <a:ext cx="919562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30"/>
          <p:cNvSpPr/>
          <p:nvPr/>
        </p:nvSpPr>
        <p:spPr>
          <a:xfrm>
            <a:off x="4407191" y="1444823"/>
            <a:ext cx="919562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계약상태</a:t>
            </a:r>
            <a:endParaRPr lang="en-US" sz="584" dirty="0"/>
          </a:p>
        </p:txBody>
      </p:sp>
      <p:sp>
        <p:nvSpPr>
          <p:cNvPr id="34" name="Shape 31"/>
          <p:cNvSpPr/>
          <p:nvPr/>
        </p:nvSpPr>
        <p:spPr>
          <a:xfrm>
            <a:off x="5326754" y="1444823"/>
            <a:ext cx="588271" cy="24824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Shape 32"/>
          <p:cNvSpPr/>
          <p:nvPr/>
        </p:nvSpPr>
        <p:spPr>
          <a:xfrm>
            <a:off x="5326754" y="1678781"/>
            <a:ext cx="58827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3"/>
          <p:cNvSpPr/>
          <p:nvPr/>
        </p:nvSpPr>
        <p:spPr>
          <a:xfrm>
            <a:off x="5326754" y="1444823"/>
            <a:ext cx="588271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관리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571500" y="1743968"/>
            <a:ext cx="5695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김철수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571500" y="1870770"/>
            <a:ext cx="5695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철근 1팀</a:t>
            </a:r>
            <a:endParaRPr lang="en-US" sz="516" dirty="0"/>
          </a:p>
        </p:txBody>
      </p:sp>
      <p:sp>
        <p:nvSpPr>
          <p:cNvPr id="39" name="Text 36"/>
          <p:cNvSpPr/>
          <p:nvPr/>
        </p:nvSpPr>
        <p:spPr>
          <a:xfrm>
            <a:off x="1255319" y="1743075"/>
            <a:ext cx="7095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06:55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1255319" y="1859161"/>
            <a:ext cx="7095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-</a:t>
            </a:r>
            <a:endParaRPr lang="en-US" sz="621" dirty="0"/>
          </a:p>
        </p:txBody>
      </p:sp>
      <p:sp>
        <p:nvSpPr>
          <p:cNvPr id="41" name="Shape 38"/>
          <p:cNvSpPr/>
          <p:nvPr/>
        </p:nvSpPr>
        <p:spPr>
          <a:xfrm>
            <a:off x="2079166" y="1765399"/>
            <a:ext cx="557213" cy="1875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079166" y="1765399"/>
            <a:ext cx="55721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1.0</a:t>
            </a:r>
            <a:endParaRPr lang="en-US" sz="621" dirty="0"/>
          </a:p>
        </p:txBody>
      </p:sp>
      <p:sp>
        <p:nvSpPr>
          <p:cNvPr id="43" name="Shape 40"/>
          <p:cNvSpPr/>
          <p:nvPr/>
        </p:nvSpPr>
        <p:spPr>
          <a:xfrm>
            <a:off x="3271754" y="1765399"/>
            <a:ext cx="557213" cy="1875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71754" y="1765399"/>
            <a:ext cx="55721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180,000</a:t>
            </a:r>
            <a:endParaRPr lang="en-US" sz="621" dirty="0"/>
          </a:p>
        </p:txBody>
      </p:sp>
      <p:sp>
        <p:nvSpPr>
          <p:cNvPr id="45" name="Shape 42"/>
          <p:cNvSpPr/>
          <p:nvPr/>
        </p:nvSpPr>
        <p:spPr>
          <a:xfrm>
            <a:off x="4464341" y="1778794"/>
            <a:ext cx="403482" cy="164306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4464341" y="1778794"/>
            <a:ext cx="403482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서명완료</a:t>
            </a:r>
            <a:endParaRPr lang="en-US" sz="534" dirty="0"/>
          </a:p>
        </p:txBody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904" y="1815405"/>
            <a:ext cx="21431" cy="85725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514350" y="2035969"/>
            <a:ext cx="5400675" cy="353616"/>
          </a:xfrm>
          <a:prstGeom prst="rect">
            <a:avLst/>
          </a:prstGeom>
          <a:solidFill>
            <a:srgbClr val="253346"/>
          </a:solidFill>
          <a:ln/>
        </p:spPr>
      </p:sp>
      <p:sp>
        <p:nvSpPr>
          <p:cNvPr id="49" name="Text 45"/>
          <p:cNvSpPr/>
          <p:nvPr/>
        </p:nvSpPr>
        <p:spPr>
          <a:xfrm>
            <a:off x="571500" y="2097584"/>
            <a:ext cx="5695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이영희</a:t>
            </a:r>
            <a:endParaRPr lang="en-US" sz="621" dirty="0"/>
          </a:p>
        </p:txBody>
      </p:sp>
      <p:sp>
        <p:nvSpPr>
          <p:cNvPr id="50" name="Text 46"/>
          <p:cNvSpPr/>
          <p:nvPr/>
        </p:nvSpPr>
        <p:spPr>
          <a:xfrm>
            <a:off x="571500" y="2224385"/>
            <a:ext cx="5695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전기 2팀</a:t>
            </a:r>
            <a:endParaRPr lang="en-US" sz="516" dirty="0"/>
          </a:p>
        </p:txBody>
      </p:sp>
      <p:sp>
        <p:nvSpPr>
          <p:cNvPr id="51" name="Text 47"/>
          <p:cNvSpPr/>
          <p:nvPr/>
        </p:nvSpPr>
        <p:spPr>
          <a:xfrm>
            <a:off x="1255319" y="2096691"/>
            <a:ext cx="7095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07:02</a:t>
            </a:r>
            <a:endParaRPr lang="en-US" sz="621" dirty="0"/>
          </a:p>
        </p:txBody>
      </p:sp>
      <p:sp>
        <p:nvSpPr>
          <p:cNvPr id="52" name="Text 48"/>
          <p:cNvSpPr/>
          <p:nvPr/>
        </p:nvSpPr>
        <p:spPr>
          <a:xfrm>
            <a:off x="1255319" y="2212777"/>
            <a:ext cx="7095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-</a:t>
            </a:r>
            <a:endParaRPr lang="en-US" sz="621" dirty="0"/>
          </a:p>
        </p:txBody>
      </p:sp>
      <p:sp>
        <p:nvSpPr>
          <p:cNvPr id="53" name="Shape 49"/>
          <p:cNvSpPr/>
          <p:nvPr/>
        </p:nvSpPr>
        <p:spPr>
          <a:xfrm>
            <a:off x="2079166" y="2119015"/>
            <a:ext cx="557213" cy="1875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2079166" y="2119015"/>
            <a:ext cx="55721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1.0</a:t>
            </a:r>
            <a:endParaRPr lang="en-US" sz="621" dirty="0"/>
          </a:p>
        </p:txBody>
      </p:sp>
      <p:sp>
        <p:nvSpPr>
          <p:cNvPr id="55" name="Shape 51"/>
          <p:cNvSpPr/>
          <p:nvPr/>
        </p:nvSpPr>
        <p:spPr>
          <a:xfrm>
            <a:off x="3271754" y="2119015"/>
            <a:ext cx="557213" cy="1875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3271754" y="2119015"/>
            <a:ext cx="55721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160,000</a:t>
            </a:r>
            <a:endParaRPr lang="en-US" sz="621" dirty="0"/>
          </a:p>
        </p:txBody>
      </p:sp>
      <p:sp>
        <p:nvSpPr>
          <p:cNvPr id="57" name="Shape 53"/>
          <p:cNvSpPr/>
          <p:nvPr/>
        </p:nvSpPr>
        <p:spPr>
          <a:xfrm>
            <a:off x="4464341" y="2132409"/>
            <a:ext cx="331208" cy="164306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58" name="Text 54"/>
          <p:cNvSpPr/>
          <p:nvPr/>
        </p:nvSpPr>
        <p:spPr>
          <a:xfrm>
            <a:off x="4464341" y="2132409"/>
            <a:ext cx="33120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F4444"/>
                </a:solidFill>
              </a:rPr>
              <a:t>미서명</a:t>
            </a:r>
            <a:endParaRPr lang="en-US" sz="534" dirty="0"/>
          </a:p>
        </p:txBody>
      </p:sp>
      <p:sp>
        <p:nvSpPr>
          <p:cNvPr id="59" name="Text 55"/>
          <p:cNvSpPr/>
          <p:nvPr/>
        </p:nvSpPr>
        <p:spPr>
          <a:xfrm>
            <a:off x="5383904" y="2160984"/>
            <a:ext cx="2169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u="sng" dirty="0">
                <a:solidFill>
                  <a:srgbClr val="3B82F6"/>
                </a:solidFill>
                <a:uFill>
                  <a:solidFill>
                    <a:srgbClr val="3B82F6"/>
                  </a:solidFill>
                </a:uFill>
              </a:rPr>
              <a:t>재발송</a:t>
            </a:r>
            <a:endParaRPr lang="en-US" sz="568" dirty="0"/>
          </a:p>
        </p:txBody>
      </p:sp>
      <p:sp>
        <p:nvSpPr>
          <p:cNvPr id="60" name="Text 56"/>
          <p:cNvSpPr/>
          <p:nvPr/>
        </p:nvSpPr>
        <p:spPr>
          <a:xfrm>
            <a:off x="571500" y="2451199"/>
            <a:ext cx="5695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박민수</a:t>
            </a:r>
            <a:endParaRPr lang="en-US" sz="621" dirty="0"/>
          </a:p>
        </p:txBody>
      </p:sp>
      <p:sp>
        <p:nvSpPr>
          <p:cNvPr id="61" name="Text 57"/>
          <p:cNvSpPr/>
          <p:nvPr/>
        </p:nvSpPr>
        <p:spPr>
          <a:xfrm>
            <a:off x="571500" y="2578001"/>
            <a:ext cx="5695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용접 1팀</a:t>
            </a:r>
            <a:endParaRPr lang="en-US" sz="516" dirty="0"/>
          </a:p>
        </p:txBody>
      </p:sp>
      <p:sp>
        <p:nvSpPr>
          <p:cNvPr id="62" name="Text 58"/>
          <p:cNvSpPr/>
          <p:nvPr/>
        </p:nvSpPr>
        <p:spPr>
          <a:xfrm>
            <a:off x="1255319" y="2450306"/>
            <a:ext cx="7095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06:48</a:t>
            </a:r>
            <a:endParaRPr lang="en-US" sz="621" dirty="0"/>
          </a:p>
        </p:txBody>
      </p:sp>
      <p:sp>
        <p:nvSpPr>
          <p:cNvPr id="63" name="Text 59"/>
          <p:cNvSpPr/>
          <p:nvPr/>
        </p:nvSpPr>
        <p:spPr>
          <a:xfrm>
            <a:off x="1255319" y="2566392"/>
            <a:ext cx="7095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17:05</a:t>
            </a:r>
            <a:endParaRPr lang="en-US" sz="621" dirty="0"/>
          </a:p>
        </p:txBody>
      </p:sp>
      <p:sp>
        <p:nvSpPr>
          <p:cNvPr id="64" name="Shape 60"/>
          <p:cNvSpPr/>
          <p:nvPr/>
        </p:nvSpPr>
        <p:spPr>
          <a:xfrm>
            <a:off x="2079166" y="2472630"/>
            <a:ext cx="557213" cy="1875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2079166" y="2472630"/>
            <a:ext cx="55721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1.5</a:t>
            </a:r>
            <a:endParaRPr lang="en-US" sz="621" dirty="0"/>
          </a:p>
        </p:txBody>
      </p:sp>
      <p:sp>
        <p:nvSpPr>
          <p:cNvPr id="66" name="Shape 62"/>
          <p:cNvSpPr/>
          <p:nvPr/>
        </p:nvSpPr>
        <p:spPr>
          <a:xfrm>
            <a:off x="3259001" y="2472630"/>
            <a:ext cx="557213" cy="1875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3259001" y="2472630"/>
            <a:ext cx="55721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220,000</a:t>
            </a:r>
            <a:endParaRPr lang="en-US" sz="621" dirty="0"/>
          </a:p>
        </p:txBody>
      </p:sp>
      <p:sp>
        <p:nvSpPr>
          <p:cNvPr id="68" name="Shape 64"/>
          <p:cNvSpPr/>
          <p:nvPr/>
        </p:nvSpPr>
        <p:spPr>
          <a:xfrm>
            <a:off x="4450026" y="2486025"/>
            <a:ext cx="403482" cy="164306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69" name="Text 65"/>
          <p:cNvSpPr/>
          <p:nvPr/>
        </p:nvSpPr>
        <p:spPr>
          <a:xfrm>
            <a:off x="4450026" y="2486025"/>
            <a:ext cx="403482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서명완료</a:t>
            </a:r>
            <a:endParaRPr lang="en-US" sz="534" dirty="0"/>
          </a:p>
        </p:txBody>
      </p:sp>
      <p:pic>
        <p:nvPicPr>
          <p:cNvPr id="7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295" y="2522637"/>
            <a:ext cx="21431" cy="85725"/>
          </a:xfrm>
          <a:prstGeom prst="rect">
            <a:avLst/>
          </a:prstGeom>
        </p:spPr>
      </p:pic>
      <p:sp>
        <p:nvSpPr>
          <p:cNvPr id="71" name="Shape 66"/>
          <p:cNvSpPr/>
          <p:nvPr/>
        </p:nvSpPr>
        <p:spPr>
          <a:xfrm>
            <a:off x="2928938" y="171450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2" name="Text 67"/>
          <p:cNvSpPr/>
          <p:nvPr/>
        </p:nvSpPr>
        <p:spPr>
          <a:xfrm>
            <a:off x="2928938" y="17145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73" name="Shape 68"/>
          <p:cNvSpPr/>
          <p:nvPr/>
        </p:nvSpPr>
        <p:spPr>
          <a:xfrm>
            <a:off x="3643313" y="21431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4" name="Text 69"/>
          <p:cNvSpPr/>
          <p:nvPr/>
        </p:nvSpPr>
        <p:spPr>
          <a:xfrm>
            <a:off x="3643313" y="21431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75" name="Shape 70"/>
          <p:cNvSpPr/>
          <p:nvPr/>
        </p:nvSpPr>
        <p:spPr>
          <a:xfrm>
            <a:off x="5472113" y="21431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6" name="Text 71"/>
          <p:cNvSpPr/>
          <p:nvPr/>
        </p:nvSpPr>
        <p:spPr>
          <a:xfrm>
            <a:off x="5472113" y="21431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77" name="Text 72"/>
          <p:cNvSpPr/>
          <p:nvPr/>
        </p:nvSpPr>
        <p:spPr>
          <a:xfrm>
            <a:off x="6286500" y="428625"/>
            <a:ext cx="242887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[현장] 실시간 출역 및 계약</a:t>
            </a:r>
            <a:endParaRPr lang="en-US" sz="1602" dirty="0"/>
          </a:p>
        </p:txBody>
      </p:sp>
      <p:sp>
        <p:nvSpPr>
          <p:cNvPr id="78" name="Text 73"/>
          <p:cNvSpPr/>
          <p:nvPr/>
        </p:nvSpPr>
        <p:spPr>
          <a:xfrm>
            <a:off x="6286500" y="1150144"/>
            <a:ext cx="242887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출역 데이터 실시간 모니터링 및 공수/단가/계약 관리</a:t>
            </a:r>
            <a:endParaRPr lang="en-US" sz="834" dirty="0"/>
          </a:p>
        </p:txBody>
      </p:sp>
      <p:sp>
        <p:nvSpPr>
          <p:cNvPr id="79" name="Shape 74"/>
          <p:cNvSpPr/>
          <p:nvPr/>
        </p:nvSpPr>
        <p:spPr>
          <a:xfrm>
            <a:off x="6286500" y="1643063"/>
            <a:ext cx="325320" cy="24824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0" name="Shape 75"/>
          <p:cNvSpPr/>
          <p:nvPr/>
        </p:nvSpPr>
        <p:spPr>
          <a:xfrm>
            <a:off x="6286500" y="1877020"/>
            <a:ext cx="32532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1" name="Text 76"/>
          <p:cNvSpPr/>
          <p:nvPr/>
        </p:nvSpPr>
        <p:spPr>
          <a:xfrm>
            <a:off x="6286500" y="1643063"/>
            <a:ext cx="325320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82" name="Shape 77"/>
          <p:cNvSpPr/>
          <p:nvPr/>
        </p:nvSpPr>
        <p:spPr>
          <a:xfrm>
            <a:off x="6611820" y="1643063"/>
            <a:ext cx="739546" cy="24824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3" name="Shape 78"/>
          <p:cNvSpPr/>
          <p:nvPr/>
        </p:nvSpPr>
        <p:spPr>
          <a:xfrm>
            <a:off x="6611820" y="1877020"/>
            <a:ext cx="739546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4" name="Text 79"/>
          <p:cNvSpPr/>
          <p:nvPr/>
        </p:nvSpPr>
        <p:spPr>
          <a:xfrm>
            <a:off x="6611820" y="1643063"/>
            <a:ext cx="739546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UI Element</a:t>
            </a:r>
            <a:endParaRPr lang="en-US" sz="634" dirty="0"/>
          </a:p>
        </p:txBody>
      </p:sp>
      <p:sp>
        <p:nvSpPr>
          <p:cNvPr id="85" name="Shape 80"/>
          <p:cNvSpPr/>
          <p:nvPr/>
        </p:nvSpPr>
        <p:spPr>
          <a:xfrm>
            <a:off x="7351365" y="1643063"/>
            <a:ext cx="1364010" cy="24824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6" name="Shape 81"/>
          <p:cNvSpPr/>
          <p:nvPr/>
        </p:nvSpPr>
        <p:spPr>
          <a:xfrm>
            <a:off x="7351365" y="1877020"/>
            <a:ext cx="136401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7" name="Text 82"/>
          <p:cNvSpPr/>
          <p:nvPr/>
        </p:nvSpPr>
        <p:spPr>
          <a:xfrm>
            <a:off x="7351365" y="1643063"/>
            <a:ext cx="1364010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88" name="Shape 83"/>
          <p:cNvSpPr/>
          <p:nvPr/>
        </p:nvSpPr>
        <p:spPr>
          <a:xfrm>
            <a:off x="6343650" y="194131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9" name="Text 84"/>
          <p:cNvSpPr/>
          <p:nvPr/>
        </p:nvSpPr>
        <p:spPr>
          <a:xfrm>
            <a:off x="6343650" y="19413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90" name="Text 85"/>
          <p:cNvSpPr/>
          <p:nvPr/>
        </p:nvSpPr>
        <p:spPr>
          <a:xfrm>
            <a:off x="6668970" y="1950244"/>
            <a:ext cx="4755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검색 및 필터</a:t>
            </a:r>
            <a:endParaRPr lang="en-US" sz="634" dirty="0"/>
          </a:p>
        </p:txBody>
      </p:sp>
      <p:sp>
        <p:nvSpPr>
          <p:cNvPr id="91" name="Text 86"/>
          <p:cNvSpPr/>
          <p:nvPr/>
        </p:nvSpPr>
        <p:spPr>
          <a:xfrm>
            <a:off x="7408515" y="1941314"/>
            <a:ext cx="12497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Filter: 날짜, 공종, 팀, 이름</a:t>
            </a:r>
            <a:endParaRPr lang="en-US" sz="674" dirty="0"/>
          </a:p>
        </p:txBody>
      </p:sp>
      <p:sp>
        <p:nvSpPr>
          <p:cNvPr id="92" name="Text 87"/>
          <p:cNvSpPr/>
          <p:nvPr/>
        </p:nvSpPr>
        <p:spPr>
          <a:xfrm>
            <a:off x="7408515" y="2119908"/>
            <a:ext cx="1249710" cy="50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GET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/api/v1/site/attendance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Params: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?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date=...&amp;teamId=...</a:t>
            </a:r>
            <a:endParaRPr lang="en-US" sz="674" dirty="0"/>
          </a:p>
        </p:txBody>
      </p:sp>
      <p:sp>
        <p:nvSpPr>
          <p:cNvPr id="93" name="Shape 88"/>
          <p:cNvSpPr/>
          <p:nvPr/>
        </p:nvSpPr>
        <p:spPr>
          <a:xfrm>
            <a:off x="6343650" y="274855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4" name="Text 89"/>
          <p:cNvSpPr/>
          <p:nvPr/>
        </p:nvSpPr>
        <p:spPr>
          <a:xfrm>
            <a:off x="6343650" y="274855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95" name="Text 90"/>
          <p:cNvSpPr/>
          <p:nvPr/>
        </p:nvSpPr>
        <p:spPr>
          <a:xfrm>
            <a:off x="6668970" y="2757488"/>
            <a:ext cx="4513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출역 리스트</a:t>
            </a:r>
            <a:endParaRPr lang="en-US" sz="634" dirty="0"/>
          </a:p>
        </p:txBody>
      </p:sp>
      <p:sp>
        <p:nvSpPr>
          <p:cNvPr id="96" name="Text 91"/>
          <p:cNvSpPr/>
          <p:nvPr/>
        </p:nvSpPr>
        <p:spPr>
          <a:xfrm>
            <a:off x="7408515" y="2748558"/>
            <a:ext cx="124971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Real-time: WebSocket/SSE로 출근 상태 자동 갱신</a:t>
            </a:r>
            <a:endParaRPr lang="en-US" sz="674" dirty="0"/>
          </a:p>
        </p:txBody>
      </p:sp>
      <p:sp>
        <p:nvSpPr>
          <p:cNvPr id="97" name="Text 92"/>
          <p:cNvSpPr/>
          <p:nvPr/>
        </p:nvSpPr>
        <p:spPr>
          <a:xfrm>
            <a:off x="7408515" y="3053953"/>
            <a:ext cx="124971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Sort: 출근 시간순, 이름순 정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렬 • Lib: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@tanstack/react-table</a:t>
            </a:r>
            <a:endParaRPr lang="en-US" sz="674" dirty="0"/>
          </a:p>
        </p:txBody>
      </p:sp>
      <p:sp>
        <p:nvSpPr>
          <p:cNvPr id="98" name="Shape 93"/>
          <p:cNvSpPr/>
          <p:nvPr/>
        </p:nvSpPr>
        <p:spPr>
          <a:xfrm>
            <a:off x="6343650" y="356473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9" name="Text 94"/>
          <p:cNvSpPr/>
          <p:nvPr/>
        </p:nvSpPr>
        <p:spPr>
          <a:xfrm>
            <a:off x="6343650" y="35647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00" name="Text 95"/>
          <p:cNvSpPr/>
          <p:nvPr/>
        </p:nvSpPr>
        <p:spPr>
          <a:xfrm>
            <a:off x="6668970" y="3573661"/>
            <a:ext cx="5751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공수/단가 수정</a:t>
            </a:r>
            <a:endParaRPr lang="en-US" sz="634" dirty="0"/>
          </a:p>
        </p:txBody>
      </p:sp>
      <p:sp>
        <p:nvSpPr>
          <p:cNvPr id="101" name="Text 96"/>
          <p:cNvSpPr/>
          <p:nvPr/>
        </p:nvSpPr>
        <p:spPr>
          <a:xfrm>
            <a:off x="7408515" y="3564731"/>
            <a:ext cx="12497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Event: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onBlur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시 자동 저장</a:t>
            </a:r>
            <a:endParaRPr lang="en-US" sz="674" dirty="0"/>
          </a:p>
        </p:txBody>
      </p:sp>
      <p:sp>
        <p:nvSpPr>
          <p:cNvPr id="102" name="Text 97"/>
          <p:cNvSpPr/>
          <p:nvPr/>
        </p:nvSpPr>
        <p:spPr>
          <a:xfrm>
            <a:off x="7408515" y="3743325"/>
            <a:ext cx="124971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PATCH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/api/v1/attendance/{id}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Logic: 변경 시 '변경 이력' 테이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블에 사유와 함께 저장</a:t>
            </a:r>
            <a:endParaRPr lang="en-US" sz="674" dirty="0"/>
          </a:p>
        </p:txBody>
      </p:sp>
      <p:sp>
        <p:nvSpPr>
          <p:cNvPr id="103" name="Shape 98"/>
          <p:cNvSpPr/>
          <p:nvPr/>
        </p:nvSpPr>
        <p:spPr>
          <a:xfrm>
            <a:off x="6343650" y="438983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4" name="Text 99"/>
          <p:cNvSpPr/>
          <p:nvPr/>
        </p:nvSpPr>
        <p:spPr>
          <a:xfrm>
            <a:off x="6343650" y="438983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105" name="Text 100"/>
          <p:cNvSpPr/>
          <p:nvPr/>
        </p:nvSpPr>
        <p:spPr>
          <a:xfrm>
            <a:off x="6668970" y="4398764"/>
            <a:ext cx="53678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계약서 재발송</a:t>
            </a:r>
            <a:endParaRPr lang="en-US" sz="634" dirty="0"/>
          </a:p>
        </p:txBody>
      </p:sp>
      <p:sp>
        <p:nvSpPr>
          <p:cNvPr id="106" name="Text 101"/>
          <p:cNvSpPr/>
          <p:nvPr/>
        </p:nvSpPr>
        <p:spPr>
          <a:xfrm>
            <a:off x="7408515" y="4389834"/>
            <a:ext cx="124971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Condition: '미서명' 상태일 때만 활성화</a:t>
            </a:r>
            <a:endParaRPr lang="en-US" sz="674" dirty="0"/>
          </a:p>
        </p:txBody>
      </p:sp>
      <p:sp>
        <p:nvSpPr>
          <p:cNvPr id="107" name="Text 102"/>
          <p:cNvSpPr/>
          <p:nvPr/>
        </p:nvSpPr>
        <p:spPr>
          <a:xfrm>
            <a:off x="7408515" y="4704159"/>
            <a:ext cx="1249710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Action: 알림톡/SMS로 서명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링크 재발송 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POST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/api/v1/contracts/{id}/resend</a:t>
            </a:r>
            <a:endParaRPr lang="en-US" sz="67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57213"/>
            <a:ext cx="87511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4960" y="534888"/>
            <a:ext cx="75330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철근 1팀 대시보드</a:t>
            </a:r>
            <a:endParaRPr lang="en-US" sz="68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930" y="557213"/>
            <a:ext cx="87511" cy="100013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14350" y="871538"/>
            <a:ext cx="2114550" cy="50363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00075" y="957263"/>
            <a:ext cx="6405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총 팀원</a:t>
            </a:r>
            <a:endParaRPr lang="en-US" sz="568" dirty="0"/>
          </a:p>
        </p:txBody>
      </p:sp>
      <p:sp>
        <p:nvSpPr>
          <p:cNvPr id="11" name="Text 6"/>
          <p:cNvSpPr/>
          <p:nvPr/>
        </p:nvSpPr>
        <p:spPr>
          <a:xfrm>
            <a:off x="600075" y="1100138"/>
            <a:ext cx="6405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12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1247784" y="957263"/>
            <a:ext cx="6405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금일 출역</a:t>
            </a:r>
            <a:endParaRPr lang="en-US" sz="568" dirty="0"/>
          </a:p>
        </p:txBody>
      </p:sp>
      <p:sp>
        <p:nvSpPr>
          <p:cNvPr id="13" name="Text 8"/>
          <p:cNvSpPr/>
          <p:nvPr/>
        </p:nvSpPr>
        <p:spPr>
          <a:xfrm>
            <a:off x="1247784" y="1100138"/>
            <a:ext cx="6405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10</a:t>
            </a:r>
            <a:endParaRPr lang="en-US" sz="885" dirty="0"/>
          </a:p>
        </p:txBody>
      </p:sp>
      <p:sp>
        <p:nvSpPr>
          <p:cNvPr id="14" name="Text 9"/>
          <p:cNvSpPr/>
          <p:nvPr/>
        </p:nvSpPr>
        <p:spPr>
          <a:xfrm>
            <a:off x="1895494" y="957263"/>
            <a:ext cx="6405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미출근</a:t>
            </a:r>
            <a:endParaRPr lang="en-US" sz="568" dirty="0"/>
          </a:p>
        </p:txBody>
      </p:sp>
      <p:sp>
        <p:nvSpPr>
          <p:cNvPr id="15" name="Text 10"/>
          <p:cNvSpPr/>
          <p:nvPr/>
        </p:nvSpPr>
        <p:spPr>
          <a:xfrm>
            <a:off x="1895494" y="1100138"/>
            <a:ext cx="6405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F4444"/>
                </a:solidFill>
              </a:rPr>
              <a:t>2</a:t>
            </a:r>
            <a:endParaRPr lang="en-US" sz="885" dirty="0"/>
          </a:p>
        </p:txBody>
      </p:sp>
      <p:sp>
        <p:nvSpPr>
          <p:cNvPr id="16" name="Shape 11"/>
          <p:cNvSpPr/>
          <p:nvPr/>
        </p:nvSpPr>
        <p:spPr>
          <a:xfrm>
            <a:off x="2614613" y="3571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2"/>
          <p:cNvSpPr/>
          <p:nvPr/>
        </p:nvSpPr>
        <p:spPr>
          <a:xfrm>
            <a:off x="2614613" y="3571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8" name="Shape 13"/>
          <p:cNvSpPr/>
          <p:nvPr/>
        </p:nvSpPr>
        <p:spPr>
          <a:xfrm>
            <a:off x="514350" y="1446609"/>
            <a:ext cx="316055" cy="200025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9" name="Text 14"/>
          <p:cNvSpPr/>
          <p:nvPr/>
        </p:nvSpPr>
        <p:spPr>
          <a:xfrm>
            <a:off x="514350" y="1446609"/>
            <a:ext cx="316055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오늘</a:t>
            </a:r>
            <a:endParaRPr lang="en-US" sz="568" dirty="0"/>
          </a:p>
        </p:txBody>
      </p:sp>
      <p:sp>
        <p:nvSpPr>
          <p:cNvPr id="20" name="Shape 15"/>
          <p:cNvSpPr/>
          <p:nvPr/>
        </p:nvSpPr>
        <p:spPr>
          <a:xfrm>
            <a:off x="887555" y="1446609"/>
            <a:ext cx="361011" cy="200025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21" name="Text 16"/>
          <p:cNvSpPr/>
          <p:nvPr/>
        </p:nvSpPr>
        <p:spPr>
          <a:xfrm>
            <a:off x="887555" y="1446609"/>
            <a:ext cx="361011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1주일</a:t>
            </a:r>
            <a:endParaRPr lang="en-US" sz="568" dirty="0"/>
          </a:p>
        </p:txBody>
      </p:sp>
      <p:sp>
        <p:nvSpPr>
          <p:cNvPr id="22" name="Shape 17"/>
          <p:cNvSpPr/>
          <p:nvPr/>
        </p:nvSpPr>
        <p:spPr>
          <a:xfrm>
            <a:off x="1305716" y="1446609"/>
            <a:ext cx="566003" cy="200025"/>
          </a:xfrm>
          <a:prstGeom prst="roundRect">
            <a:avLst/>
          </a:prstGeom>
          <a:solidFill>
            <a:srgbClr val="33415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441" y="1507331"/>
            <a:ext cx="69652" cy="7858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96811" y="1489472"/>
            <a:ext cx="28918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날짜선택</a:t>
            </a:r>
            <a:endParaRPr lang="en-US" sz="568" dirty="0"/>
          </a:p>
        </p:txBody>
      </p:sp>
      <p:sp>
        <p:nvSpPr>
          <p:cNvPr id="25" name="Shape 19"/>
          <p:cNvSpPr/>
          <p:nvPr/>
        </p:nvSpPr>
        <p:spPr>
          <a:xfrm>
            <a:off x="2614613" y="3571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0"/>
          <p:cNvSpPr/>
          <p:nvPr/>
        </p:nvSpPr>
        <p:spPr>
          <a:xfrm>
            <a:off x="2614613" y="3571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27" name="Text 21"/>
          <p:cNvSpPr/>
          <p:nvPr/>
        </p:nvSpPr>
        <p:spPr>
          <a:xfrm>
            <a:off x="514350" y="1768078"/>
            <a:ext cx="5609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팀원 출역 현황</a:t>
            </a:r>
            <a:endParaRPr lang="en-US" sz="634" dirty="0"/>
          </a:p>
        </p:txBody>
      </p:sp>
      <p:sp>
        <p:nvSpPr>
          <p:cNvPr id="28" name="Text 22"/>
          <p:cNvSpPr/>
          <p:nvPr/>
        </p:nvSpPr>
        <p:spPr>
          <a:xfrm>
            <a:off x="2321914" y="1775222"/>
            <a:ext cx="2373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</a:rPr>
              <a:t>최신순</a:t>
            </a:r>
            <a:endParaRPr lang="en-US" sz="534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9248" y="1791295"/>
            <a:ext cx="69652" cy="78581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14350" y="1989534"/>
            <a:ext cx="2114550" cy="44648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85788" y="2091333"/>
            <a:ext cx="228600" cy="22860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32" name="Text 25"/>
          <p:cNvSpPr/>
          <p:nvPr/>
        </p:nvSpPr>
        <p:spPr>
          <a:xfrm>
            <a:off x="585788" y="209133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김</a:t>
            </a:r>
            <a:endParaRPr lang="en-US" sz="621" dirty="0"/>
          </a:p>
        </p:txBody>
      </p:sp>
      <p:sp>
        <p:nvSpPr>
          <p:cNvPr id="33" name="Text 26"/>
          <p:cNvSpPr/>
          <p:nvPr/>
        </p:nvSpPr>
        <p:spPr>
          <a:xfrm>
            <a:off x="885825" y="2080617"/>
            <a:ext cx="4456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김철수</a:t>
            </a:r>
            <a:endParaRPr lang="en-US" sz="634" dirty="0"/>
          </a:p>
        </p:txBody>
      </p:sp>
      <p:sp>
        <p:nvSpPr>
          <p:cNvPr id="34" name="Text 27"/>
          <p:cNvSpPr/>
          <p:nvPr/>
        </p:nvSpPr>
        <p:spPr>
          <a:xfrm>
            <a:off x="885825" y="2216348"/>
            <a:ext cx="44564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철근공 | 반장</a:t>
            </a:r>
            <a:endParaRPr lang="en-US" sz="568" dirty="0"/>
          </a:p>
        </p:txBody>
      </p:sp>
      <p:sp>
        <p:nvSpPr>
          <p:cNvPr id="35" name="Shape 28"/>
          <p:cNvSpPr/>
          <p:nvPr/>
        </p:nvSpPr>
        <p:spPr>
          <a:xfrm>
            <a:off x="2077269" y="2060972"/>
            <a:ext cx="480194" cy="289322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2134419" y="2089547"/>
            <a:ext cx="3658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06:55 출근</a:t>
            </a:r>
            <a:endParaRPr lang="en-US" sz="568" dirty="0"/>
          </a:p>
        </p:txBody>
      </p:sp>
      <p:sp>
        <p:nvSpPr>
          <p:cNvPr id="37" name="Text 30"/>
          <p:cNvSpPr/>
          <p:nvPr/>
        </p:nvSpPr>
        <p:spPr>
          <a:xfrm>
            <a:off x="2134419" y="2218134"/>
            <a:ext cx="3658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퇴근 미정</a:t>
            </a:r>
            <a:endParaRPr lang="en-US" sz="516" dirty="0"/>
          </a:p>
        </p:txBody>
      </p:sp>
      <p:sp>
        <p:nvSpPr>
          <p:cNvPr id="38" name="Shape 31"/>
          <p:cNvSpPr/>
          <p:nvPr/>
        </p:nvSpPr>
        <p:spPr>
          <a:xfrm>
            <a:off x="2614613" y="24860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Text 32"/>
          <p:cNvSpPr/>
          <p:nvPr/>
        </p:nvSpPr>
        <p:spPr>
          <a:xfrm>
            <a:off x="2614613" y="24860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40" name="Shape 33"/>
          <p:cNvSpPr/>
          <p:nvPr/>
        </p:nvSpPr>
        <p:spPr>
          <a:xfrm>
            <a:off x="514350" y="2507456"/>
            <a:ext cx="2114550" cy="44648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585788" y="2609255"/>
            <a:ext cx="228600" cy="22860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2" name="Text 35"/>
          <p:cNvSpPr/>
          <p:nvPr/>
        </p:nvSpPr>
        <p:spPr>
          <a:xfrm>
            <a:off x="585788" y="260925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이</a:t>
            </a:r>
            <a:endParaRPr lang="en-US" sz="621" dirty="0"/>
          </a:p>
        </p:txBody>
      </p:sp>
      <p:sp>
        <p:nvSpPr>
          <p:cNvPr id="43" name="Text 36"/>
          <p:cNvSpPr/>
          <p:nvPr/>
        </p:nvSpPr>
        <p:spPr>
          <a:xfrm>
            <a:off x="885825" y="2598539"/>
            <a:ext cx="2563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이영희</a:t>
            </a:r>
            <a:endParaRPr lang="en-US" sz="634" dirty="0"/>
          </a:p>
        </p:txBody>
      </p:sp>
      <p:sp>
        <p:nvSpPr>
          <p:cNvPr id="44" name="Text 37"/>
          <p:cNvSpPr/>
          <p:nvPr/>
        </p:nvSpPr>
        <p:spPr>
          <a:xfrm>
            <a:off x="885825" y="2734270"/>
            <a:ext cx="2563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철근공</a:t>
            </a:r>
            <a:endParaRPr lang="en-US" sz="568" dirty="0"/>
          </a:p>
        </p:txBody>
      </p:sp>
      <p:sp>
        <p:nvSpPr>
          <p:cNvPr id="45" name="Shape 38"/>
          <p:cNvSpPr/>
          <p:nvPr/>
        </p:nvSpPr>
        <p:spPr>
          <a:xfrm>
            <a:off x="2077269" y="2578894"/>
            <a:ext cx="480194" cy="289322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46" name="Text 39"/>
          <p:cNvSpPr/>
          <p:nvPr/>
        </p:nvSpPr>
        <p:spPr>
          <a:xfrm>
            <a:off x="2134419" y="2607469"/>
            <a:ext cx="3658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59E0B"/>
                </a:solidFill>
              </a:rPr>
              <a:t>07:10 지각</a:t>
            </a:r>
            <a:endParaRPr lang="en-US" sz="568" dirty="0"/>
          </a:p>
        </p:txBody>
      </p:sp>
      <p:sp>
        <p:nvSpPr>
          <p:cNvPr id="47" name="Text 40"/>
          <p:cNvSpPr/>
          <p:nvPr/>
        </p:nvSpPr>
        <p:spPr>
          <a:xfrm>
            <a:off x="2134419" y="2736056"/>
            <a:ext cx="3658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퇴근 미정</a:t>
            </a:r>
            <a:endParaRPr lang="en-US" sz="516" dirty="0"/>
          </a:p>
        </p:txBody>
      </p:sp>
      <p:sp>
        <p:nvSpPr>
          <p:cNvPr id="48" name="Shape 41"/>
          <p:cNvSpPr/>
          <p:nvPr/>
        </p:nvSpPr>
        <p:spPr>
          <a:xfrm>
            <a:off x="514350" y="3025378"/>
            <a:ext cx="2114550" cy="441127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585788" y="3124498"/>
            <a:ext cx="228600" cy="22860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0" name="Text 43"/>
          <p:cNvSpPr/>
          <p:nvPr/>
        </p:nvSpPr>
        <p:spPr>
          <a:xfrm>
            <a:off x="585788" y="312449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박</a:t>
            </a:r>
            <a:endParaRPr lang="en-US" sz="621" dirty="0"/>
          </a:p>
        </p:txBody>
      </p:sp>
      <p:sp>
        <p:nvSpPr>
          <p:cNvPr id="51" name="Text 44"/>
          <p:cNvSpPr/>
          <p:nvPr/>
        </p:nvSpPr>
        <p:spPr>
          <a:xfrm>
            <a:off x="885825" y="3113782"/>
            <a:ext cx="2563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박민수</a:t>
            </a:r>
            <a:endParaRPr lang="en-US" sz="634" dirty="0"/>
          </a:p>
        </p:txBody>
      </p:sp>
      <p:sp>
        <p:nvSpPr>
          <p:cNvPr id="52" name="Text 45"/>
          <p:cNvSpPr/>
          <p:nvPr/>
        </p:nvSpPr>
        <p:spPr>
          <a:xfrm>
            <a:off x="885825" y="3249513"/>
            <a:ext cx="2563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조공</a:t>
            </a:r>
            <a:endParaRPr lang="en-US" sz="568" dirty="0"/>
          </a:p>
        </p:txBody>
      </p:sp>
      <p:sp>
        <p:nvSpPr>
          <p:cNvPr id="53" name="Shape 46"/>
          <p:cNvSpPr/>
          <p:nvPr/>
        </p:nvSpPr>
        <p:spPr>
          <a:xfrm>
            <a:off x="2226255" y="3096816"/>
            <a:ext cx="331208" cy="2839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4" name="Text 47"/>
          <p:cNvSpPr/>
          <p:nvPr/>
        </p:nvSpPr>
        <p:spPr>
          <a:xfrm>
            <a:off x="2283405" y="3125391"/>
            <a:ext cx="21690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미출근</a:t>
            </a:r>
            <a:endParaRPr lang="en-US" sz="568" dirty="0"/>
          </a:p>
        </p:txBody>
      </p:sp>
      <p:sp>
        <p:nvSpPr>
          <p:cNvPr id="55" name="Text 48"/>
          <p:cNvSpPr/>
          <p:nvPr/>
        </p:nvSpPr>
        <p:spPr>
          <a:xfrm>
            <a:off x="2283405" y="3253978"/>
            <a:ext cx="21690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-</a:t>
            </a:r>
            <a:endParaRPr lang="en-US" sz="516" dirty="0"/>
          </a:p>
        </p:txBody>
      </p:sp>
      <p:sp>
        <p:nvSpPr>
          <p:cNvPr id="56" name="Text 49"/>
          <p:cNvSpPr/>
          <p:nvPr/>
        </p:nvSpPr>
        <p:spPr>
          <a:xfrm>
            <a:off x="3343275" y="428625"/>
            <a:ext cx="53721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[팀장] 팀 대시보드 및 출역 조회</a:t>
            </a:r>
            <a:endParaRPr lang="en-US" sz="1602" dirty="0"/>
          </a:p>
        </p:txBody>
      </p:sp>
      <p:sp>
        <p:nvSpPr>
          <p:cNvPr id="57" name="Text 50"/>
          <p:cNvSpPr/>
          <p:nvPr/>
        </p:nvSpPr>
        <p:spPr>
          <a:xfrm>
            <a:off x="3343275" y="817959"/>
            <a:ext cx="53721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소속 팀원의 실시간 출역 현황 모니터링 (Mobile App)</a:t>
            </a:r>
            <a:endParaRPr lang="en-US" sz="834" dirty="0"/>
          </a:p>
        </p:txBody>
      </p:sp>
      <p:sp>
        <p:nvSpPr>
          <p:cNvPr id="58" name="Shape 51"/>
          <p:cNvSpPr/>
          <p:nvPr/>
        </p:nvSpPr>
        <p:spPr>
          <a:xfrm>
            <a:off x="3343275" y="1303734"/>
            <a:ext cx="357188" cy="2768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9" name="Shape 52"/>
          <p:cNvSpPr/>
          <p:nvPr/>
        </p:nvSpPr>
        <p:spPr>
          <a:xfrm>
            <a:off x="3343275" y="1566267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0" name="Text 53"/>
          <p:cNvSpPr/>
          <p:nvPr/>
        </p:nvSpPr>
        <p:spPr>
          <a:xfrm>
            <a:off x="3343275" y="1303734"/>
            <a:ext cx="357188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61" name="Shape 54"/>
          <p:cNvSpPr/>
          <p:nvPr/>
        </p:nvSpPr>
        <p:spPr>
          <a:xfrm>
            <a:off x="3700463" y="1303734"/>
            <a:ext cx="857250" cy="2768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2" name="Shape 55"/>
          <p:cNvSpPr/>
          <p:nvPr/>
        </p:nvSpPr>
        <p:spPr>
          <a:xfrm>
            <a:off x="3700463" y="1566267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3" name="Text 56"/>
          <p:cNvSpPr/>
          <p:nvPr/>
        </p:nvSpPr>
        <p:spPr>
          <a:xfrm>
            <a:off x="3700463" y="1303734"/>
            <a:ext cx="857250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UI Element</a:t>
            </a:r>
            <a:endParaRPr lang="en-US" sz="634" dirty="0"/>
          </a:p>
        </p:txBody>
      </p:sp>
      <p:sp>
        <p:nvSpPr>
          <p:cNvPr id="64" name="Shape 57"/>
          <p:cNvSpPr/>
          <p:nvPr/>
        </p:nvSpPr>
        <p:spPr>
          <a:xfrm>
            <a:off x="4557713" y="1303734"/>
            <a:ext cx="4157663" cy="2768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5" name="Shape 58"/>
          <p:cNvSpPr/>
          <p:nvPr/>
        </p:nvSpPr>
        <p:spPr>
          <a:xfrm>
            <a:off x="4557713" y="1566267"/>
            <a:ext cx="4157663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6" name="Text 59"/>
          <p:cNvSpPr/>
          <p:nvPr/>
        </p:nvSpPr>
        <p:spPr>
          <a:xfrm>
            <a:off x="4557713" y="1303734"/>
            <a:ext cx="4157663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67" name="Shape 60"/>
          <p:cNvSpPr/>
          <p:nvPr/>
        </p:nvSpPr>
        <p:spPr>
          <a:xfrm>
            <a:off x="3414713" y="164484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61"/>
          <p:cNvSpPr/>
          <p:nvPr/>
        </p:nvSpPr>
        <p:spPr>
          <a:xfrm>
            <a:off x="3414713" y="164484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69" name="Text 62"/>
          <p:cNvSpPr/>
          <p:nvPr/>
        </p:nvSpPr>
        <p:spPr>
          <a:xfrm>
            <a:off x="3771900" y="1653778"/>
            <a:ext cx="4755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팀 통계 요약</a:t>
            </a:r>
            <a:endParaRPr lang="en-US" sz="634" dirty="0"/>
          </a:p>
        </p:txBody>
      </p:sp>
      <p:sp>
        <p:nvSpPr>
          <p:cNvPr id="70" name="Text 63"/>
          <p:cNvSpPr/>
          <p:nvPr/>
        </p:nvSpPr>
        <p:spPr>
          <a:xfrm>
            <a:off x="4629150" y="1644848"/>
            <a:ext cx="40147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GET /api/v1/team/stats</a:t>
            </a:r>
            <a:endParaRPr lang="en-US" sz="674" dirty="0"/>
          </a:p>
        </p:txBody>
      </p:sp>
      <p:sp>
        <p:nvSpPr>
          <p:cNvPr id="71" name="Text 64"/>
          <p:cNvSpPr/>
          <p:nvPr/>
        </p:nvSpPr>
        <p:spPr>
          <a:xfrm>
            <a:off x="4629150" y="1771650"/>
            <a:ext cx="4014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Scope: 로그인한 팀장이 소속된 팀 데이터만 조회</a:t>
            </a:r>
            <a:endParaRPr lang="en-US" sz="674" dirty="0"/>
          </a:p>
        </p:txBody>
      </p:sp>
      <p:sp>
        <p:nvSpPr>
          <p:cNvPr id="72" name="Text 65"/>
          <p:cNvSpPr/>
          <p:nvPr/>
        </p:nvSpPr>
        <p:spPr>
          <a:xfrm>
            <a:off x="4629150" y="1907381"/>
            <a:ext cx="4014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Data: 총원, 출근, 결근, 지각 카운트</a:t>
            </a:r>
            <a:endParaRPr lang="en-US" sz="674" dirty="0"/>
          </a:p>
        </p:txBody>
      </p:sp>
      <p:sp>
        <p:nvSpPr>
          <p:cNvPr id="73" name="Shape 66"/>
          <p:cNvSpPr/>
          <p:nvPr/>
        </p:nvSpPr>
        <p:spPr>
          <a:xfrm>
            <a:off x="3414713" y="219313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4" name="Text 67"/>
          <p:cNvSpPr/>
          <p:nvPr/>
        </p:nvSpPr>
        <p:spPr>
          <a:xfrm>
            <a:off x="3414713" y="21931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75" name="Text 68"/>
          <p:cNvSpPr/>
          <p:nvPr/>
        </p:nvSpPr>
        <p:spPr>
          <a:xfrm>
            <a:off x="3771900" y="2202061"/>
            <a:ext cx="3659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기간 필터</a:t>
            </a:r>
            <a:endParaRPr lang="en-US" sz="634" dirty="0"/>
          </a:p>
        </p:txBody>
      </p:sp>
      <p:sp>
        <p:nvSpPr>
          <p:cNvPr id="76" name="Text 69"/>
          <p:cNvSpPr/>
          <p:nvPr/>
        </p:nvSpPr>
        <p:spPr>
          <a:xfrm>
            <a:off x="4629150" y="2193131"/>
            <a:ext cx="4014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Options: 오늘(Default), 1주일, 1개월, 직접입력</a:t>
            </a:r>
            <a:endParaRPr lang="en-US" sz="674" dirty="0"/>
          </a:p>
        </p:txBody>
      </p:sp>
      <p:sp>
        <p:nvSpPr>
          <p:cNvPr id="77" name="Text 70"/>
          <p:cNvSpPr/>
          <p:nvPr/>
        </p:nvSpPr>
        <p:spPr>
          <a:xfrm>
            <a:off x="4629150" y="2328863"/>
            <a:ext cx="4014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Action: 선택 시 리스트 데이터 재조회 (Refetch)</a:t>
            </a:r>
            <a:endParaRPr lang="en-US" sz="674" dirty="0"/>
          </a:p>
        </p:txBody>
      </p:sp>
      <p:sp>
        <p:nvSpPr>
          <p:cNvPr id="78" name="Shape 71"/>
          <p:cNvSpPr/>
          <p:nvPr/>
        </p:nvSpPr>
        <p:spPr>
          <a:xfrm>
            <a:off x="3414713" y="26146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9" name="Text 72"/>
          <p:cNvSpPr/>
          <p:nvPr/>
        </p:nvSpPr>
        <p:spPr>
          <a:xfrm>
            <a:off x="3414713" y="26146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80" name="Text 73"/>
          <p:cNvSpPr/>
          <p:nvPr/>
        </p:nvSpPr>
        <p:spPr>
          <a:xfrm>
            <a:off x="3771900" y="2623542"/>
            <a:ext cx="64637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팀원 출역 리스트</a:t>
            </a:r>
            <a:endParaRPr lang="en-US" sz="634" dirty="0"/>
          </a:p>
        </p:txBody>
      </p:sp>
      <p:sp>
        <p:nvSpPr>
          <p:cNvPr id="81" name="Text 74"/>
          <p:cNvSpPr/>
          <p:nvPr/>
        </p:nvSpPr>
        <p:spPr>
          <a:xfrm>
            <a:off x="4629150" y="2614613"/>
            <a:ext cx="40147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Component: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FlatList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(React Native)</a:t>
            </a:r>
            <a:endParaRPr lang="en-US" sz="674" dirty="0"/>
          </a:p>
        </p:txBody>
      </p:sp>
      <p:sp>
        <p:nvSpPr>
          <p:cNvPr id="82" name="Text 75"/>
          <p:cNvSpPr/>
          <p:nvPr/>
        </p:nvSpPr>
        <p:spPr>
          <a:xfrm>
            <a:off x="4629150" y="2741414"/>
            <a:ext cx="4014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Feature: Pull-to-Refresh (당겨서 새로고침)</a:t>
            </a:r>
            <a:endParaRPr lang="en-US" sz="674" dirty="0"/>
          </a:p>
        </p:txBody>
      </p:sp>
      <p:sp>
        <p:nvSpPr>
          <p:cNvPr id="83" name="Text 76"/>
          <p:cNvSpPr/>
          <p:nvPr/>
        </p:nvSpPr>
        <p:spPr>
          <a:xfrm>
            <a:off x="4629150" y="2877145"/>
            <a:ext cx="4014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Item: 클릭 시 상세 출역 이력 화면으로 이동</a:t>
            </a:r>
            <a:endParaRPr lang="en-US" sz="674" dirty="0"/>
          </a:p>
        </p:txBody>
      </p:sp>
      <p:sp>
        <p:nvSpPr>
          <p:cNvPr id="84" name="Shape 77"/>
          <p:cNvSpPr/>
          <p:nvPr/>
        </p:nvSpPr>
        <p:spPr>
          <a:xfrm>
            <a:off x="3414713" y="316289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5" name="Text 78"/>
          <p:cNvSpPr/>
          <p:nvPr/>
        </p:nvSpPr>
        <p:spPr>
          <a:xfrm>
            <a:off x="3414713" y="316289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86" name="Text 79"/>
          <p:cNvSpPr/>
          <p:nvPr/>
        </p:nvSpPr>
        <p:spPr>
          <a:xfrm>
            <a:off x="3771900" y="3171825"/>
            <a:ext cx="3659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권한 제어</a:t>
            </a:r>
            <a:endParaRPr lang="en-US" sz="634" dirty="0"/>
          </a:p>
        </p:txBody>
      </p:sp>
      <p:sp>
        <p:nvSpPr>
          <p:cNvPr id="87" name="Text 80"/>
          <p:cNvSpPr/>
          <p:nvPr/>
        </p:nvSpPr>
        <p:spPr>
          <a:xfrm>
            <a:off x="4629150" y="3162895"/>
            <a:ext cx="4014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Role: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TEAM_LEADER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권한 필수</a:t>
            </a:r>
            <a:endParaRPr lang="en-US" sz="674" dirty="0"/>
          </a:p>
        </p:txBody>
      </p:sp>
      <p:sp>
        <p:nvSpPr>
          <p:cNvPr id="88" name="Text 81"/>
          <p:cNvSpPr/>
          <p:nvPr/>
        </p:nvSpPr>
        <p:spPr>
          <a:xfrm>
            <a:off x="4629150" y="3298627"/>
            <a:ext cx="4014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Security: 타 팀 데이터 접근 불가 (Backend 필터링)</a:t>
            </a:r>
            <a:endParaRPr lang="en-US" sz="67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2400300" cy="4400550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5750" y="428625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785813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" y="557213"/>
            <a:ext cx="62508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9069" y="534888"/>
            <a:ext cx="60409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작업 일보 작성</a:t>
            </a:r>
            <a:endParaRPr lang="en-US" sz="683" dirty="0"/>
          </a:p>
        </p:txBody>
      </p:sp>
      <p:sp>
        <p:nvSpPr>
          <p:cNvPr id="8" name="Text 4"/>
          <p:cNvSpPr/>
          <p:nvPr/>
        </p:nvSpPr>
        <p:spPr>
          <a:xfrm>
            <a:off x="2306817" y="543818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저장</a:t>
            </a:r>
            <a:endParaRPr lang="en-US" sz="584" dirty="0"/>
          </a:p>
        </p:txBody>
      </p:sp>
      <p:sp>
        <p:nvSpPr>
          <p:cNvPr id="9" name="Shape 5"/>
          <p:cNvSpPr/>
          <p:nvPr/>
        </p:nvSpPr>
        <p:spPr>
          <a:xfrm>
            <a:off x="371475" y="871538"/>
            <a:ext cx="2114550" cy="29289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969764"/>
            <a:ext cx="82153" cy="928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2216" y="951905"/>
            <a:ext cx="74964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2026.01.20 (오늘)</a:t>
            </a:r>
            <a:endParaRPr lang="en-US" sz="674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434" y="964406"/>
            <a:ext cx="82153" cy="928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1475" y="1235869"/>
            <a:ext cx="5435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출역 인원 (3명)</a:t>
            </a:r>
            <a:endParaRPr lang="en-US" sz="584" dirty="0"/>
          </a:p>
        </p:txBody>
      </p:sp>
      <p:sp>
        <p:nvSpPr>
          <p:cNvPr id="14" name="Text 8"/>
          <p:cNvSpPr/>
          <p:nvPr/>
        </p:nvSpPr>
        <p:spPr>
          <a:xfrm>
            <a:off x="2044145" y="1242120"/>
            <a:ext cx="44188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전체 1.0 적용</a:t>
            </a:r>
            <a:endParaRPr lang="en-US" sz="534" dirty="0"/>
          </a:p>
        </p:txBody>
      </p:sp>
      <p:sp>
        <p:nvSpPr>
          <p:cNvPr id="15" name="Shape 9"/>
          <p:cNvSpPr/>
          <p:nvPr/>
        </p:nvSpPr>
        <p:spPr>
          <a:xfrm>
            <a:off x="371475" y="1448395"/>
            <a:ext cx="2114550" cy="35540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42913" y="1540371"/>
            <a:ext cx="157163" cy="157163"/>
          </a:xfrm>
          <a:prstGeom prst="rect">
            <a:avLst/>
          </a:prstGeom>
          <a:solidFill>
            <a:srgbClr val="10B981"/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8" y="1583234"/>
            <a:ext cx="71438" cy="7143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2938" y="1551087"/>
            <a:ext cx="5070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김철수 (반장)</a:t>
            </a:r>
            <a:endParaRPr lang="en-US" sz="674" dirty="0"/>
          </a:p>
        </p:txBody>
      </p:sp>
      <p:sp>
        <p:nvSpPr>
          <p:cNvPr id="19" name="Shape 12"/>
          <p:cNvSpPr/>
          <p:nvPr/>
        </p:nvSpPr>
        <p:spPr>
          <a:xfrm>
            <a:off x="1800225" y="1519833"/>
            <a:ext cx="614363" cy="198239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1663" y="1554659"/>
            <a:ext cx="100013" cy="1143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028825" y="1548408"/>
            <a:ext cx="1714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1.0</a:t>
            </a:r>
            <a:endParaRPr lang="en-US" sz="634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7425" y="1554659"/>
            <a:ext cx="100013" cy="11430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371475" y="1832372"/>
            <a:ext cx="2114550" cy="35540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442913" y="1924348"/>
            <a:ext cx="157163" cy="157163"/>
          </a:xfrm>
          <a:prstGeom prst="rect">
            <a:avLst/>
          </a:prstGeom>
          <a:solidFill>
            <a:srgbClr val="10B981"/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8" y="1967210"/>
            <a:ext cx="71438" cy="7143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42938" y="1935063"/>
            <a:ext cx="2563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이영희</a:t>
            </a:r>
            <a:endParaRPr lang="en-US" sz="674" dirty="0"/>
          </a:p>
        </p:txBody>
      </p:sp>
      <p:sp>
        <p:nvSpPr>
          <p:cNvPr id="27" name="Shape 17"/>
          <p:cNvSpPr/>
          <p:nvPr/>
        </p:nvSpPr>
        <p:spPr>
          <a:xfrm>
            <a:off x="1800225" y="1903809"/>
            <a:ext cx="614363" cy="198239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1663" y="1938635"/>
            <a:ext cx="100013" cy="1143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2028825" y="1932384"/>
            <a:ext cx="1714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1.0</a:t>
            </a:r>
            <a:endParaRPr lang="en-US" sz="634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7425" y="1938635"/>
            <a:ext cx="100013" cy="114300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371475" y="2216348"/>
            <a:ext cx="2114550" cy="35540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2" name="Shape 20"/>
          <p:cNvSpPr/>
          <p:nvPr/>
        </p:nvSpPr>
        <p:spPr>
          <a:xfrm>
            <a:off x="442913" y="2308324"/>
            <a:ext cx="157163" cy="157163"/>
          </a:xfrm>
          <a:prstGeom prst="rect">
            <a:avLst/>
          </a:prstGeom>
          <a:solidFill>
            <a:srgbClr val="10B981"/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488" y="2351187"/>
            <a:ext cx="71438" cy="7143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42938" y="2319040"/>
            <a:ext cx="2563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박민수</a:t>
            </a:r>
            <a:endParaRPr lang="en-US" sz="674" dirty="0"/>
          </a:p>
        </p:txBody>
      </p:sp>
      <p:sp>
        <p:nvSpPr>
          <p:cNvPr id="35" name="Shape 22"/>
          <p:cNvSpPr/>
          <p:nvPr/>
        </p:nvSpPr>
        <p:spPr>
          <a:xfrm>
            <a:off x="1800225" y="2287786"/>
            <a:ext cx="614363" cy="198239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71663" y="2322612"/>
            <a:ext cx="100013" cy="11430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2028825" y="2316361"/>
            <a:ext cx="1714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59E0B"/>
                </a:solidFill>
              </a:rPr>
              <a:t>0.5</a:t>
            </a:r>
            <a:endParaRPr lang="en-US" sz="634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57425" y="2322612"/>
            <a:ext cx="100013" cy="114300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2328863" y="171450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25"/>
          <p:cNvSpPr/>
          <p:nvPr/>
        </p:nvSpPr>
        <p:spPr>
          <a:xfrm>
            <a:off x="2328863" y="17145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41" name="Text 26"/>
          <p:cNvSpPr/>
          <p:nvPr/>
        </p:nvSpPr>
        <p:spPr>
          <a:xfrm>
            <a:off x="371475" y="2700338"/>
            <a:ext cx="21145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작업 내용</a:t>
            </a:r>
            <a:endParaRPr lang="en-US" sz="584" dirty="0"/>
          </a:p>
        </p:txBody>
      </p:sp>
      <p:sp>
        <p:nvSpPr>
          <p:cNvPr id="42" name="Shape 27"/>
          <p:cNvSpPr/>
          <p:nvPr/>
        </p:nvSpPr>
        <p:spPr>
          <a:xfrm>
            <a:off x="371475" y="2912864"/>
            <a:ext cx="2114550" cy="548925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3" name="Text 28"/>
          <p:cNvSpPr/>
          <p:nvPr/>
        </p:nvSpPr>
        <p:spPr>
          <a:xfrm>
            <a:off x="371475" y="2912864"/>
            <a:ext cx="2114550" cy="5489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101동 3층 슬라브 철근 배근 작업 진행함.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오전: 자재 인양 및 배분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오후: 배근 작업 및 결속</a:t>
            </a:r>
            <a:endParaRPr lang="en-US" sz="621" dirty="0"/>
          </a:p>
        </p:txBody>
      </p:sp>
      <p:sp>
        <p:nvSpPr>
          <p:cNvPr id="44" name="Text 29"/>
          <p:cNvSpPr/>
          <p:nvPr/>
        </p:nvSpPr>
        <p:spPr>
          <a:xfrm>
            <a:off x="371475" y="3612031"/>
            <a:ext cx="21145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현장 사진</a:t>
            </a:r>
            <a:endParaRPr lang="en-US" sz="584" dirty="0"/>
          </a:p>
        </p:txBody>
      </p:sp>
      <p:sp>
        <p:nvSpPr>
          <p:cNvPr id="45" name="Shape 30"/>
          <p:cNvSpPr/>
          <p:nvPr/>
        </p:nvSpPr>
        <p:spPr>
          <a:xfrm>
            <a:off x="371475" y="3824557"/>
            <a:ext cx="2114550" cy="402757"/>
          </a:xfrm>
          <a:prstGeom prst="rect">
            <a:avLst/>
          </a:prstGeom>
          <a:solidFill>
            <a:srgbClr val="0F172A">
              <a:alpha val="50000"/>
            </a:srgbClr>
          </a:solidFill>
          <a:ln w="18288">
            <a:solidFill>
              <a:srgbClr val="334155"/>
            </a:solidFill>
            <a:prstDash val="dash"/>
          </a:ln>
        </p:spPr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9415" y="3990426"/>
            <a:ext cx="85725" cy="85725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1056577" y="3969888"/>
            <a:ext cx="9015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사진 촬영 또는 선택 (0/3)</a:t>
            </a:r>
            <a:endParaRPr lang="en-US" sz="621" dirty="0"/>
          </a:p>
        </p:txBody>
      </p:sp>
      <p:sp>
        <p:nvSpPr>
          <p:cNvPr id="48" name="Shape 32"/>
          <p:cNvSpPr/>
          <p:nvPr/>
        </p:nvSpPr>
        <p:spPr>
          <a:xfrm>
            <a:off x="2328863" y="36861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9" name="Text 33"/>
          <p:cNvSpPr/>
          <p:nvPr/>
        </p:nvSpPr>
        <p:spPr>
          <a:xfrm>
            <a:off x="2328863" y="36861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50" name="Shape 34"/>
          <p:cNvSpPr/>
          <p:nvPr/>
        </p:nvSpPr>
        <p:spPr>
          <a:xfrm>
            <a:off x="371475" y="4313039"/>
            <a:ext cx="2114550" cy="31611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35"/>
          <p:cNvSpPr/>
          <p:nvPr/>
        </p:nvSpPr>
        <p:spPr>
          <a:xfrm>
            <a:off x="371475" y="4313039"/>
            <a:ext cx="2114550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일보 제출하기</a:t>
            </a:r>
            <a:endParaRPr lang="en-US" sz="683" dirty="0"/>
          </a:p>
        </p:txBody>
      </p:sp>
      <p:sp>
        <p:nvSpPr>
          <p:cNvPr id="52" name="Shape 36"/>
          <p:cNvSpPr/>
          <p:nvPr/>
        </p:nvSpPr>
        <p:spPr>
          <a:xfrm>
            <a:off x="2328863" y="440055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3" name="Text 37"/>
          <p:cNvSpPr/>
          <p:nvPr/>
        </p:nvSpPr>
        <p:spPr>
          <a:xfrm>
            <a:off x="2328863" y="44005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54" name="Text 38"/>
          <p:cNvSpPr/>
          <p:nvPr/>
        </p:nvSpPr>
        <p:spPr>
          <a:xfrm>
            <a:off x="3286125" y="428625"/>
            <a:ext cx="557212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[팀장] 작업 일보 및 팀원 관리</a:t>
            </a:r>
            <a:endParaRPr lang="en-US" sz="1602" dirty="0"/>
          </a:p>
        </p:txBody>
      </p:sp>
      <p:sp>
        <p:nvSpPr>
          <p:cNvPr id="55" name="Text 39"/>
          <p:cNvSpPr/>
          <p:nvPr/>
        </p:nvSpPr>
        <p:spPr>
          <a:xfrm>
            <a:off x="3286125" y="817959"/>
            <a:ext cx="55721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일일 작업 내용 보고 및 팀원 공수 입력 (Mobile App)</a:t>
            </a:r>
            <a:endParaRPr lang="en-US" sz="834" dirty="0"/>
          </a:p>
        </p:txBody>
      </p:sp>
      <p:sp>
        <p:nvSpPr>
          <p:cNvPr id="56" name="Shape 40"/>
          <p:cNvSpPr/>
          <p:nvPr/>
        </p:nvSpPr>
        <p:spPr>
          <a:xfrm>
            <a:off x="3286125" y="1346597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7" name="Shape 41"/>
          <p:cNvSpPr/>
          <p:nvPr/>
        </p:nvSpPr>
        <p:spPr>
          <a:xfrm>
            <a:off x="3286125" y="1637705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8" name="Text 42"/>
          <p:cNvSpPr/>
          <p:nvPr/>
        </p:nvSpPr>
        <p:spPr>
          <a:xfrm>
            <a:off x="3286125" y="1346597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59" name="Shape 43"/>
          <p:cNvSpPr/>
          <p:nvPr/>
        </p:nvSpPr>
        <p:spPr>
          <a:xfrm>
            <a:off x="3643313" y="1346597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0" name="Shape 44"/>
          <p:cNvSpPr/>
          <p:nvPr/>
        </p:nvSpPr>
        <p:spPr>
          <a:xfrm>
            <a:off x="3643313" y="1637705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1" name="Text 45"/>
          <p:cNvSpPr/>
          <p:nvPr/>
        </p:nvSpPr>
        <p:spPr>
          <a:xfrm>
            <a:off x="3643313" y="1346597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UI Element</a:t>
            </a:r>
            <a:endParaRPr lang="en-US" sz="634" dirty="0"/>
          </a:p>
        </p:txBody>
      </p:sp>
      <p:sp>
        <p:nvSpPr>
          <p:cNvPr id="62" name="Shape 46"/>
          <p:cNvSpPr/>
          <p:nvPr/>
        </p:nvSpPr>
        <p:spPr>
          <a:xfrm>
            <a:off x="4500563" y="1346597"/>
            <a:ext cx="43576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3" name="Shape 47"/>
          <p:cNvSpPr/>
          <p:nvPr/>
        </p:nvSpPr>
        <p:spPr>
          <a:xfrm>
            <a:off x="4500563" y="1637705"/>
            <a:ext cx="43576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4" name="Text 48"/>
          <p:cNvSpPr/>
          <p:nvPr/>
        </p:nvSpPr>
        <p:spPr>
          <a:xfrm>
            <a:off x="4500563" y="1346597"/>
            <a:ext cx="43576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65" name="Shape 49"/>
          <p:cNvSpPr/>
          <p:nvPr/>
        </p:nvSpPr>
        <p:spPr>
          <a:xfrm>
            <a:off x="3371850" y="173057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6" name="Text 50"/>
          <p:cNvSpPr/>
          <p:nvPr/>
        </p:nvSpPr>
        <p:spPr>
          <a:xfrm>
            <a:off x="3371850" y="17305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67" name="Text 51"/>
          <p:cNvSpPr/>
          <p:nvPr/>
        </p:nvSpPr>
        <p:spPr>
          <a:xfrm>
            <a:off x="3729038" y="1739503"/>
            <a:ext cx="3659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공수 입력</a:t>
            </a:r>
            <a:endParaRPr lang="en-US" sz="634" dirty="0"/>
          </a:p>
        </p:txBody>
      </p:sp>
      <p:sp>
        <p:nvSpPr>
          <p:cNvPr id="68" name="Text 52"/>
          <p:cNvSpPr/>
          <p:nvPr/>
        </p:nvSpPr>
        <p:spPr>
          <a:xfrm>
            <a:off x="4586288" y="1730573"/>
            <a:ext cx="4186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Unit: 0.5 공수 단위 (0.5, 1.0, 1.5, 2.0)</a:t>
            </a:r>
            <a:endParaRPr lang="en-US" sz="674" dirty="0"/>
          </a:p>
        </p:txBody>
      </p:sp>
      <p:sp>
        <p:nvSpPr>
          <p:cNvPr id="69" name="Text 53"/>
          <p:cNvSpPr/>
          <p:nvPr/>
        </p:nvSpPr>
        <p:spPr>
          <a:xfrm>
            <a:off x="4586288" y="1866305"/>
            <a:ext cx="4186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Default: 1.0 (출근자 기준)</a:t>
            </a:r>
            <a:endParaRPr lang="en-US" sz="674" dirty="0"/>
          </a:p>
        </p:txBody>
      </p:sp>
      <p:sp>
        <p:nvSpPr>
          <p:cNvPr id="70" name="Text 54"/>
          <p:cNvSpPr/>
          <p:nvPr/>
        </p:nvSpPr>
        <p:spPr>
          <a:xfrm>
            <a:off x="4586288" y="2002036"/>
            <a:ext cx="4186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Logic: '전체 적용' 버튼 클릭 시 일괄 변경</a:t>
            </a:r>
            <a:endParaRPr lang="en-US" sz="674" dirty="0"/>
          </a:p>
        </p:txBody>
      </p:sp>
      <p:sp>
        <p:nvSpPr>
          <p:cNvPr id="71" name="Shape 55"/>
          <p:cNvSpPr/>
          <p:nvPr/>
        </p:nvSpPr>
        <p:spPr>
          <a:xfrm>
            <a:off x="3371850" y="231636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2" name="Text 56"/>
          <p:cNvSpPr/>
          <p:nvPr/>
        </p:nvSpPr>
        <p:spPr>
          <a:xfrm>
            <a:off x="3371850" y="23163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73" name="Text 57"/>
          <p:cNvSpPr/>
          <p:nvPr/>
        </p:nvSpPr>
        <p:spPr>
          <a:xfrm>
            <a:off x="3729038" y="2325291"/>
            <a:ext cx="4513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사진 업로드</a:t>
            </a:r>
            <a:endParaRPr lang="en-US" sz="634" dirty="0"/>
          </a:p>
        </p:txBody>
      </p:sp>
      <p:sp>
        <p:nvSpPr>
          <p:cNvPr id="74" name="Text 58"/>
          <p:cNvSpPr/>
          <p:nvPr/>
        </p:nvSpPr>
        <p:spPr>
          <a:xfrm>
            <a:off x="4586288" y="2316361"/>
            <a:ext cx="4186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Limit: 최대 3장, 장당 5MB 제한</a:t>
            </a:r>
            <a:endParaRPr lang="en-US" sz="674" dirty="0"/>
          </a:p>
        </p:txBody>
      </p:sp>
      <p:sp>
        <p:nvSpPr>
          <p:cNvPr id="75" name="Text 59"/>
          <p:cNvSpPr/>
          <p:nvPr/>
        </p:nvSpPr>
        <p:spPr>
          <a:xfrm>
            <a:off x="4586288" y="2452092"/>
            <a:ext cx="41862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Tech: Client-side Compression 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browser-image-compression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)</a:t>
            </a:r>
            <a:endParaRPr lang="en-US" sz="674" dirty="0"/>
          </a:p>
        </p:txBody>
      </p:sp>
      <p:sp>
        <p:nvSpPr>
          <p:cNvPr id="76" name="Text 60"/>
          <p:cNvSpPr/>
          <p:nvPr/>
        </p:nvSpPr>
        <p:spPr>
          <a:xfrm>
            <a:off x="4586288" y="2578894"/>
            <a:ext cx="4186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Storage: S3 Presigned URL 업로드</a:t>
            </a:r>
            <a:endParaRPr lang="en-US" sz="674" dirty="0"/>
          </a:p>
        </p:txBody>
      </p:sp>
      <p:sp>
        <p:nvSpPr>
          <p:cNvPr id="77" name="Shape 61"/>
          <p:cNvSpPr/>
          <p:nvPr/>
        </p:nvSpPr>
        <p:spPr>
          <a:xfrm>
            <a:off x="3371850" y="289321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8" name="Text 62"/>
          <p:cNvSpPr/>
          <p:nvPr/>
        </p:nvSpPr>
        <p:spPr>
          <a:xfrm>
            <a:off x="3371850" y="289321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79" name="Text 63"/>
          <p:cNvSpPr/>
          <p:nvPr/>
        </p:nvSpPr>
        <p:spPr>
          <a:xfrm>
            <a:off x="3729038" y="2902148"/>
            <a:ext cx="3659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일보 제출</a:t>
            </a:r>
            <a:endParaRPr lang="en-US" sz="634" dirty="0"/>
          </a:p>
        </p:txBody>
      </p:sp>
      <p:sp>
        <p:nvSpPr>
          <p:cNvPr id="80" name="Text 64"/>
          <p:cNvSpPr/>
          <p:nvPr/>
        </p:nvSpPr>
        <p:spPr>
          <a:xfrm>
            <a:off x="4586288" y="2893219"/>
            <a:ext cx="41862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POST /api/v1/daily-reports</a:t>
            </a:r>
            <a:endParaRPr lang="en-US" sz="674" dirty="0"/>
          </a:p>
        </p:txBody>
      </p:sp>
      <p:sp>
        <p:nvSpPr>
          <p:cNvPr id="81" name="Text 65"/>
          <p:cNvSpPr/>
          <p:nvPr/>
        </p:nvSpPr>
        <p:spPr>
          <a:xfrm>
            <a:off x="4586288" y="3020020"/>
            <a:ext cx="4186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Validation: 작업 내용 필수 (최소 10자)</a:t>
            </a:r>
            <a:endParaRPr lang="en-US" sz="674" dirty="0"/>
          </a:p>
        </p:txBody>
      </p:sp>
      <p:sp>
        <p:nvSpPr>
          <p:cNvPr id="82" name="Text 66"/>
          <p:cNvSpPr/>
          <p:nvPr/>
        </p:nvSpPr>
        <p:spPr>
          <a:xfrm>
            <a:off x="4586288" y="3155752"/>
            <a:ext cx="4186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State: 제출 후 '승인 대기' 상태로 전환</a:t>
            </a:r>
            <a:endParaRPr lang="en-US" sz="674" dirty="0"/>
          </a:p>
        </p:txBody>
      </p:sp>
      <p:sp>
        <p:nvSpPr>
          <p:cNvPr id="83" name="Shape 67"/>
          <p:cNvSpPr/>
          <p:nvPr/>
        </p:nvSpPr>
        <p:spPr>
          <a:xfrm>
            <a:off x="3371850" y="347007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4" name="Text 68"/>
          <p:cNvSpPr/>
          <p:nvPr/>
        </p:nvSpPr>
        <p:spPr>
          <a:xfrm>
            <a:off x="3371850" y="347007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85" name="Text 69"/>
          <p:cNvSpPr/>
          <p:nvPr/>
        </p:nvSpPr>
        <p:spPr>
          <a:xfrm>
            <a:off x="3729038" y="3479006"/>
            <a:ext cx="3659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팀원 관리</a:t>
            </a:r>
            <a:endParaRPr lang="en-US" sz="634" dirty="0"/>
          </a:p>
        </p:txBody>
      </p:sp>
      <p:sp>
        <p:nvSpPr>
          <p:cNvPr id="86" name="Text 70"/>
          <p:cNvSpPr/>
          <p:nvPr/>
        </p:nvSpPr>
        <p:spPr>
          <a:xfrm>
            <a:off x="4586288" y="3470077"/>
            <a:ext cx="4186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Feature: 팀원 추가/삭제 요청 (별도 탭)</a:t>
            </a:r>
            <a:endParaRPr lang="en-US" sz="674" dirty="0"/>
          </a:p>
        </p:txBody>
      </p:sp>
      <p:sp>
        <p:nvSpPr>
          <p:cNvPr id="87" name="Text 71"/>
          <p:cNvSpPr/>
          <p:nvPr/>
        </p:nvSpPr>
        <p:spPr>
          <a:xfrm>
            <a:off x="4586288" y="3605808"/>
            <a:ext cx="4186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Sync: 현장 관리자 승인 시 팀 목록 자동 갱신</a:t>
            </a:r>
            <a:endParaRPr lang="en-US" sz="67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57213"/>
            <a:ext cx="87511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3328" y="534888"/>
            <a:ext cx="60409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나의 출역 현황</a:t>
            </a:r>
            <a:endParaRPr lang="en-US" sz="68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456" y="557213"/>
            <a:ext cx="100013" cy="100013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14350" y="871538"/>
            <a:ext cx="2114550" cy="8697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5"/>
          <p:cNvSpPr/>
          <p:nvPr/>
        </p:nvSpPr>
        <p:spPr>
          <a:xfrm>
            <a:off x="628650" y="985838"/>
            <a:ext cx="18859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>
                    <a:alpha val="90000"/>
                  </a:srgbClr>
                </a:solidFill>
              </a:rPr>
              <a:t>2026년 1월 예상 급여</a:t>
            </a:r>
            <a:endParaRPr lang="en-US" sz="621" dirty="0"/>
          </a:p>
        </p:txBody>
      </p:sp>
      <p:sp>
        <p:nvSpPr>
          <p:cNvPr id="11" name="Text 6"/>
          <p:cNvSpPr/>
          <p:nvPr/>
        </p:nvSpPr>
        <p:spPr>
          <a:xfrm>
            <a:off x="628650" y="1141214"/>
            <a:ext cx="18859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3,240,000원</a:t>
            </a:r>
            <a:endParaRPr lang="en-US" sz="1193" dirty="0"/>
          </a:p>
        </p:txBody>
      </p:sp>
      <p:sp>
        <p:nvSpPr>
          <p:cNvPr id="12" name="Shape 7"/>
          <p:cNvSpPr/>
          <p:nvPr/>
        </p:nvSpPr>
        <p:spPr>
          <a:xfrm>
            <a:off x="628650" y="1448395"/>
            <a:ext cx="1885950" cy="1785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8"/>
          <p:cNvSpPr/>
          <p:nvPr/>
        </p:nvSpPr>
        <p:spPr>
          <a:xfrm>
            <a:off x="628650" y="1448395"/>
            <a:ext cx="188595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9"/>
          <p:cNvSpPr/>
          <p:nvPr/>
        </p:nvSpPr>
        <p:spPr>
          <a:xfrm>
            <a:off x="628650" y="1505545"/>
            <a:ext cx="32721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총 18공수</a:t>
            </a:r>
            <a:endParaRPr lang="en-US" sz="568" dirty="0"/>
          </a:p>
        </p:txBody>
      </p:sp>
      <p:sp>
        <p:nvSpPr>
          <p:cNvPr id="15" name="Text 10"/>
          <p:cNvSpPr/>
          <p:nvPr/>
        </p:nvSpPr>
        <p:spPr>
          <a:xfrm>
            <a:off x="1986521" y="1505545"/>
            <a:ext cx="5280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단가 180,000원</a:t>
            </a:r>
            <a:endParaRPr lang="en-US" sz="568" dirty="0"/>
          </a:p>
        </p:txBody>
      </p:sp>
      <p:sp>
        <p:nvSpPr>
          <p:cNvPr id="16" name="Shape 11"/>
          <p:cNvSpPr/>
          <p:nvPr/>
        </p:nvSpPr>
        <p:spPr>
          <a:xfrm>
            <a:off x="2528888" y="80010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2"/>
          <p:cNvSpPr/>
          <p:nvPr/>
        </p:nvSpPr>
        <p:spPr>
          <a:xfrm>
            <a:off x="2528888" y="8001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8" name="Shape 13"/>
          <p:cNvSpPr/>
          <p:nvPr/>
        </p:nvSpPr>
        <p:spPr>
          <a:xfrm>
            <a:off x="514350" y="1819870"/>
            <a:ext cx="2114550" cy="152519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923455"/>
            <a:ext cx="62508" cy="1000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86027" y="1905595"/>
            <a:ext cx="3711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2026.01</a:t>
            </a:r>
            <a:endParaRPr lang="en-US" sz="683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639" y="1923455"/>
            <a:ext cx="62508" cy="1000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0075" y="2127052"/>
            <a:ext cx="24082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일</a:t>
            </a:r>
            <a:endParaRPr lang="en-US" sz="516" dirty="0"/>
          </a:p>
        </p:txBody>
      </p:sp>
      <p:sp>
        <p:nvSpPr>
          <p:cNvPr id="23" name="Text 16"/>
          <p:cNvSpPr/>
          <p:nvPr/>
        </p:nvSpPr>
        <p:spPr>
          <a:xfrm>
            <a:off x="883760" y="2127052"/>
            <a:ext cx="2408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월</a:t>
            </a:r>
            <a:endParaRPr lang="en-US" sz="516" dirty="0"/>
          </a:p>
        </p:txBody>
      </p:sp>
      <p:sp>
        <p:nvSpPr>
          <p:cNvPr id="24" name="Text 17"/>
          <p:cNvSpPr/>
          <p:nvPr/>
        </p:nvSpPr>
        <p:spPr>
          <a:xfrm>
            <a:off x="1167473" y="2127052"/>
            <a:ext cx="2408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화</a:t>
            </a:r>
            <a:endParaRPr lang="en-US" sz="516" dirty="0"/>
          </a:p>
        </p:txBody>
      </p:sp>
      <p:sp>
        <p:nvSpPr>
          <p:cNvPr id="25" name="Text 18"/>
          <p:cNvSpPr/>
          <p:nvPr/>
        </p:nvSpPr>
        <p:spPr>
          <a:xfrm>
            <a:off x="1451186" y="2127052"/>
            <a:ext cx="2408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수</a:t>
            </a:r>
            <a:endParaRPr lang="en-US" sz="516" dirty="0"/>
          </a:p>
        </p:txBody>
      </p:sp>
      <p:sp>
        <p:nvSpPr>
          <p:cNvPr id="26" name="Text 19"/>
          <p:cNvSpPr/>
          <p:nvPr/>
        </p:nvSpPr>
        <p:spPr>
          <a:xfrm>
            <a:off x="1734899" y="2127052"/>
            <a:ext cx="2408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목</a:t>
            </a:r>
            <a:endParaRPr lang="en-US" sz="516" dirty="0"/>
          </a:p>
        </p:txBody>
      </p:sp>
      <p:sp>
        <p:nvSpPr>
          <p:cNvPr id="27" name="Text 20"/>
          <p:cNvSpPr/>
          <p:nvPr/>
        </p:nvSpPr>
        <p:spPr>
          <a:xfrm>
            <a:off x="2018612" y="2127052"/>
            <a:ext cx="2408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금</a:t>
            </a:r>
            <a:endParaRPr lang="en-US" sz="516" dirty="0"/>
          </a:p>
        </p:txBody>
      </p:sp>
      <p:sp>
        <p:nvSpPr>
          <p:cNvPr id="28" name="Text 21"/>
          <p:cNvSpPr/>
          <p:nvPr/>
        </p:nvSpPr>
        <p:spPr>
          <a:xfrm>
            <a:off x="2302325" y="2127052"/>
            <a:ext cx="2408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토</a:t>
            </a:r>
            <a:endParaRPr lang="en-US" sz="516" dirty="0"/>
          </a:p>
        </p:txBody>
      </p:sp>
      <p:sp>
        <p:nvSpPr>
          <p:cNvPr id="29" name="Text 22"/>
          <p:cNvSpPr/>
          <p:nvPr/>
        </p:nvSpPr>
        <p:spPr>
          <a:xfrm>
            <a:off x="600075" y="2302073"/>
            <a:ext cx="2408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</a:rPr>
              <a:t>29</a:t>
            </a:r>
            <a:endParaRPr lang="en-US" sz="621" dirty="0"/>
          </a:p>
        </p:txBody>
      </p:sp>
      <p:sp>
        <p:nvSpPr>
          <p:cNvPr id="30" name="Text 23"/>
          <p:cNvSpPr/>
          <p:nvPr/>
        </p:nvSpPr>
        <p:spPr>
          <a:xfrm>
            <a:off x="883760" y="2302073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</a:rPr>
              <a:t>30</a:t>
            </a:r>
            <a:endParaRPr lang="en-US" sz="621" dirty="0"/>
          </a:p>
        </p:txBody>
      </p:sp>
      <p:sp>
        <p:nvSpPr>
          <p:cNvPr id="31" name="Text 24"/>
          <p:cNvSpPr/>
          <p:nvPr/>
        </p:nvSpPr>
        <p:spPr>
          <a:xfrm>
            <a:off x="1167473" y="2302073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</a:rPr>
              <a:t>31</a:t>
            </a:r>
            <a:endParaRPr lang="en-US" sz="621" dirty="0"/>
          </a:p>
        </p:txBody>
      </p:sp>
      <p:sp>
        <p:nvSpPr>
          <p:cNvPr id="32" name="Text 25"/>
          <p:cNvSpPr/>
          <p:nvPr/>
        </p:nvSpPr>
        <p:spPr>
          <a:xfrm>
            <a:off x="1451186" y="2302073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</a:t>
            </a:r>
            <a:endParaRPr lang="en-US" sz="621" dirty="0"/>
          </a:p>
        </p:txBody>
      </p:sp>
      <p:sp>
        <p:nvSpPr>
          <p:cNvPr id="33" name="Shape 26"/>
          <p:cNvSpPr/>
          <p:nvPr/>
        </p:nvSpPr>
        <p:spPr>
          <a:xfrm>
            <a:off x="1734899" y="2302073"/>
            <a:ext cx="240850" cy="200025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1734899" y="2302073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2</a:t>
            </a:r>
            <a:endParaRPr lang="en-US" sz="584" dirty="0"/>
          </a:p>
        </p:txBody>
      </p:sp>
      <p:sp>
        <p:nvSpPr>
          <p:cNvPr id="35" name="Shape 28"/>
          <p:cNvSpPr/>
          <p:nvPr/>
        </p:nvSpPr>
        <p:spPr>
          <a:xfrm>
            <a:off x="2018612" y="2302073"/>
            <a:ext cx="240850" cy="200025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2018612" y="2302073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3</a:t>
            </a:r>
            <a:endParaRPr lang="en-US" sz="584" dirty="0"/>
          </a:p>
        </p:txBody>
      </p:sp>
      <p:sp>
        <p:nvSpPr>
          <p:cNvPr id="37" name="Text 30"/>
          <p:cNvSpPr/>
          <p:nvPr/>
        </p:nvSpPr>
        <p:spPr>
          <a:xfrm>
            <a:off x="2302325" y="2302073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4</a:t>
            </a:r>
            <a:endParaRPr lang="en-US" sz="621" dirty="0"/>
          </a:p>
        </p:txBody>
      </p:sp>
      <p:sp>
        <p:nvSpPr>
          <p:cNvPr id="38" name="Text 31"/>
          <p:cNvSpPr/>
          <p:nvPr/>
        </p:nvSpPr>
        <p:spPr>
          <a:xfrm>
            <a:off x="600075" y="2544961"/>
            <a:ext cx="2408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5</a:t>
            </a:r>
            <a:endParaRPr lang="en-US" sz="621" dirty="0"/>
          </a:p>
        </p:txBody>
      </p:sp>
      <p:sp>
        <p:nvSpPr>
          <p:cNvPr id="39" name="Shape 32"/>
          <p:cNvSpPr/>
          <p:nvPr/>
        </p:nvSpPr>
        <p:spPr>
          <a:xfrm>
            <a:off x="883760" y="2544961"/>
            <a:ext cx="240850" cy="200025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883760" y="2544961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6</a:t>
            </a:r>
            <a:endParaRPr lang="en-US" sz="584" dirty="0"/>
          </a:p>
        </p:txBody>
      </p:sp>
      <p:sp>
        <p:nvSpPr>
          <p:cNvPr id="41" name="Shape 34"/>
          <p:cNvSpPr/>
          <p:nvPr/>
        </p:nvSpPr>
        <p:spPr>
          <a:xfrm>
            <a:off x="1167473" y="2544961"/>
            <a:ext cx="240850" cy="200025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2" name="Text 35"/>
          <p:cNvSpPr/>
          <p:nvPr/>
        </p:nvSpPr>
        <p:spPr>
          <a:xfrm>
            <a:off x="1167473" y="2544961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7</a:t>
            </a:r>
            <a:endParaRPr lang="en-US" sz="584" dirty="0"/>
          </a:p>
        </p:txBody>
      </p:sp>
      <p:sp>
        <p:nvSpPr>
          <p:cNvPr id="43" name="Shape 36"/>
          <p:cNvSpPr/>
          <p:nvPr/>
        </p:nvSpPr>
        <p:spPr>
          <a:xfrm>
            <a:off x="1451186" y="2544961"/>
            <a:ext cx="240850" cy="200025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4" name="Text 37"/>
          <p:cNvSpPr/>
          <p:nvPr/>
        </p:nvSpPr>
        <p:spPr>
          <a:xfrm>
            <a:off x="1451186" y="2544961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8</a:t>
            </a:r>
            <a:endParaRPr lang="en-US" sz="584" dirty="0"/>
          </a:p>
        </p:txBody>
      </p:sp>
      <p:sp>
        <p:nvSpPr>
          <p:cNvPr id="45" name="Shape 38"/>
          <p:cNvSpPr/>
          <p:nvPr/>
        </p:nvSpPr>
        <p:spPr>
          <a:xfrm>
            <a:off x="1734899" y="2544961"/>
            <a:ext cx="240850" cy="200025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6" name="Text 39"/>
          <p:cNvSpPr/>
          <p:nvPr/>
        </p:nvSpPr>
        <p:spPr>
          <a:xfrm>
            <a:off x="1734899" y="2544961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9</a:t>
            </a:r>
            <a:endParaRPr lang="en-US" sz="584" dirty="0"/>
          </a:p>
        </p:txBody>
      </p:sp>
      <p:sp>
        <p:nvSpPr>
          <p:cNvPr id="47" name="Shape 40"/>
          <p:cNvSpPr/>
          <p:nvPr/>
        </p:nvSpPr>
        <p:spPr>
          <a:xfrm>
            <a:off x="2018612" y="2544961"/>
            <a:ext cx="240850" cy="200025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8" name="Text 41"/>
          <p:cNvSpPr/>
          <p:nvPr/>
        </p:nvSpPr>
        <p:spPr>
          <a:xfrm>
            <a:off x="2018612" y="2544961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10</a:t>
            </a:r>
            <a:endParaRPr lang="en-US" sz="584" dirty="0"/>
          </a:p>
        </p:txBody>
      </p:sp>
      <p:sp>
        <p:nvSpPr>
          <p:cNvPr id="49" name="Text 42"/>
          <p:cNvSpPr/>
          <p:nvPr/>
        </p:nvSpPr>
        <p:spPr>
          <a:xfrm>
            <a:off x="2302325" y="2544961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11</a:t>
            </a:r>
            <a:endParaRPr lang="en-US" sz="621" dirty="0"/>
          </a:p>
        </p:txBody>
      </p:sp>
      <p:sp>
        <p:nvSpPr>
          <p:cNvPr id="50" name="Text 43"/>
          <p:cNvSpPr/>
          <p:nvPr/>
        </p:nvSpPr>
        <p:spPr>
          <a:xfrm>
            <a:off x="600075" y="2787848"/>
            <a:ext cx="2408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12</a:t>
            </a:r>
            <a:endParaRPr lang="en-US" sz="621" dirty="0"/>
          </a:p>
        </p:txBody>
      </p:sp>
      <p:sp>
        <p:nvSpPr>
          <p:cNvPr id="51" name="Shape 44"/>
          <p:cNvSpPr/>
          <p:nvPr/>
        </p:nvSpPr>
        <p:spPr>
          <a:xfrm>
            <a:off x="883760" y="2787848"/>
            <a:ext cx="240850" cy="200025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2" name="Text 45"/>
          <p:cNvSpPr/>
          <p:nvPr/>
        </p:nvSpPr>
        <p:spPr>
          <a:xfrm>
            <a:off x="883760" y="2787848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13</a:t>
            </a:r>
            <a:endParaRPr lang="en-US" sz="584" dirty="0"/>
          </a:p>
        </p:txBody>
      </p:sp>
      <p:sp>
        <p:nvSpPr>
          <p:cNvPr id="53" name="Shape 46"/>
          <p:cNvSpPr/>
          <p:nvPr/>
        </p:nvSpPr>
        <p:spPr>
          <a:xfrm>
            <a:off x="1167473" y="2787848"/>
            <a:ext cx="240850" cy="200025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4" name="Text 47"/>
          <p:cNvSpPr/>
          <p:nvPr/>
        </p:nvSpPr>
        <p:spPr>
          <a:xfrm>
            <a:off x="1167473" y="2787848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14</a:t>
            </a:r>
            <a:endParaRPr lang="en-US" sz="584" dirty="0"/>
          </a:p>
        </p:txBody>
      </p:sp>
      <p:sp>
        <p:nvSpPr>
          <p:cNvPr id="55" name="Shape 48"/>
          <p:cNvSpPr/>
          <p:nvPr/>
        </p:nvSpPr>
        <p:spPr>
          <a:xfrm>
            <a:off x="1451186" y="2787848"/>
            <a:ext cx="240850" cy="200025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6" name="Text 49"/>
          <p:cNvSpPr/>
          <p:nvPr/>
        </p:nvSpPr>
        <p:spPr>
          <a:xfrm>
            <a:off x="1451186" y="2787848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15</a:t>
            </a:r>
            <a:endParaRPr lang="en-US" sz="584" dirty="0"/>
          </a:p>
        </p:txBody>
      </p:sp>
      <p:sp>
        <p:nvSpPr>
          <p:cNvPr id="57" name="Shape 50"/>
          <p:cNvSpPr/>
          <p:nvPr/>
        </p:nvSpPr>
        <p:spPr>
          <a:xfrm>
            <a:off x="1734899" y="2787848"/>
            <a:ext cx="240850" cy="200025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8" name="Text 51"/>
          <p:cNvSpPr/>
          <p:nvPr/>
        </p:nvSpPr>
        <p:spPr>
          <a:xfrm>
            <a:off x="1734899" y="2787848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16</a:t>
            </a:r>
            <a:endParaRPr lang="en-US" sz="584" dirty="0"/>
          </a:p>
        </p:txBody>
      </p:sp>
      <p:sp>
        <p:nvSpPr>
          <p:cNvPr id="59" name="Shape 52"/>
          <p:cNvSpPr/>
          <p:nvPr/>
        </p:nvSpPr>
        <p:spPr>
          <a:xfrm>
            <a:off x="2018612" y="2787848"/>
            <a:ext cx="240850" cy="200025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60" name="Text 53"/>
          <p:cNvSpPr/>
          <p:nvPr/>
        </p:nvSpPr>
        <p:spPr>
          <a:xfrm>
            <a:off x="2018612" y="2787848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17</a:t>
            </a:r>
            <a:endParaRPr lang="en-US" sz="584" dirty="0"/>
          </a:p>
        </p:txBody>
      </p:sp>
      <p:sp>
        <p:nvSpPr>
          <p:cNvPr id="61" name="Text 54"/>
          <p:cNvSpPr/>
          <p:nvPr/>
        </p:nvSpPr>
        <p:spPr>
          <a:xfrm>
            <a:off x="2302325" y="2787848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18</a:t>
            </a:r>
            <a:endParaRPr lang="en-US" sz="621" dirty="0"/>
          </a:p>
        </p:txBody>
      </p:sp>
      <p:sp>
        <p:nvSpPr>
          <p:cNvPr id="62" name="Text 55"/>
          <p:cNvSpPr/>
          <p:nvPr/>
        </p:nvSpPr>
        <p:spPr>
          <a:xfrm>
            <a:off x="600075" y="3030736"/>
            <a:ext cx="2408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19</a:t>
            </a:r>
            <a:endParaRPr lang="en-US" sz="621" dirty="0"/>
          </a:p>
        </p:txBody>
      </p:sp>
      <p:sp>
        <p:nvSpPr>
          <p:cNvPr id="63" name="Shape 56"/>
          <p:cNvSpPr/>
          <p:nvPr/>
        </p:nvSpPr>
        <p:spPr>
          <a:xfrm>
            <a:off x="883760" y="3030736"/>
            <a:ext cx="240850" cy="214313"/>
          </a:xfrm>
          <a:prstGeom prst="rect">
            <a:avLst/>
          </a:prstGeom>
          <a:solidFill>
            <a:srgbClr val="10B981">
              <a:alpha val="20000"/>
            </a:srgbClr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883760" y="3030736"/>
            <a:ext cx="2408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20</a:t>
            </a:r>
            <a:endParaRPr lang="en-US" sz="584" dirty="0"/>
          </a:p>
        </p:txBody>
      </p:sp>
      <p:sp>
        <p:nvSpPr>
          <p:cNvPr id="65" name="Text 58"/>
          <p:cNvSpPr/>
          <p:nvPr/>
        </p:nvSpPr>
        <p:spPr>
          <a:xfrm>
            <a:off x="1167473" y="3030736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21</a:t>
            </a:r>
            <a:endParaRPr lang="en-US" sz="621" dirty="0"/>
          </a:p>
        </p:txBody>
      </p:sp>
      <p:sp>
        <p:nvSpPr>
          <p:cNvPr id="66" name="Text 59"/>
          <p:cNvSpPr/>
          <p:nvPr/>
        </p:nvSpPr>
        <p:spPr>
          <a:xfrm>
            <a:off x="1451186" y="3030736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22</a:t>
            </a:r>
            <a:endParaRPr lang="en-US" sz="621" dirty="0"/>
          </a:p>
        </p:txBody>
      </p:sp>
      <p:sp>
        <p:nvSpPr>
          <p:cNvPr id="67" name="Text 60"/>
          <p:cNvSpPr/>
          <p:nvPr/>
        </p:nvSpPr>
        <p:spPr>
          <a:xfrm>
            <a:off x="1734899" y="3030736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23</a:t>
            </a:r>
            <a:endParaRPr lang="en-US" sz="621" dirty="0"/>
          </a:p>
        </p:txBody>
      </p:sp>
      <p:sp>
        <p:nvSpPr>
          <p:cNvPr id="68" name="Text 61"/>
          <p:cNvSpPr/>
          <p:nvPr/>
        </p:nvSpPr>
        <p:spPr>
          <a:xfrm>
            <a:off x="2018612" y="3030736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24</a:t>
            </a:r>
            <a:endParaRPr lang="en-US" sz="621" dirty="0"/>
          </a:p>
        </p:txBody>
      </p:sp>
      <p:sp>
        <p:nvSpPr>
          <p:cNvPr id="69" name="Text 62"/>
          <p:cNvSpPr/>
          <p:nvPr/>
        </p:nvSpPr>
        <p:spPr>
          <a:xfrm>
            <a:off x="2302325" y="3030736"/>
            <a:ext cx="24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25</a:t>
            </a:r>
            <a:endParaRPr lang="en-US" sz="621" dirty="0"/>
          </a:p>
        </p:txBody>
      </p:sp>
      <p:sp>
        <p:nvSpPr>
          <p:cNvPr id="70" name="Shape 63"/>
          <p:cNvSpPr/>
          <p:nvPr/>
        </p:nvSpPr>
        <p:spPr>
          <a:xfrm>
            <a:off x="1571625" y="257175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1" name="Text 64"/>
          <p:cNvSpPr/>
          <p:nvPr/>
        </p:nvSpPr>
        <p:spPr>
          <a:xfrm>
            <a:off x="1571625" y="25717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72" name="Text 65"/>
          <p:cNvSpPr/>
          <p:nvPr/>
        </p:nvSpPr>
        <p:spPr>
          <a:xfrm>
            <a:off x="514350" y="3437930"/>
            <a:ext cx="2114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최근 활동</a:t>
            </a:r>
            <a:endParaRPr lang="en-US" sz="634" dirty="0"/>
          </a:p>
        </p:txBody>
      </p:sp>
      <p:sp>
        <p:nvSpPr>
          <p:cNvPr id="73" name="Shape 66"/>
          <p:cNvSpPr/>
          <p:nvPr/>
        </p:nvSpPr>
        <p:spPr>
          <a:xfrm>
            <a:off x="514350" y="3659386"/>
            <a:ext cx="2114550" cy="40719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585788" y="3730823"/>
            <a:ext cx="7979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A 아파트 현장</a:t>
            </a:r>
            <a:endParaRPr lang="en-US" sz="634" dirty="0"/>
          </a:p>
        </p:txBody>
      </p:sp>
      <p:sp>
        <p:nvSpPr>
          <p:cNvPr id="75" name="Text 68"/>
          <p:cNvSpPr/>
          <p:nvPr/>
        </p:nvSpPr>
        <p:spPr>
          <a:xfrm>
            <a:off x="585788" y="3866555"/>
            <a:ext cx="79792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06:55 출근 - 17:00 퇴근</a:t>
            </a:r>
            <a:endParaRPr lang="en-US" sz="568" dirty="0"/>
          </a:p>
        </p:txBody>
      </p:sp>
      <p:sp>
        <p:nvSpPr>
          <p:cNvPr id="76" name="Text 69"/>
          <p:cNvSpPr/>
          <p:nvPr/>
        </p:nvSpPr>
        <p:spPr>
          <a:xfrm>
            <a:off x="2192266" y="3743325"/>
            <a:ext cx="36519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1.0 공수</a:t>
            </a:r>
            <a:endParaRPr lang="en-US" sz="621" dirty="0"/>
          </a:p>
        </p:txBody>
      </p:sp>
      <p:sp>
        <p:nvSpPr>
          <p:cNvPr id="77" name="Text 70"/>
          <p:cNvSpPr/>
          <p:nvPr/>
        </p:nvSpPr>
        <p:spPr>
          <a:xfrm>
            <a:off x="2192266" y="3870127"/>
            <a:ext cx="36519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2026.01.20</a:t>
            </a:r>
            <a:endParaRPr lang="en-US" sz="516" dirty="0"/>
          </a:p>
        </p:txBody>
      </p:sp>
      <p:sp>
        <p:nvSpPr>
          <p:cNvPr id="78" name="Shape 71"/>
          <p:cNvSpPr/>
          <p:nvPr/>
        </p:nvSpPr>
        <p:spPr>
          <a:xfrm>
            <a:off x="2614613" y="24860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9" name="Text 72"/>
          <p:cNvSpPr/>
          <p:nvPr/>
        </p:nvSpPr>
        <p:spPr>
          <a:xfrm>
            <a:off x="2614613" y="24860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80" name="Text 73"/>
          <p:cNvSpPr/>
          <p:nvPr/>
        </p:nvSpPr>
        <p:spPr>
          <a:xfrm>
            <a:off x="3286125" y="428625"/>
            <a:ext cx="542925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[노무자] 나의 출역 및 캘린더</a:t>
            </a:r>
            <a:endParaRPr lang="en-US" sz="1602" dirty="0"/>
          </a:p>
        </p:txBody>
      </p:sp>
      <p:sp>
        <p:nvSpPr>
          <p:cNvPr id="81" name="Text 74"/>
          <p:cNvSpPr/>
          <p:nvPr/>
        </p:nvSpPr>
        <p:spPr>
          <a:xfrm>
            <a:off x="3286125" y="817959"/>
            <a:ext cx="5429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개인 출역 이력 조회 및 예상 급여 확인 (Mobile App)</a:t>
            </a:r>
            <a:endParaRPr lang="en-US" sz="834" dirty="0"/>
          </a:p>
        </p:txBody>
      </p:sp>
      <p:sp>
        <p:nvSpPr>
          <p:cNvPr id="82" name="Shape 75"/>
          <p:cNvSpPr/>
          <p:nvPr/>
        </p:nvSpPr>
        <p:spPr>
          <a:xfrm>
            <a:off x="3286125" y="1275159"/>
            <a:ext cx="357188" cy="2768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3" name="Shape 76"/>
          <p:cNvSpPr/>
          <p:nvPr/>
        </p:nvSpPr>
        <p:spPr>
          <a:xfrm>
            <a:off x="3286125" y="1537692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4" name="Text 77"/>
          <p:cNvSpPr/>
          <p:nvPr/>
        </p:nvSpPr>
        <p:spPr>
          <a:xfrm>
            <a:off x="3286125" y="1275159"/>
            <a:ext cx="357188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85" name="Shape 78"/>
          <p:cNvSpPr/>
          <p:nvPr/>
        </p:nvSpPr>
        <p:spPr>
          <a:xfrm>
            <a:off x="3643313" y="1275159"/>
            <a:ext cx="857250" cy="2768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6" name="Shape 79"/>
          <p:cNvSpPr/>
          <p:nvPr/>
        </p:nvSpPr>
        <p:spPr>
          <a:xfrm>
            <a:off x="3643313" y="1537692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7" name="Text 80"/>
          <p:cNvSpPr/>
          <p:nvPr/>
        </p:nvSpPr>
        <p:spPr>
          <a:xfrm>
            <a:off x="3643313" y="1275159"/>
            <a:ext cx="857250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UI Element</a:t>
            </a:r>
            <a:endParaRPr lang="en-US" sz="634" dirty="0"/>
          </a:p>
        </p:txBody>
      </p:sp>
      <p:sp>
        <p:nvSpPr>
          <p:cNvPr id="88" name="Shape 81"/>
          <p:cNvSpPr/>
          <p:nvPr/>
        </p:nvSpPr>
        <p:spPr>
          <a:xfrm>
            <a:off x="4500563" y="1275159"/>
            <a:ext cx="4214813" cy="2768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9" name="Shape 82"/>
          <p:cNvSpPr/>
          <p:nvPr/>
        </p:nvSpPr>
        <p:spPr>
          <a:xfrm>
            <a:off x="4500563" y="1537692"/>
            <a:ext cx="4214813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0" name="Text 83"/>
          <p:cNvSpPr/>
          <p:nvPr/>
        </p:nvSpPr>
        <p:spPr>
          <a:xfrm>
            <a:off x="4500563" y="1275159"/>
            <a:ext cx="4214813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91" name="Shape 84"/>
          <p:cNvSpPr/>
          <p:nvPr/>
        </p:nvSpPr>
        <p:spPr>
          <a:xfrm>
            <a:off x="3357563" y="161627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2" name="Text 85"/>
          <p:cNvSpPr/>
          <p:nvPr/>
        </p:nvSpPr>
        <p:spPr>
          <a:xfrm>
            <a:off x="3357563" y="16162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93" name="Text 86"/>
          <p:cNvSpPr/>
          <p:nvPr/>
        </p:nvSpPr>
        <p:spPr>
          <a:xfrm>
            <a:off x="3714750" y="1625203"/>
            <a:ext cx="5609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예상 급여 카드</a:t>
            </a:r>
            <a:endParaRPr lang="en-US" sz="634" dirty="0"/>
          </a:p>
        </p:txBody>
      </p:sp>
      <p:sp>
        <p:nvSpPr>
          <p:cNvPr id="94" name="Text 87"/>
          <p:cNvSpPr/>
          <p:nvPr/>
        </p:nvSpPr>
        <p:spPr>
          <a:xfrm>
            <a:off x="4572000" y="1616273"/>
            <a:ext cx="40719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Logic: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∑(daily_man_day * unit_price)</a:t>
            </a:r>
            <a:endParaRPr lang="en-US" sz="674" dirty="0"/>
          </a:p>
        </p:txBody>
      </p:sp>
      <p:sp>
        <p:nvSpPr>
          <p:cNvPr id="95" name="Text 88"/>
          <p:cNvSpPr/>
          <p:nvPr/>
        </p:nvSpPr>
        <p:spPr>
          <a:xfrm>
            <a:off x="4572000" y="1744861"/>
            <a:ext cx="4071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GET /api/v1/worker/salary/estimate</a:t>
            </a:r>
            <a:endParaRPr lang="en-US" sz="674" dirty="0"/>
          </a:p>
        </p:txBody>
      </p:sp>
      <p:sp>
        <p:nvSpPr>
          <p:cNvPr id="96" name="Text 89"/>
          <p:cNvSpPr/>
          <p:nvPr/>
        </p:nvSpPr>
        <p:spPr>
          <a:xfrm>
            <a:off x="4572000" y="1871663"/>
            <a:ext cx="4071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Note: 세전 금액 기준 표시 (세금 공제 전)</a:t>
            </a:r>
            <a:endParaRPr lang="en-US" sz="674" dirty="0"/>
          </a:p>
        </p:txBody>
      </p:sp>
      <p:sp>
        <p:nvSpPr>
          <p:cNvPr id="97" name="Shape 90"/>
          <p:cNvSpPr/>
          <p:nvPr/>
        </p:nvSpPr>
        <p:spPr>
          <a:xfrm>
            <a:off x="3357563" y="21574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8" name="Text 91"/>
          <p:cNvSpPr/>
          <p:nvPr/>
        </p:nvSpPr>
        <p:spPr>
          <a:xfrm>
            <a:off x="3357563" y="21574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99" name="Text 92"/>
          <p:cNvSpPr/>
          <p:nvPr/>
        </p:nvSpPr>
        <p:spPr>
          <a:xfrm>
            <a:off x="3714750" y="2166342"/>
            <a:ext cx="4513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출역 캘린더</a:t>
            </a:r>
            <a:endParaRPr lang="en-US" sz="634" dirty="0"/>
          </a:p>
        </p:txBody>
      </p:sp>
      <p:sp>
        <p:nvSpPr>
          <p:cNvPr id="100" name="Text 93"/>
          <p:cNvSpPr/>
          <p:nvPr/>
        </p:nvSpPr>
        <p:spPr>
          <a:xfrm>
            <a:off x="4572000" y="2157413"/>
            <a:ext cx="4071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react-native-calendars</a:t>
            </a:r>
            <a:endParaRPr lang="en-US" sz="674" dirty="0"/>
          </a:p>
        </p:txBody>
      </p:sp>
      <p:sp>
        <p:nvSpPr>
          <p:cNvPr id="101" name="Text 94"/>
          <p:cNvSpPr/>
          <p:nvPr/>
        </p:nvSpPr>
        <p:spPr>
          <a:xfrm>
            <a:off x="4572000" y="2284214"/>
            <a:ext cx="4071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Data: 날짜별 상태(출근/결근/지각) 매핑</a:t>
            </a:r>
            <a:endParaRPr lang="en-US" sz="674" dirty="0"/>
          </a:p>
        </p:txBody>
      </p:sp>
      <p:sp>
        <p:nvSpPr>
          <p:cNvPr id="102" name="Text 95"/>
          <p:cNvSpPr/>
          <p:nvPr/>
        </p:nvSpPr>
        <p:spPr>
          <a:xfrm>
            <a:off x="4572000" y="2419945"/>
            <a:ext cx="4071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Style: 상태별 Dot Color 또는 Background 커스텀</a:t>
            </a:r>
            <a:endParaRPr lang="en-US" sz="674" dirty="0"/>
          </a:p>
        </p:txBody>
      </p:sp>
      <p:sp>
        <p:nvSpPr>
          <p:cNvPr id="103" name="Shape 96"/>
          <p:cNvSpPr/>
          <p:nvPr/>
        </p:nvSpPr>
        <p:spPr>
          <a:xfrm>
            <a:off x="3357563" y="270569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4" name="Text 97"/>
          <p:cNvSpPr/>
          <p:nvPr/>
        </p:nvSpPr>
        <p:spPr>
          <a:xfrm>
            <a:off x="3357563" y="270569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05" name="Text 98"/>
          <p:cNvSpPr/>
          <p:nvPr/>
        </p:nvSpPr>
        <p:spPr>
          <a:xfrm>
            <a:off x="3714750" y="2714625"/>
            <a:ext cx="64637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상세 이력 리스트</a:t>
            </a:r>
            <a:endParaRPr lang="en-US" sz="634" dirty="0"/>
          </a:p>
        </p:txBody>
      </p:sp>
      <p:sp>
        <p:nvSpPr>
          <p:cNvPr id="106" name="Text 99"/>
          <p:cNvSpPr/>
          <p:nvPr/>
        </p:nvSpPr>
        <p:spPr>
          <a:xfrm>
            <a:off x="4572000" y="2705695"/>
            <a:ext cx="4071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GET /api/v1/worker/attendance/history</a:t>
            </a:r>
            <a:endParaRPr lang="en-US" sz="674" dirty="0"/>
          </a:p>
        </p:txBody>
      </p:sp>
      <p:sp>
        <p:nvSpPr>
          <p:cNvPr id="107" name="Text 100"/>
          <p:cNvSpPr/>
          <p:nvPr/>
        </p:nvSpPr>
        <p:spPr>
          <a:xfrm>
            <a:off x="4572000" y="2832497"/>
            <a:ext cx="4071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Params: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?month=2026-01</a:t>
            </a:r>
            <a:endParaRPr lang="en-US" sz="674" dirty="0"/>
          </a:p>
        </p:txBody>
      </p:sp>
      <p:sp>
        <p:nvSpPr>
          <p:cNvPr id="108" name="Text 101"/>
          <p:cNvSpPr/>
          <p:nvPr/>
        </p:nvSpPr>
        <p:spPr>
          <a:xfrm>
            <a:off x="4572000" y="2959298"/>
            <a:ext cx="4071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Security: 본인 데이터만 조회 가능 (Token 검증)</a:t>
            </a:r>
            <a:endParaRPr lang="en-US" sz="67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57213"/>
            <a:ext cx="62508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7820" y="534888"/>
            <a:ext cx="67008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근로계약서 작성</a:t>
            </a:r>
            <a:endParaRPr lang="en-US" sz="683" dirty="0"/>
          </a:p>
        </p:txBody>
      </p:sp>
      <p:sp>
        <p:nvSpPr>
          <p:cNvPr id="8" name="Shape 4"/>
          <p:cNvSpPr/>
          <p:nvPr/>
        </p:nvSpPr>
        <p:spPr>
          <a:xfrm>
            <a:off x="428625" y="785813"/>
            <a:ext cx="2286000" cy="392906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5"/>
          <p:cNvSpPr/>
          <p:nvPr/>
        </p:nvSpPr>
        <p:spPr>
          <a:xfrm>
            <a:off x="571500" y="928688"/>
            <a:ext cx="2000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표준 근로계약서 (일용직)</a:t>
            </a:r>
            <a:endParaRPr lang="en-US" sz="634" dirty="0"/>
          </a:p>
        </p:txBody>
      </p:sp>
      <p:sp>
        <p:nvSpPr>
          <p:cNvPr id="10" name="Shape 6"/>
          <p:cNvSpPr/>
          <p:nvPr/>
        </p:nvSpPr>
        <p:spPr>
          <a:xfrm>
            <a:off x="571500" y="1207294"/>
            <a:ext cx="2000250" cy="1178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678656" y="1319808"/>
            <a:ext cx="370777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0000"/>
                </a:solidFill>
              </a:rPr>
              <a:t>제1조 (목적)</a:t>
            </a:r>
            <a:endParaRPr lang="en-US" sz="485" dirty="0"/>
          </a:p>
        </p:txBody>
      </p:sp>
      <p:sp>
        <p:nvSpPr>
          <p:cNvPr id="12" name="Text 8"/>
          <p:cNvSpPr/>
          <p:nvPr/>
        </p:nvSpPr>
        <p:spPr>
          <a:xfrm>
            <a:off x="678656" y="1423392"/>
            <a:ext cx="175021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0000"/>
                </a:solidFill>
              </a:rPr>
              <a:t>본 계약은 사용자 (주)스마트콘과 근로자 홍길동 간의 근로조</a:t>
            </a:r>
            <a:endParaRPr lang="en-US" sz="516" dirty="0"/>
          </a:p>
        </p:txBody>
      </p:sp>
      <p:sp>
        <p:nvSpPr>
          <p:cNvPr id="13" name="Text 9"/>
          <p:cNvSpPr/>
          <p:nvPr/>
        </p:nvSpPr>
        <p:spPr>
          <a:xfrm>
            <a:off x="678656" y="1526977"/>
            <a:ext cx="79784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0000"/>
                </a:solidFill>
              </a:rPr>
              <a:t>건을 정함을 목적으로 한다.</a:t>
            </a:r>
            <a:endParaRPr lang="en-US" sz="516" dirty="0"/>
          </a:p>
        </p:txBody>
      </p:sp>
      <p:sp>
        <p:nvSpPr>
          <p:cNvPr id="14" name="Text 10"/>
          <p:cNvSpPr/>
          <p:nvPr/>
        </p:nvSpPr>
        <p:spPr>
          <a:xfrm>
            <a:off x="678656" y="1728788"/>
            <a:ext cx="73653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0000"/>
                </a:solidFill>
              </a:rPr>
              <a:t>제2조 (근로장소 및 업무)</a:t>
            </a:r>
            <a:endParaRPr lang="en-US" sz="485" dirty="0"/>
          </a:p>
        </p:txBody>
      </p:sp>
      <p:sp>
        <p:nvSpPr>
          <p:cNvPr id="15" name="Text 11"/>
          <p:cNvSpPr/>
          <p:nvPr/>
        </p:nvSpPr>
        <p:spPr>
          <a:xfrm>
            <a:off x="678656" y="1832372"/>
            <a:ext cx="135354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0000"/>
                </a:solidFill>
              </a:rPr>
              <a:t>1. 장소: 서울시 강남구 역삼동 A타워 신축현장</a:t>
            </a:r>
            <a:endParaRPr lang="en-US" sz="516" dirty="0"/>
          </a:p>
        </p:txBody>
      </p:sp>
      <p:sp>
        <p:nvSpPr>
          <p:cNvPr id="16" name="Text 12"/>
          <p:cNvSpPr/>
          <p:nvPr/>
        </p:nvSpPr>
        <p:spPr>
          <a:xfrm>
            <a:off x="678656" y="1935956"/>
            <a:ext cx="91356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0000"/>
                </a:solidFill>
              </a:rPr>
              <a:t>2. 업무: 철근 시공 및 자재 정리</a:t>
            </a:r>
            <a:endParaRPr lang="en-US" sz="516" dirty="0"/>
          </a:p>
        </p:txBody>
      </p:sp>
      <p:sp>
        <p:nvSpPr>
          <p:cNvPr id="17" name="Text 13"/>
          <p:cNvSpPr/>
          <p:nvPr/>
        </p:nvSpPr>
        <p:spPr>
          <a:xfrm>
            <a:off x="678656" y="2137767"/>
            <a:ext cx="50221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0000"/>
                </a:solidFill>
              </a:rPr>
              <a:t>제3조 (근로시간)</a:t>
            </a:r>
            <a:endParaRPr lang="en-US" sz="485" dirty="0"/>
          </a:p>
        </p:txBody>
      </p:sp>
      <p:sp>
        <p:nvSpPr>
          <p:cNvPr id="18" name="Text 14"/>
          <p:cNvSpPr/>
          <p:nvPr/>
        </p:nvSpPr>
        <p:spPr>
          <a:xfrm>
            <a:off x="678656" y="2241352"/>
            <a:ext cx="110842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0000"/>
                </a:solidFill>
              </a:rPr>
              <a:t>07:00 ~ 16:00 (휴게시간 1시간 포함)</a:t>
            </a:r>
            <a:endParaRPr lang="en-US" sz="516" dirty="0"/>
          </a:p>
        </p:txBody>
      </p:sp>
      <p:sp>
        <p:nvSpPr>
          <p:cNvPr id="19" name="Text 15"/>
          <p:cNvSpPr/>
          <p:nvPr/>
        </p:nvSpPr>
        <p:spPr>
          <a:xfrm>
            <a:off x="678656" y="2339578"/>
            <a:ext cx="57457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0000"/>
                </a:solidFill>
              </a:rPr>
              <a:t>...</a:t>
            </a:r>
            <a:endParaRPr lang="en-US" sz="516" dirty="0"/>
          </a:p>
        </p:txBody>
      </p:sp>
      <p:sp>
        <p:nvSpPr>
          <p:cNvPr id="20" name="Shape 16"/>
          <p:cNvSpPr/>
          <p:nvPr/>
        </p:nvSpPr>
        <p:spPr>
          <a:xfrm>
            <a:off x="2328863" y="127873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7"/>
          <p:cNvSpPr/>
          <p:nvPr/>
        </p:nvSpPr>
        <p:spPr>
          <a:xfrm>
            <a:off x="2328863" y="12787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22" name="Shape 18"/>
          <p:cNvSpPr/>
          <p:nvPr/>
        </p:nvSpPr>
        <p:spPr>
          <a:xfrm>
            <a:off x="571500" y="2093119"/>
            <a:ext cx="2000250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571500" y="2493169"/>
            <a:ext cx="2000250" cy="105548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0"/>
          <p:cNvSpPr/>
          <p:nvPr/>
        </p:nvSpPr>
        <p:spPr>
          <a:xfrm>
            <a:off x="642938" y="2564606"/>
            <a:ext cx="62041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서명 (Signature)</a:t>
            </a:r>
            <a:endParaRPr lang="en-US" sz="621" dirty="0"/>
          </a:p>
        </p:txBody>
      </p:sp>
      <p:sp>
        <p:nvSpPr>
          <p:cNvPr id="25" name="Text 21"/>
          <p:cNvSpPr/>
          <p:nvPr/>
        </p:nvSpPr>
        <p:spPr>
          <a:xfrm>
            <a:off x="2263704" y="2564606"/>
            <a:ext cx="2366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지우기</a:t>
            </a:r>
            <a:endParaRPr lang="en-US" sz="621" dirty="0"/>
          </a:p>
        </p:txBody>
      </p:sp>
      <p:sp>
        <p:nvSpPr>
          <p:cNvPr id="26" name="Shape 22"/>
          <p:cNvSpPr/>
          <p:nvPr/>
        </p:nvSpPr>
        <p:spPr>
          <a:xfrm>
            <a:off x="642938" y="2748558"/>
            <a:ext cx="1857375" cy="728663"/>
          </a:xfrm>
          <a:prstGeom prst="rect">
            <a:avLst/>
          </a:prstGeom>
          <a:solidFill>
            <a:srgbClr val="0F172A"/>
          </a:solidFill>
          <a:ln w="9144">
            <a:solidFill>
              <a:srgbClr val="64748B"/>
            </a:solidFill>
            <a:prstDash val="dash"/>
          </a:ln>
        </p:spPr>
      </p:sp>
      <p:sp>
        <p:nvSpPr>
          <p:cNvPr id="27" name="Text 23"/>
          <p:cNvSpPr/>
          <p:nvPr/>
        </p:nvSpPr>
        <p:spPr>
          <a:xfrm>
            <a:off x="1244994" y="3056632"/>
            <a:ext cx="65323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</a:rPr>
              <a:t>여기에 서명하세요</a:t>
            </a:r>
            <a:endParaRPr lang="en-US" sz="621" dirty="0"/>
          </a:p>
        </p:txBody>
      </p:sp>
      <p:sp>
        <p:nvSpPr>
          <p:cNvPr id="28" name="Shape 24"/>
          <p:cNvSpPr/>
          <p:nvPr/>
        </p:nvSpPr>
        <p:spPr>
          <a:xfrm>
            <a:off x="2400300" y="269140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5"/>
          <p:cNvSpPr/>
          <p:nvPr/>
        </p:nvSpPr>
        <p:spPr>
          <a:xfrm>
            <a:off x="2400300" y="269140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0" name="Shape 26"/>
          <p:cNvSpPr/>
          <p:nvPr/>
        </p:nvSpPr>
        <p:spPr>
          <a:xfrm>
            <a:off x="571500" y="3655814"/>
            <a:ext cx="2000250" cy="31611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7"/>
          <p:cNvSpPr/>
          <p:nvPr/>
        </p:nvSpPr>
        <p:spPr>
          <a:xfrm>
            <a:off x="571500" y="3655814"/>
            <a:ext cx="2000250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서명 완료 및 제출</a:t>
            </a:r>
            <a:endParaRPr lang="en-US" sz="683" dirty="0"/>
          </a:p>
        </p:txBody>
      </p:sp>
      <p:sp>
        <p:nvSpPr>
          <p:cNvPr id="32" name="Shape 28"/>
          <p:cNvSpPr/>
          <p:nvPr/>
        </p:nvSpPr>
        <p:spPr>
          <a:xfrm>
            <a:off x="571500" y="4150519"/>
            <a:ext cx="964406" cy="42148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81" y="4221956"/>
            <a:ext cx="114300" cy="1143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23010" y="4371975"/>
            <a:ext cx="45421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안면정보 등록</a:t>
            </a:r>
            <a:endParaRPr lang="en-US" sz="568" dirty="0"/>
          </a:p>
        </p:txBody>
      </p:sp>
      <p:sp>
        <p:nvSpPr>
          <p:cNvPr id="35" name="Shape 30"/>
          <p:cNvSpPr/>
          <p:nvPr/>
        </p:nvSpPr>
        <p:spPr>
          <a:xfrm>
            <a:off x="2578894" y="3929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6" name="Text 31"/>
          <p:cNvSpPr/>
          <p:nvPr/>
        </p:nvSpPr>
        <p:spPr>
          <a:xfrm>
            <a:off x="2578894" y="3929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37" name="Shape 32"/>
          <p:cNvSpPr/>
          <p:nvPr/>
        </p:nvSpPr>
        <p:spPr>
          <a:xfrm>
            <a:off x="1600200" y="4150519"/>
            <a:ext cx="971550" cy="42148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684" y="4236244"/>
            <a:ext cx="85725" cy="1143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908804" y="4386263"/>
            <a:ext cx="3614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급여명세서</a:t>
            </a:r>
            <a:endParaRPr lang="en-US" sz="568" dirty="0"/>
          </a:p>
        </p:txBody>
      </p:sp>
      <p:sp>
        <p:nvSpPr>
          <p:cNvPr id="40" name="Shape 34"/>
          <p:cNvSpPr/>
          <p:nvPr/>
        </p:nvSpPr>
        <p:spPr>
          <a:xfrm>
            <a:off x="2578894" y="3929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5"/>
          <p:cNvSpPr/>
          <p:nvPr/>
        </p:nvSpPr>
        <p:spPr>
          <a:xfrm>
            <a:off x="2578894" y="3929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42" name="Text 36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[노무자] 근로계약 및 안면 등록</a:t>
            </a:r>
            <a:endParaRPr lang="en-US" sz="1602" dirty="0"/>
          </a:p>
        </p:txBody>
      </p:sp>
      <p:sp>
        <p:nvSpPr>
          <p:cNvPr id="43" name="Text 37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전자 계약 체결 및 생체 인증 정보 등록 (Mobile App)</a:t>
            </a:r>
            <a:endParaRPr lang="en-US" sz="834" dirty="0"/>
          </a:p>
        </p:txBody>
      </p:sp>
      <p:sp>
        <p:nvSpPr>
          <p:cNvPr id="44" name="Shape 38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Shape 39"/>
          <p:cNvSpPr/>
          <p:nvPr/>
        </p:nvSpPr>
        <p:spPr>
          <a:xfrm>
            <a:off x="3429000" y="1637705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40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47" name="Shape 41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Shape 42"/>
          <p:cNvSpPr/>
          <p:nvPr/>
        </p:nvSpPr>
        <p:spPr>
          <a:xfrm>
            <a:off x="3786188" y="1637705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Text 43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UI Element</a:t>
            </a:r>
            <a:endParaRPr lang="en-US" sz="634" dirty="0"/>
          </a:p>
        </p:txBody>
      </p:sp>
      <p:sp>
        <p:nvSpPr>
          <p:cNvPr id="50" name="Shape 44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1" name="Shape 45"/>
          <p:cNvSpPr/>
          <p:nvPr/>
        </p:nvSpPr>
        <p:spPr>
          <a:xfrm>
            <a:off x="4643438" y="1637705"/>
            <a:ext cx="4071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" name="Text 46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53" name="Shape 47"/>
          <p:cNvSpPr/>
          <p:nvPr/>
        </p:nvSpPr>
        <p:spPr>
          <a:xfrm>
            <a:off x="3514725" y="173057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Text 48"/>
          <p:cNvSpPr/>
          <p:nvPr/>
        </p:nvSpPr>
        <p:spPr>
          <a:xfrm>
            <a:off x="3514725" y="17305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55" name="Text 49"/>
          <p:cNvSpPr/>
          <p:nvPr/>
        </p:nvSpPr>
        <p:spPr>
          <a:xfrm>
            <a:off x="3871913" y="1739503"/>
            <a:ext cx="4513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계약서 뷰어</a:t>
            </a:r>
            <a:endParaRPr lang="en-US" sz="634" dirty="0"/>
          </a:p>
        </p:txBody>
      </p:sp>
      <p:sp>
        <p:nvSpPr>
          <p:cNvPr id="56" name="Text 50"/>
          <p:cNvSpPr/>
          <p:nvPr/>
        </p:nvSpPr>
        <p:spPr>
          <a:xfrm>
            <a:off x="4729163" y="173057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react-native-pdf</a:t>
            </a:r>
            <a:endParaRPr lang="en-US" sz="674" dirty="0"/>
          </a:p>
        </p:txBody>
      </p:sp>
      <p:sp>
        <p:nvSpPr>
          <p:cNvPr id="57" name="Text 51"/>
          <p:cNvSpPr/>
          <p:nvPr/>
        </p:nvSpPr>
        <p:spPr>
          <a:xfrm>
            <a:off x="4729163" y="1857375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Source: S3 Presigned URL (PDF)</a:t>
            </a:r>
            <a:endParaRPr lang="en-US" sz="674" dirty="0"/>
          </a:p>
        </p:txBody>
      </p:sp>
      <p:sp>
        <p:nvSpPr>
          <p:cNvPr id="58" name="Text 52"/>
          <p:cNvSpPr/>
          <p:nvPr/>
        </p:nvSpPr>
        <p:spPr>
          <a:xfrm>
            <a:off x="4729163" y="1984177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UX: 스크롤 최하단 도달 시 서명 버튼 활성화</a:t>
            </a:r>
            <a:endParaRPr lang="en-US" sz="674" dirty="0"/>
          </a:p>
        </p:txBody>
      </p:sp>
      <p:sp>
        <p:nvSpPr>
          <p:cNvPr id="59" name="Shape 53"/>
          <p:cNvSpPr/>
          <p:nvPr/>
        </p:nvSpPr>
        <p:spPr>
          <a:xfrm>
            <a:off x="3514725" y="229850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0" name="Text 54"/>
          <p:cNvSpPr/>
          <p:nvPr/>
        </p:nvSpPr>
        <p:spPr>
          <a:xfrm>
            <a:off x="3514725" y="229850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61" name="Text 55"/>
          <p:cNvSpPr/>
          <p:nvPr/>
        </p:nvSpPr>
        <p:spPr>
          <a:xfrm>
            <a:off x="3871913" y="2307431"/>
            <a:ext cx="5609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전자 서명 패드</a:t>
            </a:r>
            <a:endParaRPr lang="en-US" sz="634" dirty="0"/>
          </a:p>
        </p:txBody>
      </p:sp>
      <p:sp>
        <p:nvSpPr>
          <p:cNvPr id="62" name="Text 56"/>
          <p:cNvSpPr/>
          <p:nvPr/>
        </p:nvSpPr>
        <p:spPr>
          <a:xfrm>
            <a:off x="4729163" y="2298502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react-native-signature-canvas</a:t>
            </a:r>
            <a:endParaRPr lang="en-US" sz="674" dirty="0"/>
          </a:p>
        </p:txBody>
      </p:sp>
      <p:sp>
        <p:nvSpPr>
          <p:cNvPr id="63" name="Text 57"/>
          <p:cNvSpPr/>
          <p:nvPr/>
        </p:nvSpPr>
        <p:spPr>
          <a:xfrm>
            <a:off x="4729163" y="242530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Output: Base64 PNG Image</a:t>
            </a:r>
            <a:endParaRPr lang="en-US" sz="674" dirty="0"/>
          </a:p>
        </p:txBody>
      </p:sp>
      <p:sp>
        <p:nvSpPr>
          <p:cNvPr id="64" name="Text 58"/>
          <p:cNvSpPr/>
          <p:nvPr/>
        </p:nvSpPr>
        <p:spPr>
          <a:xfrm>
            <a:off x="4729163" y="2552105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Process: 서명 이미지 + PDF 좌표 합성 (Backend)</a:t>
            </a:r>
            <a:endParaRPr lang="en-US" sz="674" dirty="0"/>
          </a:p>
        </p:txBody>
      </p:sp>
      <p:sp>
        <p:nvSpPr>
          <p:cNvPr id="65" name="Shape 59"/>
          <p:cNvSpPr/>
          <p:nvPr/>
        </p:nvSpPr>
        <p:spPr>
          <a:xfrm>
            <a:off x="3514725" y="286643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6" name="Text 60"/>
          <p:cNvSpPr/>
          <p:nvPr/>
        </p:nvSpPr>
        <p:spPr>
          <a:xfrm>
            <a:off x="3514725" y="286643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67" name="Text 61"/>
          <p:cNvSpPr/>
          <p:nvPr/>
        </p:nvSpPr>
        <p:spPr>
          <a:xfrm>
            <a:off x="3871913" y="2875359"/>
            <a:ext cx="53678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안면정보 등록</a:t>
            </a:r>
            <a:endParaRPr lang="en-US" sz="634" dirty="0"/>
          </a:p>
        </p:txBody>
      </p:sp>
      <p:sp>
        <p:nvSpPr>
          <p:cNvPr id="68" name="Text 62"/>
          <p:cNvSpPr/>
          <p:nvPr/>
        </p:nvSpPr>
        <p:spPr>
          <a:xfrm>
            <a:off x="4729163" y="2866430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Camera: 전면 카메라 활성화 (권한 요청)</a:t>
            </a:r>
            <a:endParaRPr lang="en-US" sz="674" dirty="0"/>
          </a:p>
        </p:txBody>
      </p:sp>
      <p:sp>
        <p:nvSpPr>
          <p:cNvPr id="69" name="Text 63"/>
          <p:cNvSpPr/>
          <p:nvPr/>
        </p:nvSpPr>
        <p:spPr>
          <a:xfrm>
            <a:off x="4729163" y="3002161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Guide: 타원형 가이드라인 표시 및 밝기 감지</a:t>
            </a:r>
            <a:endParaRPr lang="en-US" sz="674" dirty="0"/>
          </a:p>
        </p:txBody>
      </p:sp>
      <p:sp>
        <p:nvSpPr>
          <p:cNvPr id="70" name="Text 64"/>
          <p:cNvSpPr/>
          <p:nvPr/>
        </p:nvSpPr>
        <p:spPr>
          <a:xfrm>
            <a:off x="4729163" y="3137892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POST /api/v1/workers/face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(Multipart)</a:t>
            </a:r>
            <a:endParaRPr lang="en-US" sz="674" dirty="0"/>
          </a:p>
        </p:txBody>
      </p:sp>
      <p:sp>
        <p:nvSpPr>
          <p:cNvPr id="71" name="Shape 65"/>
          <p:cNvSpPr/>
          <p:nvPr/>
        </p:nvSpPr>
        <p:spPr>
          <a:xfrm>
            <a:off x="3514725" y="34432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2" name="Text 66"/>
          <p:cNvSpPr/>
          <p:nvPr/>
        </p:nvSpPr>
        <p:spPr>
          <a:xfrm>
            <a:off x="3514725" y="34432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73" name="Text 67"/>
          <p:cNvSpPr/>
          <p:nvPr/>
        </p:nvSpPr>
        <p:spPr>
          <a:xfrm>
            <a:off x="3871913" y="3452217"/>
            <a:ext cx="4272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급여명세서</a:t>
            </a:r>
            <a:endParaRPr lang="en-US" sz="634" dirty="0"/>
          </a:p>
        </p:txBody>
      </p:sp>
      <p:sp>
        <p:nvSpPr>
          <p:cNvPr id="74" name="Text 68"/>
          <p:cNvSpPr/>
          <p:nvPr/>
        </p:nvSpPr>
        <p:spPr>
          <a:xfrm>
            <a:off x="4729163" y="3443288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List: 월별 급여 지급 내역 리스트</a:t>
            </a:r>
            <a:endParaRPr lang="en-US" sz="674" dirty="0"/>
          </a:p>
        </p:txBody>
      </p:sp>
      <p:sp>
        <p:nvSpPr>
          <p:cNvPr id="75" name="Text 69"/>
          <p:cNvSpPr/>
          <p:nvPr/>
        </p:nvSpPr>
        <p:spPr>
          <a:xfrm>
            <a:off x="4729163" y="3579019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Detail: PDF 다운로드 및 공유 기능</a:t>
            </a:r>
            <a:endParaRPr lang="en-US" sz="674" dirty="0"/>
          </a:p>
        </p:txBody>
      </p:sp>
      <p:sp>
        <p:nvSpPr>
          <p:cNvPr id="76" name="Text 70"/>
          <p:cNvSpPr/>
          <p:nvPr/>
        </p:nvSpPr>
        <p:spPr>
          <a:xfrm>
            <a:off x="4729163" y="3714750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Security: 비밀번호(생년월일) 입력 후 열람</a:t>
            </a:r>
            <a:endParaRPr lang="en-US" sz="674" dirty="0"/>
          </a:p>
        </p:txBody>
      </p:sp>
      <p:sp>
        <p:nvSpPr>
          <p:cNvPr id="77" name="Shape 71"/>
          <p:cNvSpPr/>
          <p:nvPr/>
        </p:nvSpPr>
        <p:spPr>
          <a:xfrm>
            <a:off x="3429000" y="4079081"/>
            <a:ext cx="5286375" cy="609005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7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156" y="4211241"/>
            <a:ext cx="85725" cy="85725"/>
          </a:xfrm>
          <a:prstGeom prst="rect">
            <a:avLst/>
          </a:prstGeom>
        </p:spPr>
      </p:pic>
      <p:sp>
        <p:nvSpPr>
          <p:cNvPr id="79" name="Text 72"/>
          <p:cNvSpPr/>
          <p:nvPr/>
        </p:nvSpPr>
        <p:spPr>
          <a:xfrm>
            <a:off x="3621881" y="4196953"/>
            <a:ext cx="100129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보안 및 법적 효력 기술 구현</a:t>
            </a:r>
            <a:endParaRPr lang="en-US" sz="584" dirty="0"/>
          </a:p>
        </p:txBody>
      </p:sp>
      <p:sp>
        <p:nvSpPr>
          <p:cNvPr id="80" name="Text 73"/>
          <p:cNvSpPr/>
          <p:nvPr/>
        </p:nvSpPr>
        <p:spPr>
          <a:xfrm>
            <a:off x="3536156" y="4323755"/>
            <a:ext cx="49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</a:t>
            </a:r>
            <a:endParaRPr lang="en-US" sz="621" dirty="0"/>
          </a:p>
        </p:txBody>
      </p:sp>
      <p:sp>
        <p:nvSpPr>
          <p:cNvPr id="81" name="Text 74"/>
          <p:cNvSpPr/>
          <p:nvPr/>
        </p:nvSpPr>
        <p:spPr>
          <a:xfrm>
            <a:off x="3586051" y="4323755"/>
            <a:ext cx="5743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전자서명법 준수</a:t>
            </a:r>
            <a:endParaRPr lang="en-US" sz="584" dirty="0"/>
          </a:p>
        </p:txBody>
      </p:sp>
      <p:sp>
        <p:nvSpPr>
          <p:cNvPr id="82" name="Text 75"/>
          <p:cNvSpPr/>
          <p:nvPr/>
        </p:nvSpPr>
        <p:spPr>
          <a:xfrm>
            <a:off x="4160425" y="4323755"/>
            <a:ext cx="43439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: 서명 시점의 타임스탬프(TSA)와 접속 IP, 기기정보를 메타데이터로 함께 저장하여 부인 방지(Non-repudiation) 기능 구현.</a:t>
            </a:r>
            <a:endParaRPr lang="en-US" sz="621" dirty="0"/>
          </a:p>
        </p:txBody>
      </p:sp>
      <p:sp>
        <p:nvSpPr>
          <p:cNvPr id="83" name="Text 76"/>
          <p:cNvSpPr/>
          <p:nvPr/>
        </p:nvSpPr>
        <p:spPr>
          <a:xfrm>
            <a:off x="3536156" y="4450556"/>
            <a:ext cx="49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</a:t>
            </a:r>
            <a:endParaRPr lang="en-US" sz="621" dirty="0"/>
          </a:p>
        </p:txBody>
      </p:sp>
      <p:sp>
        <p:nvSpPr>
          <p:cNvPr id="84" name="Text 77"/>
          <p:cNvSpPr/>
          <p:nvPr/>
        </p:nvSpPr>
        <p:spPr>
          <a:xfrm>
            <a:off x="3586051" y="4450556"/>
            <a:ext cx="5966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안면 데이터 보호</a:t>
            </a:r>
            <a:endParaRPr lang="en-US" sz="584" dirty="0"/>
          </a:p>
        </p:txBody>
      </p:sp>
      <p:sp>
        <p:nvSpPr>
          <p:cNvPr id="85" name="Text 78"/>
          <p:cNvSpPr/>
          <p:nvPr/>
        </p:nvSpPr>
        <p:spPr>
          <a:xfrm>
            <a:off x="4182721" y="4450556"/>
            <a:ext cx="39065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: 원본 이미지는 즉시 폐기하고, FaceNet으로 추출한 128차원 임베딩 벡터만 암호화(AES-256)하여 DB에 저장.</a:t>
            </a:r>
            <a:endParaRPr lang="en-US" sz="62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6983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119783"/>
            <a:ext cx="85725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B981"/>
                </a:solidFill>
              </a:rPr>
              <a:t>공통 기술 명세 및 보안 가이드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285750" y="859036"/>
            <a:ext cx="85725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안정적이고 안전한 서비스 운영을 위한 핵심 기술 구현 전략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285750" y="1262658"/>
            <a:ext cx="2046684" cy="368081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4338" y="1434108"/>
            <a:ext cx="326101" cy="32861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3" y="1484114"/>
            <a:ext cx="160734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4388" y="1444823"/>
            <a:ext cx="1388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멀티테넌트 데이터 격리</a:t>
            </a:r>
            <a:endParaRPr lang="en-US" sz="987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8" y="1884164"/>
            <a:ext cx="85725" cy="85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7213" y="1866305"/>
            <a:ext cx="1245357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Shared Database, Shared Schema</a:t>
            </a:r>
            <a:endParaRPr lang="en-US" sz="683" dirty="0"/>
          </a:p>
        </p:txBody>
      </p:sp>
      <p:sp>
        <p:nvSpPr>
          <p:cNvPr id="13" name="Text 8"/>
          <p:cNvSpPr/>
          <p:nvPr/>
        </p:nvSpPr>
        <p:spPr>
          <a:xfrm>
            <a:off x="557213" y="2186322"/>
            <a:ext cx="6040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모든 테이블에</a:t>
            </a:r>
            <a:endParaRPr lang="en-US" sz="727" dirty="0"/>
          </a:p>
        </p:txBody>
      </p:sp>
      <p:sp>
        <p:nvSpPr>
          <p:cNvPr id="14" name="Text 9"/>
          <p:cNvSpPr/>
          <p:nvPr/>
        </p:nvSpPr>
        <p:spPr>
          <a:xfrm>
            <a:off x="1161306" y="2186322"/>
            <a:ext cx="4400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tenant_id</a:t>
            </a:r>
            <a:endParaRPr lang="en-US" sz="727" dirty="0"/>
          </a:p>
        </p:txBody>
      </p:sp>
      <p:sp>
        <p:nvSpPr>
          <p:cNvPr id="15" name="Text 10"/>
          <p:cNvSpPr/>
          <p:nvPr/>
        </p:nvSpPr>
        <p:spPr>
          <a:xfrm>
            <a:off x="557213" y="2186322"/>
            <a:ext cx="1556249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컬럼 추가하여 논리적 격리</a:t>
            </a:r>
            <a:endParaRPr lang="en-US" sz="727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8" y="2581349"/>
            <a:ext cx="85725" cy="857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213" y="2563490"/>
            <a:ext cx="10033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Hibernate Filter 적용</a:t>
            </a:r>
            <a:endParaRPr lang="en-US" sz="683" dirty="0"/>
          </a:p>
        </p:txBody>
      </p:sp>
      <p:sp>
        <p:nvSpPr>
          <p:cNvPr id="18" name="Text 12"/>
          <p:cNvSpPr/>
          <p:nvPr/>
        </p:nvSpPr>
        <p:spPr>
          <a:xfrm>
            <a:off x="557213" y="2723499"/>
            <a:ext cx="13799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Global Filter를 통해 모든 쿼리에</a:t>
            </a:r>
            <a:endParaRPr lang="en-US" sz="727" dirty="0"/>
          </a:p>
        </p:txBody>
      </p:sp>
      <p:sp>
        <p:nvSpPr>
          <p:cNvPr id="19" name="Text 13"/>
          <p:cNvSpPr/>
          <p:nvPr/>
        </p:nvSpPr>
        <p:spPr>
          <a:xfrm>
            <a:off x="557213" y="2883508"/>
            <a:ext cx="9592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WHERE tenant_id = ?</a:t>
            </a:r>
            <a:endParaRPr lang="en-US" sz="727" dirty="0"/>
          </a:p>
        </p:txBody>
      </p:sp>
      <p:sp>
        <p:nvSpPr>
          <p:cNvPr id="20" name="Text 14"/>
          <p:cNvSpPr/>
          <p:nvPr/>
        </p:nvSpPr>
        <p:spPr>
          <a:xfrm>
            <a:off x="1516456" y="2883508"/>
            <a:ext cx="4200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자동 주입</a:t>
            </a:r>
            <a:endParaRPr lang="en-US" sz="727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38" y="3118526"/>
            <a:ext cx="85725" cy="857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7213" y="3100667"/>
            <a:ext cx="10887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Context Management</a:t>
            </a:r>
            <a:endParaRPr lang="en-US" sz="683" dirty="0"/>
          </a:p>
        </p:txBody>
      </p:sp>
      <p:sp>
        <p:nvSpPr>
          <p:cNvPr id="23" name="Text 16"/>
          <p:cNvSpPr/>
          <p:nvPr/>
        </p:nvSpPr>
        <p:spPr>
          <a:xfrm>
            <a:off x="557213" y="3260675"/>
            <a:ext cx="5735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ThreadLocal</a:t>
            </a:r>
            <a:endParaRPr lang="en-US" sz="727" dirty="0"/>
          </a:p>
        </p:txBody>
      </p:sp>
      <p:sp>
        <p:nvSpPr>
          <p:cNvPr id="24" name="Text 17"/>
          <p:cNvSpPr/>
          <p:nvPr/>
        </p:nvSpPr>
        <p:spPr>
          <a:xfrm>
            <a:off x="557213" y="3260675"/>
            <a:ext cx="1571737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을 사용하여 요청별 테넌트 컨텍스트 안전 관리</a:t>
            </a:r>
            <a:endParaRPr lang="en-US" sz="727" dirty="0"/>
          </a:p>
        </p:txBody>
      </p:sp>
      <p:sp>
        <p:nvSpPr>
          <p:cNvPr id="25" name="Shape 18"/>
          <p:cNvSpPr/>
          <p:nvPr/>
        </p:nvSpPr>
        <p:spPr>
          <a:xfrm>
            <a:off x="2075259" y="1362670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19"/>
          <p:cNvSpPr/>
          <p:nvPr/>
        </p:nvSpPr>
        <p:spPr>
          <a:xfrm>
            <a:off x="2075259" y="13626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1</a:t>
            </a:r>
            <a:endParaRPr lang="en-US" sz="634" dirty="0"/>
          </a:p>
        </p:txBody>
      </p:sp>
      <p:sp>
        <p:nvSpPr>
          <p:cNvPr id="27" name="Shape 20"/>
          <p:cNvSpPr/>
          <p:nvPr/>
        </p:nvSpPr>
        <p:spPr>
          <a:xfrm>
            <a:off x="2461022" y="1262658"/>
            <a:ext cx="2046684" cy="368081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2589609" y="1391245"/>
            <a:ext cx="328613" cy="328613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2478" y="1484114"/>
            <a:ext cx="128588" cy="1285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989659" y="1444823"/>
            <a:ext cx="129447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보안 및 개인정보 보호</a:t>
            </a:r>
            <a:endParaRPr lang="en-US" sz="987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9609" y="1884164"/>
            <a:ext cx="75009" cy="8572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721769" y="1855589"/>
            <a:ext cx="1657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PII 암호화 (AES-256)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주민번호, 계좌번호 등 민감 정보는 DB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저장 시 암호화 필수</a:t>
            </a:r>
            <a:endParaRPr lang="en-US" sz="683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9609" y="2421341"/>
            <a:ext cx="75009" cy="8572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2721769" y="2392766"/>
            <a:ext cx="1657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안면 정보 보호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원본 이미지는 즉시 삭제, 추출된 임베딩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벡터만 암호화 저장</a:t>
            </a:r>
            <a:endParaRPr lang="en-US" sz="683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89609" y="2958517"/>
            <a:ext cx="85725" cy="8572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2732484" y="2929942"/>
            <a:ext cx="164663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JWT 인증 &amp; RBAC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Access(30m)/Refresh(7d) Token 및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URL별 권한 제어</a:t>
            </a:r>
            <a:endParaRPr lang="en-US" sz="683" dirty="0"/>
          </a:p>
        </p:txBody>
      </p:sp>
      <p:sp>
        <p:nvSpPr>
          <p:cNvPr id="37" name="Shape 26"/>
          <p:cNvSpPr/>
          <p:nvPr/>
        </p:nvSpPr>
        <p:spPr>
          <a:xfrm>
            <a:off x="4250531" y="1362670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27"/>
          <p:cNvSpPr/>
          <p:nvPr/>
        </p:nvSpPr>
        <p:spPr>
          <a:xfrm>
            <a:off x="4250531" y="13626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2</a:t>
            </a:r>
            <a:endParaRPr lang="en-US" sz="634" dirty="0"/>
          </a:p>
        </p:txBody>
      </p:sp>
      <p:sp>
        <p:nvSpPr>
          <p:cNvPr id="39" name="Shape 28"/>
          <p:cNvSpPr/>
          <p:nvPr/>
        </p:nvSpPr>
        <p:spPr>
          <a:xfrm>
            <a:off x="4636294" y="1262658"/>
            <a:ext cx="2046684" cy="368081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4764881" y="1391245"/>
            <a:ext cx="328613" cy="328613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9713" y="1484114"/>
            <a:ext cx="144661" cy="12858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164931" y="1444823"/>
            <a:ext cx="994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성능 최적화 전략</a:t>
            </a:r>
            <a:endParaRPr lang="en-US" sz="987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4881" y="1884164"/>
            <a:ext cx="64294" cy="8572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4886325" y="1855589"/>
            <a:ext cx="16680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Redis Caching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대시보드 통계, 공통 코드 등 빈번한 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회 데이터 캐싱</a:t>
            </a:r>
            <a:endParaRPr lang="en-US" sz="683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4881" y="2421341"/>
            <a:ext cx="75009" cy="85725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4897041" y="2403481"/>
            <a:ext cx="12289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DB Indexing &amp; QueryDSL</a:t>
            </a:r>
            <a:endParaRPr lang="en-US" sz="683" dirty="0"/>
          </a:p>
        </p:txBody>
      </p:sp>
      <p:sp>
        <p:nvSpPr>
          <p:cNvPr id="47" name="Text 33"/>
          <p:cNvSpPr/>
          <p:nvPr/>
        </p:nvSpPr>
        <p:spPr>
          <a:xfrm>
            <a:off x="4897041" y="2563490"/>
            <a:ext cx="5160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복합 인덱스(</a:t>
            </a:r>
            <a:endParaRPr lang="en-US" sz="727" dirty="0"/>
          </a:p>
        </p:txBody>
      </p:sp>
      <p:sp>
        <p:nvSpPr>
          <p:cNvPr id="48" name="Text 34"/>
          <p:cNvSpPr/>
          <p:nvPr/>
        </p:nvSpPr>
        <p:spPr>
          <a:xfrm>
            <a:off x="5413121" y="2563490"/>
            <a:ext cx="1039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tenant_id + created_at</a:t>
            </a:r>
            <a:endParaRPr lang="en-US" sz="727" dirty="0"/>
          </a:p>
        </p:txBody>
      </p:sp>
      <p:sp>
        <p:nvSpPr>
          <p:cNvPr id="49" name="Text 35"/>
          <p:cNvSpPr/>
          <p:nvPr/>
        </p:nvSpPr>
        <p:spPr>
          <a:xfrm>
            <a:off x="4897041" y="2563490"/>
            <a:ext cx="1585857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) 및 동적 쿼리 최적화</a:t>
            </a:r>
            <a:endParaRPr lang="en-US" sz="727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4881" y="2958517"/>
            <a:ext cx="85725" cy="85725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4907756" y="2929942"/>
            <a:ext cx="164663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Image Optimization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Client-side 압축(WebP) 및 S3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CloudFront CDN 활용</a:t>
            </a:r>
            <a:endParaRPr lang="en-US" sz="683" dirty="0"/>
          </a:p>
        </p:txBody>
      </p:sp>
      <p:sp>
        <p:nvSpPr>
          <p:cNvPr id="52" name="Shape 37"/>
          <p:cNvSpPr/>
          <p:nvPr/>
        </p:nvSpPr>
        <p:spPr>
          <a:xfrm>
            <a:off x="6425803" y="1362670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3" name="Text 38"/>
          <p:cNvSpPr/>
          <p:nvPr/>
        </p:nvSpPr>
        <p:spPr>
          <a:xfrm>
            <a:off x="6425803" y="13626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3</a:t>
            </a:r>
            <a:endParaRPr lang="en-US" sz="634" dirty="0"/>
          </a:p>
        </p:txBody>
      </p:sp>
      <p:sp>
        <p:nvSpPr>
          <p:cNvPr id="54" name="Shape 39"/>
          <p:cNvSpPr/>
          <p:nvPr/>
        </p:nvSpPr>
        <p:spPr>
          <a:xfrm>
            <a:off x="6811566" y="1262658"/>
            <a:ext cx="2046684" cy="368081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6940153" y="1391245"/>
            <a:ext cx="328613" cy="328613"/>
          </a:xfrm>
          <a:prstGeom prst="rect">
            <a:avLst/>
          </a:prstGeom>
          <a:solidFill>
            <a:srgbClr val="F59E0B">
              <a:alpha val="10000"/>
            </a:srgbClr>
          </a:solidFill>
          <a:ln w="9144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33022" y="1484114"/>
            <a:ext cx="128588" cy="128588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7340203" y="1444823"/>
            <a:ext cx="9572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배포 체크리스트</a:t>
            </a:r>
            <a:endParaRPr lang="en-US" sz="987" dirty="0"/>
          </a:p>
        </p:txBody>
      </p:sp>
      <p:sp>
        <p:nvSpPr>
          <p:cNvPr id="58" name="Shape 42"/>
          <p:cNvSpPr/>
          <p:nvPr/>
        </p:nvSpPr>
        <p:spPr>
          <a:xfrm>
            <a:off x="6940153" y="1855589"/>
            <a:ext cx="1789509" cy="288596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9" name="Text 43"/>
          <p:cNvSpPr/>
          <p:nvPr/>
        </p:nvSpPr>
        <p:spPr>
          <a:xfrm>
            <a:off x="7211616" y="1912739"/>
            <a:ext cx="126316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SSL/TLS 인증서 적용 (HTTPS)</a:t>
            </a:r>
            <a:endParaRPr lang="en-US" sz="727" dirty="0"/>
          </a:p>
        </p:txBody>
      </p:sp>
      <p:sp>
        <p:nvSpPr>
          <p:cNvPr id="60" name="Shape 44"/>
          <p:cNvSpPr/>
          <p:nvPr/>
        </p:nvSpPr>
        <p:spPr>
          <a:xfrm>
            <a:off x="6940153" y="2172760"/>
            <a:ext cx="1789509" cy="448605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1" name="Text 45"/>
          <p:cNvSpPr/>
          <p:nvPr/>
        </p:nvSpPr>
        <p:spPr>
          <a:xfrm>
            <a:off x="7208769" y="2229910"/>
            <a:ext cx="146374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CORS 정책 설정 (Allowed Origins)</a:t>
            </a:r>
            <a:endParaRPr lang="en-US" sz="727" dirty="0"/>
          </a:p>
        </p:txBody>
      </p:sp>
      <p:sp>
        <p:nvSpPr>
          <p:cNvPr id="62" name="Shape 46"/>
          <p:cNvSpPr/>
          <p:nvPr/>
        </p:nvSpPr>
        <p:spPr>
          <a:xfrm>
            <a:off x="6940153" y="2649941"/>
            <a:ext cx="1789509" cy="288596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3" name="Text 47"/>
          <p:cNvSpPr/>
          <p:nvPr/>
        </p:nvSpPr>
        <p:spPr>
          <a:xfrm>
            <a:off x="7211616" y="2707091"/>
            <a:ext cx="136138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API Rate Limiting (DDoS 방지)</a:t>
            </a:r>
            <a:endParaRPr lang="en-US" sz="727" dirty="0"/>
          </a:p>
        </p:txBody>
      </p:sp>
      <p:sp>
        <p:nvSpPr>
          <p:cNvPr id="64" name="Shape 48"/>
          <p:cNvSpPr/>
          <p:nvPr/>
        </p:nvSpPr>
        <p:spPr>
          <a:xfrm>
            <a:off x="6940153" y="2967112"/>
            <a:ext cx="1789509" cy="288596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5" name="Text 49"/>
          <p:cNvSpPr/>
          <p:nvPr/>
        </p:nvSpPr>
        <p:spPr>
          <a:xfrm>
            <a:off x="7211616" y="3024262"/>
            <a:ext cx="126988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DB 정기 백업 스케줄링 (Daily)</a:t>
            </a:r>
            <a:endParaRPr lang="en-US" sz="727" dirty="0"/>
          </a:p>
        </p:txBody>
      </p:sp>
      <p:sp>
        <p:nvSpPr>
          <p:cNvPr id="66" name="Shape 50"/>
          <p:cNvSpPr/>
          <p:nvPr/>
        </p:nvSpPr>
        <p:spPr>
          <a:xfrm>
            <a:off x="8601075" y="1362670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7" name="Text 51"/>
          <p:cNvSpPr/>
          <p:nvPr/>
        </p:nvSpPr>
        <p:spPr>
          <a:xfrm>
            <a:off x="8601075" y="13626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4</a:t>
            </a:r>
            <a:endParaRPr lang="en-US" sz="6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2026-01-19T04:48:42Z</dcterms:created>
  <dcterms:modified xsi:type="dcterms:W3CDTF">2026-01-19T04:48:42Z</dcterms:modified>
</cp:coreProperties>
</file>