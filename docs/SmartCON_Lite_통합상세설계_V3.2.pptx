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970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38468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3B82F6"/>
                </a:solidFill>
              </a:rPr>
              <a:t>SmartCON Lite 통합 상세설계 개요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85750" y="998339"/>
            <a:ext cx="85725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94A3B8"/>
                </a:solidFill>
              </a:rPr>
              <a:t>건설 현장 통합 노무 관리 솔루션 V3.2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68946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213" y="1532334"/>
            <a:ext cx="178484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Platform Strategy</a:t>
            </a:r>
            <a:endParaRPr lang="en-US" sz="1397" dirty="0"/>
          </a:p>
        </p:txBody>
      </p:sp>
      <p:sp>
        <p:nvSpPr>
          <p:cNvPr id="9" name="Shape 5"/>
          <p:cNvSpPr/>
          <p:nvPr/>
        </p:nvSpPr>
        <p:spPr>
          <a:xfrm>
            <a:off x="285750" y="1948458"/>
            <a:ext cx="4229100" cy="110689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1948458"/>
            <a:ext cx="35719" cy="110689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2034183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375" y="2051149"/>
            <a:ext cx="1618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PC Web (Management)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71475" y="2334220"/>
            <a:ext cx="40576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대화면을 활용한 데이터 그리드, 차트, 복합 관리 기능 제공.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 관리자의 생산성 극대화를 위한 키보드 단축키 및 멀티 윈도우 지원.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71475" y="2757097"/>
            <a:ext cx="602363" cy="212527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71475" y="2757097"/>
            <a:ext cx="602363" cy="212527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본사 관리자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1016701" y="2757097"/>
            <a:ext cx="602363" cy="212527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16701" y="2757097"/>
            <a:ext cx="602363" cy="212527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현장 관리자</a:t>
            </a:r>
            <a:endParaRPr lang="en-US" sz="621" dirty="0"/>
          </a:p>
        </p:txBody>
      </p:sp>
      <p:sp>
        <p:nvSpPr>
          <p:cNvPr id="18" name="Shape 13"/>
          <p:cNvSpPr/>
          <p:nvPr/>
        </p:nvSpPr>
        <p:spPr>
          <a:xfrm>
            <a:off x="285750" y="3126786"/>
            <a:ext cx="4229100" cy="110689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285750" y="3126786"/>
            <a:ext cx="35719" cy="1106891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3212511"/>
            <a:ext cx="1714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650" y="3229477"/>
            <a:ext cx="20044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Mobile Web/App (Execution)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371475" y="3512548"/>
            <a:ext cx="40576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현장 이동성을 고려한 터치 최적화 UI 및 네이티브 기능 활용.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 GPS, 카메라, 푸시 알림 등 하드웨어 연동 필수 기능 탑재.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371475" y="3935425"/>
            <a:ext cx="602363" cy="212527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71475" y="3935425"/>
            <a:ext cx="602363" cy="212527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현장 관리자</a:t>
            </a:r>
            <a:endParaRPr lang="en-US" sz="621" dirty="0"/>
          </a:p>
        </p:txBody>
      </p:sp>
      <p:sp>
        <p:nvSpPr>
          <p:cNvPr id="25" name="Shape 19"/>
          <p:cNvSpPr/>
          <p:nvPr/>
        </p:nvSpPr>
        <p:spPr>
          <a:xfrm>
            <a:off x="1016701" y="3935425"/>
            <a:ext cx="343486" cy="212527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16701" y="3935425"/>
            <a:ext cx="343486" cy="212527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팀장</a:t>
            </a:r>
            <a:endParaRPr lang="en-US" sz="621" dirty="0"/>
          </a:p>
        </p:txBody>
      </p:sp>
      <p:sp>
        <p:nvSpPr>
          <p:cNvPr id="27" name="Shape 21"/>
          <p:cNvSpPr/>
          <p:nvPr/>
        </p:nvSpPr>
        <p:spPr>
          <a:xfrm>
            <a:off x="1403049" y="3935425"/>
            <a:ext cx="422346" cy="212527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403049" y="3935425"/>
            <a:ext cx="422346" cy="212527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노무자</a:t>
            </a:r>
            <a:endParaRPr lang="en-US" sz="621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568946"/>
            <a:ext cx="250031" cy="2000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950619" y="1532334"/>
            <a:ext cx="105094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Tech Stack</a:t>
            </a:r>
            <a:endParaRPr lang="en-US" sz="1397" dirty="0"/>
          </a:p>
        </p:txBody>
      </p:sp>
      <p:sp>
        <p:nvSpPr>
          <p:cNvPr id="31" name="Shape 24"/>
          <p:cNvSpPr/>
          <p:nvPr/>
        </p:nvSpPr>
        <p:spPr>
          <a:xfrm>
            <a:off x="4629150" y="2005608"/>
            <a:ext cx="2085975" cy="326827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097584"/>
            <a:ext cx="171450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957763" y="2091333"/>
            <a:ext cx="1122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React / React Native</a:t>
            </a:r>
            <a:endParaRPr lang="en-US" sz="784" dirty="0"/>
          </a:p>
        </p:txBody>
      </p:sp>
      <p:sp>
        <p:nvSpPr>
          <p:cNvPr id="34" name="Shape 26"/>
          <p:cNvSpPr/>
          <p:nvPr/>
        </p:nvSpPr>
        <p:spPr>
          <a:xfrm>
            <a:off x="6772275" y="2005608"/>
            <a:ext cx="2085975" cy="326827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097584"/>
            <a:ext cx="171450" cy="14287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00888" y="2091333"/>
            <a:ext cx="845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Spring Boot 3.x</a:t>
            </a:r>
            <a:endParaRPr lang="en-US" sz="784" dirty="0"/>
          </a:p>
        </p:txBody>
      </p:sp>
      <p:sp>
        <p:nvSpPr>
          <p:cNvPr id="37" name="Shape 28"/>
          <p:cNvSpPr/>
          <p:nvPr/>
        </p:nvSpPr>
        <p:spPr>
          <a:xfrm>
            <a:off x="4629150" y="2389584"/>
            <a:ext cx="2085975" cy="326827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481560"/>
            <a:ext cx="171450" cy="14287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57763" y="2475309"/>
            <a:ext cx="10507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PostgreSQL / Redis</a:t>
            </a:r>
            <a:endParaRPr lang="en-US" sz="784" dirty="0"/>
          </a:p>
        </p:txBody>
      </p:sp>
      <p:sp>
        <p:nvSpPr>
          <p:cNvPr id="40" name="Shape 30"/>
          <p:cNvSpPr/>
          <p:nvPr/>
        </p:nvSpPr>
        <p:spPr>
          <a:xfrm>
            <a:off x="6772275" y="2389584"/>
            <a:ext cx="2085975" cy="326827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481560"/>
            <a:ext cx="171450" cy="14287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100888" y="2475309"/>
            <a:ext cx="10217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AWS (EC2, S3, RDS)</a:t>
            </a:r>
            <a:endParaRPr lang="en-US" sz="784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9150" y="2895898"/>
            <a:ext cx="225028" cy="20002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925616" y="2859286"/>
            <a:ext cx="237912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Development Milestone</a:t>
            </a:r>
            <a:endParaRPr lang="en-US" sz="1397" dirty="0"/>
          </a:p>
        </p:txBody>
      </p:sp>
      <p:sp>
        <p:nvSpPr>
          <p:cNvPr id="45" name="Shape 33"/>
          <p:cNvSpPr/>
          <p:nvPr/>
        </p:nvSpPr>
        <p:spPr>
          <a:xfrm>
            <a:off x="4629150" y="3332559"/>
            <a:ext cx="4229100" cy="12144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34"/>
          <p:cNvSpPr/>
          <p:nvPr/>
        </p:nvSpPr>
        <p:spPr>
          <a:xfrm>
            <a:off x="4757738" y="3461147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2026.01.20</a:t>
            </a:r>
            <a:endParaRPr lang="en-US" sz="885" dirty="0"/>
          </a:p>
        </p:txBody>
      </p:sp>
      <p:sp>
        <p:nvSpPr>
          <p:cNvPr id="47" name="Text 35"/>
          <p:cNvSpPr/>
          <p:nvPr/>
        </p:nvSpPr>
        <p:spPr>
          <a:xfrm>
            <a:off x="5786438" y="3466505"/>
            <a:ext cx="29432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상세 설계 및 UI/UX 확정 (V3.2)</a:t>
            </a:r>
            <a:endParaRPr lang="en-US" sz="834" dirty="0"/>
          </a:p>
        </p:txBody>
      </p:sp>
      <p:sp>
        <p:nvSpPr>
          <p:cNvPr id="48" name="Text 36"/>
          <p:cNvSpPr/>
          <p:nvPr/>
        </p:nvSpPr>
        <p:spPr>
          <a:xfrm>
            <a:off x="4757738" y="3721894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2026.02.01</a:t>
            </a:r>
            <a:endParaRPr lang="en-US" sz="885" dirty="0"/>
          </a:p>
        </p:txBody>
      </p:sp>
      <p:sp>
        <p:nvSpPr>
          <p:cNvPr id="49" name="Text 37"/>
          <p:cNvSpPr/>
          <p:nvPr/>
        </p:nvSpPr>
        <p:spPr>
          <a:xfrm>
            <a:off x="5786438" y="3727252"/>
            <a:ext cx="29432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핵심 기능 개발 (인증, 출역, 계약)</a:t>
            </a:r>
            <a:endParaRPr lang="en-US" sz="834" dirty="0"/>
          </a:p>
        </p:txBody>
      </p:sp>
      <p:sp>
        <p:nvSpPr>
          <p:cNvPr id="50" name="Text 38"/>
          <p:cNvSpPr/>
          <p:nvPr/>
        </p:nvSpPr>
        <p:spPr>
          <a:xfrm>
            <a:off x="4757738" y="3982641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2026.02.10</a:t>
            </a:r>
            <a:endParaRPr lang="en-US" sz="885" dirty="0"/>
          </a:p>
        </p:txBody>
      </p:sp>
      <p:sp>
        <p:nvSpPr>
          <p:cNvPr id="51" name="Text 39"/>
          <p:cNvSpPr/>
          <p:nvPr/>
        </p:nvSpPr>
        <p:spPr>
          <a:xfrm>
            <a:off x="5786438" y="3987998"/>
            <a:ext cx="29432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통합 테스트 및 버그 수정</a:t>
            </a:r>
            <a:endParaRPr lang="en-US" sz="834" dirty="0"/>
          </a:p>
        </p:txBody>
      </p:sp>
      <p:sp>
        <p:nvSpPr>
          <p:cNvPr id="52" name="Text 40"/>
          <p:cNvSpPr/>
          <p:nvPr/>
        </p:nvSpPr>
        <p:spPr>
          <a:xfrm>
            <a:off x="4757738" y="4243388"/>
            <a:ext cx="714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2026.02.16</a:t>
            </a:r>
            <a:endParaRPr lang="en-US" sz="885" dirty="0"/>
          </a:p>
        </p:txBody>
      </p:sp>
      <p:sp>
        <p:nvSpPr>
          <p:cNvPr id="53" name="Text 41"/>
          <p:cNvSpPr/>
          <p:nvPr/>
        </p:nvSpPr>
        <p:spPr>
          <a:xfrm>
            <a:off x="5786438" y="4253210"/>
            <a:ext cx="2943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Service Launch (Target)</a:t>
            </a:r>
            <a:endParaRPr lang="en-US" sz="784" dirty="0"/>
          </a:p>
        </p:txBody>
      </p:sp>
      <p:sp>
        <p:nvSpPr>
          <p:cNvPr id="54" name="Shape 42"/>
          <p:cNvSpPr/>
          <p:nvPr/>
        </p:nvSpPr>
        <p:spPr>
          <a:xfrm>
            <a:off x="285750" y="4772025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5" name="Shape 43"/>
          <p:cNvSpPr/>
          <p:nvPr/>
        </p:nvSpPr>
        <p:spPr>
          <a:xfrm>
            <a:off x="285750" y="4772025"/>
            <a:ext cx="8572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" name="Text 44"/>
          <p:cNvSpPr/>
          <p:nvPr/>
        </p:nvSpPr>
        <p:spPr>
          <a:xfrm>
            <a:off x="285750" y="4864894"/>
            <a:ext cx="17679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SmartCON Lite Detailed Design Guide</a:t>
            </a:r>
            <a:endParaRPr lang="en-US" sz="727" dirty="0"/>
          </a:p>
        </p:txBody>
      </p:sp>
      <p:sp>
        <p:nvSpPr>
          <p:cNvPr id="57" name="Text 45"/>
          <p:cNvSpPr/>
          <p:nvPr/>
        </p:nvSpPr>
        <p:spPr>
          <a:xfrm>
            <a:off x="7710088" y="4864894"/>
            <a:ext cx="11481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Version 3.2 | 2026-01-20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회원가입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428625" y="785813"/>
            <a:ext cx="2286000" cy="285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957263"/>
            <a:ext cx="20002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본인인증을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진행해주세요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571500" y="1585913"/>
            <a:ext cx="2000250" cy="373261"/>
          </a:xfrm>
          <a:prstGeom prst="rect">
            <a:avLst/>
          </a:prstGeom>
          <a:solidFill>
            <a:srgbClr val="EFF6FF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715393"/>
            <a:ext cx="100013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106" y="1693069"/>
            <a:ext cx="72009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PASS로 인증하기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2614613" y="357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2614613" y="357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571500" y="2087761"/>
            <a:ext cx="2000250" cy="37326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2217241"/>
            <a:ext cx="100013" cy="1000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106" y="2194917"/>
            <a:ext cx="6700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문자로 인증하기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571500" y="2732484"/>
            <a:ext cx="2000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* 타인 명의의 휴대폰으로는 가입할 수 없습니다.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* 인증 정보(CI)는 암호화되어 안전하게 저장됩니다.</a:t>
            </a:r>
            <a:endParaRPr lang="en-US" sz="621" dirty="0"/>
          </a:p>
        </p:txBody>
      </p:sp>
      <p:sp>
        <p:nvSpPr>
          <p:cNvPr id="18" name="Shape 13"/>
          <p:cNvSpPr/>
          <p:nvPr/>
        </p:nvSpPr>
        <p:spPr>
          <a:xfrm>
            <a:off x="571500" y="4202311"/>
            <a:ext cx="2000250" cy="369689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4"/>
          <p:cNvSpPr/>
          <p:nvPr/>
        </p:nvSpPr>
        <p:spPr>
          <a:xfrm>
            <a:off x="571500" y="4202311"/>
            <a:ext cx="200025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다음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3429000" y="428625"/>
            <a:ext cx="5286375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[공통] 회원가입 프로세스</a:t>
            </a:r>
            <a:endParaRPr lang="en-US" sz="1808" dirty="0"/>
          </a:p>
        </p:txBody>
      </p:sp>
      <p:sp>
        <p:nvSpPr>
          <p:cNvPr id="21" name="Text 16"/>
          <p:cNvSpPr/>
          <p:nvPr/>
        </p:nvSpPr>
        <p:spPr>
          <a:xfrm>
            <a:off x="3429000" y="873323"/>
            <a:ext cx="528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CI(Connecting Information) 기반 고유 식별 및 가입 절차</a:t>
            </a:r>
            <a:endParaRPr lang="en-US" sz="942" dirty="0"/>
          </a:p>
        </p:txBody>
      </p:sp>
      <p:sp>
        <p:nvSpPr>
          <p:cNvPr id="22" name="Shape 17"/>
          <p:cNvSpPr/>
          <p:nvPr/>
        </p:nvSpPr>
        <p:spPr>
          <a:xfrm>
            <a:off x="3429000" y="1426964"/>
            <a:ext cx="1241227" cy="78793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3429000" y="1426964"/>
            <a:ext cx="1241227" cy="2143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536156" y="1534120"/>
            <a:ext cx="10269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Step 1</a:t>
            </a:r>
            <a:endParaRPr lang="en-US" sz="621" dirty="0"/>
          </a:p>
        </p:txBody>
      </p:sp>
      <p:sp>
        <p:nvSpPr>
          <p:cNvPr id="25" name="Text 20"/>
          <p:cNvSpPr/>
          <p:nvPr/>
        </p:nvSpPr>
        <p:spPr>
          <a:xfrm>
            <a:off x="3536156" y="1685925"/>
            <a:ext cx="10269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약관 동의</a:t>
            </a:r>
            <a:endParaRPr lang="en-US" sz="683" dirty="0"/>
          </a:p>
        </p:txBody>
      </p:sp>
      <p:sp>
        <p:nvSpPr>
          <p:cNvPr id="26" name="Text 21"/>
          <p:cNvSpPr/>
          <p:nvPr/>
        </p:nvSpPr>
        <p:spPr>
          <a:xfrm>
            <a:off x="3536156" y="1866305"/>
            <a:ext cx="1026914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서비스/개인정보(필수), 마케팅(선택) 동의</a:t>
            </a:r>
            <a:endParaRPr lang="en-US" sz="568" dirty="0"/>
          </a:p>
        </p:txBody>
      </p:sp>
      <p:sp>
        <p:nvSpPr>
          <p:cNvPr id="27" name="Shape 22"/>
          <p:cNvSpPr/>
          <p:nvPr/>
        </p:nvSpPr>
        <p:spPr>
          <a:xfrm>
            <a:off x="4777383" y="1426964"/>
            <a:ext cx="1241227" cy="78793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3"/>
          <p:cNvSpPr/>
          <p:nvPr/>
        </p:nvSpPr>
        <p:spPr>
          <a:xfrm>
            <a:off x="4777383" y="1426964"/>
            <a:ext cx="1241227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4"/>
          <p:cNvSpPr/>
          <p:nvPr/>
        </p:nvSpPr>
        <p:spPr>
          <a:xfrm>
            <a:off x="4884539" y="1534120"/>
            <a:ext cx="10269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Step 2</a:t>
            </a:r>
            <a:endParaRPr lang="en-US" sz="621" dirty="0"/>
          </a:p>
        </p:txBody>
      </p:sp>
      <p:sp>
        <p:nvSpPr>
          <p:cNvPr id="30" name="Text 25"/>
          <p:cNvSpPr/>
          <p:nvPr/>
        </p:nvSpPr>
        <p:spPr>
          <a:xfrm>
            <a:off x="4884539" y="1685925"/>
            <a:ext cx="10269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본인 인증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4884539" y="1866305"/>
            <a:ext cx="1026914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PASS/SMS 인증 API 호출 및 CI 추출</a:t>
            </a:r>
            <a:endParaRPr lang="en-US" sz="568" dirty="0"/>
          </a:p>
        </p:txBody>
      </p:sp>
      <p:sp>
        <p:nvSpPr>
          <p:cNvPr id="32" name="Shape 27"/>
          <p:cNvSpPr/>
          <p:nvPr/>
        </p:nvSpPr>
        <p:spPr>
          <a:xfrm>
            <a:off x="6125766" y="1426964"/>
            <a:ext cx="1241227" cy="7665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8"/>
          <p:cNvSpPr/>
          <p:nvPr/>
        </p:nvSpPr>
        <p:spPr>
          <a:xfrm>
            <a:off x="6125766" y="1426964"/>
            <a:ext cx="1241227" cy="2143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9"/>
          <p:cNvSpPr/>
          <p:nvPr/>
        </p:nvSpPr>
        <p:spPr>
          <a:xfrm>
            <a:off x="6232922" y="1534120"/>
            <a:ext cx="10269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Step 3</a:t>
            </a:r>
            <a:endParaRPr lang="en-US" sz="621" dirty="0"/>
          </a:p>
        </p:txBody>
      </p:sp>
      <p:sp>
        <p:nvSpPr>
          <p:cNvPr id="35" name="Text 30"/>
          <p:cNvSpPr/>
          <p:nvPr/>
        </p:nvSpPr>
        <p:spPr>
          <a:xfrm>
            <a:off x="6232922" y="1685925"/>
            <a:ext cx="10269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정보 입력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6232922" y="1866305"/>
            <a:ext cx="102691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이메일, 비밀번호, 이름 입력</a:t>
            </a:r>
            <a:endParaRPr lang="en-US" sz="568" dirty="0"/>
          </a:p>
        </p:txBody>
      </p:sp>
      <p:sp>
        <p:nvSpPr>
          <p:cNvPr id="37" name="Shape 32"/>
          <p:cNvSpPr/>
          <p:nvPr/>
        </p:nvSpPr>
        <p:spPr>
          <a:xfrm>
            <a:off x="7474148" y="1426964"/>
            <a:ext cx="1241227" cy="7665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3"/>
          <p:cNvSpPr/>
          <p:nvPr/>
        </p:nvSpPr>
        <p:spPr>
          <a:xfrm>
            <a:off x="7474148" y="1426964"/>
            <a:ext cx="1241227" cy="2143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4"/>
          <p:cNvSpPr/>
          <p:nvPr/>
        </p:nvSpPr>
        <p:spPr>
          <a:xfrm>
            <a:off x="7581305" y="1534120"/>
            <a:ext cx="10269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Step 4</a:t>
            </a:r>
            <a:endParaRPr lang="en-US" sz="621" dirty="0"/>
          </a:p>
        </p:txBody>
      </p:sp>
      <p:sp>
        <p:nvSpPr>
          <p:cNvPr id="40" name="Text 35"/>
          <p:cNvSpPr/>
          <p:nvPr/>
        </p:nvSpPr>
        <p:spPr>
          <a:xfrm>
            <a:off x="7581305" y="1685925"/>
            <a:ext cx="10269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가입 완료</a:t>
            </a:r>
            <a:endParaRPr lang="en-US" sz="683" dirty="0"/>
          </a:p>
        </p:txBody>
      </p:sp>
      <p:sp>
        <p:nvSpPr>
          <p:cNvPr id="41" name="Text 36"/>
          <p:cNvSpPr/>
          <p:nvPr/>
        </p:nvSpPr>
        <p:spPr>
          <a:xfrm>
            <a:off x="7581305" y="1866305"/>
            <a:ext cx="102691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계정 생성 및 자동 로그인 처리</a:t>
            </a:r>
            <a:endParaRPr lang="en-US" sz="568" dirty="0"/>
          </a:p>
        </p:txBody>
      </p:sp>
      <p:sp>
        <p:nvSpPr>
          <p:cNvPr id="42" name="Shape 37"/>
          <p:cNvSpPr/>
          <p:nvPr/>
        </p:nvSpPr>
        <p:spPr>
          <a:xfrm>
            <a:off x="3429000" y="2407779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Shape 38"/>
          <p:cNvSpPr/>
          <p:nvPr/>
        </p:nvSpPr>
        <p:spPr>
          <a:xfrm>
            <a:off x="3429000" y="2698886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39"/>
          <p:cNvSpPr/>
          <p:nvPr/>
        </p:nvSpPr>
        <p:spPr>
          <a:xfrm>
            <a:off x="3429000" y="2407779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5" name="Shape 40"/>
          <p:cNvSpPr/>
          <p:nvPr/>
        </p:nvSpPr>
        <p:spPr>
          <a:xfrm>
            <a:off x="3786188" y="2407779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41"/>
          <p:cNvSpPr/>
          <p:nvPr/>
        </p:nvSpPr>
        <p:spPr>
          <a:xfrm>
            <a:off x="3786188" y="2698886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" name="Text 42"/>
          <p:cNvSpPr/>
          <p:nvPr/>
        </p:nvSpPr>
        <p:spPr>
          <a:xfrm>
            <a:off x="3786188" y="2407779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UI Element</a:t>
            </a:r>
            <a:endParaRPr lang="en-US" sz="634" dirty="0"/>
          </a:p>
        </p:txBody>
      </p:sp>
      <p:sp>
        <p:nvSpPr>
          <p:cNvPr id="48" name="Shape 43"/>
          <p:cNvSpPr/>
          <p:nvPr/>
        </p:nvSpPr>
        <p:spPr>
          <a:xfrm>
            <a:off x="4643438" y="2407779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44"/>
          <p:cNvSpPr/>
          <p:nvPr/>
        </p:nvSpPr>
        <p:spPr>
          <a:xfrm>
            <a:off x="4643438" y="2698886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" name="Text 45"/>
          <p:cNvSpPr/>
          <p:nvPr/>
        </p:nvSpPr>
        <p:spPr>
          <a:xfrm>
            <a:off x="4643438" y="2407779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51" name="Shape 46"/>
          <p:cNvSpPr/>
          <p:nvPr/>
        </p:nvSpPr>
        <p:spPr>
          <a:xfrm>
            <a:off x="3514725" y="27917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47"/>
          <p:cNvSpPr/>
          <p:nvPr/>
        </p:nvSpPr>
        <p:spPr>
          <a:xfrm>
            <a:off x="3514725" y="279175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3" name="Text 48"/>
          <p:cNvSpPr/>
          <p:nvPr/>
        </p:nvSpPr>
        <p:spPr>
          <a:xfrm>
            <a:off x="3786188" y="2706030"/>
            <a:ext cx="857250" cy="6822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Identity Auth</a:t>
            </a:r>
            <a:endParaRPr lang="en-US" sz="674" dirty="0"/>
          </a:p>
        </p:txBody>
      </p:sp>
      <p:sp>
        <p:nvSpPr>
          <p:cNvPr id="54" name="Text 49"/>
          <p:cNvSpPr/>
          <p:nvPr/>
        </p:nvSpPr>
        <p:spPr>
          <a:xfrm>
            <a:off x="4729163" y="279175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API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/api/v1/auth/verify-identity</a:t>
            </a:r>
            <a:endParaRPr lang="en-US" sz="674" dirty="0"/>
          </a:p>
        </p:txBody>
      </p:sp>
      <p:sp>
        <p:nvSpPr>
          <p:cNvPr id="55" name="Text 50"/>
          <p:cNvSpPr/>
          <p:nvPr/>
        </p:nvSpPr>
        <p:spPr>
          <a:xfrm>
            <a:off x="4729163" y="2918557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Provider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NICE or KCB (via PASS/SMS)</a:t>
            </a:r>
            <a:endParaRPr lang="en-US" sz="674" dirty="0"/>
          </a:p>
        </p:txBody>
      </p:sp>
      <p:sp>
        <p:nvSpPr>
          <p:cNvPr id="56" name="Text 51"/>
          <p:cNvSpPr/>
          <p:nvPr/>
        </p:nvSpPr>
        <p:spPr>
          <a:xfrm>
            <a:off x="4729163" y="3045358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Output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CI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(88byte unique key), Name, Phone, Birthdate</a:t>
            </a:r>
            <a:endParaRPr lang="en-US" sz="674" dirty="0"/>
          </a:p>
        </p:txBody>
      </p:sp>
      <p:sp>
        <p:nvSpPr>
          <p:cNvPr id="57" name="Text 52"/>
          <p:cNvSpPr/>
          <p:nvPr/>
        </p:nvSpPr>
        <p:spPr>
          <a:xfrm>
            <a:off x="4729163" y="317216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Security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CI must be hashed (SHA-256) before DB storage.</a:t>
            </a:r>
            <a:endParaRPr lang="en-US" sz="674" dirty="0"/>
          </a:p>
        </p:txBody>
      </p:sp>
      <p:sp>
        <p:nvSpPr>
          <p:cNvPr id="58" name="Text 53"/>
          <p:cNvSpPr/>
          <p:nvPr/>
        </p:nvSpPr>
        <p:spPr>
          <a:xfrm>
            <a:off x="3429000" y="3388258"/>
            <a:ext cx="357188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59" name="Text 54"/>
          <p:cNvSpPr/>
          <p:nvPr/>
        </p:nvSpPr>
        <p:spPr>
          <a:xfrm>
            <a:off x="3786188" y="3388258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Duplicate Check</a:t>
            </a:r>
            <a:endParaRPr lang="en-US" sz="674" dirty="0"/>
          </a:p>
        </p:txBody>
      </p:sp>
      <p:sp>
        <p:nvSpPr>
          <p:cNvPr id="60" name="Text 55"/>
          <p:cNvSpPr/>
          <p:nvPr/>
        </p:nvSpPr>
        <p:spPr>
          <a:xfrm>
            <a:off x="4729163" y="347755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Logic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Check if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hashed_ci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exists in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users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table.</a:t>
            </a:r>
            <a:endParaRPr lang="en-US" sz="674" dirty="0"/>
          </a:p>
        </p:txBody>
      </p:sp>
      <p:sp>
        <p:nvSpPr>
          <p:cNvPr id="61" name="Text 56"/>
          <p:cNvSpPr/>
          <p:nvPr/>
        </p:nvSpPr>
        <p:spPr>
          <a:xfrm>
            <a:off x="4729163" y="3604357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If Exists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Redirect to Login with "Already registered".</a:t>
            </a:r>
            <a:endParaRPr lang="en-US" sz="674" dirty="0"/>
          </a:p>
        </p:txBody>
      </p:sp>
      <p:sp>
        <p:nvSpPr>
          <p:cNvPr id="62" name="Text 57"/>
          <p:cNvSpPr/>
          <p:nvPr/>
        </p:nvSpPr>
        <p:spPr>
          <a:xfrm>
            <a:off x="3429000" y="3820455"/>
            <a:ext cx="357188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3" name="Text 58"/>
          <p:cNvSpPr/>
          <p:nvPr/>
        </p:nvSpPr>
        <p:spPr>
          <a:xfrm>
            <a:off x="3786188" y="3820455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Social Link</a:t>
            </a:r>
            <a:endParaRPr lang="en-US" sz="674" dirty="0"/>
          </a:p>
        </p:txBody>
      </p:sp>
      <p:sp>
        <p:nvSpPr>
          <p:cNvPr id="64" name="Text 59"/>
          <p:cNvSpPr/>
          <p:nvPr/>
        </p:nvSpPr>
        <p:spPr>
          <a:xfrm>
            <a:off x="4729163" y="390975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Flow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If Social Login used, link Social ID with CI.</a:t>
            </a:r>
            <a:endParaRPr lang="en-US" sz="674" dirty="0"/>
          </a:p>
        </p:txBody>
      </p:sp>
      <p:sp>
        <p:nvSpPr>
          <p:cNvPr id="65" name="Text 60"/>
          <p:cNvSpPr/>
          <p:nvPr/>
        </p:nvSpPr>
        <p:spPr>
          <a:xfrm>
            <a:off x="4729163" y="4036554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Benefit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Allows login via multiple providers for same person.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8251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4375"/>
            <a:ext cx="2000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B82F6"/>
                </a:solidFill>
              </a:rPr>
              <a:t>SmartCON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984052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건설 현장 통합 노무 관리</a:t>
            </a:r>
            <a:endParaRPr lang="en-US" sz="621" dirty="0"/>
          </a:p>
        </p:txBody>
      </p:sp>
      <p:sp>
        <p:nvSpPr>
          <p:cNvPr id="7" name="Shape 4"/>
          <p:cNvSpPr/>
          <p:nvPr/>
        </p:nvSpPr>
        <p:spPr>
          <a:xfrm>
            <a:off x="428625" y="1253728"/>
            <a:ext cx="2286000" cy="380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626989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253728"/>
            <a:ext cx="1143000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개인회원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571625" y="1253728"/>
            <a:ext cx="1143000" cy="3732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관리자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28625" y="1626989"/>
            <a:ext cx="2286000" cy="30878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471738" y="292536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471738" y="292536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329281" y="3082528"/>
            <a:ext cx="171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3:00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571500" y="3477220"/>
            <a:ext cx="2000250" cy="36968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477220"/>
            <a:ext cx="200025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로그인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71500" y="4025503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비밀번호 찾기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관리자 등록 문의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3429000" y="428625"/>
            <a:ext cx="5286375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[공통] 로그인 시스템</a:t>
            </a:r>
            <a:endParaRPr lang="en-US" sz="1808" dirty="0"/>
          </a:p>
        </p:txBody>
      </p:sp>
      <p:sp>
        <p:nvSpPr>
          <p:cNvPr id="19" name="Text 16"/>
          <p:cNvSpPr/>
          <p:nvPr/>
        </p:nvSpPr>
        <p:spPr>
          <a:xfrm>
            <a:off x="3429000" y="873323"/>
            <a:ext cx="528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개인/관리자 분리 및 2차 인증(2FA) 보안 로그인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3429000" y="1426964"/>
            <a:ext cx="2571750" cy="95826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8"/>
          <p:cNvSpPr/>
          <p:nvPr/>
        </p:nvSpPr>
        <p:spPr>
          <a:xfrm>
            <a:off x="3429000" y="1426964"/>
            <a:ext cx="28575" cy="958267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1590377"/>
            <a:ext cx="100013" cy="114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29038" y="1569839"/>
            <a:ext cx="13804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Personal (Worker/Team)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3714750" y="1807369"/>
            <a:ext cx="3711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Primary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4085862" y="1807369"/>
            <a:ext cx="12252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Social Login (Kakao, Naver)</a:t>
            </a:r>
            <a:endParaRPr lang="en-US" sz="674" dirty="0"/>
          </a:p>
        </p:txBody>
      </p:sp>
      <p:sp>
        <p:nvSpPr>
          <p:cNvPr id="26" name="Text 22"/>
          <p:cNvSpPr/>
          <p:nvPr/>
        </p:nvSpPr>
        <p:spPr>
          <a:xfrm>
            <a:off x="3714750" y="1955936"/>
            <a:ext cx="3839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Fallback</a:t>
            </a:r>
            <a:endParaRPr lang="en-US" sz="634" dirty="0"/>
          </a:p>
        </p:txBody>
      </p:sp>
      <p:sp>
        <p:nvSpPr>
          <p:cNvPr id="27" name="Text 23"/>
          <p:cNvSpPr/>
          <p:nvPr/>
        </p:nvSpPr>
        <p:spPr>
          <a:xfrm>
            <a:off x="4098671" y="1955936"/>
            <a:ext cx="9277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Phone No. + CI Auth</a:t>
            </a:r>
            <a:endParaRPr lang="en-US" sz="674" dirty="0"/>
          </a:p>
        </p:txBody>
      </p:sp>
      <p:sp>
        <p:nvSpPr>
          <p:cNvPr id="28" name="Text 24"/>
          <p:cNvSpPr/>
          <p:nvPr/>
        </p:nvSpPr>
        <p:spPr>
          <a:xfrm>
            <a:off x="3714750" y="2104504"/>
            <a:ext cx="3452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Session</a:t>
            </a:r>
            <a:endParaRPr lang="en-US" sz="634" dirty="0"/>
          </a:p>
        </p:txBody>
      </p:sp>
      <p:sp>
        <p:nvSpPr>
          <p:cNvPr id="29" name="Text 25"/>
          <p:cNvSpPr/>
          <p:nvPr/>
        </p:nvSpPr>
        <p:spPr>
          <a:xfrm>
            <a:off x="4059966" y="2104504"/>
            <a:ext cx="7563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Long-lived (App)</a:t>
            </a:r>
            <a:endParaRPr lang="en-US" sz="674" dirty="0"/>
          </a:p>
        </p:txBody>
      </p:sp>
      <p:sp>
        <p:nvSpPr>
          <p:cNvPr id="30" name="Shape 26"/>
          <p:cNvSpPr/>
          <p:nvPr/>
        </p:nvSpPr>
        <p:spPr>
          <a:xfrm>
            <a:off x="6129338" y="1426964"/>
            <a:ext cx="2586038" cy="95826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7"/>
          <p:cNvSpPr/>
          <p:nvPr/>
        </p:nvSpPr>
        <p:spPr>
          <a:xfrm>
            <a:off x="6129338" y="1426964"/>
            <a:ext cx="28575" cy="958267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90377"/>
            <a:ext cx="142875" cy="1143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86525" y="1569839"/>
            <a:ext cx="9212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Admin (HQ/Site)</a:t>
            </a:r>
            <a:endParaRPr lang="en-US" sz="784" dirty="0"/>
          </a:p>
        </p:txBody>
      </p:sp>
      <p:sp>
        <p:nvSpPr>
          <p:cNvPr id="34" name="Text 29"/>
          <p:cNvSpPr/>
          <p:nvPr/>
        </p:nvSpPr>
        <p:spPr>
          <a:xfrm>
            <a:off x="6429375" y="1807369"/>
            <a:ext cx="3711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Primary</a:t>
            </a:r>
            <a:endParaRPr lang="en-US" sz="634" dirty="0"/>
          </a:p>
        </p:txBody>
      </p:sp>
      <p:sp>
        <p:nvSpPr>
          <p:cNvPr id="35" name="Text 30"/>
          <p:cNvSpPr/>
          <p:nvPr/>
        </p:nvSpPr>
        <p:spPr>
          <a:xfrm>
            <a:off x="6800487" y="1807369"/>
            <a:ext cx="98042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Biz No. + Email + Pwd</a:t>
            </a:r>
            <a:endParaRPr lang="en-US" sz="674" dirty="0"/>
          </a:p>
        </p:txBody>
      </p:sp>
      <p:sp>
        <p:nvSpPr>
          <p:cNvPr id="36" name="Text 31"/>
          <p:cNvSpPr/>
          <p:nvPr/>
        </p:nvSpPr>
        <p:spPr>
          <a:xfrm>
            <a:off x="6429375" y="1955936"/>
            <a:ext cx="3784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Security</a:t>
            </a:r>
            <a:endParaRPr lang="en-US" sz="634" dirty="0"/>
          </a:p>
        </p:txBody>
      </p:sp>
      <p:sp>
        <p:nvSpPr>
          <p:cNvPr id="37" name="Text 32"/>
          <p:cNvSpPr/>
          <p:nvPr/>
        </p:nvSpPr>
        <p:spPr>
          <a:xfrm>
            <a:off x="6807826" y="1955936"/>
            <a:ext cx="9678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2FA Mandatory (OTP)</a:t>
            </a:r>
            <a:endParaRPr lang="en-US" sz="674" dirty="0"/>
          </a:p>
        </p:txBody>
      </p:sp>
      <p:sp>
        <p:nvSpPr>
          <p:cNvPr id="38" name="Text 33"/>
          <p:cNvSpPr/>
          <p:nvPr/>
        </p:nvSpPr>
        <p:spPr>
          <a:xfrm>
            <a:off x="6429375" y="2104504"/>
            <a:ext cx="3452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Session</a:t>
            </a:r>
            <a:endParaRPr lang="en-US" sz="634" dirty="0"/>
          </a:p>
        </p:txBody>
      </p:sp>
      <p:sp>
        <p:nvSpPr>
          <p:cNvPr id="39" name="Text 34"/>
          <p:cNvSpPr/>
          <p:nvPr/>
        </p:nvSpPr>
        <p:spPr>
          <a:xfrm>
            <a:off x="6774591" y="2104504"/>
            <a:ext cx="10359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Short-lived (Web, 30m)</a:t>
            </a:r>
            <a:endParaRPr lang="en-US" sz="674" dirty="0"/>
          </a:p>
        </p:txBody>
      </p:sp>
      <p:sp>
        <p:nvSpPr>
          <p:cNvPr id="40" name="Shape 35"/>
          <p:cNvSpPr/>
          <p:nvPr/>
        </p:nvSpPr>
        <p:spPr>
          <a:xfrm>
            <a:off x="3429000" y="2599544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6"/>
          <p:cNvSpPr/>
          <p:nvPr/>
        </p:nvSpPr>
        <p:spPr>
          <a:xfrm>
            <a:off x="3429000" y="2890651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7"/>
          <p:cNvSpPr/>
          <p:nvPr/>
        </p:nvSpPr>
        <p:spPr>
          <a:xfrm>
            <a:off x="3429000" y="2599544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3" name="Shape 38"/>
          <p:cNvSpPr/>
          <p:nvPr/>
        </p:nvSpPr>
        <p:spPr>
          <a:xfrm>
            <a:off x="3786188" y="2599544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39"/>
          <p:cNvSpPr/>
          <p:nvPr/>
        </p:nvSpPr>
        <p:spPr>
          <a:xfrm>
            <a:off x="3786188" y="2890651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0"/>
          <p:cNvSpPr/>
          <p:nvPr/>
        </p:nvSpPr>
        <p:spPr>
          <a:xfrm>
            <a:off x="3786188" y="2599544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Feature</a:t>
            </a:r>
            <a:endParaRPr lang="en-US" sz="634" dirty="0"/>
          </a:p>
        </p:txBody>
      </p:sp>
      <p:sp>
        <p:nvSpPr>
          <p:cNvPr id="46" name="Shape 41"/>
          <p:cNvSpPr/>
          <p:nvPr/>
        </p:nvSpPr>
        <p:spPr>
          <a:xfrm>
            <a:off x="4643438" y="2599544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42"/>
          <p:cNvSpPr/>
          <p:nvPr/>
        </p:nvSpPr>
        <p:spPr>
          <a:xfrm>
            <a:off x="4643438" y="2890651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Text 43"/>
          <p:cNvSpPr/>
          <p:nvPr/>
        </p:nvSpPr>
        <p:spPr>
          <a:xfrm>
            <a:off x="4643438" y="2599544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9" name="Shape 44"/>
          <p:cNvSpPr/>
          <p:nvPr/>
        </p:nvSpPr>
        <p:spPr>
          <a:xfrm>
            <a:off x="3514725" y="298352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5"/>
          <p:cNvSpPr/>
          <p:nvPr/>
        </p:nvSpPr>
        <p:spPr>
          <a:xfrm>
            <a:off x="3514725" y="298352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1" name="Text 46"/>
          <p:cNvSpPr/>
          <p:nvPr/>
        </p:nvSpPr>
        <p:spPr>
          <a:xfrm>
            <a:off x="3786188" y="2897795"/>
            <a:ext cx="857250" cy="6822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2FA Verification</a:t>
            </a:r>
            <a:endParaRPr lang="en-US" sz="674" dirty="0"/>
          </a:p>
        </p:txBody>
      </p:sp>
      <p:sp>
        <p:nvSpPr>
          <p:cNvPr id="52" name="Text 47"/>
          <p:cNvSpPr/>
          <p:nvPr/>
        </p:nvSpPr>
        <p:spPr>
          <a:xfrm>
            <a:off x="4729163" y="298352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Trigger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After valid ID/PWD check.</a:t>
            </a:r>
            <a:endParaRPr lang="en-US" sz="674" dirty="0"/>
          </a:p>
        </p:txBody>
      </p:sp>
      <p:sp>
        <p:nvSpPr>
          <p:cNvPr id="53" name="Text 48"/>
          <p:cNvSpPr/>
          <p:nvPr/>
        </p:nvSpPr>
        <p:spPr>
          <a:xfrm>
            <a:off x="4729163" y="311032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Method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Email OTP (Default) or SMS.</a:t>
            </a:r>
            <a:endParaRPr lang="en-US" sz="674" dirty="0"/>
          </a:p>
        </p:txBody>
      </p:sp>
      <p:sp>
        <p:nvSpPr>
          <p:cNvPr id="54" name="Text 49"/>
          <p:cNvSpPr/>
          <p:nvPr/>
        </p:nvSpPr>
        <p:spPr>
          <a:xfrm>
            <a:off x="4729163" y="323712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API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/api/v1/auth/2fa/verify</a:t>
            </a:r>
            <a:endParaRPr lang="en-US" sz="674" dirty="0"/>
          </a:p>
        </p:txBody>
      </p:sp>
      <p:sp>
        <p:nvSpPr>
          <p:cNvPr id="55" name="Text 50"/>
          <p:cNvSpPr/>
          <p:nvPr/>
        </p:nvSpPr>
        <p:spPr>
          <a:xfrm>
            <a:off x="4729163" y="336392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Code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6-digit random number (Redis TTL 3min).</a:t>
            </a:r>
            <a:endParaRPr lang="en-US" sz="674" dirty="0"/>
          </a:p>
        </p:txBody>
      </p:sp>
      <p:sp>
        <p:nvSpPr>
          <p:cNvPr id="56" name="Text 51"/>
          <p:cNvSpPr/>
          <p:nvPr/>
        </p:nvSpPr>
        <p:spPr>
          <a:xfrm>
            <a:off x="3429000" y="3580023"/>
            <a:ext cx="357188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57" name="Text 52"/>
          <p:cNvSpPr/>
          <p:nvPr/>
        </p:nvSpPr>
        <p:spPr>
          <a:xfrm>
            <a:off x="3786188" y="3580023"/>
            <a:ext cx="857250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JWT Issuance</a:t>
            </a:r>
            <a:endParaRPr lang="en-US" sz="674" dirty="0"/>
          </a:p>
        </p:txBody>
      </p:sp>
      <p:sp>
        <p:nvSpPr>
          <p:cNvPr id="58" name="Text 53"/>
          <p:cNvSpPr/>
          <p:nvPr/>
        </p:nvSpPr>
        <p:spPr>
          <a:xfrm>
            <a:off x="4729163" y="366932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Access Token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15 min validity (Stateless).</a:t>
            </a:r>
            <a:endParaRPr lang="en-US" sz="674" dirty="0"/>
          </a:p>
        </p:txBody>
      </p:sp>
      <p:sp>
        <p:nvSpPr>
          <p:cNvPr id="59" name="Text 54"/>
          <p:cNvSpPr/>
          <p:nvPr/>
        </p:nvSpPr>
        <p:spPr>
          <a:xfrm>
            <a:off x="4729163" y="379612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Refresh Token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7 days (HttpOnly Cookie).</a:t>
            </a:r>
            <a:endParaRPr lang="en-US" sz="674" dirty="0"/>
          </a:p>
        </p:txBody>
      </p:sp>
      <p:sp>
        <p:nvSpPr>
          <p:cNvPr id="60" name="Text 55"/>
          <p:cNvSpPr/>
          <p:nvPr/>
        </p:nvSpPr>
        <p:spPr>
          <a:xfrm>
            <a:off x="4729163" y="392292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Payload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 sub: userId, roles: [...], tenantId: ... }</a:t>
            </a:r>
            <a:endParaRPr lang="en-US" sz="674" dirty="0"/>
          </a:p>
        </p:txBody>
      </p:sp>
      <p:sp>
        <p:nvSpPr>
          <p:cNvPr id="61" name="Text 56"/>
          <p:cNvSpPr/>
          <p:nvPr/>
        </p:nvSpPr>
        <p:spPr>
          <a:xfrm>
            <a:off x="3429000" y="4139022"/>
            <a:ext cx="357188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2" name="Text 57"/>
          <p:cNvSpPr/>
          <p:nvPr/>
        </p:nvSpPr>
        <p:spPr>
          <a:xfrm>
            <a:off x="3786188" y="4139022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Security</a:t>
            </a:r>
            <a:endParaRPr lang="en-US" sz="674" dirty="0"/>
          </a:p>
        </p:txBody>
      </p:sp>
      <p:sp>
        <p:nvSpPr>
          <p:cNvPr id="63" name="Text 58"/>
          <p:cNvSpPr/>
          <p:nvPr/>
        </p:nvSpPr>
        <p:spPr>
          <a:xfrm>
            <a:off x="4729163" y="4228319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Rate Limit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5 failed attempts -&gt; Lock 10 min.</a:t>
            </a:r>
            <a:endParaRPr lang="en-US" sz="674" dirty="0"/>
          </a:p>
        </p:txBody>
      </p:sp>
      <p:sp>
        <p:nvSpPr>
          <p:cNvPr id="64" name="Text 59"/>
          <p:cNvSpPr/>
          <p:nvPr/>
        </p:nvSpPr>
        <p:spPr>
          <a:xfrm>
            <a:off x="4729163" y="435512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Audit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Log IP, UserAgent, Time for all logins.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F8FAFC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878681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571500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김스마트 님</a:t>
            </a:r>
            <a:endParaRPr lang="en-US" sz="78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60" y="615255"/>
            <a:ext cx="85725" cy="85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33985" y="600968"/>
            <a:ext cx="3377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로그아웃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428625" y="878681"/>
            <a:ext cx="2286000" cy="38361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1021556"/>
            <a:ext cx="20002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접속할 현장을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선택해주세요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1500" y="1435894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권한이 있는 현장만 표시됩니다.</a:t>
            </a:r>
            <a:endParaRPr lang="en-US" sz="674" dirty="0"/>
          </a:p>
        </p:txBody>
      </p:sp>
      <p:sp>
        <p:nvSpPr>
          <p:cNvPr id="12" name="Shape 8"/>
          <p:cNvSpPr/>
          <p:nvPr/>
        </p:nvSpPr>
        <p:spPr>
          <a:xfrm>
            <a:off x="571500" y="1750219"/>
            <a:ext cx="2000250" cy="784027"/>
          </a:xfrm>
          <a:prstGeom prst="rect">
            <a:avLst/>
          </a:prstGeom>
          <a:solidFill>
            <a:srgbClr val="FFFFFF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8656" y="1859161"/>
            <a:ext cx="834284" cy="1714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0"/>
          <p:cNvSpPr/>
          <p:nvPr/>
        </p:nvSpPr>
        <p:spPr>
          <a:xfrm>
            <a:off x="678656" y="1859161"/>
            <a:ext cx="834284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E40AF"/>
                </a:solidFill>
              </a:rPr>
              <a:t>팀장 (Team Leader)</a:t>
            </a:r>
            <a:endParaRPr lang="en-US" sz="534" dirty="0"/>
          </a:p>
        </p:txBody>
      </p:sp>
      <p:sp>
        <p:nvSpPr>
          <p:cNvPr id="15" name="Text 11"/>
          <p:cNvSpPr/>
          <p:nvPr/>
        </p:nvSpPr>
        <p:spPr>
          <a:xfrm>
            <a:off x="678656" y="2087761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서초 자이 재건축 현장</a:t>
            </a:r>
            <a:endParaRPr lang="en-US" sz="734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2292251"/>
            <a:ext cx="64294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1525" y="2271713"/>
            <a:ext cx="7543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서울시 서초구 반포동</a:t>
            </a:r>
            <a:endParaRPr lang="en-US" sz="621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006" y="1857375"/>
            <a:ext cx="128588" cy="1285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471738" y="167878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4"/>
          <p:cNvSpPr/>
          <p:nvPr/>
        </p:nvSpPr>
        <p:spPr>
          <a:xfrm>
            <a:off x="2471738" y="16787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571500" y="2612827"/>
            <a:ext cx="2000250" cy="9965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678656" y="2721769"/>
            <a:ext cx="694479" cy="1714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3" name="Text 17"/>
          <p:cNvSpPr/>
          <p:nvPr/>
        </p:nvSpPr>
        <p:spPr>
          <a:xfrm>
            <a:off x="678656" y="2721769"/>
            <a:ext cx="694479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노무자 (Worker)</a:t>
            </a:r>
            <a:endParaRPr lang="en-US" sz="534" dirty="0"/>
          </a:p>
        </p:txBody>
      </p:sp>
      <p:sp>
        <p:nvSpPr>
          <p:cNvPr id="24" name="Text 18"/>
          <p:cNvSpPr/>
          <p:nvPr/>
        </p:nvSpPr>
        <p:spPr>
          <a:xfrm>
            <a:off x="678656" y="2950369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부산 에코델타시티 2공구</a:t>
            </a:r>
            <a:endParaRPr lang="en-US" sz="734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154859"/>
            <a:ext cx="64294" cy="857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1525" y="3134320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부산시 강서구</a:t>
            </a:r>
            <a:endParaRPr lang="en-US" sz="621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678656" y="3318272"/>
            <a:ext cx="954305" cy="15537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71500" y="4202311"/>
            <a:ext cx="2000250" cy="36968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1"/>
          <p:cNvSpPr/>
          <p:nvPr/>
        </p:nvSpPr>
        <p:spPr>
          <a:xfrm>
            <a:off x="571500" y="4202311"/>
            <a:ext cx="200025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현장 입장하기</a:t>
            </a:r>
            <a:endParaRPr lang="en-US" sz="784" dirty="0"/>
          </a:p>
        </p:txBody>
      </p:sp>
      <p:sp>
        <p:nvSpPr>
          <p:cNvPr id="30" name="Text 22"/>
          <p:cNvSpPr/>
          <p:nvPr/>
        </p:nvSpPr>
        <p:spPr>
          <a:xfrm>
            <a:off x="3429000" y="428625"/>
            <a:ext cx="5286375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[공통] 권한 및 현장 선택</a:t>
            </a:r>
            <a:endParaRPr lang="en-US" sz="1808" dirty="0"/>
          </a:p>
        </p:txBody>
      </p:sp>
      <p:sp>
        <p:nvSpPr>
          <p:cNvPr id="31" name="Text 23"/>
          <p:cNvSpPr/>
          <p:nvPr/>
        </p:nvSpPr>
        <p:spPr>
          <a:xfrm>
            <a:off x="3429000" y="873323"/>
            <a:ext cx="528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복수 권한 소유 시 진입 권한 선택 및 현장 목록 필터링</a:t>
            </a:r>
            <a:endParaRPr lang="en-US" sz="942" dirty="0"/>
          </a:p>
        </p:txBody>
      </p:sp>
      <p:sp>
        <p:nvSpPr>
          <p:cNvPr id="32" name="Shape 24"/>
          <p:cNvSpPr/>
          <p:nvPr/>
        </p:nvSpPr>
        <p:spPr>
          <a:xfrm>
            <a:off x="3429000" y="1426964"/>
            <a:ext cx="5286375" cy="56971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5"/>
          <p:cNvSpPr/>
          <p:nvPr/>
        </p:nvSpPr>
        <p:spPr>
          <a:xfrm>
            <a:off x="3571875" y="1576983"/>
            <a:ext cx="839698" cy="26967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6"/>
          <p:cNvSpPr/>
          <p:nvPr/>
        </p:nvSpPr>
        <p:spPr>
          <a:xfrm>
            <a:off x="3571875" y="1576983"/>
            <a:ext cx="839698" cy="26967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Login Success</a:t>
            </a:r>
            <a:endParaRPr lang="en-US" sz="634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010" y="1661815"/>
            <a:ext cx="87511" cy="10001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641959" y="1576983"/>
            <a:ext cx="1034448" cy="26967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28"/>
          <p:cNvSpPr/>
          <p:nvPr/>
        </p:nvSpPr>
        <p:spPr>
          <a:xfrm>
            <a:off x="4641959" y="1576983"/>
            <a:ext cx="1034448" cy="26967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Fetch Permissions</a:t>
            </a:r>
            <a:endParaRPr lang="en-US" sz="634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7845" y="1661815"/>
            <a:ext cx="87511" cy="100013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5906793" y="1575197"/>
            <a:ext cx="673689" cy="273248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906793" y="1575197"/>
            <a:ext cx="673689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Count &gt; 1 ?</a:t>
            </a:r>
            <a:endParaRPr lang="en-US" sz="621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7632" y="1661815"/>
            <a:ext cx="87511" cy="100013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6796580" y="1569839"/>
            <a:ext cx="893471" cy="283964"/>
          </a:xfrm>
          <a:prstGeom prst="rect">
            <a:avLst/>
          </a:prstGeom>
          <a:solidFill>
            <a:srgbClr val="334155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6796580" y="1569839"/>
            <a:ext cx="893471" cy="28396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Show Select UI</a:t>
            </a:r>
            <a:endParaRPr lang="en-US" sz="634" dirty="0"/>
          </a:p>
        </p:txBody>
      </p:sp>
      <p:sp>
        <p:nvSpPr>
          <p:cNvPr id="44" name="Shape 33"/>
          <p:cNvSpPr/>
          <p:nvPr/>
        </p:nvSpPr>
        <p:spPr>
          <a:xfrm>
            <a:off x="3429000" y="2196703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34"/>
          <p:cNvSpPr/>
          <p:nvPr/>
        </p:nvSpPr>
        <p:spPr>
          <a:xfrm>
            <a:off x="3429000" y="2487811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35"/>
          <p:cNvSpPr/>
          <p:nvPr/>
        </p:nvSpPr>
        <p:spPr>
          <a:xfrm>
            <a:off x="3429000" y="2196703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7" name="Shape 36"/>
          <p:cNvSpPr/>
          <p:nvPr/>
        </p:nvSpPr>
        <p:spPr>
          <a:xfrm>
            <a:off x="3786188" y="2196703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Shape 37"/>
          <p:cNvSpPr/>
          <p:nvPr/>
        </p:nvSpPr>
        <p:spPr>
          <a:xfrm>
            <a:off x="3786188" y="2487811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38"/>
          <p:cNvSpPr/>
          <p:nvPr/>
        </p:nvSpPr>
        <p:spPr>
          <a:xfrm>
            <a:off x="3786188" y="2196703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Feature</a:t>
            </a:r>
            <a:endParaRPr lang="en-US" sz="634" dirty="0"/>
          </a:p>
        </p:txBody>
      </p:sp>
      <p:sp>
        <p:nvSpPr>
          <p:cNvPr id="50" name="Shape 39"/>
          <p:cNvSpPr/>
          <p:nvPr/>
        </p:nvSpPr>
        <p:spPr>
          <a:xfrm>
            <a:off x="4643438" y="2196703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Shape 40"/>
          <p:cNvSpPr/>
          <p:nvPr/>
        </p:nvSpPr>
        <p:spPr>
          <a:xfrm>
            <a:off x="4643438" y="2487811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Text 41"/>
          <p:cNvSpPr/>
          <p:nvPr/>
        </p:nvSpPr>
        <p:spPr>
          <a:xfrm>
            <a:off x="4643438" y="2196703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53" name="Shape 42"/>
          <p:cNvSpPr/>
          <p:nvPr/>
        </p:nvSpPr>
        <p:spPr>
          <a:xfrm>
            <a:off x="3514725" y="258068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3"/>
          <p:cNvSpPr/>
          <p:nvPr/>
        </p:nvSpPr>
        <p:spPr>
          <a:xfrm>
            <a:off x="3514725" y="258068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5" name="Text 44"/>
          <p:cNvSpPr/>
          <p:nvPr/>
        </p:nvSpPr>
        <p:spPr>
          <a:xfrm>
            <a:off x="3786188" y="2494955"/>
            <a:ext cx="857250" cy="5554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Permission List</a:t>
            </a:r>
            <a:endParaRPr lang="en-US" sz="674" dirty="0"/>
          </a:p>
        </p:txBody>
      </p:sp>
      <p:sp>
        <p:nvSpPr>
          <p:cNvPr id="56" name="Text 45"/>
          <p:cNvSpPr/>
          <p:nvPr/>
        </p:nvSpPr>
        <p:spPr>
          <a:xfrm>
            <a:off x="4729163" y="258068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API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/api/v1/users/me/permissions</a:t>
            </a:r>
            <a:endParaRPr lang="en-US" sz="674" dirty="0"/>
          </a:p>
        </p:txBody>
      </p:sp>
      <p:sp>
        <p:nvSpPr>
          <p:cNvPr id="57" name="Text 46"/>
          <p:cNvSpPr/>
          <p:nvPr/>
        </p:nvSpPr>
        <p:spPr>
          <a:xfrm>
            <a:off x="4729163" y="2707481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Response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List of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 tenantId, role, status, siteName }</a:t>
            </a:r>
            <a:endParaRPr lang="en-US" sz="674" dirty="0"/>
          </a:p>
        </p:txBody>
      </p:sp>
      <p:sp>
        <p:nvSpPr>
          <p:cNvPr id="58" name="Text 47"/>
          <p:cNvSpPr/>
          <p:nvPr/>
        </p:nvSpPr>
        <p:spPr>
          <a:xfrm>
            <a:off x="4729163" y="283428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Filter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Only display items where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status == 'ACTIVE'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.</a:t>
            </a:r>
            <a:endParaRPr lang="en-US" sz="674" dirty="0"/>
          </a:p>
        </p:txBody>
      </p:sp>
      <p:sp>
        <p:nvSpPr>
          <p:cNvPr id="59" name="Text 48"/>
          <p:cNvSpPr/>
          <p:nvPr/>
        </p:nvSpPr>
        <p:spPr>
          <a:xfrm>
            <a:off x="3429000" y="3050381"/>
            <a:ext cx="357188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0" name="Text 49"/>
          <p:cNvSpPr/>
          <p:nvPr/>
        </p:nvSpPr>
        <p:spPr>
          <a:xfrm>
            <a:off x="3786188" y="3050381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Selection Action</a:t>
            </a:r>
            <a:endParaRPr lang="en-US" sz="674" dirty="0"/>
          </a:p>
        </p:txBody>
      </p:sp>
      <p:sp>
        <p:nvSpPr>
          <p:cNvPr id="61" name="Text 50"/>
          <p:cNvSpPr/>
          <p:nvPr/>
        </p:nvSpPr>
        <p:spPr>
          <a:xfrm>
            <a:off x="4729163" y="3139678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Logic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On click, store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selectedTenantId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and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selectedRole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in LocalStorage/Context.</a:t>
            </a:r>
            <a:endParaRPr lang="en-US" sz="674" dirty="0"/>
          </a:p>
        </p:txBody>
      </p:sp>
      <p:sp>
        <p:nvSpPr>
          <p:cNvPr id="62" name="Text 51"/>
          <p:cNvSpPr/>
          <p:nvPr/>
        </p:nvSpPr>
        <p:spPr>
          <a:xfrm>
            <a:off x="4729163" y="326648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Header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All subsequent API calls must include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X-Tenant-ID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header.</a:t>
            </a:r>
            <a:endParaRPr lang="en-US" sz="674" dirty="0"/>
          </a:p>
        </p:txBody>
      </p:sp>
      <p:sp>
        <p:nvSpPr>
          <p:cNvPr id="63" name="Text 52"/>
          <p:cNvSpPr/>
          <p:nvPr/>
        </p:nvSpPr>
        <p:spPr>
          <a:xfrm>
            <a:off x="3429000" y="3482578"/>
            <a:ext cx="357188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4" name="Text 53"/>
          <p:cNvSpPr/>
          <p:nvPr/>
        </p:nvSpPr>
        <p:spPr>
          <a:xfrm>
            <a:off x="3786188" y="3482578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Auto Redirect</a:t>
            </a:r>
            <a:endParaRPr lang="en-US" sz="674" dirty="0"/>
          </a:p>
        </p:txBody>
      </p:sp>
      <p:sp>
        <p:nvSpPr>
          <p:cNvPr id="65" name="Text 54"/>
          <p:cNvSpPr/>
          <p:nvPr/>
        </p:nvSpPr>
        <p:spPr>
          <a:xfrm>
            <a:off x="4729163" y="3571875"/>
            <a:ext cx="390048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Logic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If the user has only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one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active permission, skip this screen and redirect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immediately to the Dashboard.</a:t>
            </a:r>
            <a:endParaRPr lang="en-US" sz="674" dirty="0"/>
          </a:p>
        </p:txBody>
      </p:sp>
      <p:sp>
        <p:nvSpPr>
          <p:cNvPr id="66" name="Text 55"/>
          <p:cNvSpPr/>
          <p:nvPr/>
        </p:nvSpPr>
        <p:spPr>
          <a:xfrm>
            <a:off x="3429000" y="3914775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7" name="Text 56"/>
          <p:cNvSpPr/>
          <p:nvPr/>
        </p:nvSpPr>
        <p:spPr>
          <a:xfrm>
            <a:off x="3786188" y="3914775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Pending Invite</a:t>
            </a:r>
            <a:endParaRPr lang="en-US" sz="674" dirty="0"/>
          </a:p>
        </p:txBody>
      </p:sp>
      <p:sp>
        <p:nvSpPr>
          <p:cNvPr id="68" name="Text 57"/>
          <p:cNvSpPr/>
          <p:nvPr/>
        </p:nvSpPr>
        <p:spPr>
          <a:xfrm>
            <a:off x="4729163" y="400407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UI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Show "Pending Approval" badge if status is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PENDING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. Disable entry until approved.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929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207294"/>
            <a:ext cx="828675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3B82F6"/>
                </a:solidFill>
              </a:rPr>
              <a:t>[본사] 통합 대시보드 (PC &amp; Mobile)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428625" y="914400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전사 주요 지표(KPI) 요약 및 실시간 현장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293019"/>
            <a:ext cx="5827235" cy="377904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293019"/>
            <a:ext cx="5827235" cy="21431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992981" y="1342132"/>
            <a:ext cx="7112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SmartCON Admin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428625" y="1507331"/>
            <a:ext cx="435769" cy="23485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857250" y="1507331"/>
            <a:ext cx="7144" cy="234850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07" y="1650206"/>
            <a:ext cx="144661" cy="12858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07" y="1893094"/>
            <a:ext cx="144661" cy="128588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07" y="2135981"/>
            <a:ext cx="144661" cy="128588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4" y="2378869"/>
            <a:ext cx="128588" cy="12858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57250" y="1507331"/>
            <a:ext cx="5398610" cy="23485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0"/>
          <p:cNvSpPr/>
          <p:nvPr/>
        </p:nvSpPr>
        <p:spPr>
          <a:xfrm>
            <a:off x="942975" y="1593056"/>
            <a:ext cx="1253198" cy="717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1"/>
          <p:cNvSpPr/>
          <p:nvPr/>
        </p:nvSpPr>
        <p:spPr>
          <a:xfrm>
            <a:off x="2110448" y="15359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2"/>
          <p:cNvSpPr/>
          <p:nvPr/>
        </p:nvSpPr>
        <p:spPr>
          <a:xfrm>
            <a:off x="2110448" y="15359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0" name="Text 13"/>
          <p:cNvSpPr/>
          <p:nvPr/>
        </p:nvSpPr>
        <p:spPr>
          <a:xfrm>
            <a:off x="1028700" y="1678781"/>
            <a:ext cx="10817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전체 현장</a:t>
            </a:r>
            <a:endParaRPr lang="en-US" sz="584" dirty="0"/>
          </a:p>
        </p:txBody>
      </p:sp>
      <p:sp>
        <p:nvSpPr>
          <p:cNvPr id="21" name="Text 14"/>
          <p:cNvSpPr/>
          <p:nvPr/>
        </p:nvSpPr>
        <p:spPr>
          <a:xfrm>
            <a:off x="1028700" y="1841302"/>
            <a:ext cx="10817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12</a:t>
            </a:r>
            <a:endParaRPr lang="en-US" sz="1193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128838"/>
            <a:ext cx="58936" cy="7858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16211" y="2110978"/>
            <a:ext cx="2099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2 신규</a:t>
            </a:r>
            <a:endParaRPr lang="en-US" sz="568" dirty="0"/>
          </a:p>
        </p:txBody>
      </p:sp>
      <p:sp>
        <p:nvSpPr>
          <p:cNvPr id="24" name="Shape 16"/>
          <p:cNvSpPr/>
          <p:nvPr/>
        </p:nvSpPr>
        <p:spPr>
          <a:xfrm>
            <a:off x="2267610" y="1593056"/>
            <a:ext cx="1253226" cy="717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7"/>
          <p:cNvSpPr/>
          <p:nvPr/>
        </p:nvSpPr>
        <p:spPr>
          <a:xfrm>
            <a:off x="2353335" y="1678781"/>
            <a:ext cx="10817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금일 출역</a:t>
            </a:r>
            <a:endParaRPr lang="en-US" sz="584" dirty="0"/>
          </a:p>
        </p:txBody>
      </p:sp>
      <p:sp>
        <p:nvSpPr>
          <p:cNvPr id="26" name="Text 18"/>
          <p:cNvSpPr/>
          <p:nvPr/>
        </p:nvSpPr>
        <p:spPr>
          <a:xfrm>
            <a:off x="2353335" y="1841302"/>
            <a:ext cx="10817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1,240</a:t>
            </a:r>
            <a:endParaRPr lang="en-US" sz="1193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3335" y="2125266"/>
            <a:ext cx="58936" cy="7858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440846" y="2110978"/>
            <a:ext cx="1762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5.2%</a:t>
            </a:r>
            <a:endParaRPr lang="en-US" sz="568" dirty="0"/>
          </a:p>
        </p:txBody>
      </p:sp>
      <p:sp>
        <p:nvSpPr>
          <p:cNvPr id="29" name="Shape 20"/>
          <p:cNvSpPr/>
          <p:nvPr/>
        </p:nvSpPr>
        <p:spPr>
          <a:xfrm>
            <a:off x="3592274" y="1593056"/>
            <a:ext cx="1253198" cy="717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1"/>
          <p:cNvSpPr/>
          <p:nvPr/>
        </p:nvSpPr>
        <p:spPr>
          <a:xfrm>
            <a:off x="3677999" y="1678781"/>
            <a:ext cx="10817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출석률</a:t>
            </a:r>
            <a:endParaRPr lang="en-US" sz="584" dirty="0"/>
          </a:p>
        </p:txBody>
      </p:sp>
      <p:sp>
        <p:nvSpPr>
          <p:cNvPr id="31" name="Text 22"/>
          <p:cNvSpPr/>
          <p:nvPr/>
        </p:nvSpPr>
        <p:spPr>
          <a:xfrm>
            <a:off x="3677999" y="1841302"/>
            <a:ext cx="10817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94.5%</a:t>
            </a:r>
            <a:endParaRPr lang="en-US" sz="1193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7999" y="2125266"/>
            <a:ext cx="58936" cy="78581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765510" y="2110978"/>
            <a:ext cx="1762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1.2%</a:t>
            </a:r>
            <a:endParaRPr lang="en-US" sz="568" dirty="0"/>
          </a:p>
        </p:txBody>
      </p:sp>
      <p:sp>
        <p:nvSpPr>
          <p:cNvPr id="34" name="Shape 24"/>
          <p:cNvSpPr/>
          <p:nvPr/>
        </p:nvSpPr>
        <p:spPr>
          <a:xfrm>
            <a:off x="4916909" y="1593056"/>
            <a:ext cx="1253226" cy="717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5"/>
          <p:cNvSpPr/>
          <p:nvPr/>
        </p:nvSpPr>
        <p:spPr>
          <a:xfrm>
            <a:off x="5002634" y="1678781"/>
            <a:ext cx="10817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안전 이슈</a:t>
            </a:r>
            <a:endParaRPr lang="en-US" sz="584" dirty="0"/>
          </a:p>
        </p:txBody>
      </p:sp>
      <p:sp>
        <p:nvSpPr>
          <p:cNvPr id="36" name="Text 26"/>
          <p:cNvSpPr/>
          <p:nvPr/>
        </p:nvSpPr>
        <p:spPr>
          <a:xfrm>
            <a:off x="5002634" y="1841302"/>
            <a:ext cx="108177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3</a:t>
            </a:r>
            <a:endParaRPr lang="en-US" sz="1193" dirty="0"/>
          </a:p>
        </p:txBody>
      </p:sp>
      <p:sp>
        <p:nvSpPr>
          <p:cNvPr id="37" name="Text 27"/>
          <p:cNvSpPr/>
          <p:nvPr/>
        </p:nvSpPr>
        <p:spPr>
          <a:xfrm>
            <a:off x="5002634" y="2110978"/>
            <a:ext cx="10817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조치 필요</a:t>
            </a:r>
            <a:endParaRPr lang="en-US" sz="568" dirty="0"/>
          </a:p>
        </p:txBody>
      </p:sp>
      <p:sp>
        <p:nvSpPr>
          <p:cNvPr id="38" name="Shape 28"/>
          <p:cNvSpPr/>
          <p:nvPr/>
        </p:nvSpPr>
        <p:spPr>
          <a:xfrm>
            <a:off x="942975" y="2396728"/>
            <a:ext cx="3427605" cy="137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29"/>
          <p:cNvSpPr/>
          <p:nvPr/>
        </p:nvSpPr>
        <p:spPr>
          <a:xfrm>
            <a:off x="4284855" y="233957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0"/>
          <p:cNvSpPr/>
          <p:nvPr/>
        </p:nvSpPr>
        <p:spPr>
          <a:xfrm>
            <a:off x="4284855" y="23395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1" name="Text 31"/>
          <p:cNvSpPr/>
          <p:nvPr/>
        </p:nvSpPr>
        <p:spPr>
          <a:xfrm>
            <a:off x="1028700" y="2482453"/>
            <a:ext cx="32561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월별 출역 추세 (최근 6개월)</a:t>
            </a:r>
            <a:endParaRPr lang="en-US" sz="683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684264"/>
            <a:ext cx="3241477" cy="100012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4456305" y="2396728"/>
            <a:ext cx="1713802" cy="13733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3"/>
          <p:cNvSpPr/>
          <p:nvPr/>
        </p:nvSpPr>
        <p:spPr>
          <a:xfrm>
            <a:off x="6084382" y="233957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4"/>
          <p:cNvSpPr/>
          <p:nvPr/>
        </p:nvSpPr>
        <p:spPr>
          <a:xfrm>
            <a:off x="6084382" y="23395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6305" y="2396728"/>
            <a:ext cx="1713802" cy="137338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456305" y="3529013"/>
            <a:ext cx="1713802" cy="241102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8" name="Text 36"/>
          <p:cNvSpPr/>
          <p:nvPr/>
        </p:nvSpPr>
        <p:spPr>
          <a:xfrm>
            <a:off x="4456305" y="3529013"/>
            <a:ext cx="1713802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비용 분석 (Cost Analysis)</a:t>
            </a:r>
            <a:endParaRPr lang="en-US" sz="584" dirty="0"/>
          </a:p>
        </p:txBody>
      </p:sp>
      <p:sp>
        <p:nvSpPr>
          <p:cNvPr id="49" name="Shape 37"/>
          <p:cNvSpPr/>
          <p:nvPr/>
        </p:nvSpPr>
        <p:spPr>
          <a:xfrm>
            <a:off x="6384448" y="1293019"/>
            <a:ext cx="2330900" cy="1457325"/>
          </a:xfrm>
          <a:prstGeom prst="rect">
            <a:avLst/>
          </a:prstGeom>
          <a:solidFill>
            <a:srgbClr val="1E293B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8501035" y="136445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39"/>
          <p:cNvSpPr/>
          <p:nvPr/>
        </p:nvSpPr>
        <p:spPr>
          <a:xfrm>
            <a:off x="8501035" y="13644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52" name="Shape 40"/>
          <p:cNvSpPr/>
          <p:nvPr/>
        </p:nvSpPr>
        <p:spPr>
          <a:xfrm>
            <a:off x="6441598" y="1350169"/>
            <a:ext cx="221660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41"/>
          <p:cNvSpPr/>
          <p:nvPr/>
        </p:nvSpPr>
        <p:spPr>
          <a:xfrm>
            <a:off x="6484460" y="1393031"/>
            <a:ext cx="2130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Dashboard</a:t>
            </a:r>
            <a:endParaRPr lang="en-US" sz="683" dirty="0"/>
          </a:p>
        </p:txBody>
      </p:sp>
      <p:sp>
        <p:nvSpPr>
          <p:cNvPr id="54" name="Shape 42"/>
          <p:cNvSpPr/>
          <p:nvPr/>
        </p:nvSpPr>
        <p:spPr>
          <a:xfrm>
            <a:off x="6484460" y="1585913"/>
            <a:ext cx="2130875" cy="471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43"/>
          <p:cNvSpPr/>
          <p:nvPr/>
        </p:nvSpPr>
        <p:spPr>
          <a:xfrm>
            <a:off x="6541610" y="1643063"/>
            <a:ext cx="2016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금일 출역</a:t>
            </a:r>
            <a:endParaRPr lang="en-US" sz="584" dirty="0"/>
          </a:p>
        </p:txBody>
      </p:sp>
      <p:sp>
        <p:nvSpPr>
          <p:cNvPr id="56" name="Text 44"/>
          <p:cNvSpPr/>
          <p:nvPr/>
        </p:nvSpPr>
        <p:spPr>
          <a:xfrm>
            <a:off x="6541610" y="1805583"/>
            <a:ext cx="20165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1,240</a:t>
            </a:r>
            <a:endParaRPr lang="en-US" sz="987" dirty="0"/>
          </a:p>
        </p:txBody>
      </p:sp>
      <p:sp>
        <p:nvSpPr>
          <p:cNvPr id="57" name="Shape 45"/>
          <p:cNvSpPr/>
          <p:nvPr/>
        </p:nvSpPr>
        <p:spPr>
          <a:xfrm>
            <a:off x="6484460" y="2100263"/>
            <a:ext cx="2130875" cy="4839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46"/>
          <p:cNvSpPr/>
          <p:nvPr/>
        </p:nvSpPr>
        <p:spPr>
          <a:xfrm>
            <a:off x="6541610" y="2157413"/>
            <a:ext cx="20165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안전 이슈</a:t>
            </a:r>
            <a:endParaRPr lang="en-US" sz="584" dirty="0"/>
          </a:p>
        </p:txBody>
      </p:sp>
      <p:sp>
        <p:nvSpPr>
          <p:cNvPr id="59" name="Text 47"/>
          <p:cNvSpPr/>
          <p:nvPr/>
        </p:nvSpPr>
        <p:spPr>
          <a:xfrm>
            <a:off x="6541610" y="2319933"/>
            <a:ext cx="20165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3 건</a:t>
            </a:r>
            <a:endParaRPr lang="en-US" sz="987" dirty="0"/>
          </a:p>
        </p:txBody>
      </p:sp>
      <p:sp>
        <p:nvSpPr>
          <p:cNvPr id="60" name="Shape 48"/>
          <p:cNvSpPr/>
          <p:nvPr/>
        </p:nvSpPr>
        <p:spPr>
          <a:xfrm>
            <a:off x="6484460" y="2627114"/>
            <a:ext cx="213087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49"/>
          <p:cNvSpPr/>
          <p:nvPr/>
        </p:nvSpPr>
        <p:spPr>
          <a:xfrm>
            <a:off x="6484460" y="2627114"/>
            <a:ext cx="2130875" cy="6858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[Chart Placeholder]</a:t>
            </a:r>
            <a:endParaRPr lang="en-US" sz="621" dirty="0"/>
          </a:p>
        </p:txBody>
      </p:sp>
      <p:sp>
        <p:nvSpPr>
          <p:cNvPr id="62" name="Shape 50"/>
          <p:cNvSpPr/>
          <p:nvPr/>
        </p:nvSpPr>
        <p:spPr>
          <a:xfrm>
            <a:off x="6384448" y="2778919"/>
            <a:ext cx="2330900" cy="216729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6470173" y="2864644"/>
            <a:ext cx="2159450" cy="20002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구현 명세 (Implementation Specs)</a:t>
            </a:r>
            <a:endParaRPr lang="en-US" sz="784" dirty="0"/>
          </a:p>
        </p:txBody>
      </p:sp>
      <p:sp>
        <p:nvSpPr>
          <p:cNvPr id="64" name="Text 52"/>
          <p:cNvSpPr/>
          <p:nvPr/>
        </p:nvSpPr>
        <p:spPr>
          <a:xfrm>
            <a:off x="6470173" y="3121819"/>
            <a:ext cx="17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4444"/>
                </a:solidFill>
              </a:rPr>
              <a:t>1</a:t>
            </a:r>
            <a:endParaRPr lang="en-US" sz="584" dirty="0"/>
          </a:p>
        </p:txBody>
      </p:sp>
      <p:sp>
        <p:nvSpPr>
          <p:cNvPr id="65" name="Text 53"/>
          <p:cNvSpPr/>
          <p:nvPr/>
        </p:nvSpPr>
        <p:spPr>
          <a:xfrm>
            <a:off x="6698773" y="3114675"/>
            <a:ext cx="840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KPI Summary Cards</a:t>
            </a:r>
            <a:endParaRPr lang="en-US" sz="584" dirty="0"/>
          </a:p>
        </p:txBody>
      </p:sp>
      <p:sp>
        <p:nvSpPr>
          <p:cNvPr id="66" name="Text 54"/>
          <p:cNvSpPr/>
          <p:nvPr/>
        </p:nvSpPr>
        <p:spPr>
          <a:xfrm>
            <a:off x="6698773" y="3217534"/>
            <a:ext cx="13733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전사 프로젝트 합산 데이터 실시간 조회</a:t>
            </a:r>
            <a:endParaRPr lang="en-US" sz="621" dirty="0"/>
          </a:p>
        </p:txBody>
      </p:sp>
      <p:sp>
        <p:nvSpPr>
          <p:cNvPr id="67" name="Shape 55"/>
          <p:cNvSpPr/>
          <p:nvPr/>
        </p:nvSpPr>
        <p:spPr>
          <a:xfrm>
            <a:off x="6698773" y="3356111"/>
            <a:ext cx="1300972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8" name="Text 56"/>
          <p:cNvSpPr/>
          <p:nvPr/>
        </p:nvSpPr>
        <p:spPr>
          <a:xfrm>
            <a:off x="6698773" y="3356111"/>
            <a:ext cx="1300972" cy="1314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/api/v1/hq/dashboard/kpi</a:t>
            </a:r>
            <a:endParaRPr lang="en-US" sz="621" dirty="0"/>
          </a:p>
        </p:txBody>
      </p:sp>
      <p:sp>
        <p:nvSpPr>
          <p:cNvPr id="69" name="Text 57"/>
          <p:cNvSpPr/>
          <p:nvPr/>
        </p:nvSpPr>
        <p:spPr>
          <a:xfrm>
            <a:off x="6470173" y="3594702"/>
            <a:ext cx="17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4444"/>
                </a:solidFill>
              </a:rPr>
              <a:t>2</a:t>
            </a:r>
            <a:endParaRPr lang="en-US" sz="584" dirty="0"/>
          </a:p>
        </p:txBody>
      </p:sp>
      <p:sp>
        <p:nvSpPr>
          <p:cNvPr id="70" name="Text 58"/>
          <p:cNvSpPr/>
          <p:nvPr/>
        </p:nvSpPr>
        <p:spPr>
          <a:xfrm>
            <a:off x="6698773" y="3587558"/>
            <a:ext cx="10248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Attendance Trend Chart</a:t>
            </a:r>
            <a:endParaRPr lang="en-US" sz="584" dirty="0"/>
          </a:p>
        </p:txBody>
      </p:sp>
      <p:sp>
        <p:nvSpPr>
          <p:cNvPr id="71" name="Text 59"/>
          <p:cNvSpPr/>
          <p:nvPr/>
        </p:nvSpPr>
        <p:spPr>
          <a:xfrm>
            <a:off x="6698773" y="3690417"/>
            <a:ext cx="15308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Chart.js Bar Chart (X: Month, Y: Count)</a:t>
            </a:r>
            <a:endParaRPr lang="en-US" sz="621" dirty="0"/>
          </a:p>
        </p:txBody>
      </p:sp>
      <p:sp>
        <p:nvSpPr>
          <p:cNvPr id="72" name="Shape 60"/>
          <p:cNvSpPr/>
          <p:nvPr/>
        </p:nvSpPr>
        <p:spPr>
          <a:xfrm>
            <a:off x="6698773" y="3828994"/>
            <a:ext cx="1273290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3" name="Text 61"/>
          <p:cNvSpPr/>
          <p:nvPr/>
        </p:nvSpPr>
        <p:spPr>
          <a:xfrm>
            <a:off x="6698773" y="3828994"/>
            <a:ext cx="1273290" cy="1314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/api/v1/hq/stats/monthly</a:t>
            </a:r>
            <a:endParaRPr lang="en-US" sz="621" dirty="0"/>
          </a:p>
        </p:txBody>
      </p:sp>
      <p:sp>
        <p:nvSpPr>
          <p:cNvPr id="74" name="Text 62"/>
          <p:cNvSpPr/>
          <p:nvPr/>
        </p:nvSpPr>
        <p:spPr>
          <a:xfrm>
            <a:off x="6470173" y="4067584"/>
            <a:ext cx="17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4444"/>
                </a:solidFill>
              </a:rPr>
              <a:t>3</a:t>
            </a:r>
            <a:endParaRPr lang="en-US" sz="584" dirty="0"/>
          </a:p>
        </p:txBody>
      </p:sp>
      <p:sp>
        <p:nvSpPr>
          <p:cNvPr id="75" name="Text 63"/>
          <p:cNvSpPr/>
          <p:nvPr/>
        </p:nvSpPr>
        <p:spPr>
          <a:xfrm>
            <a:off x="6698773" y="4060441"/>
            <a:ext cx="8910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Cost Analysis Widget</a:t>
            </a:r>
            <a:endParaRPr lang="en-US" sz="584" dirty="0"/>
          </a:p>
        </p:txBody>
      </p:sp>
      <p:sp>
        <p:nvSpPr>
          <p:cNvPr id="76" name="Text 64"/>
          <p:cNvSpPr/>
          <p:nvPr/>
        </p:nvSpPr>
        <p:spPr>
          <a:xfrm>
            <a:off x="6698773" y="4163299"/>
            <a:ext cx="13829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공종별/현장별 노무비 지출 현황 시각화</a:t>
            </a:r>
            <a:endParaRPr lang="en-US" sz="621" dirty="0"/>
          </a:p>
        </p:txBody>
      </p:sp>
      <p:sp>
        <p:nvSpPr>
          <p:cNvPr id="77" name="Shape 65"/>
          <p:cNvSpPr/>
          <p:nvPr/>
        </p:nvSpPr>
        <p:spPr>
          <a:xfrm>
            <a:off x="6698773" y="4301877"/>
            <a:ext cx="1103542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Text 66"/>
          <p:cNvSpPr/>
          <p:nvPr/>
        </p:nvSpPr>
        <p:spPr>
          <a:xfrm>
            <a:off x="6698773" y="4301877"/>
            <a:ext cx="1103542" cy="1314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/api/v1/hq/stats/cost</a:t>
            </a:r>
            <a:endParaRPr lang="en-US" sz="621" dirty="0"/>
          </a:p>
        </p:txBody>
      </p:sp>
      <p:sp>
        <p:nvSpPr>
          <p:cNvPr id="79" name="Text 67"/>
          <p:cNvSpPr/>
          <p:nvPr/>
        </p:nvSpPr>
        <p:spPr>
          <a:xfrm>
            <a:off x="6470173" y="4540467"/>
            <a:ext cx="17145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4444"/>
                </a:solidFill>
              </a:rPr>
              <a:t>4</a:t>
            </a:r>
            <a:endParaRPr lang="en-US" sz="584" dirty="0"/>
          </a:p>
        </p:txBody>
      </p:sp>
      <p:sp>
        <p:nvSpPr>
          <p:cNvPr id="80" name="Text 68"/>
          <p:cNvSpPr/>
          <p:nvPr/>
        </p:nvSpPr>
        <p:spPr>
          <a:xfrm>
            <a:off x="6698773" y="4540467"/>
            <a:ext cx="193085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Mobile Responsive View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모바일 접속 시 카드형 레이아웃 자동 전환</a:t>
            </a:r>
            <a:endParaRPr lang="en-US" sz="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024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B82F6"/>
                </a:solidFill>
              </a:rPr>
              <a:t>[본사] 프로젝트 관리 - 목록 조회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285750" y="87868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목록 조회 및 검색/필터 기능 상세 명세 (PC &amp; Mobile)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85888"/>
            <a:ext cx="5629275" cy="383083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385888"/>
            <a:ext cx="5629275" cy="19288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571625"/>
            <a:ext cx="562927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14388" y="1429643"/>
            <a:ext cx="100885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admin.smartcon.com/projects</a:t>
            </a:r>
            <a:endParaRPr lang="en-US" sz="516" dirty="0"/>
          </a:p>
        </p:txBody>
      </p:sp>
      <p:sp>
        <p:nvSpPr>
          <p:cNvPr id="11" name="Shape 8"/>
          <p:cNvSpPr/>
          <p:nvPr/>
        </p:nvSpPr>
        <p:spPr>
          <a:xfrm>
            <a:off x="371475" y="1657350"/>
            <a:ext cx="5457825" cy="40005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13287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13287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442913" y="1728788"/>
            <a:ext cx="1940309" cy="242888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00225"/>
            <a:ext cx="85725" cy="857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2938" y="1779687"/>
            <a:ext cx="5743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프로젝트명 검색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2433228" y="1728788"/>
            <a:ext cx="1038020" cy="242888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22" y="1800225"/>
            <a:ext cx="85725" cy="857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40397" y="1779687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진행중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3524827" y="1728788"/>
            <a:ext cx="1041592" cy="242888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692" y="1800225"/>
            <a:ext cx="75009" cy="857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24852" y="1779687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기간 설정</a:t>
            </a:r>
            <a:endParaRPr lang="en-US" sz="621" dirty="0"/>
          </a:p>
        </p:txBody>
      </p:sp>
      <p:sp>
        <p:nvSpPr>
          <p:cNvPr id="23" name="Shape 17"/>
          <p:cNvSpPr/>
          <p:nvPr/>
        </p:nvSpPr>
        <p:spPr>
          <a:xfrm>
            <a:off x="4623569" y="1728788"/>
            <a:ext cx="40005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8"/>
          <p:cNvSpPr/>
          <p:nvPr/>
        </p:nvSpPr>
        <p:spPr>
          <a:xfrm>
            <a:off x="4623569" y="1728788"/>
            <a:ext cx="400050" cy="228600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조회</a:t>
            </a:r>
            <a:endParaRPr lang="en-US" sz="584" dirty="0"/>
          </a:p>
        </p:txBody>
      </p:sp>
      <p:sp>
        <p:nvSpPr>
          <p:cNvPr id="25" name="Shape 19"/>
          <p:cNvSpPr/>
          <p:nvPr/>
        </p:nvSpPr>
        <p:spPr>
          <a:xfrm>
            <a:off x="5080769" y="1728788"/>
            <a:ext cx="677094" cy="228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069" y="1800225"/>
            <a:ext cx="75009" cy="857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5797" y="1779687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신규 등록</a:t>
            </a:r>
            <a:endParaRPr lang="en-US" sz="584" dirty="0"/>
          </a:p>
        </p:txBody>
      </p:sp>
      <p:sp>
        <p:nvSpPr>
          <p:cNvPr id="28" name="Shape 21"/>
          <p:cNvSpPr/>
          <p:nvPr/>
        </p:nvSpPr>
        <p:spPr>
          <a:xfrm>
            <a:off x="371475" y="2114550"/>
            <a:ext cx="735164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Shape 22"/>
          <p:cNvSpPr/>
          <p:nvPr/>
        </p:nvSpPr>
        <p:spPr>
          <a:xfrm>
            <a:off x="371475" y="2337792"/>
            <a:ext cx="73516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3"/>
          <p:cNvSpPr/>
          <p:nvPr/>
        </p:nvSpPr>
        <p:spPr>
          <a:xfrm>
            <a:off x="371475" y="2114550"/>
            <a:ext cx="735164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Image</a:t>
            </a:r>
            <a:endParaRPr lang="en-US" sz="584" dirty="0"/>
          </a:p>
        </p:txBody>
      </p:sp>
      <p:sp>
        <p:nvSpPr>
          <p:cNvPr id="31" name="Shape 24"/>
          <p:cNvSpPr/>
          <p:nvPr/>
        </p:nvSpPr>
        <p:spPr>
          <a:xfrm>
            <a:off x="1106639" y="2114550"/>
            <a:ext cx="1279596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Shape 25"/>
          <p:cNvSpPr/>
          <p:nvPr/>
        </p:nvSpPr>
        <p:spPr>
          <a:xfrm>
            <a:off x="1106639" y="2337792"/>
            <a:ext cx="127959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26"/>
          <p:cNvSpPr/>
          <p:nvPr/>
        </p:nvSpPr>
        <p:spPr>
          <a:xfrm>
            <a:off x="1106639" y="2114550"/>
            <a:ext cx="1279596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Project Name</a:t>
            </a:r>
            <a:endParaRPr lang="en-US" sz="584" dirty="0"/>
          </a:p>
        </p:txBody>
      </p:sp>
      <p:sp>
        <p:nvSpPr>
          <p:cNvPr id="34" name="Shape 27"/>
          <p:cNvSpPr/>
          <p:nvPr/>
        </p:nvSpPr>
        <p:spPr>
          <a:xfrm>
            <a:off x="2386236" y="2114550"/>
            <a:ext cx="1146125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Shape 28"/>
          <p:cNvSpPr/>
          <p:nvPr/>
        </p:nvSpPr>
        <p:spPr>
          <a:xfrm>
            <a:off x="2386236" y="2337792"/>
            <a:ext cx="11461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29"/>
          <p:cNvSpPr/>
          <p:nvPr/>
        </p:nvSpPr>
        <p:spPr>
          <a:xfrm>
            <a:off x="2386236" y="2114550"/>
            <a:ext cx="114612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Location</a:t>
            </a:r>
            <a:endParaRPr lang="en-US" sz="584" dirty="0"/>
          </a:p>
        </p:txBody>
      </p:sp>
      <p:sp>
        <p:nvSpPr>
          <p:cNvPr id="37" name="Shape 30"/>
          <p:cNvSpPr/>
          <p:nvPr/>
        </p:nvSpPr>
        <p:spPr>
          <a:xfrm>
            <a:off x="3532361" y="2114550"/>
            <a:ext cx="1111300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Shape 31"/>
          <p:cNvSpPr/>
          <p:nvPr/>
        </p:nvSpPr>
        <p:spPr>
          <a:xfrm>
            <a:off x="3532361" y="2337792"/>
            <a:ext cx="111130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2"/>
          <p:cNvSpPr/>
          <p:nvPr/>
        </p:nvSpPr>
        <p:spPr>
          <a:xfrm>
            <a:off x="3532361" y="2114550"/>
            <a:ext cx="111130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Period</a:t>
            </a:r>
            <a:endParaRPr lang="en-US" sz="584" dirty="0"/>
          </a:p>
        </p:txBody>
      </p:sp>
      <p:sp>
        <p:nvSpPr>
          <p:cNvPr id="40" name="Shape 33"/>
          <p:cNvSpPr/>
          <p:nvPr/>
        </p:nvSpPr>
        <p:spPr>
          <a:xfrm>
            <a:off x="4643661" y="2114550"/>
            <a:ext cx="561761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Shape 34"/>
          <p:cNvSpPr/>
          <p:nvPr/>
        </p:nvSpPr>
        <p:spPr>
          <a:xfrm>
            <a:off x="4643661" y="2337792"/>
            <a:ext cx="56176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5"/>
          <p:cNvSpPr/>
          <p:nvPr/>
        </p:nvSpPr>
        <p:spPr>
          <a:xfrm>
            <a:off x="4643661" y="2114550"/>
            <a:ext cx="561761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Status</a:t>
            </a:r>
            <a:endParaRPr lang="en-US" sz="584" dirty="0"/>
          </a:p>
        </p:txBody>
      </p:sp>
      <p:sp>
        <p:nvSpPr>
          <p:cNvPr id="43" name="Shape 36"/>
          <p:cNvSpPr/>
          <p:nvPr/>
        </p:nvSpPr>
        <p:spPr>
          <a:xfrm>
            <a:off x="5205422" y="2114550"/>
            <a:ext cx="623878" cy="2375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Shape 37"/>
          <p:cNvSpPr/>
          <p:nvPr/>
        </p:nvSpPr>
        <p:spPr>
          <a:xfrm>
            <a:off x="5205422" y="2337792"/>
            <a:ext cx="62387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38"/>
          <p:cNvSpPr/>
          <p:nvPr/>
        </p:nvSpPr>
        <p:spPr>
          <a:xfrm>
            <a:off x="5205422" y="2114550"/>
            <a:ext cx="623878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Workers</a:t>
            </a:r>
            <a:endParaRPr lang="en-US" sz="584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402086"/>
            <a:ext cx="442913" cy="257175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06639" y="2344936"/>
            <a:ext cx="1279596" cy="40183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서울 강남구 오피스 신축</a:t>
            </a:r>
            <a:endParaRPr lang="en-US" sz="584" dirty="0"/>
          </a:p>
        </p:txBody>
      </p:sp>
      <p:sp>
        <p:nvSpPr>
          <p:cNvPr id="48" name="Text 40"/>
          <p:cNvSpPr/>
          <p:nvPr/>
        </p:nvSpPr>
        <p:spPr>
          <a:xfrm>
            <a:off x="2386236" y="2344936"/>
            <a:ext cx="1146125" cy="40183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서울시 강남구 역삼동</a:t>
            </a:r>
            <a:endParaRPr lang="en-US" sz="621" dirty="0"/>
          </a:p>
        </p:txBody>
      </p:sp>
      <p:sp>
        <p:nvSpPr>
          <p:cNvPr id="49" name="Text 41"/>
          <p:cNvSpPr/>
          <p:nvPr/>
        </p:nvSpPr>
        <p:spPr>
          <a:xfrm>
            <a:off x="3532361" y="2344936"/>
            <a:ext cx="1111300" cy="40183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2025.01 ~ 2026.06</a:t>
            </a:r>
            <a:endParaRPr lang="en-US" sz="621" dirty="0"/>
          </a:p>
        </p:txBody>
      </p:sp>
      <p:sp>
        <p:nvSpPr>
          <p:cNvPr id="50" name="Shape 42"/>
          <p:cNvSpPr/>
          <p:nvPr/>
        </p:nvSpPr>
        <p:spPr>
          <a:xfrm>
            <a:off x="4700811" y="2469952"/>
            <a:ext cx="311479" cy="155377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3"/>
          <p:cNvSpPr/>
          <p:nvPr/>
        </p:nvSpPr>
        <p:spPr>
          <a:xfrm>
            <a:off x="4700811" y="2469952"/>
            <a:ext cx="311479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52" name="Text 44"/>
          <p:cNvSpPr/>
          <p:nvPr/>
        </p:nvSpPr>
        <p:spPr>
          <a:xfrm>
            <a:off x="5205422" y="2344936"/>
            <a:ext cx="623878" cy="40183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142명</a:t>
            </a:r>
            <a:endParaRPr lang="en-US" sz="621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2807494"/>
            <a:ext cx="442913" cy="257175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1106639" y="2746772"/>
            <a:ext cx="1279596" cy="40540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부산 해운대 주상복합</a:t>
            </a:r>
            <a:endParaRPr lang="en-US" sz="584" dirty="0"/>
          </a:p>
        </p:txBody>
      </p:sp>
      <p:sp>
        <p:nvSpPr>
          <p:cNvPr id="55" name="Text 46"/>
          <p:cNvSpPr/>
          <p:nvPr/>
        </p:nvSpPr>
        <p:spPr>
          <a:xfrm>
            <a:off x="2386236" y="2746772"/>
            <a:ext cx="1146125" cy="40540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부산시 해운대구 우동</a:t>
            </a:r>
            <a:endParaRPr lang="en-US" sz="621" dirty="0"/>
          </a:p>
        </p:txBody>
      </p:sp>
      <p:sp>
        <p:nvSpPr>
          <p:cNvPr id="56" name="Text 47"/>
          <p:cNvSpPr/>
          <p:nvPr/>
        </p:nvSpPr>
        <p:spPr>
          <a:xfrm>
            <a:off x="3532361" y="2746772"/>
            <a:ext cx="1111300" cy="40540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2024.03 ~ 2025.12</a:t>
            </a:r>
            <a:endParaRPr lang="en-US" sz="621" dirty="0"/>
          </a:p>
        </p:txBody>
      </p:sp>
      <p:sp>
        <p:nvSpPr>
          <p:cNvPr id="57" name="Shape 48"/>
          <p:cNvSpPr/>
          <p:nvPr/>
        </p:nvSpPr>
        <p:spPr>
          <a:xfrm>
            <a:off x="4700811" y="2875359"/>
            <a:ext cx="311479" cy="155377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8" name="Text 49"/>
          <p:cNvSpPr/>
          <p:nvPr/>
        </p:nvSpPr>
        <p:spPr>
          <a:xfrm>
            <a:off x="4700811" y="2875359"/>
            <a:ext cx="311479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59" name="Text 50"/>
          <p:cNvSpPr/>
          <p:nvPr/>
        </p:nvSpPr>
        <p:spPr>
          <a:xfrm>
            <a:off x="5205422" y="2746772"/>
            <a:ext cx="623878" cy="40540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89명</a:t>
            </a:r>
            <a:endParaRPr lang="en-US" sz="621" dirty="0"/>
          </a:p>
        </p:txBody>
      </p:sp>
      <p:sp>
        <p:nvSpPr>
          <p:cNvPr id="60" name="Text 51"/>
          <p:cNvSpPr/>
          <p:nvPr/>
        </p:nvSpPr>
        <p:spPr>
          <a:xfrm>
            <a:off x="1106639" y="3152180"/>
            <a:ext cx="1279596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인천 물류센터 A동</a:t>
            </a:r>
            <a:endParaRPr lang="en-US" sz="584" dirty="0"/>
          </a:p>
        </p:txBody>
      </p:sp>
      <p:sp>
        <p:nvSpPr>
          <p:cNvPr id="61" name="Text 52"/>
          <p:cNvSpPr/>
          <p:nvPr/>
        </p:nvSpPr>
        <p:spPr>
          <a:xfrm>
            <a:off x="2386236" y="3152180"/>
            <a:ext cx="1146125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인천시 서구 원창동</a:t>
            </a:r>
            <a:endParaRPr lang="en-US" sz="621" dirty="0"/>
          </a:p>
        </p:txBody>
      </p:sp>
      <p:sp>
        <p:nvSpPr>
          <p:cNvPr id="62" name="Text 53"/>
          <p:cNvSpPr/>
          <p:nvPr/>
        </p:nvSpPr>
        <p:spPr>
          <a:xfrm>
            <a:off x="3532361" y="3152180"/>
            <a:ext cx="1111300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2023.01 ~ 2024.12</a:t>
            </a:r>
            <a:endParaRPr lang="en-US" sz="621" dirty="0"/>
          </a:p>
        </p:txBody>
      </p:sp>
      <p:sp>
        <p:nvSpPr>
          <p:cNvPr id="63" name="Shape 54"/>
          <p:cNvSpPr/>
          <p:nvPr/>
        </p:nvSpPr>
        <p:spPr>
          <a:xfrm>
            <a:off x="4700811" y="3260229"/>
            <a:ext cx="245762" cy="155377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64" name="Text 55"/>
          <p:cNvSpPr/>
          <p:nvPr/>
        </p:nvSpPr>
        <p:spPr>
          <a:xfrm>
            <a:off x="4700811" y="3260229"/>
            <a:ext cx="245762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4A3B8"/>
                </a:solidFill>
              </a:rPr>
              <a:t>완료</a:t>
            </a:r>
            <a:endParaRPr lang="en-US" sz="485" dirty="0"/>
          </a:p>
        </p:txBody>
      </p:sp>
      <p:sp>
        <p:nvSpPr>
          <p:cNvPr id="65" name="Text 56"/>
          <p:cNvSpPr/>
          <p:nvPr/>
        </p:nvSpPr>
        <p:spPr>
          <a:xfrm>
            <a:off x="5205422" y="3152180"/>
            <a:ext cx="623878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0명</a:t>
            </a:r>
            <a:endParaRPr lang="en-US" sz="621" dirty="0"/>
          </a:p>
        </p:txBody>
      </p:sp>
      <p:sp>
        <p:nvSpPr>
          <p:cNvPr id="66" name="Shape 57"/>
          <p:cNvSpPr/>
          <p:nvPr/>
        </p:nvSpPr>
        <p:spPr>
          <a:xfrm>
            <a:off x="3100388" y="23860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58"/>
          <p:cNvSpPr/>
          <p:nvPr/>
        </p:nvSpPr>
        <p:spPr>
          <a:xfrm>
            <a:off x="3100388" y="23860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8" name="Shape 59"/>
          <p:cNvSpPr/>
          <p:nvPr/>
        </p:nvSpPr>
        <p:spPr>
          <a:xfrm>
            <a:off x="6329363" y="1385888"/>
            <a:ext cx="2200275" cy="234315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6357938" y="1385888"/>
            <a:ext cx="2143125" cy="26431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0" name="Shape 61"/>
          <p:cNvSpPr/>
          <p:nvPr/>
        </p:nvSpPr>
        <p:spPr>
          <a:xfrm>
            <a:off x="6357938" y="1643063"/>
            <a:ext cx="2143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1" name="Text 62"/>
          <p:cNvSpPr/>
          <p:nvPr/>
        </p:nvSpPr>
        <p:spPr>
          <a:xfrm>
            <a:off x="6357938" y="1385888"/>
            <a:ext cx="214312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프로젝트 목록</a:t>
            </a:r>
            <a:endParaRPr lang="en-US" sz="683" dirty="0"/>
          </a:p>
        </p:txBody>
      </p:sp>
      <p:sp>
        <p:nvSpPr>
          <p:cNvPr id="72" name="Shape 63"/>
          <p:cNvSpPr/>
          <p:nvPr/>
        </p:nvSpPr>
        <p:spPr>
          <a:xfrm>
            <a:off x="6429375" y="1714500"/>
            <a:ext cx="2000250" cy="107513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1714500"/>
            <a:ext cx="2000250" cy="571500"/>
          </a:xfrm>
          <a:prstGeom prst="rect">
            <a:avLst/>
          </a:prstGeom>
        </p:spPr>
      </p:pic>
      <p:sp>
        <p:nvSpPr>
          <p:cNvPr id="74" name="Text 64"/>
          <p:cNvSpPr/>
          <p:nvPr/>
        </p:nvSpPr>
        <p:spPr>
          <a:xfrm>
            <a:off x="6486525" y="2377083"/>
            <a:ext cx="18859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서울 강남구 오피스 신축</a:t>
            </a:r>
            <a:endParaRPr lang="en-US" sz="683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580680"/>
            <a:ext cx="58936" cy="78581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6545461" y="2564606"/>
            <a:ext cx="2373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역삼동</a:t>
            </a:r>
            <a:endParaRPr lang="en-US" sz="568" dirty="0"/>
          </a:p>
        </p:txBody>
      </p:sp>
      <p:sp>
        <p:nvSpPr>
          <p:cNvPr id="77" name="Shape 66"/>
          <p:cNvSpPr/>
          <p:nvPr/>
        </p:nvSpPr>
        <p:spPr>
          <a:xfrm>
            <a:off x="8060996" y="2557463"/>
            <a:ext cx="311479" cy="160734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78" name="Text 67"/>
          <p:cNvSpPr/>
          <p:nvPr/>
        </p:nvSpPr>
        <p:spPr>
          <a:xfrm>
            <a:off x="8060996" y="2557463"/>
            <a:ext cx="311479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79" name="Shape 68"/>
          <p:cNvSpPr/>
          <p:nvPr/>
        </p:nvSpPr>
        <p:spPr>
          <a:xfrm>
            <a:off x="6429375" y="2846784"/>
            <a:ext cx="2000250" cy="107513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846784"/>
            <a:ext cx="2000250" cy="57150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6486525" y="3509367"/>
            <a:ext cx="18859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부산 해운대 주상복합</a:t>
            </a:r>
            <a:endParaRPr lang="en-US" sz="683" dirty="0"/>
          </a:p>
        </p:txBody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3712964"/>
            <a:ext cx="58936" cy="78581"/>
          </a:xfrm>
          <a:prstGeom prst="rect">
            <a:avLst/>
          </a:prstGeom>
        </p:spPr>
      </p:pic>
      <p:sp>
        <p:nvSpPr>
          <p:cNvPr id="83" name="Text 70"/>
          <p:cNvSpPr/>
          <p:nvPr/>
        </p:nvSpPr>
        <p:spPr>
          <a:xfrm>
            <a:off x="6545461" y="3696891"/>
            <a:ext cx="16503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우동</a:t>
            </a:r>
            <a:endParaRPr lang="en-US" sz="568" dirty="0"/>
          </a:p>
        </p:txBody>
      </p:sp>
      <p:sp>
        <p:nvSpPr>
          <p:cNvPr id="84" name="Shape 71"/>
          <p:cNvSpPr/>
          <p:nvPr/>
        </p:nvSpPr>
        <p:spPr>
          <a:xfrm>
            <a:off x="8060996" y="3689747"/>
            <a:ext cx="311479" cy="160734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5" name="Text 72"/>
          <p:cNvSpPr/>
          <p:nvPr/>
        </p:nvSpPr>
        <p:spPr>
          <a:xfrm>
            <a:off x="8060996" y="3689747"/>
            <a:ext cx="311479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진행중</a:t>
            </a:r>
            <a:endParaRPr lang="en-US" sz="485" dirty="0"/>
          </a:p>
        </p:txBody>
      </p:sp>
      <p:sp>
        <p:nvSpPr>
          <p:cNvPr id="86" name="Shape 73"/>
          <p:cNvSpPr/>
          <p:nvPr/>
        </p:nvSpPr>
        <p:spPr>
          <a:xfrm>
            <a:off x="7429500" y="24374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7" name="Text 74"/>
          <p:cNvSpPr/>
          <p:nvPr/>
        </p:nvSpPr>
        <p:spPr>
          <a:xfrm>
            <a:off x="7429500" y="243744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8" name="Shape 75"/>
          <p:cNvSpPr/>
          <p:nvPr/>
        </p:nvSpPr>
        <p:spPr>
          <a:xfrm>
            <a:off x="6000750" y="3757613"/>
            <a:ext cx="2857500" cy="140196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9" name="Shape 76"/>
          <p:cNvSpPr/>
          <p:nvPr/>
        </p:nvSpPr>
        <p:spPr>
          <a:xfrm>
            <a:off x="6000750" y="3757613"/>
            <a:ext cx="28575" cy="1401961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6475" y="3863876"/>
            <a:ext cx="142875" cy="114300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6300788" y="3843338"/>
            <a:ext cx="12834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92" name="Text 78"/>
          <p:cNvSpPr/>
          <p:nvPr/>
        </p:nvSpPr>
        <p:spPr>
          <a:xfrm>
            <a:off x="6086475" y="4070152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API</a:t>
            </a:r>
            <a:endParaRPr lang="en-US" sz="634" dirty="0"/>
          </a:p>
        </p:txBody>
      </p:sp>
      <p:sp>
        <p:nvSpPr>
          <p:cNvPr id="93" name="Shape 79"/>
          <p:cNvSpPr/>
          <p:nvPr/>
        </p:nvSpPr>
        <p:spPr>
          <a:xfrm>
            <a:off x="6729413" y="4064794"/>
            <a:ext cx="898829" cy="14466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4" name="Text 80"/>
          <p:cNvSpPr/>
          <p:nvPr/>
        </p:nvSpPr>
        <p:spPr>
          <a:xfrm>
            <a:off x="6729413" y="4064794"/>
            <a:ext cx="898829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/api/v1/projects</a:t>
            </a:r>
            <a:endParaRPr lang="en-US" sz="621" dirty="0"/>
          </a:p>
        </p:txBody>
      </p:sp>
      <p:sp>
        <p:nvSpPr>
          <p:cNvPr id="95" name="Text 81"/>
          <p:cNvSpPr/>
          <p:nvPr/>
        </p:nvSpPr>
        <p:spPr>
          <a:xfrm>
            <a:off x="6086475" y="4254103"/>
            <a:ext cx="5715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Params</a:t>
            </a:r>
            <a:endParaRPr lang="en-US" sz="634" dirty="0"/>
          </a:p>
        </p:txBody>
      </p:sp>
      <p:sp>
        <p:nvSpPr>
          <p:cNvPr id="96" name="Text 82"/>
          <p:cNvSpPr/>
          <p:nvPr/>
        </p:nvSpPr>
        <p:spPr>
          <a:xfrm>
            <a:off x="6729413" y="4254103"/>
            <a:ext cx="1128489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page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size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(Default 10),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keyword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(Name/Addr),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status</a:t>
            </a:r>
            <a:pPr algn="l" indent="0" marL="0">
              <a:lnSpc>
                <a:spcPts val="8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(ACTIVE/DONE)</a:t>
            </a:r>
            <a:endParaRPr lang="en-US" sz="621" dirty="0"/>
          </a:p>
        </p:txBody>
      </p:sp>
      <p:sp>
        <p:nvSpPr>
          <p:cNvPr id="97" name="Text 83"/>
          <p:cNvSpPr/>
          <p:nvPr/>
        </p:nvSpPr>
        <p:spPr>
          <a:xfrm>
            <a:off x="6086475" y="4691658"/>
            <a:ext cx="571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Logic</a:t>
            </a:r>
            <a:endParaRPr lang="en-US" sz="634" dirty="0"/>
          </a:p>
        </p:txBody>
      </p:sp>
      <p:sp>
        <p:nvSpPr>
          <p:cNvPr id="98" name="Text 84"/>
          <p:cNvSpPr/>
          <p:nvPr/>
        </p:nvSpPr>
        <p:spPr>
          <a:xfrm>
            <a:off x="6729413" y="4691658"/>
            <a:ext cx="1021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1.</a:t>
            </a:r>
            <a:endParaRPr lang="en-US" sz="674" dirty="0"/>
          </a:p>
        </p:txBody>
      </p:sp>
      <p:sp>
        <p:nvSpPr>
          <p:cNvPr id="99" name="Shape 85"/>
          <p:cNvSpPr/>
          <p:nvPr/>
        </p:nvSpPr>
        <p:spPr>
          <a:xfrm>
            <a:off x="6831574" y="470505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0" name="Text 86"/>
          <p:cNvSpPr/>
          <p:nvPr/>
        </p:nvSpPr>
        <p:spPr>
          <a:xfrm>
            <a:off x="6831574" y="47050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</a:t>
            </a:r>
            <a:endParaRPr lang="en-US" sz="485" dirty="0"/>
          </a:p>
        </p:txBody>
      </p:sp>
      <p:sp>
        <p:nvSpPr>
          <p:cNvPr id="101" name="Text 87"/>
          <p:cNvSpPr/>
          <p:nvPr/>
        </p:nvSpPr>
        <p:spPr>
          <a:xfrm>
            <a:off x="6945874" y="4691658"/>
            <a:ext cx="1429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Debounce search input (300ms).</a:t>
            </a:r>
            <a:endParaRPr lang="en-US" sz="674" dirty="0"/>
          </a:p>
        </p:txBody>
      </p:sp>
      <p:sp>
        <p:nvSpPr>
          <p:cNvPr id="102" name="Text 88"/>
          <p:cNvSpPr/>
          <p:nvPr/>
        </p:nvSpPr>
        <p:spPr>
          <a:xfrm>
            <a:off x="6729413" y="4819352"/>
            <a:ext cx="1021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2.</a:t>
            </a:r>
            <a:endParaRPr lang="en-US" sz="674" dirty="0"/>
          </a:p>
        </p:txBody>
      </p:sp>
      <p:sp>
        <p:nvSpPr>
          <p:cNvPr id="103" name="Shape 89"/>
          <p:cNvSpPr/>
          <p:nvPr/>
        </p:nvSpPr>
        <p:spPr>
          <a:xfrm>
            <a:off x="6831574" y="4832747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4" name="Text 90"/>
          <p:cNvSpPr/>
          <p:nvPr/>
        </p:nvSpPr>
        <p:spPr>
          <a:xfrm>
            <a:off x="6831574" y="48327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2</a:t>
            </a:r>
            <a:endParaRPr lang="en-US" sz="485" dirty="0"/>
          </a:p>
        </p:txBody>
      </p:sp>
      <p:sp>
        <p:nvSpPr>
          <p:cNvPr id="105" name="Text 91"/>
          <p:cNvSpPr/>
          <p:nvPr/>
        </p:nvSpPr>
        <p:spPr>
          <a:xfrm>
            <a:off x="6945874" y="4819352"/>
            <a:ext cx="17321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Infinite scroll for Mobile, Pagination for</a:t>
            </a:r>
            <a:endParaRPr lang="en-US" sz="674" dirty="0"/>
          </a:p>
        </p:txBody>
      </p:sp>
      <p:sp>
        <p:nvSpPr>
          <p:cNvPr id="106" name="Text 92"/>
          <p:cNvSpPr/>
          <p:nvPr/>
        </p:nvSpPr>
        <p:spPr>
          <a:xfrm>
            <a:off x="6729413" y="4947047"/>
            <a:ext cx="1397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PC.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217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36064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 관리 - 상세 및 수정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기본 정보 수정 및 설치 기기(Device) 상태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28958"/>
            <a:ext cx="5643563" cy="3014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28958"/>
            <a:ext cx="5643563" cy="1232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645044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71538" y="1528958"/>
            <a:ext cx="13413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Admin &gt; Project Detail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92906" y="1752200"/>
            <a:ext cx="54292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Home / Projects / SmartCON HQ Construction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392906" y="2025448"/>
            <a:ext cx="142590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스마트콘 본사 신축 공사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5414097" y="2029913"/>
            <a:ext cx="408059" cy="198239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5414097" y="2029913"/>
            <a:ext cx="408059" cy="198239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64E3B"/>
                </a:solidFill>
              </a:rPr>
              <a:t>진행중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392906" y="2418355"/>
            <a:ext cx="26717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프로젝트 명</a:t>
            </a:r>
            <a:endParaRPr lang="en-US" sz="584" dirty="0"/>
          </a:p>
        </p:txBody>
      </p:sp>
      <p:sp>
        <p:nvSpPr>
          <p:cNvPr id="16" name="Shape 13"/>
          <p:cNvSpPr/>
          <p:nvPr/>
        </p:nvSpPr>
        <p:spPr>
          <a:xfrm>
            <a:off x="2993231" y="234691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2993231" y="234691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3150394" y="2418355"/>
            <a:ext cx="26717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 코드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392906" y="2946992"/>
            <a:ext cx="26717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공사 기간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150394" y="2946992"/>
            <a:ext cx="26717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현장 주소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392906" y="3639936"/>
            <a:ext cx="5429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등록 기기 현황 (Devices)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1428750" y="15289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1428750" y="152895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392906" y="4047130"/>
            <a:ext cx="924111" cy="194667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Device ID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1317017" y="4047130"/>
            <a:ext cx="1260593" cy="194667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Type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2577610" y="4047130"/>
            <a:ext cx="955700" cy="194667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Location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3533310" y="4047130"/>
            <a:ext cx="709436" cy="194667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Status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242746" y="4047130"/>
            <a:ext cx="1579411" cy="194667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Last Heartbeat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392906" y="4241797"/>
            <a:ext cx="924111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DEV-FR-001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1317017" y="4241797"/>
            <a:ext cx="1260593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Face Reader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2577610" y="4241797"/>
            <a:ext cx="955700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Main Gate A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3633322" y="4288231"/>
            <a:ext cx="28762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Online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242746" y="4241797"/>
            <a:ext cx="1579411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2026-01-20 14:30:05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92906" y="4461467"/>
            <a:ext cx="924111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DEV-BC-002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1317017" y="4461467"/>
            <a:ext cx="1260593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Beacon Scanner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2577610" y="4461467"/>
            <a:ext cx="955700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Zone B (B1)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3633322" y="4507902"/>
            <a:ext cx="2941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Offline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242746" y="4461467"/>
            <a:ext cx="1579411" cy="219670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2026-01-20 09:15:00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4611291" y="4799009"/>
            <a:ext cx="475059" cy="27146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7"/>
          <p:cNvSpPr/>
          <p:nvPr/>
        </p:nvSpPr>
        <p:spPr>
          <a:xfrm>
            <a:off x="4611291" y="4799009"/>
            <a:ext cx="475059" cy="27146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FFFFFF"/>
                </a:solidFill>
              </a:rPr>
              <a:t>취소</a:t>
            </a:r>
            <a:endParaRPr lang="en-US" sz="691" dirty="0"/>
          </a:p>
        </p:txBody>
      </p:sp>
      <p:sp>
        <p:nvSpPr>
          <p:cNvPr id="41" name="Shape 38"/>
          <p:cNvSpPr/>
          <p:nvPr/>
        </p:nvSpPr>
        <p:spPr>
          <a:xfrm>
            <a:off x="5157788" y="4799009"/>
            <a:ext cx="664369" cy="2714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5157788" y="4799009"/>
            <a:ext cx="664369" cy="27146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저장하기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5822156" y="14932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1"/>
          <p:cNvSpPr/>
          <p:nvPr/>
        </p:nvSpPr>
        <p:spPr>
          <a:xfrm>
            <a:off x="5822156" y="149323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5" name="Shape 42"/>
          <p:cNvSpPr/>
          <p:nvPr/>
        </p:nvSpPr>
        <p:spPr>
          <a:xfrm>
            <a:off x="6143625" y="1528958"/>
            <a:ext cx="2714625" cy="197125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43"/>
          <p:cNvSpPr/>
          <p:nvPr/>
        </p:nvSpPr>
        <p:spPr>
          <a:xfrm>
            <a:off x="6143625" y="1528958"/>
            <a:ext cx="28575" cy="19712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635221"/>
            <a:ext cx="114300" cy="1143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415088" y="1614683"/>
            <a:ext cx="12834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49" name="Shape 45"/>
          <p:cNvSpPr/>
          <p:nvPr/>
        </p:nvSpPr>
        <p:spPr>
          <a:xfrm>
            <a:off x="6229350" y="18414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6"/>
          <p:cNvSpPr/>
          <p:nvPr/>
        </p:nvSpPr>
        <p:spPr>
          <a:xfrm>
            <a:off x="6229350" y="18414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1" name="Text 47"/>
          <p:cNvSpPr/>
          <p:nvPr/>
        </p:nvSpPr>
        <p:spPr>
          <a:xfrm>
            <a:off x="6486525" y="1841497"/>
            <a:ext cx="1717067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Update Info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API: PUT /api/v1/projects/{id}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Validation: Date range, Address format.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Role: HQ Admin Only.</a:t>
            </a:r>
            <a:endParaRPr lang="en-US" sz="634" dirty="0"/>
          </a:p>
        </p:txBody>
      </p:sp>
      <p:sp>
        <p:nvSpPr>
          <p:cNvPr id="52" name="Shape 48"/>
          <p:cNvSpPr/>
          <p:nvPr/>
        </p:nvSpPr>
        <p:spPr>
          <a:xfrm>
            <a:off x="6229350" y="243297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49"/>
          <p:cNvSpPr/>
          <p:nvPr/>
        </p:nvSpPr>
        <p:spPr>
          <a:xfrm>
            <a:off x="6229350" y="24329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6486525" y="2432977"/>
            <a:ext cx="1523628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Device Monitor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Protocol: WebSocket / MQTT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Logic: Heartbeat check every 30s.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Alert: If offline &gt; 10min, send push.</a:t>
            </a:r>
            <a:endParaRPr lang="en-US" sz="634" dirty="0"/>
          </a:p>
        </p:txBody>
      </p:sp>
      <p:sp>
        <p:nvSpPr>
          <p:cNvPr id="55" name="Shape 51"/>
          <p:cNvSpPr/>
          <p:nvPr/>
        </p:nvSpPr>
        <p:spPr>
          <a:xfrm>
            <a:off x="6229350" y="302445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2"/>
          <p:cNvSpPr/>
          <p:nvPr/>
        </p:nvSpPr>
        <p:spPr>
          <a:xfrm>
            <a:off x="6229350" y="302445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7" name="Text 53"/>
          <p:cNvSpPr/>
          <p:nvPr/>
        </p:nvSpPr>
        <p:spPr>
          <a:xfrm>
            <a:off x="6486525" y="3024457"/>
            <a:ext cx="1649006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Save Action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Audit Log: Record who changed what.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Toast: "저장되었습니다" on success.</a:t>
            </a:r>
            <a:endParaRPr lang="en-US" sz="634" dirty="0"/>
          </a:p>
        </p:txBody>
      </p:sp>
      <p:sp>
        <p:nvSpPr>
          <p:cNvPr id="58" name="Shape 54"/>
          <p:cNvSpPr/>
          <p:nvPr/>
        </p:nvSpPr>
        <p:spPr>
          <a:xfrm>
            <a:off x="6143625" y="3628802"/>
            <a:ext cx="2714625" cy="120015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3" y="3746674"/>
            <a:ext cx="75009" cy="100013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6290072" y="3728814"/>
            <a:ext cx="11833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Mobile View (Site Admin)</a:t>
            </a:r>
            <a:endParaRPr lang="en-US" sz="727" dirty="0"/>
          </a:p>
        </p:txBody>
      </p:sp>
      <p:sp>
        <p:nvSpPr>
          <p:cNvPr id="61" name="Text 56"/>
          <p:cNvSpPr/>
          <p:nvPr/>
        </p:nvSpPr>
        <p:spPr>
          <a:xfrm>
            <a:off x="6215063" y="3964558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현장명</a:t>
            </a:r>
            <a:endParaRPr lang="en-US" sz="621" dirty="0"/>
          </a:p>
        </p:txBody>
      </p:sp>
      <p:sp>
        <p:nvSpPr>
          <p:cNvPr id="62" name="Text 57"/>
          <p:cNvSpPr/>
          <p:nvPr/>
        </p:nvSpPr>
        <p:spPr>
          <a:xfrm>
            <a:off x="8291299" y="3964558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스마트콘 본사</a:t>
            </a:r>
            <a:endParaRPr lang="en-US" sz="621" dirty="0"/>
          </a:p>
        </p:txBody>
      </p:sp>
      <p:sp>
        <p:nvSpPr>
          <p:cNvPr id="63" name="Text 58"/>
          <p:cNvSpPr/>
          <p:nvPr/>
        </p:nvSpPr>
        <p:spPr>
          <a:xfrm>
            <a:off x="6215063" y="4134222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기기 상태</a:t>
            </a:r>
            <a:endParaRPr lang="en-US" sz="621" dirty="0"/>
          </a:p>
        </p:txBody>
      </p:sp>
      <p:sp>
        <p:nvSpPr>
          <p:cNvPr id="64" name="Text 59"/>
          <p:cNvSpPr/>
          <p:nvPr/>
        </p:nvSpPr>
        <p:spPr>
          <a:xfrm>
            <a:off x="8425383" y="4134222"/>
            <a:ext cx="3614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정상 (1/2)</a:t>
            </a:r>
            <a:endParaRPr lang="en-US" sz="621" dirty="0"/>
          </a:p>
        </p:txBody>
      </p:sp>
      <p:sp>
        <p:nvSpPr>
          <p:cNvPr id="65" name="Shape 60"/>
          <p:cNvSpPr/>
          <p:nvPr/>
        </p:nvSpPr>
        <p:spPr>
          <a:xfrm>
            <a:off x="6215063" y="4318174"/>
            <a:ext cx="2571750" cy="192881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4377110"/>
            <a:ext cx="78581" cy="78581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6336506" y="4361036"/>
            <a:ext cx="72414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DEV-BC-002 Offline</a:t>
            </a:r>
            <a:endParaRPr lang="en-US" sz="56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7929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1207294"/>
            <a:ext cx="828675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28675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spc="-1" kern="0" dirty="0">
                <a:solidFill>
                  <a:srgbClr val="3B82F6"/>
                </a:solidFill>
              </a:rPr>
              <a:t>[본사] 프로젝트 관리 - 신규 개설 및 초대</a:t>
            </a:r>
            <a:endParaRPr lang="en-US" sz="2016" dirty="0"/>
          </a:p>
        </p:txBody>
      </p:sp>
      <p:sp>
        <p:nvSpPr>
          <p:cNvPr id="6" name="Text 3"/>
          <p:cNvSpPr/>
          <p:nvPr/>
        </p:nvSpPr>
        <p:spPr>
          <a:xfrm>
            <a:off x="428625" y="914400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새 현장 생성 및 현장 관리자 이메일/문자 초대 기능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1464469"/>
            <a:ext cx="3571875" cy="362188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464469"/>
            <a:ext cx="3571875" cy="1714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557213" y="1764506"/>
            <a:ext cx="3314700" cy="27146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신규 현장 등록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57213" y="2178844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프로젝트 명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557213" y="2687836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3605808" y="2866430"/>
            <a:ext cx="266105" cy="244673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533" y="2937867"/>
            <a:ext cx="94655" cy="9524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71900" y="261639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1"/>
          <p:cNvSpPr/>
          <p:nvPr/>
        </p:nvSpPr>
        <p:spPr>
          <a:xfrm>
            <a:off x="3771900" y="261639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557213" y="3196828"/>
            <a:ext cx="3314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2139023" y="3420070"/>
            <a:ext cx="151107" cy="155377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557213" y="3748683"/>
            <a:ext cx="3314700" cy="75366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3832622"/>
            <a:ext cx="125016" cy="10001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9378" y="3814763"/>
            <a:ext cx="72210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현장 관리자 초대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614363" y="4007644"/>
            <a:ext cx="32004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 / 연락처 (이메일 or 휴대폰)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714750" y="39362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3714750" y="39362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4" name="Shape 19"/>
          <p:cNvSpPr/>
          <p:nvPr/>
        </p:nvSpPr>
        <p:spPr>
          <a:xfrm>
            <a:off x="557213" y="4630936"/>
            <a:ext cx="3314700" cy="29825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278" y="4726484"/>
            <a:ext cx="107156" cy="1071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60584" y="4702373"/>
            <a:ext cx="872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개설 및 초대장 발송</a:t>
            </a:r>
            <a:endParaRPr lang="en-US" sz="734" dirty="0"/>
          </a:p>
        </p:txBody>
      </p:sp>
      <p:sp>
        <p:nvSpPr>
          <p:cNvPr id="27" name="Shape 21"/>
          <p:cNvSpPr/>
          <p:nvPr/>
        </p:nvSpPr>
        <p:spPr>
          <a:xfrm>
            <a:off x="9008269" y="-357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9008269" y="-357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9" name="Shape 23"/>
          <p:cNvSpPr/>
          <p:nvPr/>
        </p:nvSpPr>
        <p:spPr>
          <a:xfrm>
            <a:off x="4214813" y="1464469"/>
            <a:ext cx="4500563" cy="6304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4611067" y="1550194"/>
            <a:ext cx="285750" cy="28575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612" y="1628775"/>
            <a:ext cx="144661" cy="128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300538" y="1893094"/>
            <a:ext cx="9068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Input Info</a:t>
            </a:r>
            <a:endParaRPr lang="en-US" sz="584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072" y="1729680"/>
            <a:ext cx="62508" cy="100013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751835" y="1550194"/>
            <a:ext cx="285750" cy="28575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453" y="1628775"/>
            <a:ext cx="112514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441305" y="1893094"/>
            <a:ext cx="9068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Create DB</a:t>
            </a:r>
            <a:endParaRPr lang="en-US" sz="584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3840" y="1729680"/>
            <a:ext cx="62508" cy="100013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6892603" y="1550194"/>
            <a:ext cx="285750" cy="28575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1184" y="1628775"/>
            <a:ext cx="128588" cy="128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82073" y="1893094"/>
            <a:ext cx="9068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Gen Token</a:t>
            </a:r>
            <a:endParaRPr lang="en-US" sz="584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4607" y="1729680"/>
            <a:ext cx="62508" cy="100013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8033370" y="1550194"/>
            <a:ext cx="285750" cy="28575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1951" y="1628775"/>
            <a:ext cx="128588" cy="12858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722840" y="1893094"/>
            <a:ext cx="9068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Send Invite</a:t>
            </a:r>
            <a:endParaRPr lang="en-US" sz="584" dirty="0"/>
          </a:p>
        </p:txBody>
      </p:sp>
      <p:sp>
        <p:nvSpPr>
          <p:cNvPr id="45" name="Shape 32"/>
          <p:cNvSpPr/>
          <p:nvPr/>
        </p:nvSpPr>
        <p:spPr>
          <a:xfrm>
            <a:off x="4214813" y="2223492"/>
            <a:ext cx="357188" cy="24216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Shape 33"/>
          <p:cNvSpPr/>
          <p:nvPr/>
        </p:nvSpPr>
        <p:spPr>
          <a:xfrm>
            <a:off x="4214813" y="2451367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7" name="Text 34"/>
          <p:cNvSpPr/>
          <p:nvPr/>
        </p:nvSpPr>
        <p:spPr>
          <a:xfrm>
            <a:off x="4214813" y="2223492"/>
            <a:ext cx="357188" cy="2421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8" name="Shape 35"/>
          <p:cNvSpPr/>
          <p:nvPr/>
        </p:nvSpPr>
        <p:spPr>
          <a:xfrm>
            <a:off x="4572000" y="2223492"/>
            <a:ext cx="1000125" cy="24216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36"/>
          <p:cNvSpPr/>
          <p:nvPr/>
        </p:nvSpPr>
        <p:spPr>
          <a:xfrm>
            <a:off x="4572000" y="2451367"/>
            <a:ext cx="100012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" name="Text 37"/>
          <p:cNvSpPr/>
          <p:nvPr/>
        </p:nvSpPr>
        <p:spPr>
          <a:xfrm>
            <a:off x="4572000" y="2223492"/>
            <a:ext cx="1000125" cy="2421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Feature</a:t>
            </a:r>
            <a:endParaRPr lang="en-US" sz="634" dirty="0"/>
          </a:p>
        </p:txBody>
      </p:sp>
      <p:sp>
        <p:nvSpPr>
          <p:cNvPr id="51" name="Shape 38"/>
          <p:cNvSpPr/>
          <p:nvPr/>
        </p:nvSpPr>
        <p:spPr>
          <a:xfrm>
            <a:off x="5572125" y="2223492"/>
            <a:ext cx="3143250" cy="24216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Shape 39"/>
          <p:cNvSpPr/>
          <p:nvPr/>
        </p:nvSpPr>
        <p:spPr>
          <a:xfrm>
            <a:off x="5572125" y="2451367"/>
            <a:ext cx="3143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40"/>
          <p:cNvSpPr/>
          <p:nvPr/>
        </p:nvSpPr>
        <p:spPr>
          <a:xfrm>
            <a:off x="5572125" y="2223492"/>
            <a:ext cx="3143250" cy="24216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54" name="Shape 41"/>
          <p:cNvSpPr/>
          <p:nvPr/>
        </p:nvSpPr>
        <p:spPr>
          <a:xfrm>
            <a:off x="4271963" y="251566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2"/>
          <p:cNvSpPr/>
          <p:nvPr/>
        </p:nvSpPr>
        <p:spPr>
          <a:xfrm>
            <a:off x="4271963" y="251566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6" name="Text 43"/>
          <p:cNvSpPr/>
          <p:nvPr/>
        </p:nvSpPr>
        <p:spPr>
          <a:xfrm>
            <a:off x="4572000" y="2458510"/>
            <a:ext cx="1000125" cy="35930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Address Search</a:t>
            </a:r>
            <a:endParaRPr lang="en-US" sz="674" dirty="0"/>
          </a:p>
        </p:txBody>
      </p:sp>
      <p:sp>
        <p:nvSpPr>
          <p:cNvPr id="57" name="Text 44"/>
          <p:cNvSpPr/>
          <p:nvPr/>
        </p:nvSpPr>
        <p:spPr>
          <a:xfrm>
            <a:off x="5629275" y="2515660"/>
            <a:ext cx="3028950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API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Daum Postcode API (Popup Mode);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Data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Save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zipCode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roadAddress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jibunAddress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lat/lng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(via Geocoding).</a:t>
            </a:r>
            <a:endParaRPr lang="en-US" sz="674" dirty="0"/>
          </a:p>
        </p:txBody>
      </p:sp>
      <p:sp>
        <p:nvSpPr>
          <p:cNvPr id="58" name="Shape 45"/>
          <p:cNvSpPr/>
          <p:nvPr/>
        </p:nvSpPr>
        <p:spPr>
          <a:xfrm>
            <a:off x="4271963" y="287854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46"/>
          <p:cNvSpPr/>
          <p:nvPr/>
        </p:nvSpPr>
        <p:spPr>
          <a:xfrm>
            <a:off x="4271963" y="287854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60" name="Text 47"/>
          <p:cNvSpPr/>
          <p:nvPr/>
        </p:nvSpPr>
        <p:spPr>
          <a:xfrm>
            <a:off x="4572000" y="2817819"/>
            <a:ext cx="1000125" cy="48359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Manager Invite</a:t>
            </a:r>
            <a:endParaRPr lang="en-US" sz="674" dirty="0"/>
          </a:p>
        </p:txBody>
      </p:sp>
      <p:sp>
        <p:nvSpPr>
          <p:cNvPr id="61" name="Text 48"/>
          <p:cNvSpPr/>
          <p:nvPr/>
        </p:nvSpPr>
        <p:spPr>
          <a:xfrm>
            <a:off x="5629275" y="2878541"/>
            <a:ext cx="3028950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Input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Email (SMTP) or Phone (SMS/AlimTalk);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Validation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Regex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check for email/phone format;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Logic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Check if user exists - link 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project or create pending user.</a:t>
            </a:r>
            <a:endParaRPr lang="en-US" sz="674" dirty="0"/>
          </a:p>
        </p:txBody>
      </p:sp>
      <p:sp>
        <p:nvSpPr>
          <p:cNvPr id="62" name="Shape 49"/>
          <p:cNvSpPr/>
          <p:nvPr/>
        </p:nvSpPr>
        <p:spPr>
          <a:xfrm>
            <a:off x="4271963" y="336213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0"/>
          <p:cNvSpPr/>
          <p:nvPr/>
        </p:nvSpPr>
        <p:spPr>
          <a:xfrm>
            <a:off x="4271963" y="336213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64" name="Text 51"/>
          <p:cNvSpPr/>
          <p:nvPr/>
        </p:nvSpPr>
        <p:spPr>
          <a:xfrm>
            <a:off x="4572000" y="3301417"/>
            <a:ext cx="1000125" cy="60431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Create &amp; Send</a:t>
            </a:r>
            <a:endParaRPr lang="en-US" sz="674" dirty="0"/>
          </a:p>
        </p:txBody>
      </p:sp>
      <p:sp>
        <p:nvSpPr>
          <p:cNvPr id="65" name="Text 52"/>
          <p:cNvSpPr/>
          <p:nvPr/>
        </p:nvSpPr>
        <p:spPr>
          <a:xfrm>
            <a:off x="5629275" y="3362139"/>
            <a:ext cx="3028950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API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/api/v1/projects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Payload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{ name, address, startDate,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endDate, budget, manager: { name, contact } }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Token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Generate JWT-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based invite token (exp: 72h);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Link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https://smartcon.site/invite?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token=...</a:t>
            </a:r>
            <a:endParaRPr lang="en-US" sz="674" dirty="0"/>
          </a:p>
        </p:txBody>
      </p:sp>
      <p:sp>
        <p:nvSpPr>
          <p:cNvPr id="66" name="Text 53"/>
          <p:cNvSpPr/>
          <p:nvPr/>
        </p:nvSpPr>
        <p:spPr>
          <a:xfrm>
            <a:off x="4214813" y="3905734"/>
            <a:ext cx="357188" cy="36288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</a:t>
            </a:r>
            <a:endParaRPr lang="en-US" sz="674" dirty="0"/>
          </a:p>
        </p:txBody>
      </p:sp>
      <p:sp>
        <p:nvSpPr>
          <p:cNvPr id="67" name="Text 54"/>
          <p:cNvSpPr/>
          <p:nvPr/>
        </p:nvSpPr>
        <p:spPr>
          <a:xfrm>
            <a:off x="4572000" y="3905734"/>
            <a:ext cx="1000125" cy="36288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Error Handling</a:t>
            </a:r>
            <a:endParaRPr lang="en-US" sz="674" dirty="0"/>
          </a:p>
        </p:txBody>
      </p:sp>
      <p:sp>
        <p:nvSpPr>
          <p:cNvPr id="68" name="Text 55"/>
          <p:cNvSpPr/>
          <p:nvPr/>
        </p:nvSpPr>
        <p:spPr>
          <a:xfrm>
            <a:off x="5629275" y="3966456"/>
            <a:ext cx="3028950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409 Conflict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Project name already exists in tenant; • 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400 Bad Request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Invalid date range (Start &gt; End).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428625"/>
            <a:ext cx="8715375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1257300"/>
            <a:ext cx="8715375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428625"/>
            <a:ext cx="8715375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노무자 출역 현황 통합 조회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14313" y="900113"/>
            <a:ext cx="8715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실시간 출역 로그 및 전체 현장 데이터 그리드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4313" y="1507331"/>
            <a:ext cx="5829300" cy="34432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313" y="1514475"/>
            <a:ext cx="582930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14313" y="1771650"/>
            <a:ext cx="58293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21531" y="1585020"/>
            <a:ext cx="14790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Admin &gt; Attendance Logs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00038" y="1857375"/>
            <a:ext cx="5657850" cy="35540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7188" y="1914525"/>
            <a:ext cx="736811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985070"/>
            <a:ext cx="75009" cy="857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0784" y="1969889"/>
            <a:ext cx="4474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2026-01-20</a:t>
            </a:r>
            <a:endParaRPr lang="en-US" sz="621" dirty="0"/>
          </a:p>
        </p:txBody>
      </p:sp>
      <p:sp>
        <p:nvSpPr>
          <p:cNvPr id="15" name="Shape 11"/>
          <p:cNvSpPr/>
          <p:nvPr/>
        </p:nvSpPr>
        <p:spPr>
          <a:xfrm>
            <a:off x="1136861" y="1914525"/>
            <a:ext cx="648519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298" y="1985070"/>
            <a:ext cx="96441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61889" y="1964531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 현장</a:t>
            </a:r>
            <a:endParaRPr lang="en-US" sz="621" dirty="0"/>
          </a:p>
        </p:txBody>
      </p:sp>
      <p:sp>
        <p:nvSpPr>
          <p:cNvPr id="18" name="Shape 13"/>
          <p:cNvSpPr/>
          <p:nvPr/>
        </p:nvSpPr>
        <p:spPr>
          <a:xfrm>
            <a:off x="1828242" y="1914525"/>
            <a:ext cx="637803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679" y="1977926"/>
            <a:ext cx="85725" cy="857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42554" y="1957388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 상태</a:t>
            </a:r>
            <a:endParaRPr lang="en-US" sz="621" dirty="0"/>
          </a:p>
        </p:txBody>
      </p:sp>
      <p:sp>
        <p:nvSpPr>
          <p:cNvPr id="21" name="Shape 15"/>
          <p:cNvSpPr/>
          <p:nvPr/>
        </p:nvSpPr>
        <p:spPr>
          <a:xfrm>
            <a:off x="5104349" y="1914525"/>
            <a:ext cx="796389" cy="21252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505" y="1982391"/>
            <a:ext cx="64294" cy="857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75799" y="1968103"/>
            <a:ext cx="51778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엑셀 다운로드</a:t>
            </a:r>
            <a:endParaRPr lang="en-US" sz="584" dirty="0"/>
          </a:p>
        </p:txBody>
      </p:sp>
      <p:sp>
        <p:nvSpPr>
          <p:cNvPr id="24" name="Shape 17"/>
          <p:cNvSpPr/>
          <p:nvPr/>
        </p:nvSpPr>
        <p:spPr>
          <a:xfrm>
            <a:off x="5829300" y="14430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18"/>
          <p:cNvSpPr/>
          <p:nvPr/>
        </p:nvSpPr>
        <p:spPr>
          <a:xfrm>
            <a:off x="5829300" y="144303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26" name="Shape 19"/>
          <p:cNvSpPr/>
          <p:nvPr/>
        </p:nvSpPr>
        <p:spPr>
          <a:xfrm>
            <a:off x="300038" y="2255639"/>
            <a:ext cx="701957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0"/>
          <p:cNvSpPr/>
          <p:nvPr/>
        </p:nvSpPr>
        <p:spPr>
          <a:xfrm>
            <a:off x="300038" y="2507456"/>
            <a:ext cx="70195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300038" y="2255639"/>
            <a:ext cx="701957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Time</a:t>
            </a:r>
            <a:endParaRPr lang="en-US" sz="584" dirty="0"/>
          </a:p>
        </p:txBody>
      </p:sp>
      <p:sp>
        <p:nvSpPr>
          <p:cNvPr id="29" name="Shape 22"/>
          <p:cNvSpPr/>
          <p:nvPr/>
        </p:nvSpPr>
        <p:spPr>
          <a:xfrm>
            <a:off x="1001995" y="2255639"/>
            <a:ext cx="854180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3"/>
          <p:cNvSpPr/>
          <p:nvPr/>
        </p:nvSpPr>
        <p:spPr>
          <a:xfrm>
            <a:off x="1001995" y="2507456"/>
            <a:ext cx="85418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4"/>
          <p:cNvSpPr/>
          <p:nvPr/>
        </p:nvSpPr>
        <p:spPr>
          <a:xfrm>
            <a:off x="1001995" y="2255639"/>
            <a:ext cx="854180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Worker</a:t>
            </a:r>
            <a:endParaRPr lang="en-US" sz="584" dirty="0"/>
          </a:p>
        </p:txBody>
      </p:sp>
      <p:sp>
        <p:nvSpPr>
          <p:cNvPr id="32" name="Shape 25"/>
          <p:cNvSpPr/>
          <p:nvPr/>
        </p:nvSpPr>
        <p:spPr>
          <a:xfrm>
            <a:off x="1856175" y="2255639"/>
            <a:ext cx="1189323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6"/>
          <p:cNvSpPr/>
          <p:nvPr/>
        </p:nvSpPr>
        <p:spPr>
          <a:xfrm>
            <a:off x="1856175" y="2507456"/>
            <a:ext cx="118932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7"/>
          <p:cNvSpPr/>
          <p:nvPr/>
        </p:nvSpPr>
        <p:spPr>
          <a:xfrm>
            <a:off x="1856175" y="2255639"/>
            <a:ext cx="1189323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Project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3045498" y="2255639"/>
            <a:ext cx="772362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29"/>
          <p:cNvSpPr/>
          <p:nvPr/>
        </p:nvSpPr>
        <p:spPr>
          <a:xfrm>
            <a:off x="3045498" y="2507456"/>
            <a:ext cx="77236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0"/>
          <p:cNvSpPr/>
          <p:nvPr/>
        </p:nvSpPr>
        <p:spPr>
          <a:xfrm>
            <a:off x="3045498" y="2255639"/>
            <a:ext cx="772362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Method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3817860" y="2255639"/>
            <a:ext cx="1369563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2"/>
          <p:cNvSpPr/>
          <p:nvPr/>
        </p:nvSpPr>
        <p:spPr>
          <a:xfrm>
            <a:off x="3817860" y="2507456"/>
            <a:ext cx="136956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3"/>
          <p:cNvSpPr/>
          <p:nvPr/>
        </p:nvSpPr>
        <p:spPr>
          <a:xfrm>
            <a:off x="3817860" y="2255639"/>
            <a:ext cx="1369563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Confidence / Loc</a:t>
            </a:r>
            <a:endParaRPr lang="en-US" sz="584" dirty="0"/>
          </a:p>
        </p:txBody>
      </p:sp>
      <p:sp>
        <p:nvSpPr>
          <p:cNvPr id="41" name="Shape 34"/>
          <p:cNvSpPr/>
          <p:nvPr/>
        </p:nvSpPr>
        <p:spPr>
          <a:xfrm>
            <a:off x="5187423" y="2255639"/>
            <a:ext cx="770465" cy="26610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Shape 35"/>
          <p:cNvSpPr/>
          <p:nvPr/>
        </p:nvSpPr>
        <p:spPr>
          <a:xfrm>
            <a:off x="5187423" y="2507456"/>
            <a:ext cx="7704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6"/>
          <p:cNvSpPr/>
          <p:nvPr/>
        </p:nvSpPr>
        <p:spPr>
          <a:xfrm>
            <a:off x="5187423" y="2255639"/>
            <a:ext cx="770465" cy="26610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Result</a:t>
            </a:r>
            <a:endParaRPr lang="en-US" sz="584" dirty="0"/>
          </a:p>
        </p:txBody>
      </p:sp>
      <p:sp>
        <p:nvSpPr>
          <p:cNvPr id="44" name="Text 37"/>
          <p:cNvSpPr/>
          <p:nvPr/>
        </p:nvSpPr>
        <p:spPr>
          <a:xfrm>
            <a:off x="300038" y="2514600"/>
            <a:ext cx="701957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14:30:05</a:t>
            </a:r>
            <a:endParaRPr lang="en-US" sz="621" dirty="0"/>
          </a:p>
        </p:txBody>
      </p:sp>
      <p:sp>
        <p:nvSpPr>
          <p:cNvPr id="45" name="Text 38"/>
          <p:cNvSpPr/>
          <p:nvPr/>
        </p:nvSpPr>
        <p:spPr>
          <a:xfrm>
            <a:off x="1001995" y="2514600"/>
            <a:ext cx="854180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김철수 (A팀)</a:t>
            </a:r>
            <a:endParaRPr lang="en-US" sz="621" dirty="0"/>
          </a:p>
        </p:txBody>
      </p:sp>
      <p:sp>
        <p:nvSpPr>
          <p:cNvPr id="46" name="Text 39"/>
          <p:cNvSpPr/>
          <p:nvPr/>
        </p:nvSpPr>
        <p:spPr>
          <a:xfrm>
            <a:off x="1856175" y="2514600"/>
            <a:ext cx="1189323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스마트콘 본사 신축</a:t>
            </a:r>
            <a:endParaRPr lang="en-US" sz="621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6935" y="2605683"/>
            <a:ext cx="85725" cy="8572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202660" y="2591395"/>
            <a:ext cx="204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Face</a:t>
            </a:r>
            <a:endParaRPr lang="en-US" sz="621" dirty="0"/>
          </a:p>
        </p:txBody>
      </p:sp>
      <p:sp>
        <p:nvSpPr>
          <p:cNvPr id="49" name="Text 41"/>
          <p:cNvSpPr/>
          <p:nvPr/>
        </p:nvSpPr>
        <p:spPr>
          <a:xfrm>
            <a:off x="3817860" y="2514600"/>
            <a:ext cx="1369563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98.5%</a:t>
            </a:r>
            <a:endParaRPr lang="en-US" sz="621" dirty="0"/>
          </a:p>
        </p:txBody>
      </p:sp>
      <p:sp>
        <p:nvSpPr>
          <p:cNvPr id="50" name="Shape 42"/>
          <p:cNvSpPr/>
          <p:nvPr/>
        </p:nvSpPr>
        <p:spPr>
          <a:xfrm>
            <a:off x="5258860" y="2589609"/>
            <a:ext cx="38726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3"/>
          <p:cNvSpPr/>
          <p:nvPr/>
        </p:nvSpPr>
        <p:spPr>
          <a:xfrm>
            <a:off x="5258860" y="2589609"/>
            <a:ext cx="38726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Success</a:t>
            </a:r>
            <a:endParaRPr lang="en-US" sz="485" dirty="0"/>
          </a:p>
        </p:txBody>
      </p:sp>
      <p:sp>
        <p:nvSpPr>
          <p:cNvPr id="52" name="Text 44"/>
          <p:cNvSpPr/>
          <p:nvPr/>
        </p:nvSpPr>
        <p:spPr>
          <a:xfrm>
            <a:off x="300038" y="2787848"/>
            <a:ext cx="701957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14:28:12</a:t>
            </a:r>
            <a:endParaRPr lang="en-US" sz="621" dirty="0"/>
          </a:p>
        </p:txBody>
      </p:sp>
      <p:sp>
        <p:nvSpPr>
          <p:cNvPr id="53" name="Text 45"/>
          <p:cNvSpPr/>
          <p:nvPr/>
        </p:nvSpPr>
        <p:spPr>
          <a:xfrm>
            <a:off x="1001995" y="2787848"/>
            <a:ext cx="854180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이영희 (B팀)</a:t>
            </a:r>
            <a:endParaRPr lang="en-US" sz="621" dirty="0"/>
          </a:p>
        </p:txBody>
      </p:sp>
      <p:sp>
        <p:nvSpPr>
          <p:cNvPr id="54" name="Text 46"/>
          <p:cNvSpPr/>
          <p:nvPr/>
        </p:nvSpPr>
        <p:spPr>
          <a:xfrm>
            <a:off x="1856175" y="2787848"/>
            <a:ext cx="118932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부산 에코델타</a:t>
            </a:r>
            <a:endParaRPr lang="en-US" sz="621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6935" y="2882503"/>
            <a:ext cx="64294" cy="85725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3181229" y="2868216"/>
            <a:ext cx="1836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GPS</a:t>
            </a:r>
            <a:endParaRPr lang="en-US" sz="621" dirty="0"/>
          </a:p>
        </p:txBody>
      </p:sp>
      <p:sp>
        <p:nvSpPr>
          <p:cNvPr id="57" name="Text 48"/>
          <p:cNvSpPr/>
          <p:nvPr/>
        </p:nvSpPr>
        <p:spPr>
          <a:xfrm>
            <a:off x="3817860" y="2787848"/>
            <a:ext cx="136956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Lat: 35.1, Lng: 129.0</a:t>
            </a:r>
            <a:endParaRPr lang="en-US" sz="621" dirty="0"/>
          </a:p>
        </p:txBody>
      </p:sp>
      <p:sp>
        <p:nvSpPr>
          <p:cNvPr id="58" name="Shape 49"/>
          <p:cNvSpPr/>
          <p:nvPr/>
        </p:nvSpPr>
        <p:spPr>
          <a:xfrm>
            <a:off x="5258860" y="2866430"/>
            <a:ext cx="38726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9" name="Text 50"/>
          <p:cNvSpPr/>
          <p:nvPr/>
        </p:nvSpPr>
        <p:spPr>
          <a:xfrm>
            <a:off x="5258860" y="2866430"/>
            <a:ext cx="38726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Success</a:t>
            </a:r>
            <a:endParaRPr lang="en-US" sz="485" dirty="0"/>
          </a:p>
        </p:txBody>
      </p:sp>
      <p:sp>
        <p:nvSpPr>
          <p:cNvPr id="60" name="Shape 51"/>
          <p:cNvSpPr/>
          <p:nvPr/>
        </p:nvSpPr>
        <p:spPr>
          <a:xfrm>
            <a:off x="300038" y="3064669"/>
            <a:ext cx="5657850" cy="276820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61" name="Text 52"/>
          <p:cNvSpPr/>
          <p:nvPr/>
        </p:nvSpPr>
        <p:spPr>
          <a:xfrm>
            <a:off x="300038" y="3064669"/>
            <a:ext cx="701957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14:25:00</a:t>
            </a:r>
            <a:endParaRPr lang="en-US" sz="621" dirty="0"/>
          </a:p>
        </p:txBody>
      </p:sp>
      <p:sp>
        <p:nvSpPr>
          <p:cNvPr id="62" name="Text 53"/>
          <p:cNvSpPr/>
          <p:nvPr/>
        </p:nvSpPr>
        <p:spPr>
          <a:xfrm>
            <a:off x="1001995" y="3064669"/>
            <a:ext cx="854180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박민수 (C팀)</a:t>
            </a:r>
            <a:endParaRPr lang="en-US" sz="621" dirty="0"/>
          </a:p>
        </p:txBody>
      </p:sp>
      <p:sp>
        <p:nvSpPr>
          <p:cNvPr id="63" name="Text 54"/>
          <p:cNvSpPr/>
          <p:nvPr/>
        </p:nvSpPr>
        <p:spPr>
          <a:xfrm>
            <a:off x="1856175" y="3064669"/>
            <a:ext cx="118932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스마트콘 본사 신축</a:t>
            </a:r>
            <a:endParaRPr lang="en-US" sz="621" dirty="0"/>
          </a:p>
        </p:txBody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6935" y="3159323"/>
            <a:ext cx="85725" cy="85725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3202660" y="3145036"/>
            <a:ext cx="2043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Face</a:t>
            </a:r>
            <a:endParaRPr lang="en-US" sz="621" dirty="0"/>
          </a:p>
        </p:txBody>
      </p:sp>
      <p:sp>
        <p:nvSpPr>
          <p:cNvPr id="66" name="Text 56"/>
          <p:cNvSpPr/>
          <p:nvPr/>
        </p:nvSpPr>
        <p:spPr>
          <a:xfrm>
            <a:off x="3817860" y="3064669"/>
            <a:ext cx="136956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45.2% (Low Score)</a:t>
            </a:r>
            <a:endParaRPr lang="en-US" sz="621" dirty="0"/>
          </a:p>
        </p:txBody>
      </p:sp>
      <p:sp>
        <p:nvSpPr>
          <p:cNvPr id="67" name="Shape 57"/>
          <p:cNvSpPr/>
          <p:nvPr/>
        </p:nvSpPr>
        <p:spPr>
          <a:xfrm>
            <a:off x="5258860" y="3143250"/>
            <a:ext cx="240264" cy="126802"/>
          </a:xfrm>
          <a:prstGeom prst="round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68" name="Text 58"/>
          <p:cNvSpPr/>
          <p:nvPr/>
        </p:nvSpPr>
        <p:spPr>
          <a:xfrm>
            <a:off x="5258860" y="3143250"/>
            <a:ext cx="240264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F4444"/>
                </a:solidFill>
              </a:rPr>
              <a:t>Fail</a:t>
            </a:r>
            <a:endParaRPr lang="en-US" sz="485" dirty="0"/>
          </a:p>
        </p:txBody>
      </p:sp>
      <p:sp>
        <p:nvSpPr>
          <p:cNvPr id="69" name="Text 59"/>
          <p:cNvSpPr/>
          <p:nvPr/>
        </p:nvSpPr>
        <p:spPr>
          <a:xfrm>
            <a:off x="300038" y="3341489"/>
            <a:ext cx="701957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14:22:45</a:t>
            </a:r>
            <a:endParaRPr lang="en-US" sz="621" dirty="0"/>
          </a:p>
        </p:txBody>
      </p:sp>
      <p:sp>
        <p:nvSpPr>
          <p:cNvPr id="70" name="Text 60"/>
          <p:cNvSpPr/>
          <p:nvPr/>
        </p:nvSpPr>
        <p:spPr>
          <a:xfrm>
            <a:off x="1001995" y="3341489"/>
            <a:ext cx="854180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최지훈 (A팀)</a:t>
            </a:r>
            <a:endParaRPr lang="en-US" sz="621" dirty="0"/>
          </a:p>
        </p:txBody>
      </p:sp>
      <p:sp>
        <p:nvSpPr>
          <p:cNvPr id="71" name="Text 61"/>
          <p:cNvSpPr/>
          <p:nvPr/>
        </p:nvSpPr>
        <p:spPr>
          <a:xfrm>
            <a:off x="1856175" y="3341489"/>
            <a:ext cx="118932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인천 물류센터</a:t>
            </a:r>
            <a:endParaRPr lang="en-US" sz="621" dirty="0"/>
          </a:p>
        </p:txBody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6935" y="3436144"/>
            <a:ext cx="64294" cy="85725"/>
          </a:xfrm>
          <a:prstGeom prst="rect">
            <a:avLst/>
          </a:prstGeom>
        </p:spPr>
      </p:pic>
      <p:sp>
        <p:nvSpPr>
          <p:cNvPr id="73" name="Text 62"/>
          <p:cNvSpPr/>
          <p:nvPr/>
        </p:nvSpPr>
        <p:spPr>
          <a:xfrm>
            <a:off x="3181229" y="3421856"/>
            <a:ext cx="324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Manual</a:t>
            </a:r>
            <a:endParaRPr lang="en-US" sz="621" dirty="0"/>
          </a:p>
        </p:txBody>
      </p:sp>
      <p:sp>
        <p:nvSpPr>
          <p:cNvPr id="74" name="Text 63"/>
          <p:cNvSpPr/>
          <p:nvPr/>
        </p:nvSpPr>
        <p:spPr>
          <a:xfrm>
            <a:off x="3817860" y="3341489"/>
            <a:ext cx="136956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By Site Admin</a:t>
            </a:r>
            <a:endParaRPr lang="en-US" sz="621" dirty="0"/>
          </a:p>
        </p:txBody>
      </p:sp>
      <p:sp>
        <p:nvSpPr>
          <p:cNvPr id="75" name="Shape 64"/>
          <p:cNvSpPr/>
          <p:nvPr/>
        </p:nvSpPr>
        <p:spPr>
          <a:xfrm>
            <a:off x="5258860" y="3420070"/>
            <a:ext cx="387269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76" name="Text 65"/>
          <p:cNvSpPr/>
          <p:nvPr/>
        </p:nvSpPr>
        <p:spPr>
          <a:xfrm>
            <a:off x="5258860" y="3420070"/>
            <a:ext cx="38726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Success</a:t>
            </a:r>
            <a:endParaRPr lang="en-US" sz="485" dirty="0"/>
          </a:p>
        </p:txBody>
      </p:sp>
      <p:sp>
        <p:nvSpPr>
          <p:cNvPr id="77" name="Shape 66"/>
          <p:cNvSpPr/>
          <p:nvPr/>
        </p:nvSpPr>
        <p:spPr>
          <a:xfrm>
            <a:off x="3128963" y="25860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67"/>
          <p:cNvSpPr/>
          <p:nvPr/>
        </p:nvSpPr>
        <p:spPr>
          <a:xfrm>
            <a:off x="3128963" y="258603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9" name="Shape 68"/>
          <p:cNvSpPr/>
          <p:nvPr/>
        </p:nvSpPr>
        <p:spPr>
          <a:xfrm>
            <a:off x="6215063" y="1514475"/>
            <a:ext cx="2714625" cy="122872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80" name="Text 69"/>
          <p:cNvSpPr/>
          <p:nvPr/>
        </p:nvSpPr>
        <p:spPr>
          <a:xfrm>
            <a:off x="6300788" y="1600200"/>
            <a:ext cx="48608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실시간 로그</a:t>
            </a:r>
            <a:endParaRPr lang="en-US" sz="683" dirty="0"/>
          </a:p>
        </p:txBody>
      </p:sp>
      <p:pic>
        <p:nvPicPr>
          <p:cNvPr id="8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8238" y="1600200"/>
            <a:ext cx="85725" cy="144661"/>
          </a:xfrm>
          <a:prstGeom prst="rect">
            <a:avLst/>
          </a:prstGeom>
        </p:spPr>
      </p:pic>
      <p:sp>
        <p:nvSpPr>
          <p:cNvPr id="82" name="Shape 70"/>
          <p:cNvSpPr/>
          <p:nvPr/>
        </p:nvSpPr>
        <p:spPr>
          <a:xfrm>
            <a:off x="6300788" y="1866305"/>
            <a:ext cx="2543175" cy="37326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Shape 71"/>
          <p:cNvSpPr/>
          <p:nvPr/>
        </p:nvSpPr>
        <p:spPr>
          <a:xfrm>
            <a:off x="6300788" y="1866305"/>
            <a:ext cx="21431" cy="37326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4" name="Text 72"/>
          <p:cNvSpPr/>
          <p:nvPr/>
        </p:nvSpPr>
        <p:spPr>
          <a:xfrm>
            <a:off x="6357938" y="1923455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김철수</a:t>
            </a:r>
            <a:endParaRPr lang="en-US" sz="621" dirty="0"/>
          </a:p>
        </p:txBody>
      </p:sp>
      <p:sp>
        <p:nvSpPr>
          <p:cNvPr id="85" name="Text 73"/>
          <p:cNvSpPr/>
          <p:nvPr/>
        </p:nvSpPr>
        <p:spPr>
          <a:xfrm>
            <a:off x="8629064" y="1923455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성공</a:t>
            </a:r>
            <a:endParaRPr lang="en-US" sz="621" dirty="0"/>
          </a:p>
        </p:txBody>
      </p:sp>
      <p:sp>
        <p:nvSpPr>
          <p:cNvPr id="86" name="Text 74"/>
          <p:cNvSpPr/>
          <p:nvPr/>
        </p:nvSpPr>
        <p:spPr>
          <a:xfrm>
            <a:off x="6357938" y="2078831"/>
            <a:ext cx="2814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본사 신축</a:t>
            </a:r>
            <a:endParaRPr lang="en-US" sz="516" dirty="0"/>
          </a:p>
        </p:txBody>
      </p:sp>
      <p:sp>
        <p:nvSpPr>
          <p:cNvPr id="87" name="Text 75"/>
          <p:cNvSpPr/>
          <p:nvPr/>
        </p:nvSpPr>
        <p:spPr>
          <a:xfrm>
            <a:off x="8503323" y="2078831"/>
            <a:ext cx="28349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14:30:05</a:t>
            </a:r>
            <a:endParaRPr lang="en-US" sz="516" dirty="0"/>
          </a:p>
        </p:txBody>
      </p:sp>
      <p:sp>
        <p:nvSpPr>
          <p:cNvPr id="88" name="Shape 76"/>
          <p:cNvSpPr/>
          <p:nvPr/>
        </p:nvSpPr>
        <p:spPr>
          <a:xfrm>
            <a:off x="6300788" y="2296716"/>
            <a:ext cx="2543175" cy="37326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9" name="Shape 77"/>
          <p:cNvSpPr/>
          <p:nvPr/>
        </p:nvSpPr>
        <p:spPr>
          <a:xfrm>
            <a:off x="6300788" y="2296716"/>
            <a:ext cx="21431" cy="37326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0" name="Text 78"/>
          <p:cNvSpPr/>
          <p:nvPr/>
        </p:nvSpPr>
        <p:spPr>
          <a:xfrm>
            <a:off x="6357938" y="2353866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박민수</a:t>
            </a:r>
            <a:endParaRPr lang="en-US" sz="621" dirty="0"/>
          </a:p>
        </p:txBody>
      </p:sp>
      <p:sp>
        <p:nvSpPr>
          <p:cNvPr id="91" name="Text 79"/>
          <p:cNvSpPr/>
          <p:nvPr/>
        </p:nvSpPr>
        <p:spPr>
          <a:xfrm>
            <a:off x="8629064" y="2353866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실패</a:t>
            </a:r>
            <a:endParaRPr lang="en-US" sz="621" dirty="0"/>
          </a:p>
        </p:txBody>
      </p:sp>
      <p:sp>
        <p:nvSpPr>
          <p:cNvPr id="92" name="Text 80"/>
          <p:cNvSpPr/>
          <p:nvPr/>
        </p:nvSpPr>
        <p:spPr>
          <a:xfrm>
            <a:off x="6357938" y="2509242"/>
            <a:ext cx="2814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본사 신축</a:t>
            </a:r>
            <a:endParaRPr lang="en-US" sz="516" dirty="0"/>
          </a:p>
        </p:txBody>
      </p:sp>
      <p:sp>
        <p:nvSpPr>
          <p:cNvPr id="93" name="Text 81"/>
          <p:cNvSpPr/>
          <p:nvPr/>
        </p:nvSpPr>
        <p:spPr>
          <a:xfrm>
            <a:off x="8503323" y="2509242"/>
            <a:ext cx="28349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14:25:00</a:t>
            </a:r>
            <a:endParaRPr lang="en-US" sz="516" dirty="0"/>
          </a:p>
        </p:txBody>
      </p:sp>
      <p:sp>
        <p:nvSpPr>
          <p:cNvPr id="94" name="Shape 82"/>
          <p:cNvSpPr/>
          <p:nvPr/>
        </p:nvSpPr>
        <p:spPr>
          <a:xfrm>
            <a:off x="8715375" y="15859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5" name="Text 83"/>
          <p:cNvSpPr/>
          <p:nvPr/>
        </p:nvSpPr>
        <p:spPr>
          <a:xfrm>
            <a:off x="8715375" y="158591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96" name="Shape 84"/>
          <p:cNvSpPr/>
          <p:nvPr/>
        </p:nvSpPr>
        <p:spPr>
          <a:xfrm>
            <a:off x="6215063" y="2771775"/>
            <a:ext cx="2714625" cy="22288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7" name="Text 85"/>
          <p:cNvSpPr/>
          <p:nvPr/>
        </p:nvSpPr>
        <p:spPr>
          <a:xfrm>
            <a:off x="6286500" y="2843213"/>
            <a:ext cx="2571750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98" name="Shape 86"/>
          <p:cNvSpPr/>
          <p:nvPr/>
        </p:nvSpPr>
        <p:spPr>
          <a:xfrm>
            <a:off x="6286500" y="309860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87"/>
          <p:cNvSpPr/>
          <p:nvPr/>
        </p:nvSpPr>
        <p:spPr>
          <a:xfrm>
            <a:off x="6286500" y="309860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00" name="Text 88"/>
          <p:cNvSpPr/>
          <p:nvPr/>
        </p:nvSpPr>
        <p:spPr>
          <a:xfrm>
            <a:off x="6500813" y="3095030"/>
            <a:ext cx="5010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Log List API</a:t>
            </a:r>
            <a:endParaRPr lang="en-US" sz="584" dirty="0"/>
          </a:p>
        </p:txBody>
      </p:sp>
      <p:sp>
        <p:nvSpPr>
          <p:cNvPr id="101" name="Text 89"/>
          <p:cNvSpPr/>
          <p:nvPr/>
        </p:nvSpPr>
        <p:spPr>
          <a:xfrm>
            <a:off x="6500813" y="3224315"/>
            <a:ext cx="1578127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/api/v1/attendance/logs</a:t>
            </a:r>
            <a:endParaRPr lang="en-US" sz="621" dirty="0"/>
          </a:p>
        </p:txBody>
      </p:sp>
      <p:sp>
        <p:nvSpPr>
          <p:cNvPr id="102" name="Text 90"/>
          <p:cNvSpPr/>
          <p:nvPr/>
        </p:nvSpPr>
        <p:spPr>
          <a:xfrm>
            <a:off x="6500813" y="3332169"/>
            <a:ext cx="10787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Pagination: 50 items/page.</a:t>
            </a:r>
            <a:endParaRPr lang="en-US" sz="621" dirty="0"/>
          </a:p>
        </p:txBody>
      </p:sp>
      <p:sp>
        <p:nvSpPr>
          <p:cNvPr id="103" name="Text 91"/>
          <p:cNvSpPr/>
          <p:nvPr/>
        </p:nvSpPr>
        <p:spPr>
          <a:xfrm>
            <a:off x="6500813" y="3443594"/>
            <a:ext cx="15781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Filters: date, projectId, status, keyword.</a:t>
            </a:r>
            <a:endParaRPr lang="en-US" sz="621" dirty="0"/>
          </a:p>
        </p:txBody>
      </p:sp>
      <p:sp>
        <p:nvSpPr>
          <p:cNvPr id="104" name="Shape 92"/>
          <p:cNvSpPr/>
          <p:nvPr/>
        </p:nvSpPr>
        <p:spPr>
          <a:xfrm>
            <a:off x="6286500" y="36157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5" name="Text 93"/>
          <p:cNvSpPr/>
          <p:nvPr/>
        </p:nvSpPr>
        <p:spPr>
          <a:xfrm>
            <a:off x="6286500" y="361574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06" name="Text 94"/>
          <p:cNvSpPr/>
          <p:nvPr/>
        </p:nvSpPr>
        <p:spPr>
          <a:xfrm>
            <a:off x="6500813" y="3612170"/>
            <a:ext cx="7888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Real-time Updates</a:t>
            </a:r>
            <a:endParaRPr lang="en-US" sz="584" dirty="0"/>
          </a:p>
        </p:txBody>
      </p:sp>
      <p:sp>
        <p:nvSpPr>
          <p:cNvPr id="107" name="Text 95"/>
          <p:cNvSpPr/>
          <p:nvPr/>
        </p:nvSpPr>
        <p:spPr>
          <a:xfrm>
            <a:off x="6500813" y="3741455"/>
            <a:ext cx="1319836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WS /topic/attendance/logs</a:t>
            </a:r>
            <a:endParaRPr lang="en-US" sz="621" dirty="0"/>
          </a:p>
        </p:txBody>
      </p:sp>
      <p:sp>
        <p:nvSpPr>
          <p:cNvPr id="108" name="Text 96"/>
          <p:cNvSpPr/>
          <p:nvPr/>
        </p:nvSpPr>
        <p:spPr>
          <a:xfrm>
            <a:off x="6500813" y="3849309"/>
            <a:ext cx="13115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Push new log entry immediately.</a:t>
            </a:r>
            <a:endParaRPr lang="en-US" sz="621" dirty="0"/>
          </a:p>
        </p:txBody>
      </p:sp>
      <p:sp>
        <p:nvSpPr>
          <p:cNvPr id="109" name="Text 97"/>
          <p:cNvSpPr/>
          <p:nvPr/>
        </p:nvSpPr>
        <p:spPr>
          <a:xfrm>
            <a:off x="6500813" y="3960735"/>
            <a:ext cx="13198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Highlight new row for 3 seconds.</a:t>
            </a:r>
            <a:endParaRPr lang="en-US" sz="621" dirty="0"/>
          </a:p>
        </p:txBody>
      </p:sp>
      <p:sp>
        <p:nvSpPr>
          <p:cNvPr id="110" name="Shape 98"/>
          <p:cNvSpPr/>
          <p:nvPr/>
        </p:nvSpPr>
        <p:spPr>
          <a:xfrm>
            <a:off x="6286500" y="413288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99"/>
          <p:cNvSpPr/>
          <p:nvPr/>
        </p:nvSpPr>
        <p:spPr>
          <a:xfrm>
            <a:off x="6286500" y="413288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12" name="Text 100"/>
          <p:cNvSpPr/>
          <p:nvPr/>
        </p:nvSpPr>
        <p:spPr>
          <a:xfrm>
            <a:off x="6500813" y="4129311"/>
            <a:ext cx="5200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Excel Export</a:t>
            </a:r>
            <a:endParaRPr lang="en-US" sz="584" dirty="0"/>
          </a:p>
        </p:txBody>
      </p:sp>
      <p:sp>
        <p:nvSpPr>
          <p:cNvPr id="113" name="Text 101"/>
          <p:cNvSpPr/>
          <p:nvPr/>
        </p:nvSpPr>
        <p:spPr>
          <a:xfrm>
            <a:off x="6500813" y="4258596"/>
            <a:ext cx="1319585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/api/v1/attendance/export</a:t>
            </a:r>
            <a:endParaRPr lang="en-US" sz="621" dirty="0"/>
          </a:p>
        </p:txBody>
      </p:sp>
      <p:sp>
        <p:nvSpPr>
          <p:cNvPr id="114" name="Text 102"/>
          <p:cNvSpPr/>
          <p:nvPr/>
        </p:nvSpPr>
        <p:spPr>
          <a:xfrm>
            <a:off x="6500813" y="4366450"/>
            <a:ext cx="131958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Async process for large datasets.</a:t>
            </a:r>
            <a:endParaRPr lang="en-US" sz="621" dirty="0"/>
          </a:p>
        </p:txBody>
      </p:sp>
      <p:sp>
        <p:nvSpPr>
          <p:cNvPr id="115" name="Text 103"/>
          <p:cNvSpPr/>
          <p:nvPr/>
        </p:nvSpPr>
        <p:spPr>
          <a:xfrm>
            <a:off x="6500813" y="4477876"/>
            <a:ext cx="9812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Notification when ready.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21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근로계약 체결 현황 관리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전사/프로젝트별 계약 서명 완료 여부 모니터링 및 알림 기능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71625"/>
            <a:ext cx="5572125" cy="3300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71625"/>
            <a:ext cx="5572125" cy="235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00225"/>
            <a:ext cx="5572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71538" y="1627882"/>
            <a:ext cx="14221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Admin &gt; Contract Status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42900" y="1857375"/>
            <a:ext cx="1771650" cy="69651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4338" y="1928813"/>
            <a:ext cx="16287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전체 대상자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414338" y="2091333"/>
            <a:ext cx="1628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1,240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14338" y="2361009"/>
            <a:ext cx="16287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Total Workers</a:t>
            </a:r>
            <a:endParaRPr lang="en-US" sz="568" dirty="0"/>
          </a:p>
        </p:txBody>
      </p:sp>
      <p:sp>
        <p:nvSpPr>
          <p:cNvPr id="15" name="Shape 12"/>
          <p:cNvSpPr/>
          <p:nvPr/>
        </p:nvSpPr>
        <p:spPr>
          <a:xfrm>
            <a:off x="2185988" y="1857375"/>
            <a:ext cx="1771650" cy="69651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57425" y="1928813"/>
            <a:ext cx="16287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체결 완료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2257425" y="2091333"/>
            <a:ext cx="1628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1,180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257425" y="2361009"/>
            <a:ext cx="16287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95.1% Completion</a:t>
            </a:r>
            <a:endParaRPr lang="en-US" sz="568" dirty="0"/>
          </a:p>
        </p:txBody>
      </p:sp>
      <p:sp>
        <p:nvSpPr>
          <p:cNvPr id="19" name="Shape 16"/>
          <p:cNvSpPr/>
          <p:nvPr/>
        </p:nvSpPr>
        <p:spPr>
          <a:xfrm>
            <a:off x="4029075" y="1857375"/>
            <a:ext cx="1771650" cy="69651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00513" y="1928813"/>
            <a:ext cx="16287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미체결 (Pending)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100513" y="2091333"/>
            <a:ext cx="16287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60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100513" y="2361009"/>
            <a:ext cx="16287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Action Required</a:t>
            </a:r>
            <a:endParaRPr lang="en-US" sz="568" dirty="0"/>
          </a:p>
        </p:txBody>
      </p:sp>
      <p:sp>
        <p:nvSpPr>
          <p:cNvPr id="23" name="Shape 20"/>
          <p:cNvSpPr/>
          <p:nvPr/>
        </p:nvSpPr>
        <p:spPr>
          <a:xfrm>
            <a:off x="342900" y="2611041"/>
            <a:ext cx="5457825" cy="218955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2900" y="2611041"/>
            <a:ext cx="1495918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2"/>
          <p:cNvSpPr/>
          <p:nvPr/>
        </p:nvSpPr>
        <p:spPr>
          <a:xfrm>
            <a:off x="342900" y="2844998"/>
            <a:ext cx="149591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3"/>
          <p:cNvSpPr/>
          <p:nvPr/>
        </p:nvSpPr>
        <p:spPr>
          <a:xfrm>
            <a:off x="342900" y="2611041"/>
            <a:ext cx="1495918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Project Name</a:t>
            </a:r>
            <a:endParaRPr lang="en-US" sz="634" dirty="0"/>
          </a:p>
        </p:txBody>
      </p:sp>
      <p:sp>
        <p:nvSpPr>
          <p:cNvPr id="27" name="Shape 24"/>
          <p:cNvSpPr/>
          <p:nvPr/>
        </p:nvSpPr>
        <p:spPr>
          <a:xfrm>
            <a:off x="1838818" y="2611041"/>
            <a:ext cx="540720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5"/>
          <p:cNvSpPr/>
          <p:nvPr/>
        </p:nvSpPr>
        <p:spPr>
          <a:xfrm>
            <a:off x="1838818" y="2844998"/>
            <a:ext cx="54072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6"/>
          <p:cNvSpPr/>
          <p:nvPr/>
        </p:nvSpPr>
        <p:spPr>
          <a:xfrm>
            <a:off x="1838818" y="2611041"/>
            <a:ext cx="540720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Total</a:t>
            </a:r>
            <a:endParaRPr lang="en-US" sz="634" dirty="0"/>
          </a:p>
        </p:txBody>
      </p:sp>
      <p:sp>
        <p:nvSpPr>
          <p:cNvPr id="30" name="Shape 27"/>
          <p:cNvSpPr/>
          <p:nvPr/>
        </p:nvSpPr>
        <p:spPr>
          <a:xfrm>
            <a:off x="2379538" y="2611041"/>
            <a:ext cx="677484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8"/>
          <p:cNvSpPr/>
          <p:nvPr/>
        </p:nvSpPr>
        <p:spPr>
          <a:xfrm>
            <a:off x="2379538" y="2844998"/>
            <a:ext cx="67748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9"/>
          <p:cNvSpPr/>
          <p:nvPr/>
        </p:nvSpPr>
        <p:spPr>
          <a:xfrm>
            <a:off x="2379538" y="2611041"/>
            <a:ext cx="677484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Signed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3057023" y="2611041"/>
            <a:ext cx="1727476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1"/>
          <p:cNvSpPr/>
          <p:nvPr/>
        </p:nvSpPr>
        <p:spPr>
          <a:xfrm>
            <a:off x="3057023" y="2844998"/>
            <a:ext cx="172747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2"/>
          <p:cNvSpPr/>
          <p:nvPr/>
        </p:nvSpPr>
        <p:spPr>
          <a:xfrm>
            <a:off x="3057023" y="2611041"/>
            <a:ext cx="1727476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Progress</a:t>
            </a:r>
            <a:endParaRPr lang="en-US" sz="634" dirty="0"/>
          </a:p>
        </p:txBody>
      </p:sp>
      <p:sp>
        <p:nvSpPr>
          <p:cNvPr id="36" name="Shape 33"/>
          <p:cNvSpPr/>
          <p:nvPr/>
        </p:nvSpPr>
        <p:spPr>
          <a:xfrm>
            <a:off x="4784499" y="2611041"/>
            <a:ext cx="1016226" cy="2482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4"/>
          <p:cNvSpPr/>
          <p:nvPr/>
        </p:nvSpPr>
        <p:spPr>
          <a:xfrm>
            <a:off x="4784499" y="2844998"/>
            <a:ext cx="101622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5"/>
          <p:cNvSpPr/>
          <p:nvPr/>
        </p:nvSpPr>
        <p:spPr>
          <a:xfrm>
            <a:off x="4784499" y="2611041"/>
            <a:ext cx="1016226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Action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342900" y="2852142"/>
            <a:ext cx="1495918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스마트콘 본사 신축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1838818" y="2852142"/>
            <a:ext cx="54072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150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2379538" y="2852142"/>
            <a:ext cx="677484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148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3114173" y="2953941"/>
            <a:ext cx="714375" cy="571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43" name="Text 40"/>
          <p:cNvSpPr/>
          <p:nvPr/>
        </p:nvSpPr>
        <p:spPr>
          <a:xfrm>
            <a:off x="3885698" y="2919115"/>
            <a:ext cx="1834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98%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4841649" y="2909292"/>
            <a:ext cx="330733" cy="146447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2"/>
          <p:cNvSpPr/>
          <p:nvPr/>
        </p:nvSpPr>
        <p:spPr>
          <a:xfrm>
            <a:off x="4841649" y="2909292"/>
            <a:ext cx="330733" cy="14644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Done</a:t>
            </a:r>
            <a:endParaRPr lang="en-US" sz="568" dirty="0"/>
          </a:p>
        </p:txBody>
      </p:sp>
      <p:sp>
        <p:nvSpPr>
          <p:cNvPr id="46" name="Text 43"/>
          <p:cNvSpPr/>
          <p:nvPr/>
        </p:nvSpPr>
        <p:spPr>
          <a:xfrm>
            <a:off x="342900" y="3116461"/>
            <a:ext cx="1495918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 주상복합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1838818" y="3116461"/>
            <a:ext cx="540720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80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2379538" y="3116461"/>
            <a:ext cx="677484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75</a:t>
            </a:r>
            <a:endParaRPr lang="en-US" sz="674" dirty="0"/>
          </a:p>
        </p:txBody>
      </p:sp>
      <p:sp>
        <p:nvSpPr>
          <p:cNvPr id="49" name="Shape 46"/>
          <p:cNvSpPr/>
          <p:nvPr/>
        </p:nvSpPr>
        <p:spPr>
          <a:xfrm>
            <a:off x="3114173" y="3221831"/>
            <a:ext cx="714375" cy="571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50" name="Text 47"/>
          <p:cNvSpPr/>
          <p:nvPr/>
        </p:nvSpPr>
        <p:spPr>
          <a:xfrm>
            <a:off x="3885698" y="3187005"/>
            <a:ext cx="1834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93%</a:t>
            </a:r>
            <a:endParaRPr lang="en-US" sz="674" dirty="0"/>
          </a:p>
        </p:txBody>
      </p:sp>
      <p:sp>
        <p:nvSpPr>
          <p:cNvPr id="51" name="Shape 48"/>
          <p:cNvSpPr/>
          <p:nvPr/>
        </p:nvSpPr>
        <p:spPr>
          <a:xfrm>
            <a:off x="4841649" y="3177183"/>
            <a:ext cx="518480" cy="14644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Text 49"/>
          <p:cNvSpPr/>
          <p:nvPr/>
        </p:nvSpPr>
        <p:spPr>
          <a:xfrm>
            <a:off x="4841649" y="3177183"/>
            <a:ext cx="518480" cy="14644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Remind All</a:t>
            </a:r>
            <a:endParaRPr lang="en-US" sz="568" dirty="0"/>
          </a:p>
        </p:txBody>
      </p:sp>
      <p:sp>
        <p:nvSpPr>
          <p:cNvPr id="53" name="Shape 50"/>
          <p:cNvSpPr/>
          <p:nvPr/>
        </p:nvSpPr>
        <p:spPr>
          <a:xfrm>
            <a:off x="342900" y="3384352"/>
            <a:ext cx="5457825" cy="267891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342900" y="3384352"/>
            <a:ext cx="1495918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인천 물류센터 A동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1838818" y="3384352"/>
            <a:ext cx="540720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45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2379538" y="3384352"/>
            <a:ext cx="677484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10</a:t>
            </a:r>
            <a:endParaRPr lang="en-US" sz="674" dirty="0"/>
          </a:p>
        </p:txBody>
      </p:sp>
      <p:sp>
        <p:nvSpPr>
          <p:cNvPr id="57" name="Shape 54"/>
          <p:cNvSpPr/>
          <p:nvPr/>
        </p:nvSpPr>
        <p:spPr>
          <a:xfrm>
            <a:off x="3114173" y="3489722"/>
            <a:ext cx="714375" cy="571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58" name="Text 55"/>
          <p:cNvSpPr/>
          <p:nvPr/>
        </p:nvSpPr>
        <p:spPr>
          <a:xfrm>
            <a:off x="3885698" y="3454896"/>
            <a:ext cx="1899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F4444"/>
                </a:solidFill>
              </a:rPr>
              <a:t>22%</a:t>
            </a:r>
            <a:endParaRPr lang="en-US" sz="634" dirty="0"/>
          </a:p>
        </p:txBody>
      </p:sp>
      <p:sp>
        <p:nvSpPr>
          <p:cNvPr id="59" name="Shape 56"/>
          <p:cNvSpPr/>
          <p:nvPr/>
        </p:nvSpPr>
        <p:spPr>
          <a:xfrm>
            <a:off x="4841649" y="3445073"/>
            <a:ext cx="378758" cy="14644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0" name="Text 57"/>
          <p:cNvSpPr/>
          <p:nvPr/>
        </p:nvSpPr>
        <p:spPr>
          <a:xfrm>
            <a:off x="4841649" y="3445073"/>
            <a:ext cx="378758" cy="146447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Urgent</a:t>
            </a:r>
            <a:endParaRPr lang="en-US" sz="568" dirty="0"/>
          </a:p>
        </p:txBody>
      </p:sp>
      <p:sp>
        <p:nvSpPr>
          <p:cNvPr id="61" name="Shape 58"/>
          <p:cNvSpPr/>
          <p:nvPr/>
        </p:nvSpPr>
        <p:spPr>
          <a:xfrm>
            <a:off x="3071813" y="33575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59"/>
          <p:cNvSpPr/>
          <p:nvPr/>
        </p:nvSpPr>
        <p:spPr>
          <a:xfrm>
            <a:off x="3071813" y="335756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3" name="Shape 60"/>
          <p:cNvSpPr/>
          <p:nvPr/>
        </p:nvSpPr>
        <p:spPr>
          <a:xfrm>
            <a:off x="6143625" y="1571625"/>
            <a:ext cx="2714625" cy="151447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229350" y="1657350"/>
            <a:ext cx="48608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미체결 현황</a:t>
            </a:r>
            <a:endParaRPr lang="en-US" sz="683" dirty="0"/>
          </a:p>
        </p:txBody>
      </p:sp>
      <p:sp>
        <p:nvSpPr>
          <p:cNvPr id="65" name="Text 62"/>
          <p:cNvSpPr/>
          <p:nvPr/>
        </p:nvSpPr>
        <p:spPr>
          <a:xfrm>
            <a:off x="8373005" y="1672530"/>
            <a:ext cx="3995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35명 대기중</a:t>
            </a:r>
            <a:endParaRPr lang="en-US" sz="534" dirty="0"/>
          </a:p>
        </p:txBody>
      </p:sp>
      <p:sp>
        <p:nvSpPr>
          <p:cNvPr id="66" name="Shape 63"/>
          <p:cNvSpPr/>
          <p:nvPr/>
        </p:nvSpPr>
        <p:spPr>
          <a:xfrm>
            <a:off x="6229350" y="1923455"/>
            <a:ext cx="2543175" cy="358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4"/>
          <p:cNvSpPr/>
          <p:nvPr/>
        </p:nvSpPr>
        <p:spPr>
          <a:xfrm>
            <a:off x="6286500" y="1980605"/>
            <a:ext cx="6547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박민수 (인천 물류)</a:t>
            </a:r>
            <a:endParaRPr lang="en-US" sz="584" dirty="0"/>
          </a:p>
        </p:txBody>
      </p:sp>
      <p:sp>
        <p:nvSpPr>
          <p:cNvPr id="68" name="Text 65"/>
          <p:cNvSpPr/>
          <p:nvPr/>
        </p:nvSpPr>
        <p:spPr>
          <a:xfrm>
            <a:off x="6286500" y="2121694"/>
            <a:ext cx="6547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F4444"/>
                </a:solidFill>
              </a:rPr>
              <a:t>서명 대기 (D+2)</a:t>
            </a:r>
            <a:endParaRPr lang="en-US" sz="516" dirty="0"/>
          </a:p>
        </p:txBody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880" y="2070795"/>
            <a:ext cx="71438" cy="71438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8435318" y="2056507"/>
            <a:ext cx="21576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B82F6"/>
                </a:solidFill>
              </a:rPr>
              <a:t>재발송</a:t>
            </a:r>
            <a:endParaRPr lang="en-US" sz="516" dirty="0"/>
          </a:p>
        </p:txBody>
      </p:sp>
      <p:sp>
        <p:nvSpPr>
          <p:cNvPr id="71" name="Shape 67"/>
          <p:cNvSpPr/>
          <p:nvPr/>
        </p:nvSpPr>
        <p:spPr>
          <a:xfrm>
            <a:off x="6229350" y="2339578"/>
            <a:ext cx="2543175" cy="35897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68"/>
          <p:cNvSpPr/>
          <p:nvPr/>
        </p:nvSpPr>
        <p:spPr>
          <a:xfrm>
            <a:off x="6286500" y="2396728"/>
            <a:ext cx="6547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최지훈 (인천 물류)</a:t>
            </a:r>
            <a:endParaRPr lang="en-US" sz="584" dirty="0"/>
          </a:p>
        </p:txBody>
      </p:sp>
      <p:sp>
        <p:nvSpPr>
          <p:cNvPr id="73" name="Text 69"/>
          <p:cNvSpPr/>
          <p:nvPr/>
        </p:nvSpPr>
        <p:spPr>
          <a:xfrm>
            <a:off x="6286500" y="2537817"/>
            <a:ext cx="65476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F4444"/>
                </a:solidFill>
              </a:rPr>
              <a:t>서명 대기 (D+1)</a:t>
            </a:r>
            <a:endParaRPr lang="en-US" sz="516" dirty="0"/>
          </a:p>
        </p:txBody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880" y="2486918"/>
            <a:ext cx="71438" cy="71438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8435318" y="2472630"/>
            <a:ext cx="21576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B82F6"/>
                </a:solidFill>
              </a:rPr>
              <a:t>재발송</a:t>
            </a:r>
            <a:endParaRPr lang="en-US" sz="516" dirty="0"/>
          </a:p>
        </p:txBody>
      </p:sp>
      <p:sp>
        <p:nvSpPr>
          <p:cNvPr id="76" name="Shape 71"/>
          <p:cNvSpPr/>
          <p:nvPr/>
        </p:nvSpPr>
        <p:spPr>
          <a:xfrm>
            <a:off x="8643938" y="16430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7" name="Text 72"/>
          <p:cNvSpPr/>
          <p:nvPr/>
        </p:nvSpPr>
        <p:spPr>
          <a:xfrm>
            <a:off x="8643938" y="164306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8" name="Shape 73"/>
          <p:cNvSpPr/>
          <p:nvPr/>
        </p:nvSpPr>
        <p:spPr>
          <a:xfrm>
            <a:off x="6143625" y="3143250"/>
            <a:ext cx="2714625" cy="20716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6229350" y="3228975"/>
            <a:ext cx="2543175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80" name="Shape 75"/>
          <p:cNvSpPr/>
          <p:nvPr/>
        </p:nvSpPr>
        <p:spPr>
          <a:xfrm>
            <a:off x="6229350" y="35129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76"/>
          <p:cNvSpPr/>
          <p:nvPr/>
        </p:nvSpPr>
        <p:spPr>
          <a:xfrm>
            <a:off x="6229350" y="351293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82" name="Text 77"/>
          <p:cNvSpPr/>
          <p:nvPr/>
        </p:nvSpPr>
        <p:spPr>
          <a:xfrm>
            <a:off x="6443663" y="3514725"/>
            <a:ext cx="384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Stats API</a:t>
            </a:r>
            <a:endParaRPr lang="en-US" sz="584" dirty="0"/>
          </a:p>
        </p:txBody>
      </p:sp>
      <p:sp>
        <p:nvSpPr>
          <p:cNvPr id="83" name="Text 78"/>
          <p:cNvSpPr/>
          <p:nvPr/>
        </p:nvSpPr>
        <p:spPr>
          <a:xfrm>
            <a:off x="6443663" y="3647219"/>
            <a:ext cx="108710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/api/v1/contracts/stats</a:t>
            </a:r>
            <a:endParaRPr lang="en-US" sz="621" dirty="0"/>
          </a:p>
        </p:txBody>
      </p:sp>
      <p:sp>
        <p:nvSpPr>
          <p:cNvPr id="84" name="Text 79"/>
          <p:cNvSpPr/>
          <p:nvPr/>
        </p:nvSpPr>
        <p:spPr>
          <a:xfrm>
            <a:off x="6443663" y="3768998"/>
            <a:ext cx="6959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Group by Project.</a:t>
            </a:r>
            <a:endParaRPr lang="en-US" sz="621" dirty="0"/>
          </a:p>
        </p:txBody>
      </p:sp>
      <p:sp>
        <p:nvSpPr>
          <p:cNvPr id="85" name="Text 80"/>
          <p:cNvSpPr/>
          <p:nvPr/>
        </p:nvSpPr>
        <p:spPr>
          <a:xfrm>
            <a:off x="6443663" y="3888991"/>
            <a:ext cx="10545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Calc: (signed / total) * 100.</a:t>
            </a:r>
            <a:endParaRPr lang="en-US" sz="621" dirty="0"/>
          </a:p>
        </p:txBody>
      </p:sp>
      <p:sp>
        <p:nvSpPr>
          <p:cNvPr id="86" name="Shape 81"/>
          <p:cNvSpPr/>
          <p:nvPr/>
        </p:nvSpPr>
        <p:spPr>
          <a:xfrm>
            <a:off x="6229350" y="406434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7" name="Text 82"/>
          <p:cNvSpPr/>
          <p:nvPr/>
        </p:nvSpPr>
        <p:spPr>
          <a:xfrm>
            <a:off x="6229350" y="406434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8" name="Text 83"/>
          <p:cNvSpPr/>
          <p:nvPr/>
        </p:nvSpPr>
        <p:spPr>
          <a:xfrm>
            <a:off x="6443663" y="4066133"/>
            <a:ext cx="8644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Remind Notification</a:t>
            </a:r>
            <a:endParaRPr lang="en-US" sz="584" dirty="0"/>
          </a:p>
        </p:txBody>
      </p:sp>
      <p:sp>
        <p:nvSpPr>
          <p:cNvPr id="89" name="Text 84"/>
          <p:cNvSpPr/>
          <p:nvPr/>
        </p:nvSpPr>
        <p:spPr>
          <a:xfrm>
            <a:off x="6443663" y="4198627"/>
            <a:ext cx="143248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/api/v1/contracts/remind</a:t>
            </a:r>
            <a:endParaRPr lang="en-US" sz="621" dirty="0"/>
          </a:p>
        </p:txBody>
      </p:sp>
      <p:sp>
        <p:nvSpPr>
          <p:cNvPr id="90" name="Text 85"/>
          <p:cNvSpPr/>
          <p:nvPr/>
        </p:nvSpPr>
        <p:spPr>
          <a:xfrm>
            <a:off x="6443663" y="4320406"/>
            <a:ext cx="10881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Target: Pending users only.</a:t>
            </a:r>
            <a:endParaRPr lang="en-US" sz="621" dirty="0"/>
          </a:p>
        </p:txBody>
      </p:sp>
      <p:sp>
        <p:nvSpPr>
          <p:cNvPr id="91" name="Text 86"/>
          <p:cNvSpPr/>
          <p:nvPr/>
        </p:nvSpPr>
        <p:spPr>
          <a:xfrm>
            <a:off x="6443663" y="4440399"/>
            <a:ext cx="14324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Channel: KakaoTalk (BizMsg) &gt; SMS.</a:t>
            </a:r>
            <a:endParaRPr lang="en-US" sz="621" dirty="0"/>
          </a:p>
        </p:txBody>
      </p:sp>
      <p:sp>
        <p:nvSpPr>
          <p:cNvPr id="92" name="Shape 87"/>
          <p:cNvSpPr/>
          <p:nvPr/>
        </p:nvSpPr>
        <p:spPr>
          <a:xfrm>
            <a:off x="6229350" y="461575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3" name="Text 88"/>
          <p:cNvSpPr/>
          <p:nvPr/>
        </p:nvSpPr>
        <p:spPr>
          <a:xfrm>
            <a:off x="6229350" y="461575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94" name="Text 89"/>
          <p:cNvSpPr/>
          <p:nvPr/>
        </p:nvSpPr>
        <p:spPr>
          <a:xfrm>
            <a:off x="6443663" y="4615755"/>
            <a:ext cx="12251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Link Expiry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Generated link valid for 24h.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Regenerate token on 'Resend'.</a:t>
            </a:r>
            <a:endParaRPr lang="en-US" sz="5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관리자 및 구독 관리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본사 관리자 계정 생성 및 구독/결제 이력 조회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71625"/>
            <a:ext cx="5572125" cy="30861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71625"/>
            <a:ext cx="5572125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28800"/>
            <a:ext cx="5572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642170"/>
            <a:ext cx="11310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Admin &gt; Settings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828800"/>
            <a:ext cx="1293019" cy="281463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1571625" y="1828800"/>
            <a:ext cx="7144" cy="281463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988641"/>
            <a:ext cx="92869" cy="92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4356" y="1971675"/>
            <a:ext cx="28111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Profile</a:t>
            </a:r>
            <a:endParaRPr lang="en-US" sz="674" dirty="0"/>
          </a:p>
        </p:txBody>
      </p:sp>
      <p:sp>
        <p:nvSpPr>
          <p:cNvPr id="15" name="Shape 11"/>
          <p:cNvSpPr/>
          <p:nvPr/>
        </p:nvSpPr>
        <p:spPr>
          <a:xfrm>
            <a:off x="285750" y="2191345"/>
            <a:ext cx="1285875" cy="241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1550194" y="2191345"/>
            <a:ext cx="21431" cy="24110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265462"/>
            <a:ext cx="116086" cy="928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7573" y="2248495"/>
            <a:ext cx="3495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Admins</a:t>
            </a:r>
            <a:endParaRPr lang="en-US" sz="634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542282"/>
            <a:ext cx="105370" cy="9286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6858" y="2525316"/>
            <a:ext cx="5450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Subscription</a:t>
            </a:r>
            <a:endParaRPr lang="en-US" sz="674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2819102"/>
            <a:ext cx="92869" cy="928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4356" y="2802136"/>
            <a:ext cx="3485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Security</a:t>
            </a:r>
            <a:endParaRPr lang="en-US" sz="674" dirty="0"/>
          </a:p>
        </p:txBody>
      </p:sp>
      <p:sp>
        <p:nvSpPr>
          <p:cNvPr id="23" name="Shape 16"/>
          <p:cNvSpPr/>
          <p:nvPr/>
        </p:nvSpPr>
        <p:spPr>
          <a:xfrm>
            <a:off x="1571625" y="1828800"/>
            <a:ext cx="4286250" cy="281463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7"/>
          <p:cNvSpPr/>
          <p:nvPr/>
        </p:nvSpPr>
        <p:spPr>
          <a:xfrm>
            <a:off x="1657350" y="1914525"/>
            <a:ext cx="4114800" cy="4732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743075" y="2000250"/>
            <a:ext cx="14942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Enterprise Plan </a:t>
            </a:r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64E3B"/>
                </a:solidFill>
              </a:rPr>
              <a:t>Active</a:t>
            </a:r>
            <a:endParaRPr lang="en-US" sz="683" dirty="0"/>
          </a:p>
        </p:txBody>
      </p:sp>
      <p:sp>
        <p:nvSpPr>
          <p:cNvPr id="26" name="Text 19"/>
          <p:cNvSpPr/>
          <p:nvPr/>
        </p:nvSpPr>
        <p:spPr>
          <a:xfrm>
            <a:off x="1743075" y="2171700"/>
            <a:ext cx="14942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Next billing date: 2026-02-01 ($99.00)</a:t>
            </a:r>
            <a:endParaRPr lang="en-US" sz="621" dirty="0"/>
          </a:p>
        </p:txBody>
      </p:sp>
      <p:sp>
        <p:nvSpPr>
          <p:cNvPr id="27" name="Text 20"/>
          <p:cNvSpPr/>
          <p:nvPr/>
        </p:nvSpPr>
        <p:spPr>
          <a:xfrm>
            <a:off x="5216696" y="2049363"/>
            <a:ext cx="469729" cy="18930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Manage</a:t>
            </a:r>
            <a:endParaRPr lang="en-US" sz="568" dirty="0"/>
          </a:p>
        </p:txBody>
      </p:sp>
      <p:sp>
        <p:nvSpPr>
          <p:cNvPr id="28" name="Text 21"/>
          <p:cNvSpPr/>
          <p:nvPr/>
        </p:nvSpPr>
        <p:spPr>
          <a:xfrm>
            <a:off x="1657350" y="2501205"/>
            <a:ext cx="10427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Admin Accounts</a:t>
            </a:r>
            <a:endParaRPr lang="en-US" sz="885" dirty="0"/>
          </a:p>
        </p:txBody>
      </p:sp>
      <p:sp>
        <p:nvSpPr>
          <p:cNvPr id="29" name="Shape 22"/>
          <p:cNvSpPr/>
          <p:nvPr/>
        </p:nvSpPr>
        <p:spPr>
          <a:xfrm>
            <a:off x="4891432" y="2473523"/>
            <a:ext cx="880718" cy="23038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732" y="2544961"/>
            <a:ext cx="75009" cy="857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80741" y="2530673"/>
            <a:ext cx="5771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Invite Admin</a:t>
            </a:r>
            <a:endParaRPr lang="en-US" sz="584" dirty="0"/>
          </a:p>
        </p:txBody>
      </p:sp>
      <p:sp>
        <p:nvSpPr>
          <p:cNvPr id="32" name="Text 24"/>
          <p:cNvSpPr/>
          <p:nvPr/>
        </p:nvSpPr>
        <p:spPr>
          <a:xfrm>
            <a:off x="1657350" y="2882503"/>
            <a:ext cx="570328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Name</a:t>
            </a:r>
            <a:endParaRPr lang="en-US" sz="634" dirty="0"/>
          </a:p>
        </p:txBody>
      </p:sp>
      <p:sp>
        <p:nvSpPr>
          <p:cNvPr id="33" name="Text 25"/>
          <p:cNvSpPr/>
          <p:nvPr/>
        </p:nvSpPr>
        <p:spPr>
          <a:xfrm>
            <a:off x="2227678" y="2882503"/>
            <a:ext cx="1485342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Email</a:t>
            </a:r>
            <a:endParaRPr lang="en-US" sz="634" dirty="0"/>
          </a:p>
        </p:txBody>
      </p:sp>
      <p:sp>
        <p:nvSpPr>
          <p:cNvPr id="34" name="Text 26"/>
          <p:cNvSpPr/>
          <p:nvPr/>
        </p:nvSpPr>
        <p:spPr>
          <a:xfrm>
            <a:off x="3713020" y="2882503"/>
            <a:ext cx="765497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Role</a:t>
            </a:r>
            <a:endParaRPr lang="en-US" sz="634" dirty="0"/>
          </a:p>
        </p:txBody>
      </p:sp>
      <p:sp>
        <p:nvSpPr>
          <p:cNvPr id="35" name="Text 27"/>
          <p:cNvSpPr/>
          <p:nvPr/>
        </p:nvSpPr>
        <p:spPr>
          <a:xfrm>
            <a:off x="4478517" y="2882503"/>
            <a:ext cx="692330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Status</a:t>
            </a:r>
            <a:endParaRPr lang="en-US" sz="634" dirty="0"/>
          </a:p>
        </p:txBody>
      </p:sp>
      <p:sp>
        <p:nvSpPr>
          <p:cNvPr id="36" name="Text 28"/>
          <p:cNvSpPr/>
          <p:nvPr/>
        </p:nvSpPr>
        <p:spPr>
          <a:xfrm>
            <a:off x="5170847" y="2882503"/>
            <a:ext cx="601303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Action</a:t>
            </a:r>
            <a:endParaRPr lang="en-US" sz="634" dirty="0"/>
          </a:p>
        </p:txBody>
      </p:sp>
      <p:sp>
        <p:nvSpPr>
          <p:cNvPr id="37" name="Text 29"/>
          <p:cNvSpPr/>
          <p:nvPr/>
        </p:nvSpPr>
        <p:spPr>
          <a:xfrm>
            <a:off x="1657350" y="3127177"/>
            <a:ext cx="570328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김대표</a:t>
            </a:r>
            <a:endParaRPr lang="en-US" sz="674" dirty="0"/>
          </a:p>
        </p:txBody>
      </p:sp>
      <p:sp>
        <p:nvSpPr>
          <p:cNvPr id="38" name="Text 30"/>
          <p:cNvSpPr/>
          <p:nvPr/>
        </p:nvSpPr>
        <p:spPr>
          <a:xfrm>
            <a:off x="2227678" y="3127177"/>
            <a:ext cx="1485342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ceo@smartcon.com</a:t>
            </a:r>
            <a:endParaRPr lang="en-US" sz="674" dirty="0"/>
          </a:p>
        </p:txBody>
      </p:sp>
      <p:sp>
        <p:nvSpPr>
          <p:cNvPr id="39" name="Shape 31"/>
          <p:cNvSpPr/>
          <p:nvPr/>
        </p:nvSpPr>
        <p:spPr>
          <a:xfrm>
            <a:off x="3770170" y="3192363"/>
            <a:ext cx="411826" cy="164306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3770170" y="3192363"/>
            <a:ext cx="411826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OWNER</a:t>
            </a:r>
            <a:endParaRPr lang="en-US" sz="534" dirty="0"/>
          </a:p>
        </p:txBody>
      </p:sp>
      <p:sp>
        <p:nvSpPr>
          <p:cNvPr id="41" name="Text 33"/>
          <p:cNvSpPr/>
          <p:nvPr/>
        </p:nvSpPr>
        <p:spPr>
          <a:xfrm>
            <a:off x="4478517" y="3127177"/>
            <a:ext cx="692330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Active</a:t>
            </a:r>
            <a:endParaRPr lang="en-US" sz="674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7997" y="3224510"/>
            <a:ext cx="82153" cy="92869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657350" y="3412927"/>
            <a:ext cx="570328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이이사</a:t>
            </a:r>
            <a:endParaRPr lang="en-US" sz="674" dirty="0"/>
          </a:p>
        </p:txBody>
      </p:sp>
      <p:sp>
        <p:nvSpPr>
          <p:cNvPr id="44" name="Text 35"/>
          <p:cNvSpPr/>
          <p:nvPr/>
        </p:nvSpPr>
        <p:spPr>
          <a:xfrm>
            <a:off x="2227678" y="3412927"/>
            <a:ext cx="1485342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lee@smartcon.com</a:t>
            </a:r>
            <a:endParaRPr lang="en-US" sz="674" dirty="0"/>
          </a:p>
        </p:txBody>
      </p:sp>
      <p:sp>
        <p:nvSpPr>
          <p:cNvPr id="45" name="Shape 36"/>
          <p:cNvSpPr/>
          <p:nvPr/>
        </p:nvSpPr>
        <p:spPr>
          <a:xfrm>
            <a:off x="3770170" y="3478113"/>
            <a:ext cx="395250" cy="16430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3770170" y="3478113"/>
            <a:ext cx="395250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ADMIN</a:t>
            </a:r>
            <a:endParaRPr lang="en-US" sz="534" dirty="0"/>
          </a:p>
        </p:txBody>
      </p:sp>
      <p:sp>
        <p:nvSpPr>
          <p:cNvPr id="47" name="Text 38"/>
          <p:cNvSpPr/>
          <p:nvPr/>
        </p:nvSpPr>
        <p:spPr>
          <a:xfrm>
            <a:off x="4478517" y="3412927"/>
            <a:ext cx="692330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Active</a:t>
            </a:r>
            <a:endParaRPr lang="en-US" sz="674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7997" y="3510260"/>
            <a:ext cx="82153" cy="92869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657350" y="3698677"/>
            <a:ext cx="570328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박과장</a:t>
            </a:r>
            <a:endParaRPr lang="en-US" sz="674" dirty="0"/>
          </a:p>
        </p:txBody>
      </p:sp>
      <p:sp>
        <p:nvSpPr>
          <p:cNvPr id="50" name="Text 40"/>
          <p:cNvSpPr/>
          <p:nvPr/>
        </p:nvSpPr>
        <p:spPr>
          <a:xfrm>
            <a:off x="2227678" y="3698677"/>
            <a:ext cx="1485342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park@smartcon.com</a:t>
            </a:r>
            <a:endParaRPr lang="en-US" sz="674" dirty="0"/>
          </a:p>
        </p:txBody>
      </p:sp>
      <p:sp>
        <p:nvSpPr>
          <p:cNvPr id="51" name="Shape 41"/>
          <p:cNvSpPr/>
          <p:nvPr/>
        </p:nvSpPr>
        <p:spPr>
          <a:xfrm>
            <a:off x="3770170" y="3763863"/>
            <a:ext cx="395250" cy="16430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3770170" y="3763863"/>
            <a:ext cx="395250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ADMIN</a:t>
            </a:r>
            <a:endParaRPr lang="en-US" sz="534" dirty="0"/>
          </a:p>
        </p:txBody>
      </p:sp>
      <p:sp>
        <p:nvSpPr>
          <p:cNvPr id="53" name="Text 43"/>
          <p:cNvSpPr/>
          <p:nvPr/>
        </p:nvSpPr>
        <p:spPr>
          <a:xfrm>
            <a:off x="4478517" y="3698677"/>
            <a:ext cx="692330" cy="28575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Pending</a:t>
            </a:r>
            <a:endParaRPr lang="en-US" sz="674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7997" y="3796010"/>
            <a:ext cx="92869" cy="92869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6143625" y="1571625"/>
            <a:ext cx="2714625" cy="1300163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6229350" y="1671638"/>
            <a:ext cx="2543175" cy="20895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결제 내역 (Billing)</a:t>
            </a:r>
            <a:endParaRPr lang="en-US" sz="683" dirty="0"/>
          </a:p>
        </p:txBody>
      </p:sp>
      <p:sp>
        <p:nvSpPr>
          <p:cNvPr id="57" name="Shape 46"/>
          <p:cNvSpPr/>
          <p:nvPr/>
        </p:nvSpPr>
        <p:spPr>
          <a:xfrm>
            <a:off x="6229350" y="1952030"/>
            <a:ext cx="2543175" cy="3857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Text 47"/>
          <p:cNvSpPr/>
          <p:nvPr/>
        </p:nvSpPr>
        <p:spPr>
          <a:xfrm>
            <a:off x="6300788" y="2023467"/>
            <a:ext cx="8486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2026.01.01</a:t>
            </a:r>
            <a:endParaRPr lang="en-US" sz="584" dirty="0"/>
          </a:p>
        </p:txBody>
      </p:sp>
      <p:sp>
        <p:nvSpPr>
          <p:cNvPr id="59" name="Text 48"/>
          <p:cNvSpPr/>
          <p:nvPr/>
        </p:nvSpPr>
        <p:spPr>
          <a:xfrm>
            <a:off x="6300788" y="2168128"/>
            <a:ext cx="84868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Enterprise Plan (Monthly)</a:t>
            </a:r>
            <a:endParaRPr lang="en-US" sz="516" dirty="0"/>
          </a:p>
        </p:txBody>
      </p:sp>
      <p:sp>
        <p:nvSpPr>
          <p:cNvPr id="60" name="Text 49"/>
          <p:cNvSpPr/>
          <p:nvPr/>
        </p:nvSpPr>
        <p:spPr>
          <a:xfrm>
            <a:off x="8255608" y="2077045"/>
            <a:ext cx="4454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₩110,000</a:t>
            </a:r>
            <a:endParaRPr lang="en-US" sz="683" dirty="0"/>
          </a:p>
        </p:txBody>
      </p:sp>
      <p:sp>
        <p:nvSpPr>
          <p:cNvPr id="61" name="Shape 50"/>
          <p:cNvSpPr/>
          <p:nvPr/>
        </p:nvSpPr>
        <p:spPr>
          <a:xfrm>
            <a:off x="6229350" y="2394942"/>
            <a:ext cx="2543175" cy="3857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Text 51"/>
          <p:cNvSpPr/>
          <p:nvPr/>
        </p:nvSpPr>
        <p:spPr>
          <a:xfrm>
            <a:off x="6300788" y="2466380"/>
            <a:ext cx="8486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2E8F0"/>
                </a:solidFill>
              </a:rPr>
              <a:t>2025.12.01</a:t>
            </a:r>
            <a:endParaRPr lang="en-US" sz="584" dirty="0"/>
          </a:p>
        </p:txBody>
      </p:sp>
      <p:sp>
        <p:nvSpPr>
          <p:cNvPr id="63" name="Text 52"/>
          <p:cNvSpPr/>
          <p:nvPr/>
        </p:nvSpPr>
        <p:spPr>
          <a:xfrm>
            <a:off x="6300788" y="2611041"/>
            <a:ext cx="84868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Enterprise Plan (Monthly)</a:t>
            </a:r>
            <a:endParaRPr lang="en-US" sz="516" dirty="0"/>
          </a:p>
        </p:txBody>
      </p:sp>
      <p:sp>
        <p:nvSpPr>
          <p:cNvPr id="64" name="Text 53"/>
          <p:cNvSpPr/>
          <p:nvPr/>
        </p:nvSpPr>
        <p:spPr>
          <a:xfrm>
            <a:off x="8255608" y="2519958"/>
            <a:ext cx="4454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₩110,000</a:t>
            </a:r>
            <a:endParaRPr lang="en-US" sz="683" dirty="0"/>
          </a:p>
        </p:txBody>
      </p:sp>
      <p:sp>
        <p:nvSpPr>
          <p:cNvPr id="65" name="Shape 54"/>
          <p:cNvSpPr/>
          <p:nvPr/>
        </p:nvSpPr>
        <p:spPr>
          <a:xfrm>
            <a:off x="6143625" y="2971800"/>
            <a:ext cx="2714625" cy="20431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6229350" y="3064669"/>
            <a:ext cx="2543175" cy="205383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67" name="Shape 56"/>
          <p:cNvSpPr/>
          <p:nvPr/>
        </p:nvSpPr>
        <p:spPr>
          <a:xfrm>
            <a:off x="6229350" y="335577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57"/>
          <p:cNvSpPr/>
          <p:nvPr/>
        </p:nvSpPr>
        <p:spPr>
          <a:xfrm>
            <a:off x="6229350" y="335577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9" name="Text 58"/>
          <p:cNvSpPr/>
          <p:nvPr/>
        </p:nvSpPr>
        <p:spPr>
          <a:xfrm>
            <a:off x="6443663" y="3350419"/>
            <a:ext cx="5548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Admin Invite</a:t>
            </a:r>
            <a:endParaRPr lang="en-US" sz="584" dirty="0"/>
          </a:p>
        </p:txBody>
      </p:sp>
      <p:sp>
        <p:nvSpPr>
          <p:cNvPr id="70" name="Text 59"/>
          <p:cNvSpPr/>
          <p:nvPr/>
        </p:nvSpPr>
        <p:spPr>
          <a:xfrm>
            <a:off x="6443663" y="3477220"/>
            <a:ext cx="14949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/api/v1/hq/admins</a:t>
            </a:r>
            <a:endParaRPr lang="en-US" sz="621" dirty="0"/>
          </a:p>
        </p:txBody>
      </p:sp>
      <p:sp>
        <p:nvSpPr>
          <p:cNvPr id="71" name="Text 60"/>
          <p:cNvSpPr/>
          <p:nvPr/>
        </p:nvSpPr>
        <p:spPr>
          <a:xfrm>
            <a:off x="6443663" y="3579019"/>
            <a:ext cx="7454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Role: OWNER only.</a:t>
            </a:r>
            <a:endParaRPr lang="en-US" sz="621" dirty="0"/>
          </a:p>
        </p:txBody>
      </p:sp>
      <p:sp>
        <p:nvSpPr>
          <p:cNvPr id="72" name="Text 61"/>
          <p:cNvSpPr/>
          <p:nvPr/>
        </p:nvSpPr>
        <p:spPr>
          <a:xfrm>
            <a:off x="6443663" y="3686175"/>
            <a:ext cx="14949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Email invitation with registration link.</a:t>
            </a:r>
            <a:endParaRPr lang="en-US" sz="621" dirty="0"/>
          </a:p>
        </p:txBody>
      </p:sp>
      <p:sp>
        <p:nvSpPr>
          <p:cNvPr id="73" name="Shape 62"/>
          <p:cNvSpPr/>
          <p:nvPr/>
        </p:nvSpPr>
        <p:spPr>
          <a:xfrm>
            <a:off x="6229350" y="38558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3"/>
          <p:cNvSpPr/>
          <p:nvPr/>
        </p:nvSpPr>
        <p:spPr>
          <a:xfrm>
            <a:off x="6229350" y="385583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5" name="Text 64"/>
          <p:cNvSpPr/>
          <p:nvPr/>
        </p:nvSpPr>
        <p:spPr>
          <a:xfrm>
            <a:off x="6443663" y="3850481"/>
            <a:ext cx="7347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Subscription Info</a:t>
            </a:r>
            <a:endParaRPr lang="en-US" sz="584" dirty="0"/>
          </a:p>
        </p:txBody>
      </p:sp>
      <p:sp>
        <p:nvSpPr>
          <p:cNvPr id="76" name="Text 65"/>
          <p:cNvSpPr/>
          <p:nvPr/>
        </p:nvSpPr>
        <p:spPr>
          <a:xfrm>
            <a:off x="6443663" y="3977283"/>
            <a:ext cx="159612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/api/v1/hq/subscription</a:t>
            </a:r>
            <a:endParaRPr lang="en-US" sz="621" dirty="0"/>
          </a:p>
        </p:txBody>
      </p:sp>
      <p:sp>
        <p:nvSpPr>
          <p:cNvPr id="77" name="Text 66"/>
          <p:cNvSpPr/>
          <p:nvPr/>
        </p:nvSpPr>
        <p:spPr>
          <a:xfrm>
            <a:off x="6443663" y="4079081"/>
            <a:ext cx="13314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Integration: Stripe / PortOne API.</a:t>
            </a:r>
            <a:endParaRPr lang="en-US" sz="621" dirty="0"/>
          </a:p>
        </p:txBody>
      </p:sp>
      <p:sp>
        <p:nvSpPr>
          <p:cNvPr id="78" name="Text 67"/>
          <p:cNvSpPr/>
          <p:nvPr/>
        </p:nvSpPr>
        <p:spPr>
          <a:xfrm>
            <a:off x="6443663" y="4186238"/>
            <a:ext cx="15961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Show plan status, next billing, card info.</a:t>
            </a:r>
            <a:endParaRPr lang="en-US" sz="621" dirty="0"/>
          </a:p>
        </p:txBody>
      </p:sp>
      <p:sp>
        <p:nvSpPr>
          <p:cNvPr id="79" name="Shape 68"/>
          <p:cNvSpPr/>
          <p:nvPr/>
        </p:nvSpPr>
        <p:spPr>
          <a:xfrm>
            <a:off x="6229350" y="435590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0" name="Text 69"/>
          <p:cNvSpPr/>
          <p:nvPr/>
        </p:nvSpPr>
        <p:spPr>
          <a:xfrm>
            <a:off x="6229350" y="435590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81" name="Text 70"/>
          <p:cNvSpPr/>
          <p:nvPr/>
        </p:nvSpPr>
        <p:spPr>
          <a:xfrm>
            <a:off x="6443663" y="4350544"/>
            <a:ext cx="7173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Payment History</a:t>
            </a:r>
            <a:endParaRPr lang="en-US" sz="584" dirty="0"/>
          </a:p>
        </p:txBody>
      </p:sp>
      <p:sp>
        <p:nvSpPr>
          <p:cNvPr id="82" name="Text 71"/>
          <p:cNvSpPr/>
          <p:nvPr/>
        </p:nvSpPr>
        <p:spPr>
          <a:xfrm>
            <a:off x="6443663" y="4477345"/>
            <a:ext cx="137924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/api/v1/hq/payments</a:t>
            </a:r>
            <a:endParaRPr lang="en-US" sz="621" dirty="0"/>
          </a:p>
        </p:txBody>
      </p:sp>
      <p:sp>
        <p:nvSpPr>
          <p:cNvPr id="83" name="Text 72"/>
          <p:cNvSpPr/>
          <p:nvPr/>
        </p:nvSpPr>
        <p:spPr>
          <a:xfrm>
            <a:off x="6443663" y="4579144"/>
            <a:ext cx="13792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Download Invoice (PDF) capability.</a:t>
            </a:r>
            <a:endParaRPr lang="en-US" sz="621" dirty="0"/>
          </a:p>
        </p:txBody>
      </p:sp>
      <p:sp>
        <p:nvSpPr>
          <p:cNvPr id="84" name="Text 73"/>
          <p:cNvSpPr/>
          <p:nvPr/>
        </p:nvSpPr>
        <p:spPr>
          <a:xfrm>
            <a:off x="6443663" y="4686300"/>
            <a:ext cx="8420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Filter by year/month.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11394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553766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현장 전용 대시보드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금일 신규/지각 노무자 현황 및 실시간 태깅 로그 요약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760934"/>
            <a:ext cx="5715000" cy="3014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768078"/>
            <a:ext cx="571500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2025253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838623"/>
            <a:ext cx="9826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Manager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2025253"/>
            <a:ext cx="435769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714375" y="2025253"/>
            <a:ext cx="7144" cy="2743200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139553"/>
            <a:ext cx="221456" cy="12858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95" y="2382441"/>
            <a:ext cx="160734" cy="128588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2" y="2625328"/>
            <a:ext cx="96441" cy="12858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" y="2868216"/>
            <a:ext cx="96441" cy="12858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14375" y="2025253"/>
            <a:ext cx="5286375" cy="27432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141339"/>
            <a:ext cx="96441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7978" y="2110978"/>
            <a:ext cx="12833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스마트콘 본사 신축 공사</a:t>
            </a:r>
            <a:endParaRPr lang="en-US" sz="885" dirty="0"/>
          </a:p>
        </p:txBody>
      </p:sp>
      <p:sp>
        <p:nvSpPr>
          <p:cNvPr id="20" name="Text 12"/>
          <p:cNvSpPr/>
          <p:nvPr/>
        </p:nvSpPr>
        <p:spPr>
          <a:xfrm>
            <a:off x="5324187" y="2142232"/>
            <a:ext cx="5908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2026.01.20 (화)</a:t>
            </a:r>
            <a:endParaRPr lang="en-US" sz="621" dirty="0"/>
          </a:p>
        </p:txBody>
      </p:sp>
      <p:sp>
        <p:nvSpPr>
          <p:cNvPr id="21" name="Shape 13"/>
          <p:cNvSpPr/>
          <p:nvPr/>
        </p:nvSpPr>
        <p:spPr>
          <a:xfrm>
            <a:off x="800100" y="2371725"/>
            <a:ext cx="1235869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57250" y="2428875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금일 출역</a:t>
            </a:r>
            <a:endParaRPr lang="en-US" sz="534" dirty="0"/>
          </a:p>
        </p:txBody>
      </p:sp>
      <p:sp>
        <p:nvSpPr>
          <p:cNvPr id="23" name="Text 15"/>
          <p:cNvSpPr/>
          <p:nvPr/>
        </p:nvSpPr>
        <p:spPr>
          <a:xfrm>
            <a:off x="857250" y="2571750"/>
            <a:ext cx="11215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142</a:t>
            </a:r>
            <a:endParaRPr lang="en-US" sz="1193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52142"/>
            <a:ext cx="78581" cy="7858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4406" y="2834283"/>
            <a:ext cx="3202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98% 출석</a:t>
            </a:r>
            <a:endParaRPr lang="en-US" sz="568" dirty="0"/>
          </a:p>
        </p:txBody>
      </p:sp>
      <p:sp>
        <p:nvSpPr>
          <p:cNvPr id="26" name="Shape 17"/>
          <p:cNvSpPr/>
          <p:nvPr/>
        </p:nvSpPr>
        <p:spPr>
          <a:xfrm>
            <a:off x="2093119" y="2371725"/>
            <a:ext cx="1235869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FECACA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2150269" y="2428875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지각 / 미출근</a:t>
            </a:r>
            <a:endParaRPr lang="en-US" sz="534" dirty="0"/>
          </a:p>
        </p:txBody>
      </p:sp>
      <p:sp>
        <p:nvSpPr>
          <p:cNvPr id="28" name="Text 19"/>
          <p:cNvSpPr/>
          <p:nvPr/>
        </p:nvSpPr>
        <p:spPr>
          <a:xfrm>
            <a:off x="2150269" y="2571750"/>
            <a:ext cx="11215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12</a:t>
            </a:r>
            <a:endParaRPr lang="en-US" sz="1193" dirty="0"/>
          </a:p>
        </p:txBody>
      </p:sp>
      <p:sp>
        <p:nvSpPr>
          <p:cNvPr id="29" name="Text 20"/>
          <p:cNvSpPr/>
          <p:nvPr/>
        </p:nvSpPr>
        <p:spPr>
          <a:xfrm>
            <a:off x="2150269" y="2834283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09:00 기준</a:t>
            </a:r>
            <a:endParaRPr lang="en-US" sz="568" dirty="0"/>
          </a:p>
        </p:txBody>
      </p:sp>
      <p:sp>
        <p:nvSpPr>
          <p:cNvPr id="30" name="Shape 21"/>
          <p:cNvSpPr/>
          <p:nvPr/>
        </p:nvSpPr>
        <p:spPr>
          <a:xfrm>
            <a:off x="3228975" y="23288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2"/>
          <p:cNvSpPr/>
          <p:nvPr/>
        </p:nvSpPr>
        <p:spPr>
          <a:xfrm>
            <a:off x="3228975" y="232886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32" name="Shape 23"/>
          <p:cNvSpPr/>
          <p:nvPr/>
        </p:nvSpPr>
        <p:spPr>
          <a:xfrm>
            <a:off x="3386138" y="2371725"/>
            <a:ext cx="1235869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3443288" y="2428875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신규 등록</a:t>
            </a:r>
            <a:endParaRPr lang="en-US" sz="534" dirty="0"/>
          </a:p>
        </p:txBody>
      </p:sp>
      <p:sp>
        <p:nvSpPr>
          <p:cNvPr id="34" name="Text 25"/>
          <p:cNvSpPr/>
          <p:nvPr/>
        </p:nvSpPr>
        <p:spPr>
          <a:xfrm>
            <a:off x="3443288" y="2571750"/>
            <a:ext cx="11215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5</a:t>
            </a:r>
            <a:endParaRPr lang="en-US" sz="1193" dirty="0"/>
          </a:p>
        </p:txBody>
      </p:sp>
      <p:sp>
        <p:nvSpPr>
          <p:cNvPr id="35" name="Text 26"/>
          <p:cNvSpPr/>
          <p:nvPr/>
        </p:nvSpPr>
        <p:spPr>
          <a:xfrm>
            <a:off x="3443288" y="2834283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계약 대기 2명</a:t>
            </a:r>
            <a:endParaRPr lang="en-US" sz="568" dirty="0"/>
          </a:p>
        </p:txBody>
      </p:sp>
      <p:sp>
        <p:nvSpPr>
          <p:cNvPr id="36" name="Shape 27"/>
          <p:cNvSpPr/>
          <p:nvPr/>
        </p:nvSpPr>
        <p:spPr>
          <a:xfrm>
            <a:off x="4679156" y="2371725"/>
            <a:ext cx="1235869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736306" y="2428875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작업 팀</a:t>
            </a:r>
            <a:endParaRPr lang="en-US" sz="534" dirty="0"/>
          </a:p>
        </p:txBody>
      </p:sp>
      <p:sp>
        <p:nvSpPr>
          <p:cNvPr id="38" name="Text 29"/>
          <p:cNvSpPr/>
          <p:nvPr/>
        </p:nvSpPr>
        <p:spPr>
          <a:xfrm>
            <a:off x="4736306" y="2571750"/>
            <a:ext cx="11215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8</a:t>
            </a:r>
            <a:endParaRPr lang="en-US" sz="1193" dirty="0"/>
          </a:p>
        </p:txBody>
      </p:sp>
      <p:sp>
        <p:nvSpPr>
          <p:cNvPr id="39" name="Text 30"/>
          <p:cNvSpPr/>
          <p:nvPr/>
        </p:nvSpPr>
        <p:spPr>
          <a:xfrm>
            <a:off x="4736306" y="2834283"/>
            <a:ext cx="1121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E293B"/>
                </a:solidFill>
              </a:rPr>
              <a:t>전체 투입</a:t>
            </a:r>
            <a:endParaRPr lang="en-US" sz="568" dirty="0"/>
          </a:p>
        </p:txBody>
      </p:sp>
      <p:sp>
        <p:nvSpPr>
          <p:cNvPr id="40" name="Shape 31"/>
          <p:cNvSpPr/>
          <p:nvPr/>
        </p:nvSpPr>
        <p:spPr>
          <a:xfrm>
            <a:off x="800100" y="3077170"/>
            <a:ext cx="5114925" cy="160555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57250" y="3134320"/>
            <a:ext cx="151229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시간대별 출역 현황 (Hourly Entry)</a:t>
            </a:r>
            <a:endParaRPr lang="en-US" sz="683" dirty="0"/>
          </a:p>
        </p:txBody>
      </p:sp>
      <p:sp>
        <p:nvSpPr>
          <p:cNvPr id="42" name="Text 33"/>
          <p:cNvSpPr/>
          <p:nvPr/>
        </p:nvSpPr>
        <p:spPr>
          <a:xfrm>
            <a:off x="5414963" y="3134320"/>
            <a:ext cx="442913" cy="148233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000000"/>
                </a:solidFill>
              </a:rPr>
              <a:t>새로고침</a:t>
            </a:r>
            <a:endParaRPr lang="en-US" sz="568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325416"/>
            <a:ext cx="4964906" cy="1337667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1714500" y="183951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5"/>
          <p:cNvSpPr/>
          <p:nvPr/>
        </p:nvSpPr>
        <p:spPr>
          <a:xfrm>
            <a:off x="1714500" y="183951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6" name="Shape 36"/>
          <p:cNvSpPr/>
          <p:nvPr/>
        </p:nvSpPr>
        <p:spPr>
          <a:xfrm>
            <a:off x="6143625" y="1768078"/>
            <a:ext cx="2714625" cy="151447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229350" y="1853803"/>
            <a:ext cx="2543175" cy="12858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38"/>
          <p:cNvSpPr/>
          <p:nvPr/>
        </p:nvSpPr>
        <p:spPr>
          <a:xfrm>
            <a:off x="6229350" y="1853803"/>
            <a:ext cx="2543175" cy="2500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39"/>
          <p:cNvSpPr/>
          <p:nvPr/>
        </p:nvSpPr>
        <p:spPr>
          <a:xfrm>
            <a:off x="6286500" y="1910953"/>
            <a:ext cx="7392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SmartCON Site</a:t>
            </a:r>
            <a:endParaRPr lang="en-US" sz="683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7864" y="1928813"/>
            <a:ext cx="87511" cy="100013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6286500" y="2160984"/>
            <a:ext cx="2428875" cy="226814"/>
          </a:xfrm>
          <a:prstGeom prst="rect">
            <a:avLst/>
          </a:prstGeom>
          <a:solidFill>
            <a:srgbClr val="FEF2F2"/>
          </a:solidFill>
          <a:ln w="9144">
            <a:solidFill>
              <a:srgbClr val="FECACA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9363" y="2224385"/>
            <a:ext cx="85725" cy="85725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6472238" y="2203847"/>
            <a:ext cx="11352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지각 인원 12명이 발생했습니다.</a:t>
            </a:r>
            <a:endParaRPr lang="en-US" sz="584" dirty="0"/>
          </a:p>
        </p:txBody>
      </p:sp>
      <p:sp>
        <p:nvSpPr>
          <p:cNvPr id="54" name="Text 42"/>
          <p:cNvSpPr/>
          <p:nvPr/>
        </p:nvSpPr>
        <p:spPr>
          <a:xfrm>
            <a:off x="6286500" y="2430661"/>
            <a:ext cx="2428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최근 출입 로그</a:t>
            </a:r>
            <a:endParaRPr lang="en-US" sz="584" dirty="0"/>
          </a:p>
        </p:txBody>
      </p:sp>
      <p:sp>
        <p:nvSpPr>
          <p:cNvPr id="55" name="Shape 43"/>
          <p:cNvSpPr/>
          <p:nvPr/>
        </p:nvSpPr>
        <p:spPr>
          <a:xfrm>
            <a:off x="6286500" y="2600325"/>
            <a:ext cx="2428875" cy="3107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44"/>
          <p:cNvSpPr/>
          <p:nvPr/>
        </p:nvSpPr>
        <p:spPr>
          <a:xfrm>
            <a:off x="6329363" y="2643188"/>
            <a:ext cx="4932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김철수 (A팀)</a:t>
            </a:r>
            <a:endParaRPr lang="en-US" sz="584" dirty="0"/>
          </a:p>
        </p:txBody>
      </p:sp>
      <p:sp>
        <p:nvSpPr>
          <p:cNvPr id="57" name="Text 45"/>
          <p:cNvSpPr/>
          <p:nvPr/>
        </p:nvSpPr>
        <p:spPr>
          <a:xfrm>
            <a:off x="6329363" y="2769989"/>
            <a:ext cx="49328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Face ID • 14:30</a:t>
            </a:r>
            <a:endParaRPr lang="en-US" sz="516" dirty="0"/>
          </a:p>
        </p:txBody>
      </p:sp>
      <p:sp>
        <p:nvSpPr>
          <p:cNvPr id="58" name="Text 46"/>
          <p:cNvSpPr/>
          <p:nvPr/>
        </p:nvSpPr>
        <p:spPr>
          <a:xfrm>
            <a:off x="8527907" y="2698552"/>
            <a:ext cx="1446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정상</a:t>
            </a:r>
            <a:endParaRPr lang="en-US" sz="534" dirty="0"/>
          </a:p>
        </p:txBody>
      </p:sp>
      <p:sp>
        <p:nvSpPr>
          <p:cNvPr id="59" name="Shape 47"/>
          <p:cNvSpPr/>
          <p:nvPr/>
        </p:nvSpPr>
        <p:spPr>
          <a:xfrm>
            <a:off x="6286500" y="2953941"/>
            <a:ext cx="2428875" cy="3107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48"/>
          <p:cNvSpPr/>
          <p:nvPr/>
        </p:nvSpPr>
        <p:spPr>
          <a:xfrm>
            <a:off x="6329363" y="2996803"/>
            <a:ext cx="4534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이영희 (B팀)</a:t>
            </a:r>
            <a:endParaRPr lang="en-US" sz="584" dirty="0"/>
          </a:p>
        </p:txBody>
      </p:sp>
      <p:sp>
        <p:nvSpPr>
          <p:cNvPr id="61" name="Text 49"/>
          <p:cNvSpPr/>
          <p:nvPr/>
        </p:nvSpPr>
        <p:spPr>
          <a:xfrm>
            <a:off x="6329363" y="3123605"/>
            <a:ext cx="45348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GPS • 14:28</a:t>
            </a:r>
            <a:endParaRPr lang="en-US" sz="516" dirty="0"/>
          </a:p>
        </p:txBody>
      </p:sp>
      <p:sp>
        <p:nvSpPr>
          <p:cNvPr id="62" name="Text 50"/>
          <p:cNvSpPr/>
          <p:nvPr/>
        </p:nvSpPr>
        <p:spPr>
          <a:xfrm>
            <a:off x="8527907" y="3052167"/>
            <a:ext cx="1446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정상</a:t>
            </a:r>
            <a:endParaRPr lang="en-US" sz="534" dirty="0"/>
          </a:p>
        </p:txBody>
      </p:sp>
      <p:sp>
        <p:nvSpPr>
          <p:cNvPr id="63" name="Shape 51"/>
          <p:cNvSpPr/>
          <p:nvPr/>
        </p:nvSpPr>
        <p:spPr>
          <a:xfrm>
            <a:off x="7500938" y="24967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52"/>
          <p:cNvSpPr/>
          <p:nvPr/>
        </p:nvSpPr>
        <p:spPr>
          <a:xfrm>
            <a:off x="7500938" y="249674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5" name="Shape 53"/>
          <p:cNvSpPr/>
          <p:nvPr/>
        </p:nvSpPr>
        <p:spPr>
          <a:xfrm>
            <a:off x="6143625" y="3311128"/>
            <a:ext cx="2714625" cy="183237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6215063" y="3382566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67" name="Shape 55"/>
          <p:cNvSpPr/>
          <p:nvPr/>
        </p:nvSpPr>
        <p:spPr>
          <a:xfrm>
            <a:off x="6215063" y="363081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56"/>
          <p:cNvSpPr/>
          <p:nvPr/>
        </p:nvSpPr>
        <p:spPr>
          <a:xfrm>
            <a:off x="6215063" y="363081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9" name="Text 57"/>
          <p:cNvSpPr/>
          <p:nvPr/>
        </p:nvSpPr>
        <p:spPr>
          <a:xfrm>
            <a:off x="6415088" y="3623667"/>
            <a:ext cx="6939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Late Calculation</a:t>
            </a:r>
            <a:endParaRPr lang="en-US" sz="584" dirty="0"/>
          </a:p>
        </p:txBody>
      </p:sp>
      <p:sp>
        <p:nvSpPr>
          <p:cNvPr id="70" name="Text 58"/>
          <p:cNvSpPr/>
          <p:nvPr/>
        </p:nvSpPr>
        <p:spPr>
          <a:xfrm>
            <a:off x="7109036" y="3623667"/>
            <a:ext cx="3125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Logic:</a:t>
            </a:r>
            <a:endParaRPr lang="en-US" sz="621" dirty="0"/>
          </a:p>
        </p:txBody>
      </p:sp>
      <p:sp>
        <p:nvSpPr>
          <p:cNvPr id="71" name="Shape 59"/>
          <p:cNvSpPr/>
          <p:nvPr/>
        </p:nvSpPr>
        <p:spPr>
          <a:xfrm>
            <a:off x="6415088" y="3747957"/>
            <a:ext cx="1474040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2" name="Text 60"/>
          <p:cNvSpPr/>
          <p:nvPr/>
        </p:nvSpPr>
        <p:spPr>
          <a:xfrm>
            <a:off x="6415088" y="3747957"/>
            <a:ext cx="1474040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checkInTime &gt; siteConfig.startTime</a:t>
            </a:r>
            <a:endParaRPr lang="en-US" sz="621" dirty="0"/>
          </a:p>
        </p:txBody>
      </p:sp>
      <p:sp>
        <p:nvSpPr>
          <p:cNvPr id="73" name="Shape 61"/>
          <p:cNvSpPr/>
          <p:nvPr/>
        </p:nvSpPr>
        <p:spPr>
          <a:xfrm>
            <a:off x="6215063" y="392225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2"/>
          <p:cNvSpPr/>
          <p:nvPr/>
        </p:nvSpPr>
        <p:spPr>
          <a:xfrm>
            <a:off x="6215063" y="392225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5" name="Text 63"/>
          <p:cNvSpPr/>
          <p:nvPr/>
        </p:nvSpPr>
        <p:spPr>
          <a:xfrm>
            <a:off x="6415088" y="3943685"/>
            <a:ext cx="5499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Hourly Chart</a:t>
            </a:r>
            <a:endParaRPr lang="en-US" sz="584" dirty="0"/>
          </a:p>
        </p:txBody>
      </p:sp>
      <p:sp>
        <p:nvSpPr>
          <p:cNvPr id="76" name="Text 64"/>
          <p:cNvSpPr/>
          <p:nvPr/>
        </p:nvSpPr>
        <p:spPr>
          <a:xfrm>
            <a:off x="6965017" y="3943685"/>
            <a:ext cx="768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</a:t>
            </a:r>
            <a:endParaRPr lang="en-US" sz="621" dirty="0"/>
          </a:p>
        </p:txBody>
      </p:sp>
      <p:sp>
        <p:nvSpPr>
          <p:cNvPr id="77" name="Shape 65"/>
          <p:cNvSpPr/>
          <p:nvPr/>
        </p:nvSpPr>
        <p:spPr>
          <a:xfrm>
            <a:off x="7041840" y="3936541"/>
            <a:ext cx="1205787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Text 66"/>
          <p:cNvSpPr/>
          <p:nvPr/>
        </p:nvSpPr>
        <p:spPr>
          <a:xfrm>
            <a:off x="7041840" y="3936541"/>
            <a:ext cx="1205787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/api/v1/site/stats/hourly</a:t>
            </a:r>
            <a:endParaRPr lang="en-US" sz="621" dirty="0"/>
          </a:p>
        </p:txBody>
      </p:sp>
      <p:sp>
        <p:nvSpPr>
          <p:cNvPr id="79" name="Shape 67"/>
          <p:cNvSpPr/>
          <p:nvPr/>
        </p:nvSpPr>
        <p:spPr>
          <a:xfrm>
            <a:off x="6215063" y="411083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0" name="Text 68"/>
          <p:cNvSpPr/>
          <p:nvPr/>
        </p:nvSpPr>
        <p:spPr>
          <a:xfrm>
            <a:off x="6215063" y="411083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81" name="Text 69"/>
          <p:cNvSpPr/>
          <p:nvPr/>
        </p:nvSpPr>
        <p:spPr>
          <a:xfrm>
            <a:off x="6415088" y="4103694"/>
            <a:ext cx="7781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Mobile Dashboard</a:t>
            </a:r>
            <a:endParaRPr lang="en-US" sz="584" dirty="0"/>
          </a:p>
        </p:txBody>
      </p:sp>
      <p:sp>
        <p:nvSpPr>
          <p:cNvPr id="82" name="Text 70"/>
          <p:cNvSpPr/>
          <p:nvPr/>
        </p:nvSpPr>
        <p:spPr>
          <a:xfrm>
            <a:off x="7193226" y="4103694"/>
            <a:ext cx="545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</a:t>
            </a:r>
            <a:endParaRPr lang="en-US" sz="621" dirty="0"/>
          </a:p>
        </p:txBody>
      </p:sp>
      <p:sp>
        <p:nvSpPr>
          <p:cNvPr id="83" name="Shape 71"/>
          <p:cNvSpPr/>
          <p:nvPr/>
        </p:nvSpPr>
        <p:spPr>
          <a:xfrm>
            <a:off x="6415088" y="4227984"/>
            <a:ext cx="1570118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4" name="Text 72"/>
          <p:cNvSpPr/>
          <p:nvPr/>
        </p:nvSpPr>
        <p:spPr>
          <a:xfrm>
            <a:off x="6415088" y="4227984"/>
            <a:ext cx="1570118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/api/v1/site/dashboard/summary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428625"/>
            <a:ext cx="8715375" cy="8261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1240445"/>
            <a:ext cx="8715375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428625"/>
            <a:ext cx="8715375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실시간 출역 모니터링 및 상세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14313" y="900113"/>
            <a:ext cx="8715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FaceNet 유사도 검증 결과 및 GPS 위치 정보 지도 표시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4313" y="1447614"/>
            <a:ext cx="5857875" cy="3300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313" y="1447614"/>
            <a:ext cx="5857875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14313" y="1704789"/>
            <a:ext cx="585787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21531" y="1518158"/>
            <a:ext cx="15270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Manager &gt; Monitoring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14313" y="1704789"/>
            <a:ext cx="1721644" cy="30289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1928813" y="1704789"/>
            <a:ext cx="7144" cy="30289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214313" y="1704789"/>
            <a:ext cx="171450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Recent Check-ins (24)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214313" y="1942319"/>
            <a:ext cx="1714500" cy="42148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214313" y="2356656"/>
            <a:ext cx="1714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3"/>
          <p:cNvSpPr/>
          <p:nvPr/>
        </p:nvSpPr>
        <p:spPr>
          <a:xfrm>
            <a:off x="214313" y="1942319"/>
            <a:ext cx="21431" cy="4214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271463" y="2013756"/>
            <a:ext cx="1600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김철수 (A팀)</a:t>
            </a:r>
            <a:endParaRPr lang="en-US" sz="63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3" y="2194136"/>
            <a:ext cx="78581" cy="785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0044" y="2178062"/>
            <a:ext cx="18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Face</a:t>
            </a:r>
            <a:endParaRPr lang="en-US" sz="568" dirty="0"/>
          </a:p>
        </p:txBody>
      </p:sp>
      <p:sp>
        <p:nvSpPr>
          <p:cNvPr id="20" name="Text 16"/>
          <p:cNvSpPr/>
          <p:nvPr/>
        </p:nvSpPr>
        <p:spPr>
          <a:xfrm>
            <a:off x="1670800" y="2178062"/>
            <a:ext cx="2008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14:30</a:t>
            </a:r>
            <a:endParaRPr lang="en-US" sz="568" dirty="0"/>
          </a:p>
        </p:txBody>
      </p:sp>
      <p:sp>
        <p:nvSpPr>
          <p:cNvPr id="21" name="Text 17"/>
          <p:cNvSpPr/>
          <p:nvPr/>
        </p:nvSpPr>
        <p:spPr>
          <a:xfrm>
            <a:off x="271463" y="2428094"/>
            <a:ext cx="1600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이영희 (B팀)</a:t>
            </a:r>
            <a:endParaRPr lang="en-US" sz="634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3" y="2608473"/>
            <a:ext cx="58936" cy="7858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30398" y="2592400"/>
            <a:ext cx="1683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GPS</a:t>
            </a:r>
            <a:endParaRPr lang="en-US" sz="568" dirty="0"/>
          </a:p>
        </p:txBody>
      </p:sp>
      <p:sp>
        <p:nvSpPr>
          <p:cNvPr id="24" name="Text 19"/>
          <p:cNvSpPr/>
          <p:nvPr/>
        </p:nvSpPr>
        <p:spPr>
          <a:xfrm>
            <a:off x="1670800" y="2592400"/>
            <a:ext cx="2008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14:28</a:t>
            </a:r>
            <a:endParaRPr lang="en-US" sz="568" dirty="0"/>
          </a:p>
        </p:txBody>
      </p:sp>
      <p:sp>
        <p:nvSpPr>
          <p:cNvPr id="25" name="Text 20"/>
          <p:cNvSpPr/>
          <p:nvPr/>
        </p:nvSpPr>
        <p:spPr>
          <a:xfrm>
            <a:off x="271463" y="2849575"/>
            <a:ext cx="1600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박민수 (C팀)</a:t>
            </a:r>
            <a:endParaRPr lang="en-US" sz="634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3" y="3029955"/>
            <a:ext cx="78581" cy="7858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50044" y="3013881"/>
            <a:ext cx="1873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Face</a:t>
            </a:r>
            <a:endParaRPr lang="en-US" sz="568" dirty="0"/>
          </a:p>
        </p:txBody>
      </p:sp>
      <p:sp>
        <p:nvSpPr>
          <p:cNvPr id="28" name="Text 22"/>
          <p:cNvSpPr/>
          <p:nvPr/>
        </p:nvSpPr>
        <p:spPr>
          <a:xfrm>
            <a:off x="1670800" y="3013881"/>
            <a:ext cx="2008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14:25</a:t>
            </a:r>
            <a:endParaRPr lang="en-US" sz="568" dirty="0"/>
          </a:p>
        </p:txBody>
      </p:sp>
      <p:sp>
        <p:nvSpPr>
          <p:cNvPr id="29" name="Shape 23"/>
          <p:cNvSpPr/>
          <p:nvPr/>
        </p:nvSpPr>
        <p:spPr>
          <a:xfrm>
            <a:off x="1928813" y="1704789"/>
            <a:ext cx="4143375" cy="30289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4"/>
          <p:cNvSpPr/>
          <p:nvPr/>
        </p:nvSpPr>
        <p:spPr>
          <a:xfrm>
            <a:off x="2028825" y="1804801"/>
            <a:ext cx="13144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김철수 (Kim Chul-soo)</a:t>
            </a:r>
            <a:endParaRPr lang="en-US" sz="885" dirty="0"/>
          </a:p>
        </p:txBody>
      </p:sp>
      <p:sp>
        <p:nvSpPr>
          <p:cNvPr id="31" name="Shape 25"/>
          <p:cNvSpPr/>
          <p:nvPr/>
        </p:nvSpPr>
        <p:spPr>
          <a:xfrm>
            <a:off x="5443789" y="1812838"/>
            <a:ext cx="528386" cy="173236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2" name="Text 26"/>
          <p:cNvSpPr/>
          <p:nvPr/>
        </p:nvSpPr>
        <p:spPr>
          <a:xfrm>
            <a:off x="5443789" y="1812838"/>
            <a:ext cx="528386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64E3B"/>
                </a:solidFill>
              </a:rPr>
              <a:t>VERIFIED</a:t>
            </a:r>
            <a:endParaRPr lang="en-US" sz="584" dirty="0"/>
          </a:p>
        </p:txBody>
      </p:sp>
      <p:sp>
        <p:nvSpPr>
          <p:cNvPr id="33" name="Shape 27"/>
          <p:cNvSpPr/>
          <p:nvPr/>
        </p:nvSpPr>
        <p:spPr>
          <a:xfrm>
            <a:off x="2028825" y="2158417"/>
            <a:ext cx="1928813" cy="24753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5" y="2229855"/>
            <a:ext cx="107156" cy="857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193131" y="2215567"/>
            <a:ext cx="715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Face Verification</a:t>
            </a:r>
            <a:endParaRPr lang="en-US" sz="584" dirty="0"/>
          </a:p>
        </p:txBody>
      </p:sp>
      <p:sp>
        <p:nvSpPr>
          <p:cNvPr id="36" name="Shape 29"/>
          <p:cNvSpPr/>
          <p:nvPr/>
        </p:nvSpPr>
        <p:spPr>
          <a:xfrm>
            <a:off x="2085975" y="2388803"/>
            <a:ext cx="878681" cy="7143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Shape 30"/>
          <p:cNvSpPr/>
          <p:nvPr/>
        </p:nvSpPr>
        <p:spPr>
          <a:xfrm>
            <a:off x="2085975" y="2388803"/>
            <a:ext cx="878681" cy="714375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554" y="2638834"/>
            <a:ext cx="187523" cy="214313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2085975" y="2976376"/>
            <a:ext cx="878681" cy="12680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2085975" y="2976376"/>
            <a:ext cx="878681" cy="126802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Registered</a:t>
            </a:r>
            <a:endParaRPr lang="en-US" sz="516" dirty="0"/>
          </a:p>
        </p:txBody>
      </p:sp>
      <p:sp>
        <p:nvSpPr>
          <p:cNvPr id="41" name="Shape 33"/>
          <p:cNvSpPr/>
          <p:nvPr/>
        </p:nvSpPr>
        <p:spPr>
          <a:xfrm>
            <a:off x="3021806" y="2388803"/>
            <a:ext cx="878681" cy="7143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34"/>
          <p:cNvSpPr/>
          <p:nvPr/>
        </p:nvSpPr>
        <p:spPr>
          <a:xfrm>
            <a:off x="3021806" y="2388803"/>
            <a:ext cx="878681" cy="714375"/>
          </a:xfrm>
          <a:prstGeom prst="rect">
            <a:avLst/>
          </a:prstGeom>
          <a:solidFill>
            <a:srgbClr val="475569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385" y="2638834"/>
            <a:ext cx="187523" cy="214313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3021806" y="2976376"/>
            <a:ext cx="878681" cy="126802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5" name="Text 36"/>
          <p:cNvSpPr/>
          <p:nvPr/>
        </p:nvSpPr>
        <p:spPr>
          <a:xfrm>
            <a:off x="3021806" y="2976376"/>
            <a:ext cx="878681" cy="126802"/>
          </a:xfrm>
          <a:prstGeom prst="rect">
            <a:avLst/>
          </a:prstGeom>
          <a:noFill/>
          <a:ln/>
        </p:spPr>
        <p:txBody>
          <a:bodyPr wrap="none" lIns="0" tIns="17018" rIns="0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Captured</a:t>
            </a:r>
            <a:endParaRPr lang="en-US" sz="516" dirty="0"/>
          </a:p>
        </p:txBody>
      </p:sp>
      <p:sp>
        <p:nvSpPr>
          <p:cNvPr id="46" name="Text 37"/>
          <p:cNvSpPr/>
          <p:nvPr/>
        </p:nvSpPr>
        <p:spPr>
          <a:xfrm>
            <a:off x="2085975" y="3131753"/>
            <a:ext cx="1814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98.5% Match</a:t>
            </a:r>
            <a:endParaRPr lang="en-US" sz="683" dirty="0"/>
          </a:p>
        </p:txBody>
      </p:sp>
      <p:sp>
        <p:nvSpPr>
          <p:cNvPr id="47" name="Shape 38"/>
          <p:cNvSpPr/>
          <p:nvPr/>
        </p:nvSpPr>
        <p:spPr>
          <a:xfrm>
            <a:off x="2085975" y="3324634"/>
            <a:ext cx="1814513" cy="42863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48" name="Shape 39"/>
          <p:cNvSpPr/>
          <p:nvPr/>
        </p:nvSpPr>
        <p:spPr>
          <a:xfrm>
            <a:off x="5872163" y="150476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0"/>
          <p:cNvSpPr/>
          <p:nvPr/>
        </p:nvSpPr>
        <p:spPr>
          <a:xfrm>
            <a:off x="5872163" y="150476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50" name="Shape 41"/>
          <p:cNvSpPr/>
          <p:nvPr/>
        </p:nvSpPr>
        <p:spPr>
          <a:xfrm>
            <a:off x="4043363" y="2158417"/>
            <a:ext cx="1928813" cy="2475309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0513" y="2229855"/>
            <a:ext cx="96441" cy="85725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196953" y="2215567"/>
            <a:ext cx="6574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Location Check</a:t>
            </a:r>
            <a:endParaRPr lang="en-US" sz="584" dirty="0"/>
          </a:p>
        </p:txBody>
      </p:sp>
      <p:sp>
        <p:nvSpPr>
          <p:cNvPr id="53" name="Shape 43"/>
          <p:cNvSpPr/>
          <p:nvPr/>
        </p:nvSpPr>
        <p:spPr>
          <a:xfrm>
            <a:off x="4100513" y="2388803"/>
            <a:ext cx="1814513" cy="201453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3475" y="3311240"/>
            <a:ext cx="128588" cy="171450"/>
          </a:xfrm>
          <a:prstGeom prst="rect">
            <a:avLst/>
          </a:prstGeom>
        </p:spPr>
      </p:pic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7456" y="4474778"/>
            <a:ext cx="85725" cy="85725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183181" y="4460491"/>
            <a:ext cx="73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Inside Site (15m)</a:t>
            </a:r>
            <a:endParaRPr lang="en-US" sz="584" dirty="0"/>
          </a:p>
        </p:txBody>
      </p:sp>
      <p:sp>
        <p:nvSpPr>
          <p:cNvPr id="57" name="Shape 45"/>
          <p:cNvSpPr/>
          <p:nvPr/>
        </p:nvSpPr>
        <p:spPr>
          <a:xfrm>
            <a:off x="5872163" y="150476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46"/>
          <p:cNvSpPr/>
          <p:nvPr/>
        </p:nvSpPr>
        <p:spPr>
          <a:xfrm>
            <a:off x="5872163" y="150476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9" name="Shape 47"/>
          <p:cNvSpPr/>
          <p:nvPr/>
        </p:nvSpPr>
        <p:spPr>
          <a:xfrm>
            <a:off x="6215063" y="1447614"/>
            <a:ext cx="2714625" cy="162877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6286500" y="1547626"/>
            <a:ext cx="2571750" cy="14287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Shape 49"/>
          <p:cNvSpPr/>
          <p:nvPr/>
        </p:nvSpPr>
        <p:spPr>
          <a:xfrm>
            <a:off x="6286500" y="1547626"/>
            <a:ext cx="2571750" cy="25896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Text 50"/>
          <p:cNvSpPr/>
          <p:nvPr/>
        </p:nvSpPr>
        <p:spPr>
          <a:xfrm>
            <a:off x="6286500" y="1547626"/>
            <a:ext cx="2571750" cy="25896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출역 상세 정보</a:t>
            </a:r>
            <a:endParaRPr lang="en-US" sz="683" dirty="0"/>
          </a:p>
        </p:txBody>
      </p:sp>
      <p:sp>
        <p:nvSpPr>
          <p:cNvPr id="63" name="Shape 51"/>
          <p:cNvSpPr/>
          <p:nvPr/>
        </p:nvSpPr>
        <p:spPr>
          <a:xfrm>
            <a:off x="7300913" y="1878025"/>
            <a:ext cx="542925" cy="542925"/>
          </a:xfrm>
          <a:prstGeom prst="ellipse">
            <a:avLst/>
          </a:prstGeom>
          <a:solidFill>
            <a:srgbClr val="CBD5E1"/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7322344" y="1878025"/>
            <a:ext cx="500063" cy="50006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8613" y="2020900"/>
            <a:ext cx="187523" cy="214313"/>
          </a:xfrm>
          <a:prstGeom prst="rect">
            <a:avLst/>
          </a:prstGeom>
        </p:spPr>
      </p:pic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6898" y="2479886"/>
            <a:ext cx="128588" cy="12858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401204" y="244952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인증 성공</a:t>
            </a:r>
            <a:endParaRPr lang="en-US" sz="885" dirty="0"/>
          </a:p>
        </p:txBody>
      </p:sp>
      <p:sp>
        <p:nvSpPr>
          <p:cNvPr id="68" name="Shape 54"/>
          <p:cNvSpPr/>
          <p:nvPr/>
        </p:nvSpPr>
        <p:spPr>
          <a:xfrm>
            <a:off x="6300788" y="2710272"/>
            <a:ext cx="2543175" cy="3964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55"/>
          <p:cNvSpPr/>
          <p:nvPr/>
        </p:nvSpPr>
        <p:spPr>
          <a:xfrm>
            <a:off x="6357938" y="2767422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일치율</a:t>
            </a:r>
            <a:endParaRPr lang="en-US" sz="621" dirty="0"/>
          </a:p>
        </p:txBody>
      </p:sp>
      <p:sp>
        <p:nvSpPr>
          <p:cNvPr id="70" name="Text 56"/>
          <p:cNvSpPr/>
          <p:nvPr/>
        </p:nvSpPr>
        <p:spPr>
          <a:xfrm>
            <a:off x="8538037" y="2767422"/>
            <a:ext cx="2487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98.5%</a:t>
            </a:r>
            <a:endParaRPr lang="en-US" sz="584" dirty="0"/>
          </a:p>
        </p:txBody>
      </p:sp>
      <p:sp>
        <p:nvSpPr>
          <p:cNvPr id="71" name="Text 57"/>
          <p:cNvSpPr/>
          <p:nvPr/>
        </p:nvSpPr>
        <p:spPr>
          <a:xfrm>
            <a:off x="6357938" y="2922798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위치</a:t>
            </a:r>
            <a:endParaRPr lang="en-US" sz="621" dirty="0"/>
          </a:p>
        </p:txBody>
      </p:sp>
      <p:sp>
        <p:nvSpPr>
          <p:cNvPr id="72" name="Text 58"/>
          <p:cNvSpPr/>
          <p:nvPr/>
        </p:nvSpPr>
        <p:spPr>
          <a:xfrm>
            <a:off x="8366392" y="2922798"/>
            <a:ext cx="4204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정상 (15m)</a:t>
            </a:r>
            <a:endParaRPr lang="en-US" sz="584" dirty="0"/>
          </a:p>
        </p:txBody>
      </p:sp>
      <p:sp>
        <p:nvSpPr>
          <p:cNvPr id="73" name="Shape 59"/>
          <p:cNvSpPr/>
          <p:nvPr/>
        </p:nvSpPr>
        <p:spPr>
          <a:xfrm>
            <a:off x="7572375" y="223055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0"/>
          <p:cNvSpPr/>
          <p:nvPr/>
        </p:nvSpPr>
        <p:spPr>
          <a:xfrm>
            <a:off x="7572375" y="223055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75" name="Shape 61"/>
          <p:cNvSpPr/>
          <p:nvPr/>
        </p:nvSpPr>
        <p:spPr>
          <a:xfrm>
            <a:off x="6215063" y="3133539"/>
            <a:ext cx="2714625" cy="186708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6300788" y="3226408"/>
            <a:ext cx="2543175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77" name="Shape 63"/>
          <p:cNvSpPr/>
          <p:nvPr/>
        </p:nvSpPr>
        <p:spPr>
          <a:xfrm>
            <a:off x="6300788" y="347465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64"/>
          <p:cNvSpPr/>
          <p:nvPr/>
        </p:nvSpPr>
        <p:spPr>
          <a:xfrm>
            <a:off x="6300788" y="347465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9" name="Text 65"/>
          <p:cNvSpPr/>
          <p:nvPr/>
        </p:nvSpPr>
        <p:spPr>
          <a:xfrm>
            <a:off x="6515100" y="3474653"/>
            <a:ext cx="1487267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Face Verification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Lib: FaceNet (Python) / TensorFlow.js.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Threshold: &gt; 0.80 (Configurable).</a:t>
            </a:r>
            <a:endParaRPr lang="en-US" sz="584" dirty="0"/>
          </a:p>
        </p:txBody>
      </p:sp>
      <p:sp>
        <p:nvSpPr>
          <p:cNvPr id="80" name="Shape 66"/>
          <p:cNvSpPr/>
          <p:nvPr/>
        </p:nvSpPr>
        <p:spPr>
          <a:xfrm>
            <a:off x="6300788" y="387749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67"/>
          <p:cNvSpPr/>
          <p:nvPr/>
        </p:nvSpPr>
        <p:spPr>
          <a:xfrm>
            <a:off x="6300788" y="387749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2" name="Text 68"/>
          <p:cNvSpPr/>
          <p:nvPr/>
        </p:nvSpPr>
        <p:spPr>
          <a:xfrm>
            <a:off x="6515100" y="3877494"/>
            <a:ext cx="154966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GPS Geofencing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Logic: Haversine Distance Formula.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Radius: Default 500m from Site Center.</a:t>
            </a:r>
            <a:endParaRPr lang="en-US" sz="584" dirty="0"/>
          </a:p>
        </p:txBody>
      </p:sp>
      <p:sp>
        <p:nvSpPr>
          <p:cNvPr id="83" name="Shape 69"/>
          <p:cNvSpPr/>
          <p:nvPr/>
        </p:nvSpPr>
        <p:spPr>
          <a:xfrm>
            <a:off x="6300788" y="428033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0"/>
          <p:cNvSpPr/>
          <p:nvPr/>
        </p:nvSpPr>
        <p:spPr>
          <a:xfrm>
            <a:off x="6300788" y="428033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85" name="Text 71"/>
          <p:cNvSpPr/>
          <p:nvPr/>
        </p:nvSpPr>
        <p:spPr>
          <a:xfrm>
            <a:off x="6515100" y="4282120"/>
            <a:ext cx="4240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Detail API</a:t>
            </a:r>
            <a:endParaRPr lang="en-US" sz="584" dirty="0"/>
          </a:p>
        </p:txBody>
      </p:sp>
      <p:sp>
        <p:nvSpPr>
          <p:cNvPr id="86" name="Shape 72"/>
          <p:cNvSpPr/>
          <p:nvPr/>
        </p:nvSpPr>
        <p:spPr>
          <a:xfrm>
            <a:off x="6515100" y="4414614"/>
            <a:ext cx="1504820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7" name="Text 73"/>
          <p:cNvSpPr/>
          <p:nvPr/>
        </p:nvSpPr>
        <p:spPr>
          <a:xfrm>
            <a:off x="6515100" y="4414614"/>
            <a:ext cx="1504820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/api/v1/attendance/{logId}</a:t>
            </a:r>
            <a:endParaRPr lang="en-US" sz="621" dirty="0"/>
          </a:p>
        </p:txBody>
      </p:sp>
      <p:sp>
        <p:nvSpPr>
          <p:cNvPr id="88" name="Text 74"/>
          <p:cNvSpPr/>
          <p:nvPr/>
        </p:nvSpPr>
        <p:spPr>
          <a:xfrm>
            <a:off x="6515100" y="4684961"/>
            <a:ext cx="15048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Return: images (S3 url), lat/lng, score.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929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307306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출역 승인 및 거부 처리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미승인 목록 일괄 선택 및 거부 사유 입력 모달 로직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600200"/>
            <a:ext cx="5643563" cy="3300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607344"/>
            <a:ext cx="5643563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64519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677888"/>
            <a:ext cx="10895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&gt; Approvals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85763" y="1964531"/>
            <a:ext cx="5443538" cy="34111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913" y="2060079"/>
            <a:ext cx="4190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2명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 선택됨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4872707" y="2021681"/>
            <a:ext cx="437220" cy="212527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432" y="2089547"/>
            <a:ext cx="85725" cy="85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44157" y="2075259"/>
            <a:ext cx="1800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승인</a:t>
            </a:r>
            <a:endParaRPr lang="en-US" sz="584" dirty="0"/>
          </a:p>
        </p:txBody>
      </p:sp>
      <p:sp>
        <p:nvSpPr>
          <p:cNvPr id="16" name="Shape 12"/>
          <p:cNvSpPr/>
          <p:nvPr/>
        </p:nvSpPr>
        <p:spPr>
          <a:xfrm>
            <a:off x="5367077" y="2021681"/>
            <a:ext cx="405073" cy="212527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02" y="2089547"/>
            <a:ext cx="53578" cy="857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06380" y="2075259"/>
            <a:ext cx="1800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거부</a:t>
            </a:r>
            <a:endParaRPr lang="en-US" sz="584" dirty="0"/>
          </a:p>
        </p:txBody>
      </p:sp>
      <p:sp>
        <p:nvSpPr>
          <p:cNvPr id="19" name="Shape 14"/>
          <p:cNvSpPr/>
          <p:nvPr/>
        </p:nvSpPr>
        <p:spPr>
          <a:xfrm>
            <a:off x="385763" y="2377083"/>
            <a:ext cx="551101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385763" y="2627114"/>
            <a:ext cx="55110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442913" y="2434233"/>
            <a:ext cx="114300" cy="114300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2422624"/>
            <a:ext cx="5165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✓</a:t>
            </a:r>
            <a:endParaRPr lang="en-US" sz="485" dirty="0"/>
          </a:p>
        </p:txBody>
      </p:sp>
      <p:sp>
        <p:nvSpPr>
          <p:cNvPr id="23" name="Shape 18"/>
          <p:cNvSpPr/>
          <p:nvPr/>
        </p:nvSpPr>
        <p:spPr>
          <a:xfrm>
            <a:off x="936864" y="2377083"/>
            <a:ext cx="1437596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6864" y="2611041"/>
            <a:ext cx="143759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/>
          <p:nvPr/>
        </p:nvSpPr>
        <p:spPr>
          <a:xfrm>
            <a:off x="936864" y="2377083"/>
            <a:ext cx="1437596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Worker</a:t>
            </a:r>
            <a:endParaRPr lang="en-US" sz="634" dirty="0"/>
          </a:p>
        </p:txBody>
      </p:sp>
      <p:sp>
        <p:nvSpPr>
          <p:cNvPr id="26" name="Shape 21"/>
          <p:cNvSpPr/>
          <p:nvPr/>
        </p:nvSpPr>
        <p:spPr>
          <a:xfrm>
            <a:off x="2374460" y="2377083"/>
            <a:ext cx="1163985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2"/>
          <p:cNvSpPr/>
          <p:nvPr/>
        </p:nvSpPr>
        <p:spPr>
          <a:xfrm>
            <a:off x="2374460" y="2611041"/>
            <a:ext cx="116398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3"/>
          <p:cNvSpPr/>
          <p:nvPr/>
        </p:nvSpPr>
        <p:spPr>
          <a:xfrm>
            <a:off x="2374460" y="2377083"/>
            <a:ext cx="1163985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Time</a:t>
            </a:r>
            <a:endParaRPr lang="en-US" sz="634" dirty="0"/>
          </a:p>
        </p:txBody>
      </p:sp>
      <p:sp>
        <p:nvSpPr>
          <p:cNvPr id="29" name="Shape 24"/>
          <p:cNvSpPr/>
          <p:nvPr/>
        </p:nvSpPr>
        <p:spPr>
          <a:xfrm>
            <a:off x="3538444" y="2377083"/>
            <a:ext cx="1143614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5"/>
          <p:cNvSpPr/>
          <p:nvPr/>
        </p:nvSpPr>
        <p:spPr>
          <a:xfrm>
            <a:off x="3538444" y="2611041"/>
            <a:ext cx="114361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6"/>
          <p:cNvSpPr/>
          <p:nvPr/>
        </p:nvSpPr>
        <p:spPr>
          <a:xfrm>
            <a:off x="3538444" y="2377083"/>
            <a:ext cx="1143614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Method</a:t>
            </a:r>
            <a:endParaRPr lang="en-US" sz="634" dirty="0"/>
          </a:p>
        </p:txBody>
      </p:sp>
      <p:sp>
        <p:nvSpPr>
          <p:cNvPr id="32" name="Shape 27"/>
          <p:cNvSpPr/>
          <p:nvPr/>
        </p:nvSpPr>
        <p:spPr>
          <a:xfrm>
            <a:off x="4682058" y="2377083"/>
            <a:ext cx="1147242" cy="24824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8"/>
          <p:cNvSpPr/>
          <p:nvPr/>
        </p:nvSpPr>
        <p:spPr>
          <a:xfrm>
            <a:off x="4682058" y="2611041"/>
            <a:ext cx="114724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9"/>
          <p:cNvSpPr/>
          <p:nvPr/>
        </p:nvSpPr>
        <p:spPr>
          <a:xfrm>
            <a:off x="4682058" y="2377083"/>
            <a:ext cx="1147242" cy="24824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Status</a:t>
            </a:r>
            <a:endParaRPr lang="en-US" sz="634" dirty="0"/>
          </a:p>
        </p:txBody>
      </p:sp>
      <p:sp>
        <p:nvSpPr>
          <p:cNvPr id="35" name="Shape 30"/>
          <p:cNvSpPr/>
          <p:nvPr/>
        </p:nvSpPr>
        <p:spPr>
          <a:xfrm>
            <a:off x="442913" y="2677120"/>
            <a:ext cx="114300" cy="114300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57200" y="2666405"/>
            <a:ext cx="48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✓</a:t>
            </a:r>
            <a:endParaRPr lang="en-US" sz="516" dirty="0"/>
          </a:p>
        </p:txBody>
      </p:sp>
      <p:sp>
        <p:nvSpPr>
          <p:cNvPr id="37" name="Text 32"/>
          <p:cNvSpPr/>
          <p:nvPr/>
        </p:nvSpPr>
        <p:spPr>
          <a:xfrm>
            <a:off x="936864" y="2619970"/>
            <a:ext cx="1437596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 (A팀)</a:t>
            </a:r>
            <a:endParaRPr lang="en-US" sz="674" dirty="0"/>
          </a:p>
        </p:txBody>
      </p:sp>
      <p:sp>
        <p:nvSpPr>
          <p:cNvPr id="38" name="Text 33"/>
          <p:cNvSpPr/>
          <p:nvPr/>
        </p:nvSpPr>
        <p:spPr>
          <a:xfrm>
            <a:off x="2374460" y="2619970"/>
            <a:ext cx="1163985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06:45:12</a:t>
            </a:r>
            <a:endParaRPr lang="en-US" sz="674" dirty="0"/>
          </a:p>
        </p:txBody>
      </p:sp>
      <p:sp>
        <p:nvSpPr>
          <p:cNvPr id="39" name="Text 34"/>
          <p:cNvSpPr/>
          <p:nvPr/>
        </p:nvSpPr>
        <p:spPr>
          <a:xfrm>
            <a:off x="3538444" y="2619970"/>
            <a:ext cx="1143614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Face ID</a:t>
            </a:r>
            <a:endParaRPr lang="en-US" sz="674" dirty="0"/>
          </a:p>
        </p:txBody>
      </p:sp>
      <p:sp>
        <p:nvSpPr>
          <p:cNvPr id="40" name="Text 35"/>
          <p:cNvSpPr/>
          <p:nvPr/>
        </p:nvSpPr>
        <p:spPr>
          <a:xfrm>
            <a:off x="4682058" y="2619970"/>
            <a:ext cx="1147242" cy="25360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Pending</a:t>
            </a:r>
            <a:endParaRPr lang="en-US" sz="674" dirty="0"/>
          </a:p>
        </p:txBody>
      </p:sp>
      <p:sp>
        <p:nvSpPr>
          <p:cNvPr id="41" name="Shape 36"/>
          <p:cNvSpPr/>
          <p:nvPr/>
        </p:nvSpPr>
        <p:spPr>
          <a:xfrm>
            <a:off x="442913" y="2934295"/>
            <a:ext cx="114300" cy="114300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57200" y="2923580"/>
            <a:ext cx="48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✓</a:t>
            </a:r>
            <a:endParaRPr lang="en-US" sz="516" dirty="0"/>
          </a:p>
        </p:txBody>
      </p:sp>
      <p:sp>
        <p:nvSpPr>
          <p:cNvPr id="43" name="Text 38"/>
          <p:cNvSpPr/>
          <p:nvPr/>
        </p:nvSpPr>
        <p:spPr>
          <a:xfrm>
            <a:off x="936864" y="2873573"/>
            <a:ext cx="143759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박민수 (C팀)</a:t>
            </a:r>
            <a:endParaRPr lang="en-US" sz="674" dirty="0"/>
          </a:p>
        </p:txBody>
      </p:sp>
      <p:sp>
        <p:nvSpPr>
          <p:cNvPr id="44" name="Text 39"/>
          <p:cNvSpPr/>
          <p:nvPr/>
        </p:nvSpPr>
        <p:spPr>
          <a:xfrm>
            <a:off x="2374460" y="2873573"/>
            <a:ext cx="116398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06:50:30</a:t>
            </a:r>
            <a:endParaRPr lang="en-US" sz="674" dirty="0"/>
          </a:p>
        </p:txBody>
      </p:sp>
      <p:sp>
        <p:nvSpPr>
          <p:cNvPr id="45" name="Text 40"/>
          <p:cNvSpPr/>
          <p:nvPr/>
        </p:nvSpPr>
        <p:spPr>
          <a:xfrm>
            <a:off x="3538444" y="2873573"/>
            <a:ext cx="1143614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GPS</a:t>
            </a:r>
            <a:endParaRPr lang="en-US" sz="674" dirty="0"/>
          </a:p>
        </p:txBody>
      </p:sp>
      <p:sp>
        <p:nvSpPr>
          <p:cNvPr id="46" name="Text 41"/>
          <p:cNvSpPr/>
          <p:nvPr/>
        </p:nvSpPr>
        <p:spPr>
          <a:xfrm>
            <a:off x="4682058" y="2873573"/>
            <a:ext cx="1147242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Pending</a:t>
            </a:r>
            <a:endParaRPr lang="en-US" sz="674" dirty="0"/>
          </a:p>
        </p:txBody>
      </p:sp>
      <p:sp>
        <p:nvSpPr>
          <p:cNvPr id="47" name="Text 42"/>
          <p:cNvSpPr/>
          <p:nvPr/>
        </p:nvSpPr>
        <p:spPr>
          <a:xfrm>
            <a:off x="936864" y="3130748"/>
            <a:ext cx="143759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이영희 (B팀)</a:t>
            </a:r>
            <a:endParaRPr lang="en-US" sz="674" dirty="0"/>
          </a:p>
        </p:txBody>
      </p:sp>
      <p:sp>
        <p:nvSpPr>
          <p:cNvPr id="48" name="Text 43"/>
          <p:cNvSpPr/>
          <p:nvPr/>
        </p:nvSpPr>
        <p:spPr>
          <a:xfrm>
            <a:off x="2374460" y="3130748"/>
            <a:ext cx="116398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07:01:15</a:t>
            </a:r>
            <a:endParaRPr lang="en-US" sz="674" dirty="0"/>
          </a:p>
        </p:txBody>
      </p:sp>
      <p:sp>
        <p:nvSpPr>
          <p:cNvPr id="49" name="Text 44"/>
          <p:cNvSpPr/>
          <p:nvPr/>
        </p:nvSpPr>
        <p:spPr>
          <a:xfrm>
            <a:off x="3538444" y="3130748"/>
            <a:ext cx="1143614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Face ID</a:t>
            </a:r>
            <a:endParaRPr lang="en-US" sz="674" dirty="0"/>
          </a:p>
        </p:txBody>
      </p:sp>
      <p:sp>
        <p:nvSpPr>
          <p:cNvPr id="50" name="Text 45"/>
          <p:cNvSpPr/>
          <p:nvPr/>
        </p:nvSpPr>
        <p:spPr>
          <a:xfrm>
            <a:off x="4682058" y="3130748"/>
            <a:ext cx="1147242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Pending</a:t>
            </a:r>
            <a:endParaRPr lang="en-US" sz="674" dirty="0"/>
          </a:p>
        </p:txBody>
      </p:sp>
      <p:sp>
        <p:nvSpPr>
          <p:cNvPr id="51" name="Shape 46"/>
          <p:cNvSpPr/>
          <p:nvPr/>
        </p:nvSpPr>
        <p:spPr>
          <a:xfrm>
            <a:off x="285750" y="1864519"/>
            <a:ext cx="5643563" cy="302895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1843088" y="2518172"/>
            <a:ext cx="2528888" cy="17216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531" y="2664619"/>
            <a:ext cx="114300" cy="1143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2135981" y="2639616"/>
            <a:ext cx="911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출역 거부 (Reject)</a:t>
            </a:r>
            <a:endParaRPr lang="en-US" sz="784" dirty="0"/>
          </a:p>
        </p:txBody>
      </p:sp>
      <p:sp>
        <p:nvSpPr>
          <p:cNvPr id="55" name="Text 49"/>
          <p:cNvSpPr/>
          <p:nvPr/>
        </p:nvSpPr>
        <p:spPr>
          <a:xfrm>
            <a:off x="1964531" y="2889647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선택한 2명의 출역을 거부하시겠습니까? 사유를 입력해주세요.</a:t>
            </a:r>
            <a:endParaRPr lang="en-US" sz="674" dirty="0"/>
          </a:p>
        </p:txBody>
      </p:sp>
      <p:sp>
        <p:nvSpPr>
          <p:cNvPr id="56" name="Shape 50"/>
          <p:cNvSpPr/>
          <p:nvPr/>
        </p:nvSpPr>
        <p:spPr>
          <a:xfrm>
            <a:off x="3312300" y="3918347"/>
            <a:ext cx="342900" cy="20002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Text 51"/>
          <p:cNvSpPr/>
          <p:nvPr/>
        </p:nvSpPr>
        <p:spPr>
          <a:xfrm>
            <a:off x="3312300" y="3918347"/>
            <a:ext cx="342900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취소</a:t>
            </a:r>
            <a:endParaRPr lang="en-US" sz="621" dirty="0"/>
          </a:p>
        </p:txBody>
      </p:sp>
      <p:sp>
        <p:nvSpPr>
          <p:cNvPr id="58" name="Shape 52"/>
          <p:cNvSpPr/>
          <p:nvPr/>
        </p:nvSpPr>
        <p:spPr>
          <a:xfrm>
            <a:off x="3712350" y="3918347"/>
            <a:ext cx="538181" cy="2000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9" name="Text 53"/>
          <p:cNvSpPr/>
          <p:nvPr/>
        </p:nvSpPr>
        <p:spPr>
          <a:xfrm>
            <a:off x="3712350" y="3918347"/>
            <a:ext cx="538181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거부 확정</a:t>
            </a:r>
            <a:endParaRPr lang="en-US" sz="584" dirty="0"/>
          </a:p>
        </p:txBody>
      </p:sp>
      <p:sp>
        <p:nvSpPr>
          <p:cNvPr id="60" name="Shape 54"/>
          <p:cNvSpPr/>
          <p:nvPr/>
        </p:nvSpPr>
        <p:spPr>
          <a:xfrm>
            <a:off x="5857875" y="179308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5"/>
          <p:cNvSpPr/>
          <p:nvPr/>
        </p:nvSpPr>
        <p:spPr>
          <a:xfrm>
            <a:off x="5857875" y="179308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2" name="Shape 56"/>
          <p:cNvSpPr/>
          <p:nvPr/>
        </p:nvSpPr>
        <p:spPr>
          <a:xfrm>
            <a:off x="6143625" y="1607344"/>
            <a:ext cx="2714625" cy="137160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229350" y="1693069"/>
            <a:ext cx="2543175" cy="20895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출역 승인 대기 (3)</a:t>
            </a:r>
            <a:endParaRPr lang="en-US" sz="683" dirty="0"/>
          </a:p>
        </p:txBody>
      </p:sp>
      <p:sp>
        <p:nvSpPr>
          <p:cNvPr id="64" name="Shape 58"/>
          <p:cNvSpPr/>
          <p:nvPr/>
        </p:nvSpPr>
        <p:spPr>
          <a:xfrm>
            <a:off x="6229350" y="1959173"/>
            <a:ext cx="2543175" cy="3714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Text 59"/>
          <p:cNvSpPr/>
          <p:nvPr/>
        </p:nvSpPr>
        <p:spPr>
          <a:xfrm>
            <a:off x="6286500" y="2016323"/>
            <a:ext cx="5426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김철수 (A팀)</a:t>
            </a:r>
            <a:endParaRPr lang="en-US" sz="634" dirty="0"/>
          </a:p>
        </p:txBody>
      </p:sp>
      <p:sp>
        <p:nvSpPr>
          <p:cNvPr id="66" name="Text 60"/>
          <p:cNvSpPr/>
          <p:nvPr/>
        </p:nvSpPr>
        <p:spPr>
          <a:xfrm>
            <a:off x="6286500" y="2166342"/>
            <a:ext cx="54261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06:45 • Face ID</a:t>
            </a:r>
            <a:endParaRPr lang="en-US" sz="568" dirty="0"/>
          </a:p>
        </p:txBody>
      </p:sp>
      <p:sp>
        <p:nvSpPr>
          <p:cNvPr id="67" name="Shape 61"/>
          <p:cNvSpPr/>
          <p:nvPr/>
        </p:nvSpPr>
        <p:spPr>
          <a:xfrm>
            <a:off x="8243888" y="2037755"/>
            <a:ext cx="214313" cy="214313"/>
          </a:xfrm>
          <a:prstGeom prst="ellipse">
            <a:avLst/>
          </a:prstGeom>
          <a:solidFill>
            <a:srgbClr val="EF4444">
              <a:alpha val="20000"/>
            </a:srgbClr>
          </a:solidFill>
          <a:ln w="9144">
            <a:solidFill>
              <a:srgbClr val="EF4444"/>
            </a:solidFill>
            <a:prstDash val="solid"/>
          </a:ln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398" y="2094905"/>
            <a:ext cx="53578" cy="85725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8501063" y="2037755"/>
            <a:ext cx="214313" cy="214313"/>
          </a:xfrm>
          <a:prstGeom prst="ellipse">
            <a:avLst/>
          </a:prstGeom>
          <a:solidFill>
            <a:srgbClr val="10B981">
              <a:alpha val="20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2102048"/>
            <a:ext cx="85725" cy="85725"/>
          </a:xfrm>
          <a:prstGeom prst="rect">
            <a:avLst/>
          </a:prstGeom>
        </p:spPr>
      </p:pic>
      <p:sp>
        <p:nvSpPr>
          <p:cNvPr id="71" name="Shape 63"/>
          <p:cNvSpPr/>
          <p:nvPr/>
        </p:nvSpPr>
        <p:spPr>
          <a:xfrm>
            <a:off x="6229350" y="2387798"/>
            <a:ext cx="2543175" cy="3714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64"/>
          <p:cNvSpPr/>
          <p:nvPr/>
        </p:nvSpPr>
        <p:spPr>
          <a:xfrm>
            <a:off x="6286500" y="2444948"/>
            <a:ext cx="488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박민수 (C팀)</a:t>
            </a:r>
            <a:endParaRPr lang="en-US" sz="634" dirty="0"/>
          </a:p>
        </p:txBody>
      </p:sp>
      <p:sp>
        <p:nvSpPr>
          <p:cNvPr id="73" name="Text 65"/>
          <p:cNvSpPr/>
          <p:nvPr/>
        </p:nvSpPr>
        <p:spPr>
          <a:xfrm>
            <a:off x="6286500" y="2594967"/>
            <a:ext cx="48803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06:50 • GPS</a:t>
            </a:r>
            <a:endParaRPr lang="en-US" sz="568" dirty="0"/>
          </a:p>
        </p:txBody>
      </p:sp>
      <p:sp>
        <p:nvSpPr>
          <p:cNvPr id="74" name="Shape 66"/>
          <p:cNvSpPr/>
          <p:nvPr/>
        </p:nvSpPr>
        <p:spPr>
          <a:xfrm>
            <a:off x="8243888" y="2466380"/>
            <a:ext cx="214313" cy="214313"/>
          </a:xfrm>
          <a:prstGeom prst="ellipse">
            <a:avLst/>
          </a:prstGeom>
          <a:solidFill>
            <a:srgbClr val="EF4444">
              <a:alpha val="20000"/>
            </a:srgbClr>
          </a:solidFill>
          <a:ln w="9144">
            <a:solidFill>
              <a:srgbClr val="EF4444"/>
            </a:solidFill>
            <a:prstDash val="solid"/>
          </a:ln>
        </p:spPr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398" y="2523530"/>
            <a:ext cx="53578" cy="85725"/>
          </a:xfrm>
          <a:prstGeom prst="rect">
            <a:avLst/>
          </a:prstGeom>
        </p:spPr>
      </p:pic>
      <p:sp>
        <p:nvSpPr>
          <p:cNvPr id="76" name="Shape 67"/>
          <p:cNvSpPr/>
          <p:nvPr/>
        </p:nvSpPr>
        <p:spPr>
          <a:xfrm>
            <a:off x="8501063" y="2466380"/>
            <a:ext cx="214313" cy="214313"/>
          </a:xfrm>
          <a:prstGeom prst="ellipse">
            <a:avLst/>
          </a:prstGeom>
          <a:solidFill>
            <a:srgbClr val="10B981">
              <a:alpha val="20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7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2530673"/>
            <a:ext cx="85725" cy="85725"/>
          </a:xfrm>
          <a:prstGeom prst="rect">
            <a:avLst/>
          </a:prstGeom>
        </p:spPr>
      </p:pic>
      <p:sp>
        <p:nvSpPr>
          <p:cNvPr id="78" name="Shape 68"/>
          <p:cNvSpPr/>
          <p:nvPr/>
        </p:nvSpPr>
        <p:spPr>
          <a:xfrm>
            <a:off x="8643938" y="19645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69"/>
          <p:cNvSpPr/>
          <p:nvPr/>
        </p:nvSpPr>
        <p:spPr>
          <a:xfrm>
            <a:off x="8643938" y="196453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0" name="Shape 70"/>
          <p:cNvSpPr/>
          <p:nvPr/>
        </p:nvSpPr>
        <p:spPr>
          <a:xfrm>
            <a:off x="6143625" y="2978944"/>
            <a:ext cx="2714625" cy="202168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6215063" y="3050381"/>
            <a:ext cx="2571750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82" name="Shape 72"/>
          <p:cNvSpPr/>
          <p:nvPr/>
        </p:nvSpPr>
        <p:spPr>
          <a:xfrm>
            <a:off x="6215063" y="333434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3"/>
          <p:cNvSpPr/>
          <p:nvPr/>
        </p:nvSpPr>
        <p:spPr>
          <a:xfrm>
            <a:off x="6215063" y="333434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84" name="Text 74"/>
          <p:cNvSpPr/>
          <p:nvPr/>
        </p:nvSpPr>
        <p:spPr>
          <a:xfrm>
            <a:off x="6429375" y="3336131"/>
            <a:ext cx="5135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Reject Logic</a:t>
            </a:r>
            <a:endParaRPr lang="en-US" sz="584" dirty="0"/>
          </a:p>
        </p:txBody>
      </p:sp>
      <p:sp>
        <p:nvSpPr>
          <p:cNvPr id="85" name="Text 75"/>
          <p:cNvSpPr/>
          <p:nvPr/>
        </p:nvSpPr>
        <p:spPr>
          <a:xfrm>
            <a:off x="6429375" y="3468625"/>
            <a:ext cx="144019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/api/v1/attendance/reject</a:t>
            </a:r>
            <a:endParaRPr lang="en-US" sz="621" dirty="0"/>
          </a:p>
        </p:txBody>
      </p:sp>
      <p:sp>
        <p:nvSpPr>
          <p:cNvPr id="86" name="Text 76"/>
          <p:cNvSpPr/>
          <p:nvPr/>
        </p:nvSpPr>
        <p:spPr>
          <a:xfrm>
            <a:off x="6429375" y="3590404"/>
            <a:ext cx="341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Payload:</a:t>
            </a:r>
            <a:endParaRPr lang="en-US" sz="621" dirty="0"/>
          </a:p>
        </p:txBody>
      </p:sp>
      <p:sp>
        <p:nvSpPr>
          <p:cNvPr id="87" name="Text 77"/>
          <p:cNvSpPr/>
          <p:nvPr/>
        </p:nvSpPr>
        <p:spPr>
          <a:xfrm>
            <a:off x="6429375" y="3722898"/>
            <a:ext cx="144019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{ ids: [1, 2], reason: "..." }</a:t>
            </a:r>
            <a:endParaRPr lang="en-US" sz="621" dirty="0"/>
          </a:p>
        </p:txBody>
      </p:sp>
      <p:sp>
        <p:nvSpPr>
          <p:cNvPr id="88" name="Text 78"/>
          <p:cNvSpPr/>
          <p:nvPr/>
        </p:nvSpPr>
        <p:spPr>
          <a:xfrm>
            <a:off x="6429375" y="3964670"/>
            <a:ext cx="14401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Action: Update status to 'REJECTED'.</a:t>
            </a:r>
            <a:endParaRPr lang="en-US" sz="621" dirty="0"/>
          </a:p>
        </p:txBody>
      </p:sp>
      <p:sp>
        <p:nvSpPr>
          <p:cNvPr id="89" name="Shape 79"/>
          <p:cNvSpPr/>
          <p:nvPr/>
        </p:nvSpPr>
        <p:spPr>
          <a:xfrm>
            <a:off x="6215063" y="414002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0" name="Text 80"/>
          <p:cNvSpPr/>
          <p:nvPr/>
        </p:nvSpPr>
        <p:spPr>
          <a:xfrm>
            <a:off x="6215063" y="414002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91" name="Text 81"/>
          <p:cNvSpPr/>
          <p:nvPr/>
        </p:nvSpPr>
        <p:spPr>
          <a:xfrm>
            <a:off x="6429375" y="4140026"/>
            <a:ext cx="130253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Mobile Action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Swipe Left/Right or Button Click.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Immediate optimistic UI update.</a:t>
            </a:r>
            <a:endParaRPr lang="en-US" sz="58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3394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48287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팀 편성 및 인력 배치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Drag &amp; Drop 기반 미배정 인원 팀 할당 및 변경사항 저장 로직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55455"/>
            <a:ext cx="5715000" cy="28717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455455"/>
            <a:ext cx="571500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712630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57250" y="1526000"/>
            <a:ext cx="11727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&gt; Team Mgmt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712630"/>
            <a:ext cx="5715000" cy="26003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385763" y="1826037"/>
            <a:ext cx="11594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Team Assignment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044660" y="1812643"/>
            <a:ext cx="856078" cy="20181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85" y="1869793"/>
            <a:ext cx="75009" cy="85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05394" y="1855505"/>
            <a:ext cx="6096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Save Changes</a:t>
            </a:r>
            <a:endParaRPr lang="en-US" sz="584" dirty="0"/>
          </a:p>
        </p:txBody>
      </p:sp>
      <p:sp>
        <p:nvSpPr>
          <p:cNvPr id="16" name="Shape 12"/>
          <p:cNvSpPr/>
          <p:nvPr/>
        </p:nvSpPr>
        <p:spPr>
          <a:xfrm>
            <a:off x="385763" y="2100179"/>
            <a:ext cx="2714625" cy="21127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442913" y="2157329"/>
            <a:ext cx="5414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Unassigned</a:t>
            </a:r>
            <a:endParaRPr lang="en-US" sz="634" dirty="0"/>
          </a:p>
        </p:txBody>
      </p:sp>
      <p:sp>
        <p:nvSpPr>
          <p:cNvPr id="18" name="Shape 14"/>
          <p:cNvSpPr/>
          <p:nvPr/>
        </p:nvSpPr>
        <p:spPr>
          <a:xfrm>
            <a:off x="2916631" y="2157329"/>
            <a:ext cx="126606" cy="12680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Text 15"/>
          <p:cNvSpPr/>
          <p:nvPr/>
        </p:nvSpPr>
        <p:spPr>
          <a:xfrm>
            <a:off x="2916631" y="2157329"/>
            <a:ext cx="126606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3</a:t>
            </a:r>
            <a:endParaRPr lang="en-US" sz="485" dirty="0"/>
          </a:p>
        </p:txBody>
      </p:sp>
      <p:sp>
        <p:nvSpPr>
          <p:cNvPr id="20" name="Shape 16"/>
          <p:cNvSpPr/>
          <p:nvPr/>
        </p:nvSpPr>
        <p:spPr>
          <a:xfrm>
            <a:off x="442913" y="2405574"/>
            <a:ext cx="2600325" cy="358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00063" y="2492192"/>
            <a:ext cx="171450" cy="1714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Text 18"/>
          <p:cNvSpPr/>
          <p:nvPr/>
        </p:nvSpPr>
        <p:spPr>
          <a:xfrm>
            <a:off x="500063" y="249219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K</a:t>
            </a:r>
            <a:endParaRPr lang="en-US" sz="516" dirty="0"/>
          </a:p>
        </p:txBody>
      </p:sp>
      <p:sp>
        <p:nvSpPr>
          <p:cNvPr id="23" name="Text 19"/>
          <p:cNvSpPr/>
          <p:nvPr/>
        </p:nvSpPr>
        <p:spPr>
          <a:xfrm>
            <a:off x="728663" y="2462724"/>
            <a:ext cx="21002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김철수</a:t>
            </a:r>
            <a:endParaRPr lang="en-US" sz="584" dirty="0"/>
          </a:p>
        </p:txBody>
      </p:sp>
      <p:sp>
        <p:nvSpPr>
          <p:cNvPr id="24" name="Text 20"/>
          <p:cNvSpPr/>
          <p:nvPr/>
        </p:nvSpPr>
        <p:spPr>
          <a:xfrm>
            <a:off x="728663" y="2589526"/>
            <a:ext cx="21002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일반공</a:t>
            </a:r>
            <a:endParaRPr lang="en-US" sz="516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2520767"/>
            <a:ext cx="100013" cy="1143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42913" y="2793123"/>
            <a:ext cx="2600325" cy="358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500063" y="2879741"/>
            <a:ext cx="171450" cy="1714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" name="Text 23"/>
          <p:cNvSpPr/>
          <p:nvPr/>
        </p:nvSpPr>
        <p:spPr>
          <a:xfrm>
            <a:off x="500063" y="287974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L</a:t>
            </a:r>
            <a:endParaRPr lang="en-US" sz="516" dirty="0"/>
          </a:p>
        </p:txBody>
      </p:sp>
      <p:sp>
        <p:nvSpPr>
          <p:cNvPr id="29" name="Text 24"/>
          <p:cNvSpPr/>
          <p:nvPr/>
        </p:nvSpPr>
        <p:spPr>
          <a:xfrm>
            <a:off x="728663" y="2850273"/>
            <a:ext cx="21002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이민호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728663" y="2977074"/>
            <a:ext cx="21002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조적공</a:t>
            </a:r>
            <a:endParaRPr lang="en-US" sz="516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075" y="2908316"/>
            <a:ext cx="100013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42913" y="3180671"/>
            <a:ext cx="2600325" cy="358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500063" y="3267289"/>
            <a:ext cx="171450" cy="17145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4" name="Text 28"/>
          <p:cNvSpPr/>
          <p:nvPr/>
        </p:nvSpPr>
        <p:spPr>
          <a:xfrm>
            <a:off x="500063" y="32672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P</a:t>
            </a:r>
            <a:endParaRPr lang="en-US" sz="516" dirty="0"/>
          </a:p>
        </p:txBody>
      </p:sp>
      <p:sp>
        <p:nvSpPr>
          <p:cNvPr id="35" name="Text 29"/>
          <p:cNvSpPr/>
          <p:nvPr/>
        </p:nvSpPr>
        <p:spPr>
          <a:xfrm>
            <a:off x="728663" y="3237821"/>
            <a:ext cx="21002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박영수</a:t>
            </a:r>
            <a:endParaRPr lang="en-US" sz="584" dirty="0"/>
          </a:p>
        </p:txBody>
      </p:sp>
      <p:sp>
        <p:nvSpPr>
          <p:cNvPr id="36" name="Text 30"/>
          <p:cNvSpPr/>
          <p:nvPr/>
        </p:nvSpPr>
        <p:spPr>
          <a:xfrm>
            <a:off x="728663" y="3364623"/>
            <a:ext cx="21002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일반공</a:t>
            </a:r>
            <a:endParaRPr lang="en-US" sz="516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075" y="3295864"/>
            <a:ext cx="100013" cy="1143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3186113" y="2100179"/>
            <a:ext cx="2714625" cy="211276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9" name="Text 32"/>
          <p:cNvSpPr/>
          <p:nvPr/>
        </p:nvSpPr>
        <p:spPr>
          <a:xfrm>
            <a:off x="3243263" y="2157329"/>
            <a:ext cx="5956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40AF"/>
                </a:solidFill>
              </a:rPr>
              <a:t>Team A (목공)</a:t>
            </a:r>
            <a:endParaRPr lang="en-US" sz="634" dirty="0"/>
          </a:p>
        </p:txBody>
      </p:sp>
      <p:sp>
        <p:nvSpPr>
          <p:cNvPr id="40" name="Shape 33"/>
          <p:cNvSpPr/>
          <p:nvPr/>
        </p:nvSpPr>
        <p:spPr>
          <a:xfrm>
            <a:off x="5716981" y="2157329"/>
            <a:ext cx="126606" cy="135731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4"/>
          <p:cNvSpPr/>
          <p:nvPr/>
        </p:nvSpPr>
        <p:spPr>
          <a:xfrm>
            <a:off x="5716981" y="2157329"/>
            <a:ext cx="126606" cy="135731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2</a:t>
            </a:r>
            <a:endParaRPr lang="en-US" sz="485" dirty="0"/>
          </a:p>
        </p:txBody>
      </p:sp>
      <p:sp>
        <p:nvSpPr>
          <p:cNvPr id="42" name="Shape 35"/>
          <p:cNvSpPr/>
          <p:nvPr/>
        </p:nvSpPr>
        <p:spPr>
          <a:xfrm>
            <a:off x="3243263" y="2414504"/>
            <a:ext cx="2600325" cy="358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6"/>
          <p:cNvSpPr/>
          <p:nvPr/>
        </p:nvSpPr>
        <p:spPr>
          <a:xfrm>
            <a:off x="3300413" y="2501122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37"/>
          <p:cNvSpPr/>
          <p:nvPr/>
        </p:nvSpPr>
        <p:spPr>
          <a:xfrm>
            <a:off x="3300413" y="250112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C</a:t>
            </a:r>
            <a:endParaRPr lang="en-US" sz="516" dirty="0"/>
          </a:p>
        </p:txBody>
      </p:sp>
      <p:sp>
        <p:nvSpPr>
          <p:cNvPr id="45" name="Text 38"/>
          <p:cNvSpPr/>
          <p:nvPr/>
        </p:nvSpPr>
        <p:spPr>
          <a:xfrm>
            <a:off x="3529013" y="2471654"/>
            <a:ext cx="21199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최강타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3529013" y="2598455"/>
            <a:ext cx="21199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팀장</a:t>
            </a:r>
            <a:endParaRPr lang="en-US" sz="516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6070" y="2551128"/>
            <a:ext cx="80367" cy="7143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3243263" y="2802052"/>
            <a:ext cx="2600325" cy="358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1"/>
          <p:cNvSpPr/>
          <p:nvPr/>
        </p:nvSpPr>
        <p:spPr>
          <a:xfrm>
            <a:off x="3300413" y="2888670"/>
            <a:ext cx="171450" cy="17145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50" name="Text 42"/>
          <p:cNvSpPr/>
          <p:nvPr/>
        </p:nvSpPr>
        <p:spPr>
          <a:xfrm>
            <a:off x="3300413" y="288867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J</a:t>
            </a:r>
            <a:endParaRPr lang="en-US" sz="516" dirty="0"/>
          </a:p>
        </p:txBody>
      </p:sp>
      <p:sp>
        <p:nvSpPr>
          <p:cNvPr id="51" name="Text 43"/>
          <p:cNvSpPr/>
          <p:nvPr/>
        </p:nvSpPr>
        <p:spPr>
          <a:xfrm>
            <a:off x="3529013" y="2859202"/>
            <a:ext cx="21002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정형돈</a:t>
            </a:r>
            <a:endParaRPr lang="en-US" sz="584" dirty="0"/>
          </a:p>
        </p:txBody>
      </p:sp>
      <p:sp>
        <p:nvSpPr>
          <p:cNvPr id="52" name="Text 44"/>
          <p:cNvSpPr/>
          <p:nvPr/>
        </p:nvSpPr>
        <p:spPr>
          <a:xfrm>
            <a:off x="3529013" y="2986004"/>
            <a:ext cx="21002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목공</a:t>
            </a:r>
            <a:endParaRPr lang="en-US" sz="516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6425" y="2917245"/>
            <a:ext cx="100013" cy="114300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571625" y="238414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6"/>
          <p:cNvSpPr/>
          <p:nvPr/>
        </p:nvSpPr>
        <p:spPr>
          <a:xfrm>
            <a:off x="1571625" y="238414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56" name="Shape 47"/>
          <p:cNvSpPr/>
          <p:nvPr/>
        </p:nvSpPr>
        <p:spPr>
          <a:xfrm>
            <a:off x="6143625" y="1455455"/>
            <a:ext cx="2714625" cy="128587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6215063" y="1555468"/>
            <a:ext cx="2571750" cy="108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49"/>
          <p:cNvSpPr/>
          <p:nvPr/>
        </p:nvSpPr>
        <p:spPr>
          <a:xfrm>
            <a:off x="6215063" y="1555468"/>
            <a:ext cx="2571750" cy="25003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0"/>
          <p:cNvSpPr/>
          <p:nvPr/>
        </p:nvSpPr>
        <p:spPr>
          <a:xfrm>
            <a:off x="6215063" y="1555468"/>
            <a:ext cx="257175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인원 배치 (Assign)</a:t>
            </a:r>
            <a:endParaRPr lang="en-US" sz="634" dirty="0"/>
          </a:p>
        </p:txBody>
      </p:sp>
      <p:sp>
        <p:nvSpPr>
          <p:cNvPr id="60" name="Shape 51"/>
          <p:cNvSpPr/>
          <p:nvPr/>
        </p:nvSpPr>
        <p:spPr>
          <a:xfrm>
            <a:off x="6272213" y="1905512"/>
            <a:ext cx="128588" cy="128588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3644" y="1933194"/>
            <a:ext cx="71438" cy="7143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6443663" y="1905512"/>
            <a:ext cx="5536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김철수 (일반공)</a:t>
            </a:r>
            <a:endParaRPr lang="en-US" sz="584" dirty="0"/>
          </a:p>
        </p:txBody>
      </p:sp>
      <p:sp>
        <p:nvSpPr>
          <p:cNvPr id="63" name="Shape 53"/>
          <p:cNvSpPr/>
          <p:nvPr/>
        </p:nvSpPr>
        <p:spPr>
          <a:xfrm>
            <a:off x="6272213" y="2125182"/>
            <a:ext cx="128588" cy="128588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3644" y="2152864"/>
            <a:ext cx="71438" cy="7143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6443663" y="2125182"/>
            <a:ext cx="5536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이민호 (조적공)</a:t>
            </a:r>
            <a:endParaRPr lang="en-US" sz="584" dirty="0"/>
          </a:p>
        </p:txBody>
      </p:sp>
      <p:sp>
        <p:nvSpPr>
          <p:cNvPr id="66" name="Text 55"/>
          <p:cNvSpPr/>
          <p:nvPr/>
        </p:nvSpPr>
        <p:spPr>
          <a:xfrm>
            <a:off x="6457950" y="2345745"/>
            <a:ext cx="5536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E293B"/>
                </a:solidFill>
              </a:rPr>
              <a:t>박영수 (일반공)</a:t>
            </a:r>
            <a:endParaRPr lang="en-US" sz="584" dirty="0"/>
          </a:p>
        </p:txBody>
      </p:sp>
      <p:sp>
        <p:nvSpPr>
          <p:cNvPr id="67" name="Shape 56"/>
          <p:cNvSpPr/>
          <p:nvPr/>
        </p:nvSpPr>
        <p:spPr>
          <a:xfrm>
            <a:off x="6215063" y="2321635"/>
            <a:ext cx="2571750" cy="31968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Shape 57"/>
          <p:cNvSpPr/>
          <p:nvPr/>
        </p:nvSpPr>
        <p:spPr>
          <a:xfrm>
            <a:off x="6215063" y="2321635"/>
            <a:ext cx="25717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Shape 58"/>
          <p:cNvSpPr/>
          <p:nvPr/>
        </p:nvSpPr>
        <p:spPr>
          <a:xfrm>
            <a:off x="6272213" y="2385929"/>
            <a:ext cx="2457450" cy="19823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59"/>
          <p:cNvSpPr/>
          <p:nvPr/>
        </p:nvSpPr>
        <p:spPr>
          <a:xfrm>
            <a:off x="6272213" y="2385929"/>
            <a:ext cx="2457450" cy="198239"/>
          </a:xfrm>
          <a:prstGeom prst="rect">
            <a:avLst/>
          </a:prstGeom>
          <a:noFill/>
          <a:ln/>
        </p:spPr>
        <p:txBody>
          <a:bodyPr wrap="square" lIns="59563" tIns="59563" rIns="59563" bIns="59563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Move to Team (2)</a:t>
            </a:r>
            <a:endParaRPr lang="en-US" sz="584" dirty="0"/>
          </a:p>
        </p:txBody>
      </p:sp>
      <p:sp>
        <p:nvSpPr>
          <p:cNvPr id="71" name="Shape 60"/>
          <p:cNvSpPr/>
          <p:nvPr/>
        </p:nvSpPr>
        <p:spPr>
          <a:xfrm>
            <a:off x="8601075" y="236985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1"/>
          <p:cNvSpPr/>
          <p:nvPr/>
        </p:nvSpPr>
        <p:spPr>
          <a:xfrm>
            <a:off x="8601075" y="236985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3" name="Shape 62"/>
          <p:cNvSpPr/>
          <p:nvPr/>
        </p:nvSpPr>
        <p:spPr>
          <a:xfrm>
            <a:off x="6143625" y="2798480"/>
            <a:ext cx="2714625" cy="213070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6186488" y="2848487"/>
            <a:ext cx="2628900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75" name="Shape 64"/>
          <p:cNvSpPr/>
          <p:nvPr/>
        </p:nvSpPr>
        <p:spPr>
          <a:xfrm>
            <a:off x="6186488" y="30824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6" name="Text 65"/>
          <p:cNvSpPr/>
          <p:nvPr/>
        </p:nvSpPr>
        <p:spPr>
          <a:xfrm>
            <a:off x="6186488" y="308244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7" name="Text 66"/>
          <p:cNvSpPr/>
          <p:nvPr/>
        </p:nvSpPr>
        <p:spPr>
          <a:xfrm>
            <a:off x="6400800" y="3078873"/>
            <a:ext cx="5235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Drag &amp; Drop</a:t>
            </a:r>
            <a:endParaRPr lang="en-US" sz="584" dirty="0"/>
          </a:p>
        </p:txBody>
      </p:sp>
      <p:sp>
        <p:nvSpPr>
          <p:cNvPr id="78" name="Text 67"/>
          <p:cNvSpPr/>
          <p:nvPr/>
        </p:nvSpPr>
        <p:spPr>
          <a:xfrm>
            <a:off x="6400800" y="3190298"/>
            <a:ext cx="1427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Lib:</a:t>
            </a:r>
            <a:endParaRPr lang="en-US" sz="621" dirty="0"/>
          </a:p>
        </p:txBody>
      </p:sp>
      <p:sp>
        <p:nvSpPr>
          <p:cNvPr id="79" name="Shape 68"/>
          <p:cNvSpPr/>
          <p:nvPr/>
        </p:nvSpPr>
        <p:spPr>
          <a:xfrm>
            <a:off x="6400800" y="3319583"/>
            <a:ext cx="1222279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0" name="Text 69"/>
          <p:cNvSpPr/>
          <p:nvPr/>
        </p:nvSpPr>
        <p:spPr>
          <a:xfrm>
            <a:off x="6400800" y="3319583"/>
            <a:ext cx="1222279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@dnd-kit/core</a:t>
            </a:r>
            <a:endParaRPr lang="en-US" sz="621" dirty="0"/>
          </a:p>
        </p:txBody>
      </p:sp>
      <p:sp>
        <p:nvSpPr>
          <p:cNvPr id="81" name="Text 70"/>
          <p:cNvSpPr/>
          <p:nvPr/>
        </p:nvSpPr>
        <p:spPr>
          <a:xfrm>
            <a:off x="6400800" y="3456012"/>
            <a:ext cx="2962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(React).</a:t>
            </a:r>
            <a:endParaRPr lang="en-US" sz="621" dirty="0"/>
          </a:p>
        </p:txBody>
      </p:sp>
      <p:sp>
        <p:nvSpPr>
          <p:cNvPr id="82" name="Text 71"/>
          <p:cNvSpPr/>
          <p:nvPr/>
        </p:nvSpPr>
        <p:spPr>
          <a:xfrm>
            <a:off x="6400800" y="3567438"/>
            <a:ext cx="1222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Optimistic UI update required.</a:t>
            </a:r>
            <a:endParaRPr lang="en-US" sz="621" dirty="0"/>
          </a:p>
        </p:txBody>
      </p:sp>
      <p:sp>
        <p:nvSpPr>
          <p:cNvPr id="83" name="Shape 72"/>
          <p:cNvSpPr/>
          <p:nvPr/>
        </p:nvSpPr>
        <p:spPr>
          <a:xfrm>
            <a:off x="6186488" y="372529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3"/>
          <p:cNvSpPr/>
          <p:nvPr/>
        </p:nvSpPr>
        <p:spPr>
          <a:xfrm>
            <a:off x="6186488" y="372529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5" name="Text 74"/>
          <p:cNvSpPr/>
          <p:nvPr/>
        </p:nvSpPr>
        <p:spPr>
          <a:xfrm>
            <a:off x="6400800" y="3721726"/>
            <a:ext cx="7189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Batch Assign API</a:t>
            </a:r>
            <a:endParaRPr lang="en-US" sz="584" dirty="0"/>
          </a:p>
        </p:txBody>
      </p:sp>
      <p:sp>
        <p:nvSpPr>
          <p:cNvPr id="86" name="Shape 75"/>
          <p:cNvSpPr/>
          <p:nvPr/>
        </p:nvSpPr>
        <p:spPr>
          <a:xfrm>
            <a:off x="6400800" y="3851011"/>
            <a:ext cx="1345871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7" name="Text 76"/>
          <p:cNvSpPr/>
          <p:nvPr/>
        </p:nvSpPr>
        <p:spPr>
          <a:xfrm>
            <a:off x="6400800" y="3851011"/>
            <a:ext cx="1345871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PUT /api/v1/teams/assign</a:t>
            </a:r>
            <a:endParaRPr lang="en-US" sz="621" dirty="0"/>
          </a:p>
        </p:txBody>
      </p:sp>
      <p:sp>
        <p:nvSpPr>
          <p:cNvPr id="88" name="Text 77"/>
          <p:cNvSpPr/>
          <p:nvPr/>
        </p:nvSpPr>
        <p:spPr>
          <a:xfrm>
            <a:off x="6400800" y="4098866"/>
            <a:ext cx="2270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Body:</a:t>
            </a:r>
            <a:endParaRPr lang="en-US" sz="621" dirty="0"/>
          </a:p>
        </p:txBody>
      </p:sp>
      <p:sp>
        <p:nvSpPr>
          <p:cNvPr id="89" name="Shape 78"/>
          <p:cNvSpPr/>
          <p:nvPr/>
        </p:nvSpPr>
        <p:spPr>
          <a:xfrm>
            <a:off x="6400800" y="4228151"/>
            <a:ext cx="1345871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0" name="Text 79"/>
          <p:cNvSpPr/>
          <p:nvPr/>
        </p:nvSpPr>
        <p:spPr>
          <a:xfrm>
            <a:off x="6400800" y="4228151"/>
            <a:ext cx="1345871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{ teamId: 1, workerIds: [10, 12] }</a:t>
            </a:r>
            <a:endParaRPr lang="en-US" sz="621" dirty="0"/>
          </a:p>
        </p:txBody>
      </p:sp>
      <p:sp>
        <p:nvSpPr>
          <p:cNvPr id="91" name="Shape 80"/>
          <p:cNvSpPr/>
          <p:nvPr/>
        </p:nvSpPr>
        <p:spPr>
          <a:xfrm>
            <a:off x="6186488" y="441101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2" name="Text 81"/>
          <p:cNvSpPr/>
          <p:nvPr/>
        </p:nvSpPr>
        <p:spPr>
          <a:xfrm>
            <a:off x="6186488" y="441101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93" name="Text 82"/>
          <p:cNvSpPr/>
          <p:nvPr/>
        </p:nvSpPr>
        <p:spPr>
          <a:xfrm>
            <a:off x="6400800" y="4411014"/>
            <a:ext cx="1468906" cy="33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Validation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Check team capacity limit.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Prevent assigning to multiple teams.</a:t>
            </a:r>
            <a:endParaRPr lang="en-US" sz="5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근로계약서 관리 및 재발송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계약서 목록 조회 및 수정 요청 건에 대한 재발송 처리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00188"/>
            <a:ext cx="5643563" cy="33718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00188"/>
            <a:ext cx="5643563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757363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570732"/>
            <a:ext cx="10755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&gt; Contracts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414338" y="1885950"/>
            <a:ext cx="297191" cy="216098"/>
          </a:xfrm>
          <a:prstGeom prst="round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4338" y="1885950"/>
            <a:ext cx="297191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All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768679" y="1885950"/>
            <a:ext cx="461693" cy="216098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679" y="1885950"/>
            <a:ext cx="461693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Signed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1287521" y="1885950"/>
            <a:ext cx="519485" cy="216098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7521" y="1885950"/>
            <a:ext cx="519485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Pending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1864156" y="1885950"/>
            <a:ext cx="948863" cy="216098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64156" y="1885950"/>
            <a:ext cx="948863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Action Required (1)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14338" y="2209205"/>
            <a:ext cx="1194653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7"/>
          <p:cNvSpPr/>
          <p:nvPr/>
        </p:nvSpPr>
        <p:spPr>
          <a:xfrm>
            <a:off x="414338" y="2471738"/>
            <a:ext cx="119465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8"/>
          <p:cNvSpPr/>
          <p:nvPr/>
        </p:nvSpPr>
        <p:spPr>
          <a:xfrm>
            <a:off x="414338" y="2209205"/>
            <a:ext cx="1194653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Worker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1608990" y="2209205"/>
            <a:ext cx="1242929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1608990" y="2471738"/>
            <a:ext cx="124292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1"/>
          <p:cNvSpPr/>
          <p:nvPr/>
        </p:nvSpPr>
        <p:spPr>
          <a:xfrm>
            <a:off x="1608990" y="2209205"/>
            <a:ext cx="1242929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Type</a:t>
            </a:r>
            <a:endParaRPr lang="en-US" sz="634" dirty="0"/>
          </a:p>
        </p:txBody>
      </p:sp>
      <p:sp>
        <p:nvSpPr>
          <p:cNvPr id="25" name="Shape 22"/>
          <p:cNvSpPr/>
          <p:nvPr/>
        </p:nvSpPr>
        <p:spPr>
          <a:xfrm>
            <a:off x="2851919" y="2209205"/>
            <a:ext cx="1019659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3"/>
          <p:cNvSpPr/>
          <p:nvPr/>
        </p:nvSpPr>
        <p:spPr>
          <a:xfrm>
            <a:off x="2851919" y="2471738"/>
            <a:ext cx="101965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4"/>
          <p:cNvSpPr/>
          <p:nvPr/>
        </p:nvSpPr>
        <p:spPr>
          <a:xfrm>
            <a:off x="2851919" y="2209205"/>
            <a:ext cx="1019659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Date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3871578" y="2209205"/>
            <a:ext cx="1024821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Shape 26"/>
          <p:cNvSpPr/>
          <p:nvPr/>
        </p:nvSpPr>
        <p:spPr>
          <a:xfrm>
            <a:off x="3871578" y="2471738"/>
            <a:ext cx="102482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7"/>
          <p:cNvSpPr/>
          <p:nvPr/>
        </p:nvSpPr>
        <p:spPr>
          <a:xfrm>
            <a:off x="3871578" y="2209205"/>
            <a:ext cx="1024821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Status</a:t>
            </a:r>
            <a:endParaRPr lang="en-US" sz="634" dirty="0"/>
          </a:p>
        </p:txBody>
      </p:sp>
      <p:sp>
        <p:nvSpPr>
          <p:cNvPr id="31" name="Shape 28"/>
          <p:cNvSpPr/>
          <p:nvPr/>
        </p:nvSpPr>
        <p:spPr>
          <a:xfrm>
            <a:off x="4896399" y="2209205"/>
            <a:ext cx="904326" cy="2768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Shape 29"/>
          <p:cNvSpPr/>
          <p:nvPr/>
        </p:nvSpPr>
        <p:spPr>
          <a:xfrm>
            <a:off x="4896399" y="2471738"/>
            <a:ext cx="90432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0"/>
          <p:cNvSpPr/>
          <p:nvPr/>
        </p:nvSpPr>
        <p:spPr>
          <a:xfrm>
            <a:off x="4896399" y="2209205"/>
            <a:ext cx="904326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Action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14338" y="2478881"/>
            <a:ext cx="1194653" cy="36790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 (일반공)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1608990" y="2478881"/>
            <a:ext cx="1242929" cy="36790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일용직 근로계약</a:t>
            </a:r>
            <a:endParaRPr lang="en-US" sz="674" dirty="0"/>
          </a:p>
        </p:txBody>
      </p:sp>
      <p:sp>
        <p:nvSpPr>
          <p:cNvPr id="36" name="Text 33"/>
          <p:cNvSpPr/>
          <p:nvPr/>
        </p:nvSpPr>
        <p:spPr>
          <a:xfrm>
            <a:off x="2851919" y="2478881"/>
            <a:ext cx="1019659" cy="36790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2026-01-15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3943015" y="2578894"/>
            <a:ext cx="41112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2E8F0"/>
                </a:solidFill>
              </a:rPr>
              <a:t>SIGNED</a:t>
            </a:r>
            <a:endParaRPr lang="en-US" sz="534" dirty="0"/>
          </a:p>
        </p:txBody>
      </p:sp>
      <p:sp>
        <p:nvSpPr>
          <p:cNvPr id="38" name="Shape 35"/>
          <p:cNvSpPr/>
          <p:nvPr/>
        </p:nvSpPr>
        <p:spPr>
          <a:xfrm>
            <a:off x="4967836" y="2564606"/>
            <a:ext cx="387604" cy="192881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74" y="2623542"/>
            <a:ext cx="78581" cy="78581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117855" y="2607469"/>
            <a:ext cx="1661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PDF</a:t>
            </a:r>
            <a:endParaRPr lang="en-US" sz="568" dirty="0"/>
          </a:p>
        </p:txBody>
      </p:sp>
      <p:sp>
        <p:nvSpPr>
          <p:cNvPr id="41" name="Text 37"/>
          <p:cNvSpPr/>
          <p:nvPr/>
        </p:nvSpPr>
        <p:spPr>
          <a:xfrm>
            <a:off x="414338" y="2846784"/>
            <a:ext cx="1194653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이민호 (조적공)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1608990" y="2846784"/>
            <a:ext cx="1242929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일용직 근로계약</a:t>
            </a:r>
            <a:endParaRPr lang="en-US" sz="674" dirty="0"/>
          </a:p>
        </p:txBody>
      </p:sp>
      <p:sp>
        <p:nvSpPr>
          <p:cNvPr id="43" name="Text 39"/>
          <p:cNvSpPr/>
          <p:nvPr/>
        </p:nvSpPr>
        <p:spPr>
          <a:xfrm>
            <a:off x="2851919" y="2846784"/>
            <a:ext cx="1019659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2026-01-16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3943015" y="2941439"/>
            <a:ext cx="481059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2E8F0"/>
                </a:solidFill>
              </a:rPr>
              <a:t>PENDING</a:t>
            </a:r>
            <a:endParaRPr lang="en-US" sz="534" dirty="0"/>
          </a:p>
        </p:txBody>
      </p:sp>
      <p:sp>
        <p:nvSpPr>
          <p:cNvPr id="45" name="Shape 41"/>
          <p:cNvSpPr/>
          <p:nvPr/>
        </p:nvSpPr>
        <p:spPr>
          <a:xfrm>
            <a:off x="4967836" y="2936081"/>
            <a:ext cx="413668" cy="17502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2"/>
          <p:cNvSpPr/>
          <p:nvPr/>
        </p:nvSpPr>
        <p:spPr>
          <a:xfrm>
            <a:off x="4967836" y="2936081"/>
            <a:ext cx="413668" cy="17502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Remind</a:t>
            </a:r>
            <a:endParaRPr lang="en-US" sz="568" dirty="0"/>
          </a:p>
        </p:txBody>
      </p:sp>
      <p:sp>
        <p:nvSpPr>
          <p:cNvPr id="47" name="Shape 43"/>
          <p:cNvSpPr/>
          <p:nvPr/>
        </p:nvSpPr>
        <p:spPr>
          <a:xfrm>
            <a:off x="414338" y="3200400"/>
            <a:ext cx="5386388" cy="353616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414338" y="3200400"/>
            <a:ext cx="1194653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박영수 (일반공)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1608990" y="3200400"/>
            <a:ext cx="1242929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일용직 근로계약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2851919" y="3200400"/>
            <a:ext cx="1019659" cy="35361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2026-01-16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3943015" y="3295055"/>
            <a:ext cx="487980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2E8F0"/>
                </a:solidFill>
              </a:rPr>
              <a:t>MOD REQ</a:t>
            </a:r>
            <a:endParaRPr lang="en-US" sz="534" dirty="0"/>
          </a:p>
        </p:txBody>
      </p:sp>
      <p:sp>
        <p:nvSpPr>
          <p:cNvPr id="52" name="Shape 48"/>
          <p:cNvSpPr/>
          <p:nvPr/>
        </p:nvSpPr>
        <p:spPr>
          <a:xfrm>
            <a:off x="4967836" y="3289697"/>
            <a:ext cx="413751" cy="17502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Text 49"/>
          <p:cNvSpPr/>
          <p:nvPr/>
        </p:nvSpPr>
        <p:spPr>
          <a:xfrm>
            <a:off x="4967836" y="3289697"/>
            <a:ext cx="413751" cy="17502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Resend</a:t>
            </a:r>
            <a:endParaRPr lang="en-US" sz="568" dirty="0"/>
          </a:p>
        </p:txBody>
      </p:sp>
      <p:sp>
        <p:nvSpPr>
          <p:cNvPr id="54" name="Text 50"/>
          <p:cNvSpPr/>
          <p:nvPr/>
        </p:nvSpPr>
        <p:spPr>
          <a:xfrm>
            <a:off x="414338" y="3554016"/>
            <a:ext cx="1194653" cy="37147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최강타 (팀장)</a:t>
            </a:r>
            <a:endParaRPr lang="en-US" sz="674" dirty="0"/>
          </a:p>
        </p:txBody>
      </p:sp>
      <p:sp>
        <p:nvSpPr>
          <p:cNvPr id="55" name="Text 51"/>
          <p:cNvSpPr/>
          <p:nvPr/>
        </p:nvSpPr>
        <p:spPr>
          <a:xfrm>
            <a:off x="1608990" y="3554016"/>
            <a:ext cx="1242929" cy="37147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팀장 계약</a:t>
            </a:r>
            <a:endParaRPr lang="en-US" sz="674" dirty="0"/>
          </a:p>
        </p:txBody>
      </p:sp>
      <p:sp>
        <p:nvSpPr>
          <p:cNvPr id="56" name="Text 52"/>
          <p:cNvSpPr/>
          <p:nvPr/>
        </p:nvSpPr>
        <p:spPr>
          <a:xfrm>
            <a:off x="2851919" y="3554016"/>
            <a:ext cx="1019659" cy="37147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2026-01-14</a:t>
            </a:r>
            <a:endParaRPr lang="en-US" sz="674" dirty="0"/>
          </a:p>
        </p:txBody>
      </p:sp>
      <p:sp>
        <p:nvSpPr>
          <p:cNvPr id="57" name="Text 53"/>
          <p:cNvSpPr/>
          <p:nvPr/>
        </p:nvSpPr>
        <p:spPr>
          <a:xfrm>
            <a:off x="3943015" y="3657600"/>
            <a:ext cx="41112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2E8F0"/>
                </a:solidFill>
              </a:rPr>
              <a:t>SIGNED</a:t>
            </a:r>
            <a:endParaRPr lang="en-US" sz="534" dirty="0"/>
          </a:p>
        </p:txBody>
      </p:sp>
      <p:sp>
        <p:nvSpPr>
          <p:cNvPr id="58" name="Shape 54"/>
          <p:cNvSpPr/>
          <p:nvPr/>
        </p:nvSpPr>
        <p:spPr>
          <a:xfrm>
            <a:off x="4967836" y="3643313"/>
            <a:ext cx="387604" cy="192881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274" y="3702248"/>
            <a:ext cx="78581" cy="78581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5117855" y="3686175"/>
            <a:ext cx="1661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PDF</a:t>
            </a:r>
            <a:endParaRPr lang="en-US" sz="568" dirty="0"/>
          </a:p>
        </p:txBody>
      </p:sp>
      <p:sp>
        <p:nvSpPr>
          <p:cNvPr id="61" name="Shape 56"/>
          <p:cNvSpPr/>
          <p:nvPr/>
        </p:nvSpPr>
        <p:spPr>
          <a:xfrm>
            <a:off x="5500688" y="314325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57"/>
          <p:cNvSpPr/>
          <p:nvPr/>
        </p:nvSpPr>
        <p:spPr>
          <a:xfrm>
            <a:off x="5500688" y="314325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3" name="Shape 58"/>
          <p:cNvSpPr/>
          <p:nvPr/>
        </p:nvSpPr>
        <p:spPr>
          <a:xfrm>
            <a:off x="6143625" y="1500188"/>
            <a:ext cx="2714625" cy="1443038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6229350" y="1585913"/>
            <a:ext cx="2543175" cy="12144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Shape 60"/>
          <p:cNvSpPr/>
          <p:nvPr/>
        </p:nvSpPr>
        <p:spPr>
          <a:xfrm>
            <a:off x="6229350" y="1585913"/>
            <a:ext cx="2543175" cy="2786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Text 61"/>
          <p:cNvSpPr/>
          <p:nvPr/>
        </p:nvSpPr>
        <p:spPr>
          <a:xfrm>
            <a:off x="6229350" y="1585913"/>
            <a:ext cx="254317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계약 관리 (박영수)</a:t>
            </a:r>
            <a:endParaRPr lang="en-US" sz="634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213" y="1950244"/>
            <a:ext cx="171450" cy="171450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6958961" y="2214563"/>
            <a:ext cx="108392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수정 요청됨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"단가 정보가 잘못되었습니다."</a:t>
            </a:r>
            <a:endParaRPr lang="en-US" sz="584" dirty="0"/>
          </a:p>
        </p:txBody>
      </p:sp>
      <p:sp>
        <p:nvSpPr>
          <p:cNvPr id="69" name="Shape 63"/>
          <p:cNvSpPr/>
          <p:nvPr/>
        </p:nvSpPr>
        <p:spPr>
          <a:xfrm>
            <a:off x="6315075" y="2511698"/>
            <a:ext cx="2371725" cy="269677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873" y="2603674"/>
            <a:ext cx="85725" cy="85725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7317460" y="2583135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계약서 재발송</a:t>
            </a:r>
            <a:endParaRPr lang="en-US" sz="584" dirty="0"/>
          </a:p>
        </p:txBody>
      </p:sp>
      <p:sp>
        <p:nvSpPr>
          <p:cNvPr id="72" name="Shape 65"/>
          <p:cNvSpPr/>
          <p:nvPr/>
        </p:nvSpPr>
        <p:spPr>
          <a:xfrm>
            <a:off x="8572500" y="25288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66"/>
          <p:cNvSpPr/>
          <p:nvPr/>
        </p:nvSpPr>
        <p:spPr>
          <a:xfrm>
            <a:off x="8572500" y="25288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4" name="Shape 67"/>
          <p:cNvSpPr/>
          <p:nvPr/>
        </p:nvSpPr>
        <p:spPr>
          <a:xfrm>
            <a:off x="6143625" y="3028950"/>
            <a:ext cx="2714625" cy="18288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6215063" y="3100388"/>
            <a:ext cx="2571750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76" name="Shape 69"/>
          <p:cNvSpPr/>
          <p:nvPr/>
        </p:nvSpPr>
        <p:spPr>
          <a:xfrm>
            <a:off x="6215063" y="335577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7" name="Text 70"/>
          <p:cNvSpPr/>
          <p:nvPr/>
        </p:nvSpPr>
        <p:spPr>
          <a:xfrm>
            <a:off x="6215063" y="335577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8" name="Text 71"/>
          <p:cNvSpPr/>
          <p:nvPr/>
        </p:nvSpPr>
        <p:spPr>
          <a:xfrm>
            <a:off x="6429375" y="3357563"/>
            <a:ext cx="323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List API</a:t>
            </a:r>
            <a:endParaRPr lang="en-US" sz="584" dirty="0"/>
          </a:p>
        </p:txBody>
      </p:sp>
      <p:sp>
        <p:nvSpPr>
          <p:cNvPr id="79" name="Shape 72"/>
          <p:cNvSpPr/>
          <p:nvPr/>
        </p:nvSpPr>
        <p:spPr>
          <a:xfrm>
            <a:off x="6429375" y="3490057"/>
            <a:ext cx="1094612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0" name="Text 73"/>
          <p:cNvSpPr/>
          <p:nvPr/>
        </p:nvSpPr>
        <p:spPr>
          <a:xfrm>
            <a:off x="6429375" y="3490057"/>
            <a:ext cx="1094612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/api/v1/site/contracts</a:t>
            </a:r>
            <a:endParaRPr lang="en-US" sz="621" dirty="0"/>
          </a:p>
        </p:txBody>
      </p:sp>
      <p:sp>
        <p:nvSpPr>
          <p:cNvPr id="81" name="Text 74"/>
          <p:cNvSpPr/>
          <p:nvPr/>
        </p:nvSpPr>
        <p:spPr>
          <a:xfrm>
            <a:off x="6429375" y="3640410"/>
            <a:ext cx="9561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Filter: status=MOD_REQ</a:t>
            </a:r>
            <a:endParaRPr lang="en-US" sz="621" dirty="0"/>
          </a:p>
        </p:txBody>
      </p:sp>
      <p:sp>
        <p:nvSpPr>
          <p:cNvPr id="82" name="Shape 75"/>
          <p:cNvSpPr/>
          <p:nvPr/>
        </p:nvSpPr>
        <p:spPr>
          <a:xfrm>
            <a:off x="6215063" y="380148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6"/>
          <p:cNvSpPr/>
          <p:nvPr/>
        </p:nvSpPr>
        <p:spPr>
          <a:xfrm>
            <a:off x="6215063" y="380148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4" name="Text 77"/>
          <p:cNvSpPr/>
          <p:nvPr/>
        </p:nvSpPr>
        <p:spPr>
          <a:xfrm>
            <a:off x="6429375" y="3803266"/>
            <a:ext cx="5593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Resend Logic</a:t>
            </a:r>
            <a:endParaRPr lang="en-US" sz="584" dirty="0"/>
          </a:p>
        </p:txBody>
      </p:sp>
      <p:sp>
        <p:nvSpPr>
          <p:cNvPr id="85" name="Shape 78"/>
          <p:cNvSpPr/>
          <p:nvPr/>
        </p:nvSpPr>
        <p:spPr>
          <a:xfrm>
            <a:off x="6429375" y="3935760"/>
            <a:ext cx="2298809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6" name="Text 79"/>
          <p:cNvSpPr/>
          <p:nvPr/>
        </p:nvSpPr>
        <p:spPr>
          <a:xfrm>
            <a:off x="6429375" y="3935760"/>
            <a:ext cx="2298809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/api/v1/contracts/{id}/resend</a:t>
            </a:r>
            <a:endParaRPr lang="en-US" sz="621" dirty="0"/>
          </a:p>
        </p:txBody>
      </p:sp>
      <p:sp>
        <p:nvSpPr>
          <p:cNvPr id="87" name="Text 80"/>
          <p:cNvSpPr/>
          <p:nvPr/>
        </p:nvSpPr>
        <p:spPr>
          <a:xfrm>
            <a:off x="6429375" y="4086113"/>
            <a:ext cx="22988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Invalidate old token, generate new link, send Kakao/SMS.</a:t>
            </a:r>
            <a:endParaRPr lang="en-US" sz="621" dirty="0"/>
          </a:p>
        </p:txBody>
      </p:sp>
      <p:sp>
        <p:nvSpPr>
          <p:cNvPr id="88" name="Shape 81"/>
          <p:cNvSpPr/>
          <p:nvPr/>
        </p:nvSpPr>
        <p:spPr>
          <a:xfrm>
            <a:off x="6215063" y="424718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9" name="Text 82"/>
          <p:cNvSpPr/>
          <p:nvPr/>
        </p:nvSpPr>
        <p:spPr>
          <a:xfrm>
            <a:off x="6215063" y="424718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90" name="Text 83"/>
          <p:cNvSpPr/>
          <p:nvPr/>
        </p:nvSpPr>
        <p:spPr>
          <a:xfrm>
            <a:off x="6429375" y="4247183"/>
            <a:ext cx="22190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Status Update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On resend success: Status -&gt;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PENDING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.</a:t>
            </a:r>
            <a:endParaRPr lang="en-US" sz="58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10215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435894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노무자 정보 및 단가 관리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투입 노무자 기본 단가 수정 및 해당 단가 출역 현황 자동 소급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85913"/>
            <a:ext cx="5772150" cy="24431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85913"/>
            <a:ext cx="577215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43088"/>
            <a:ext cx="577215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14388" y="1656457"/>
            <a:ext cx="12492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Site &gt; Worker Mgmt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357188" y="2198489"/>
            <a:ext cx="577695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9"/>
          <p:cNvSpPr/>
          <p:nvPr/>
        </p:nvSpPr>
        <p:spPr>
          <a:xfrm>
            <a:off x="357188" y="2403872"/>
            <a:ext cx="57769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357188" y="2198489"/>
            <a:ext cx="577695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Name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934882" y="2198489"/>
            <a:ext cx="543762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2"/>
          <p:cNvSpPr/>
          <p:nvPr/>
        </p:nvSpPr>
        <p:spPr>
          <a:xfrm>
            <a:off x="934882" y="2403872"/>
            <a:ext cx="54376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934882" y="2198489"/>
            <a:ext cx="543762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Role</a:t>
            </a:r>
            <a:endParaRPr lang="en-US" sz="634" dirty="0"/>
          </a:p>
        </p:txBody>
      </p:sp>
      <p:sp>
        <p:nvSpPr>
          <p:cNvPr id="17" name="Shape 14"/>
          <p:cNvSpPr/>
          <p:nvPr/>
        </p:nvSpPr>
        <p:spPr>
          <a:xfrm>
            <a:off x="1478645" y="2198489"/>
            <a:ext cx="956872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5"/>
          <p:cNvSpPr/>
          <p:nvPr/>
        </p:nvSpPr>
        <p:spPr>
          <a:xfrm>
            <a:off x="1478645" y="2403872"/>
            <a:ext cx="956872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6"/>
          <p:cNvSpPr/>
          <p:nvPr/>
        </p:nvSpPr>
        <p:spPr>
          <a:xfrm>
            <a:off x="1478645" y="2198489"/>
            <a:ext cx="956872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Daily Wage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2435516" y="2198489"/>
            <a:ext cx="1822131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8"/>
          <p:cNvSpPr/>
          <p:nvPr/>
        </p:nvSpPr>
        <p:spPr>
          <a:xfrm>
            <a:off x="2435516" y="2403872"/>
            <a:ext cx="182213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19"/>
          <p:cNvSpPr/>
          <p:nvPr/>
        </p:nvSpPr>
        <p:spPr>
          <a:xfrm>
            <a:off x="2435516" y="2198489"/>
            <a:ext cx="1822131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Bank Account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4257647" y="2198489"/>
            <a:ext cx="1117188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1"/>
          <p:cNvSpPr/>
          <p:nvPr/>
        </p:nvSpPr>
        <p:spPr>
          <a:xfrm>
            <a:off x="4257647" y="2403872"/>
            <a:ext cx="111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2"/>
          <p:cNvSpPr/>
          <p:nvPr/>
        </p:nvSpPr>
        <p:spPr>
          <a:xfrm>
            <a:off x="4257647" y="2198489"/>
            <a:ext cx="1117188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Last Updated</a:t>
            </a:r>
            <a:endParaRPr lang="en-US" sz="634" dirty="0"/>
          </a:p>
        </p:txBody>
      </p:sp>
      <p:sp>
        <p:nvSpPr>
          <p:cNvPr id="26" name="Shape 23"/>
          <p:cNvSpPr/>
          <p:nvPr/>
        </p:nvSpPr>
        <p:spPr>
          <a:xfrm>
            <a:off x="5374835" y="2198489"/>
            <a:ext cx="611628" cy="2196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4"/>
          <p:cNvSpPr/>
          <p:nvPr/>
        </p:nvSpPr>
        <p:spPr>
          <a:xfrm>
            <a:off x="5374835" y="2403872"/>
            <a:ext cx="61162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5"/>
          <p:cNvSpPr/>
          <p:nvPr/>
        </p:nvSpPr>
        <p:spPr>
          <a:xfrm>
            <a:off x="5374835" y="2198489"/>
            <a:ext cx="611628" cy="219670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Action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357188" y="2411016"/>
            <a:ext cx="577695" cy="2500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934882" y="2411016"/>
            <a:ext cx="543762" cy="2500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일반공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1478645" y="2411016"/>
            <a:ext cx="956872" cy="2500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150,000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2435516" y="2411016"/>
            <a:ext cx="1822131" cy="2500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Shinhan 110-***-******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4257647" y="2411016"/>
            <a:ext cx="1117188" cy="2500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2026-01-10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5417697" y="2453878"/>
            <a:ext cx="292587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Edit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357188" y="2661047"/>
            <a:ext cx="5629275" cy="253603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357188" y="2661047"/>
            <a:ext cx="577695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이민호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934882" y="2661047"/>
            <a:ext cx="54376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조적공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1478645" y="2661047"/>
            <a:ext cx="95687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180,000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2435516" y="2661047"/>
            <a:ext cx="1822131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Woori 1002-***-******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257647" y="2661047"/>
            <a:ext cx="1117188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2026-02-01</a:t>
            </a:r>
            <a:endParaRPr lang="en-US" sz="674" dirty="0"/>
          </a:p>
        </p:txBody>
      </p:sp>
      <p:sp>
        <p:nvSpPr>
          <p:cNvPr id="41" name="Shape 38"/>
          <p:cNvSpPr/>
          <p:nvPr/>
        </p:nvSpPr>
        <p:spPr>
          <a:xfrm>
            <a:off x="5417697" y="2707481"/>
            <a:ext cx="292587" cy="160734"/>
          </a:xfrm>
          <a:prstGeom prst="rect">
            <a:avLst/>
          </a:prstGeom>
          <a:solidFill>
            <a:srgbClr val="3B82F6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17697" y="2707481"/>
            <a:ext cx="292587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Edit</a:t>
            </a:r>
            <a:endParaRPr lang="en-US" sz="568" dirty="0"/>
          </a:p>
        </p:txBody>
      </p:sp>
      <p:sp>
        <p:nvSpPr>
          <p:cNvPr id="43" name="Text 40"/>
          <p:cNvSpPr/>
          <p:nvPr/>
        </p:nvSpPr>
        <p:spPr>
          <a:xfrm>
            <a:off x="357188" y="2900363"/>
            <a:ext cx="577695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박영수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934882" y="2900363"/>
            <a:ext cx="54376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일반공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1478645" y="2900363"/>
            <a:ext cx="95687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150,000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2435516" y="2900363"/>
            <a:ext cx="1822131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Hana 330-***-******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4257647" y="2900363"/>
            <a:ext cx="1117188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2025-12-20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5417697" y="2946797"/>
            <a:ext cx="292587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Edit</a:t>
            </a:r>
            <a:endParaRPr lang="en-US" sz="568" dirty="0"/>
          </a:p>
        </p:txBody>
      </p:sp>
      <p:sp>
        <p:nvSpPr>
          <p:cNvPr id="49" name="Text 46"/>
          <p:cNvSpPr/>
          <p:nvPr/>
        </p:nvSpPr>
        <p:spPr>
          <a:xfrm>
            <a:off x="357188" y="3153966"/>
            <a:ext cx="577695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최강타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934882" y="3153966"/>
            <a:ext cx="54376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팀장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1478645" y="3153966"/>
            <a:ext cx="956872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220,000</a:t>
            </a:r>
            <a:endParaRPr lang="en-US" sz="634" dirty="0"/>
          </a:p>
        </p:txBody>
      </p:sp>
      <p:sp>
        <p:nvSpPr>
          <p:cNvPr id="52" name="Text 49"/>
          <p:cNvSpPr/>
          <p:nvPr/>
        </p:nvSpPr>
        <p:spPr>
          <a:xfrm>
            <a:off x="2435516" y="3153966"/>
            <a:ext cx="1822131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Kakao 3333-***-******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4257647" y="3153966"/>
            <a:ext cx="1117188" cy="25360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2026-01-05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5417697" y="3200400"/>
            <a:ext cx="292587" cy="16073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Edit</a:t>
            </a:r>
            <a:endParaRPr lang="en-US" sz="568" dirty="0"/>
          </a:p>
        </p:txBody>
      </p:sp>
      <p:sp>
        <p:nvSpPr>
          <p:cNvPr id="55" name="Shape 52"/>
          <p:cNvSpPr/>
          <p:nvPr/>
        </p:nvSpPr>
        <p:spPr>
          <a:xfrm>
            <a:off x="5629275" y="25860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3"/>
          <p:cNvSpPr/>
          <p:nvPr/>
        </p:nvSpPr>
        <p:spPr>
          <a:xfrm>
            <a:off x="5629275" y="258603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57" name="Shape 54"/>
          <p:cNvSpPr/>
          <p:nvPr/>
        </p:nvSpPr>
        <p:spPr>
          <a:xfrm>
            <a:off x="6143625" y="1585913"/>
            <a:ext cx="2714625" cy="1271588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215063" y="1685925"/>
            <a:ext cx="2571750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6215063" y="1685925"/>
            <a:ext cx="2571750" cy="25003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0" name="Text 57"/>
          <p:cNvSpPr/>
          <p:nvPr/>
        </p:nvSpPr>
        <p:spPr>
          <a:xfrm>
            <a:off x="6215063" y="1685925"/>
            <a:ext cx="257175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단가 수정 (Edit Wage)</a:t>
            </a:r>
            <a:endParaRPr lang="en-US" sz="634" dirty="0"/>
          </a:p>
        </p:txBody>
      </p:sp>
      <p:sp>
        <p:nvSpPr>
          <p:cNvPr id="61" name="Text 58"/>
          <p:cNvSpPr/>
          <p:nvPr/>
        </p:nvSpPr>
        <p:spPr>
          <a:xfrm>
            <a:off x="6272213" y="1993106"/>
            <a:ext cx="2457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Current Wage</a:t>
            </a:r>
            <a:endParaRPr lang="en-US" sz="534" dirty="0"/>
          </a:p>
        </p:txBody>
      </p:sp>
      <p:sp>
        <p:nvSpPr>
          <p:cNvPr id="62" name="Text 59"/>
          <p:cNvSpPr/>
          <p:nvPr/>
        </p:nvSpPr>
        <p:spPr>
          <a:xfrm>
            <a:off x="6272213" y="2135981"/>
            <a:ext cx="2457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170,000 KRW</a:t>
            </a:r>
            <a:endParaRPr lang="en-US" sz="674" dirty="0"/>
          </a:p>
        </p:txBody>
      </p:sp>
      <p:sp>
        <p:nvSpPr>
          <p:cNvPr id="63" name="Text 60"/>
          <p:cNvSpPr/>
          <p:nvPr/>
        </p:nvSpPr>
        <p:spPr>
          <a:xfrm>
            <a:off x="6272213" y="2305645"/>
            <a:ext cx="2457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New Wage (KRW)</a:t>
            </a:r>
            <a:endParaRPr lang="en-US" sz="534" dirty="0"/>
          </a:p>
        </p:txBody>
      </p:sp>
      <p:sp>
        <p:nvSpPr>
          <p:cNvPr id="64" name="Text 61"/>
          <p:cNvSpPr/>
          <p:nvPr/>
        </p:nvSpPr>
        <p:spPr>
          <a:xfrm>
            <a:off x="6272213" y="2746772"/>
            <a:ext cx="95218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E293B"/>
                </a:solidFill>
              </a:rPr>
              <a:t>Apply to this month's logs</a:t>
            </a:r>
            <a:endParaRPr lang="en-US" sz="568" dirty="0"/>
          </a:p>
        </p:txBody>
      </p:sp>
      <p:sp>
        <p:nvSpPr>
          <p:cNvPr id="65" name="Shape 62"/>
          <p:cNvSpPr/>
          <p:nvPr/>
        </p:nvSpPr>
        <p:spPr>
          <a:xfrm>
            <a:off x="8501063" y="2736056"/>
            <a:ext cx="228600" cy="128588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66" name="Shape 63"/>
          <p:cNvSpPr/>
          <p:nvPr/>
        </p:nvSpPr>
        <p:spPr>
          <a:xfrm>
            <a:off x="6272213" y="2936081"/>
            <a:ext cx="2457450" cy="21252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4"/>
          <p:cNvSpPr/>
          <p:nvPr/>
        </p:nvSpPr>
        <p:spPr>
          <a:xfrm>
            <a:off x="6272213" y="2936081"/>
            <a:ext cx="2457450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Update Wage</a:t>
            </a:r>
            <a:endParaRPr lang="en-US" sz="584" dirty="0"/>
          </a:p>
        </p:txBody>
      </p:sp>
      <p:sp>
        <p:nvSpPr>
          <p:cNvPr id="68" name="Shape 65"/>
          <p:cNvSpPr/>
          <p:nvPr/>
        </p:nvSpPr>
        <p:spPr>
          <a:xfrm>
            <a:off x="8643938" y="26146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9" name="Text 66"/>
          <p:cNvSpPr/>
          <p:nvPr/>
        </p:nvSpPr>
        <p:spPr>
          <a:xfrm>
            <a:off x="8643938" y="261461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0" name="Shape 67"/>
          <p:cNvSpPr/>
          <p:nvPr/>
        </p:nvSpPr>
        <p:spPr>
          <a:xfrm>
            <a:off x="6143625" y="2900363"/>
            <a:ext cx="2714625" cy="17002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200775" y="2964656"/>
            <a:ext cx="2600325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72" name="Shape 69"/>
          <p:cNvSpPr/>
          <p:nvPr/>
        </p:nvSpPr>
        <p:spPr>
          <a:xfrm>
            <a:off x="6200775" y="319861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70"/>
          <p:cNvSpPr/>
          <p:nvPr/>
        </p:nvSpPr>
        <p:spPr>
          <a:xfrm>
            <a:off x="6200775" y="319861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4" name="Text 71"/>
          <p:cNvSpPr/>
          <p:nvPr/>
        </p:nvSpPr>
        <p:spPr>
          <a:xfrm>
            <a:off x="6400800" y="3193256"/>
            <a:ext cx="4816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Update API</a:t>
            </a:r>
            <a:endParaRPr lang="en-US" sz="584" dirty="0"/>
          </a:p>
        </p:txBody>
      </p:sp>
      <p:sp>
        <p:nvSpPr>
          <p:cNvPr id="75" name="Shape 72"/>
          <p:cNvSpPr/>
          <p:nvPr/>
        </p:nvSpPr>
        <p:spPr>
          <a:xfrm>
            <a:off x="6400800" y="3320058"/>
            <a:ext cx="1763613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6" name="Text 73"/>
          <p:cNvSpPr/>
          <p:nvPr/>
        </p:nvSpPr>
        <p:spPr>
          <a:xfrm>
            <a:off x="6400800" y="3320058"/>
            <a:ext cx="1763613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PUT /api/v1/site/workers/{id}/wage</a:t>
            </a:r>
            <a:endParaRPr lang="en-US" sz="621" dirty="0"/>
          </a:p>
        </p:txBody>
      </p:sp>
      <p:sp>
        <p:nvSpPr>
          <p:cNvPr id="77" name="Shape 74"/>
          <p:cNvSpPr/>
          <p:nvPr/>
        </p:nvSpPr>
        <p:spPr>
          <a:xfrm>
            <a:off x="6400800" y="3470077"/>
            <a:ext cx="1763613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8" name="Text 75"/>
          <p:cNvSpPr/>
          <p:nvPr/>
        </p:nvSpPr>
        <p:spPr>
          <a:xfrm>
            <a:off x="6400800" y="3470077"/>
            <a:ext cx="1763613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Body: { amount: 180000, retroactive: true }</a:t>
            </a:r>
            <a:endParaRPr lang="en-US" sz="621" dirty="0"/>
          </a:p>
        </p:txBody>
      </p:sp>
      <p:sp>
        <p:nvSpPr>
          <p:cNvPr id="79" name="Shape 76"/>
          <p:cNvSpPr/>
          <p:nvPr/>
        </p:nvSpPr>
        <p:spPr>
          <a:xfrm>
            <a:off x="6200775" y="364867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0" name="Text 77"/>
          <p:cNvSpPr/>
          <p:nvPr/>
        </p:nvSpPr>
        <p:spPr>
          <a:xfrm>
            <a:off x="6200775" y="364867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1" name="Text 78"/>
          <p:cNvSpPr/>
          <p:nvPr/>
        </p:nvSpPr>
        <p:spPr>
          <a:xfrm>
            <a:off x="6400800" y="3643313"/>
            <a:ext cx="7416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Retroactive Logic</a:t>
            </a:r>
            <a:endParaRPr lang="en-US" sz="584" dirty="0"/>
          </a:p>
        </p:txBody>
      </p:sp>
      <p:sp>
        <p:nvSpPr>
          <p:cNvPr id="82" name="Text 79"/>
          <p:cNvSpPr/>
          <p:nvPr/>
        </p:nvSpPr>
        <p:spPr>
          <a:xfrm>
            <a:off x="7142411" y="3643313"/>
            <a:ext cx="808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If</a:t>
            </a:r>
            <a:endParaRPr lang="en-US" sz="621" dirty="0"/>
          </a:p>
        </p:txBody>
      </p:sp>
      <p:sp>
        <p:nvSpPr>
          <p:cNvPr id="83" name="Shape 80"/>
          <p:cNvSpPr/>
          <p:nvPr/>
        </p:nvSpPr>
        <p:spPr>
          <a:xfrm>
            <a:off x="6400800" y="3770114"/>
            <a:ext cx="1599474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4" name="Text 81"/>
          <p:cNvSpPr/>
          <p:nvPr/>
        </p:nvSpPr>
        <p:spPr>
          <a:xfrm>
            <a:off x="6400800" y="3770114"/>
            <a:ext cx="1599474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retroactive: true</a:t>
            </a:r>
            <a:endParaRPr lang="en-US" sz="621" dirty="0"/>
          </a:p>
        </p:txBody>
      </p:sp>
      <p:sp>
        <p:nvSpPr>
          <p:cNvPr id="85" name="Text 82"/>
          <p:cNvSpPr/>
          <p:nvPr/>
        </p:nvSpPr>
        <p:spPr>
          <a:xfrm>
            <a:off x="6400800" y="3900488"/>
            <a:ext cx="15994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, update current-month 'PENDING' logs'</a:t>
            </a:r>
            <a:endParaRPr lang="en-US" sz="621" dirty="0"/>
          </a:p>
        </p:txBody>
      </p:sp>
      <p:sp>
        <p:nvSpPr>
          <p:cNvPr id="86" name="Shape 83"/>
          <p:cNvSpPr/>
          <p:nvPr/>
        </p:nvSpPr>
        <p:spPr>
          <a:xfrm>
            <a:off x="6400800" y="4027289"/>
            <a:ext cx="1599474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7" name="Text 84"/>
          <p:cNvSpPr/>
          <p:nvPr/>
        </p:nvSpPr>
        <p:spPr>
          <a:xfrm>
            <a:off x="6400800" y="4027289"/>
            <a:ext cx="1599474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estimated_pay</a:t>
            </a:r>
            <a:endParaRPr lang="en-US" sz="621" dirty="0"/>
          </a:p>
        </p:txBody>
      </p:sp>
      <p:sp>
        <p:nvSpPr>
          <p:cNvPr id="88" name="Text 85"/>
          <p:cNvSpPr/>
          <p:nvPr/>
        </p:nvSpPr>
        <p:spPr>
          <a:xfrm>
            <a:off x="6400800" y="4157663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.</a:t>
            </a:r>
            <a:endParaRPr lang="en-US" sz="621" dirty="0"/>
          </a:p>
        </p:txBody>
      </p:sp>
      <p:sp>
        <p:nvSpPr>
          <p:cNvPr id="89" name="Shape 86"/>
          <p:cNvSpPr/>
          <p:nvPr/>
        </p:nvSpPr>
        <p:spPr>
          <a:xfrm>
            <a:off x="6200775" y="43130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0" name="Text 87"/>
          <p:cNvSpPr/>
          <p:nvPr/>
        </p:nvSpPr>
        <p:spPr>
          <a:xfrm>
            <a:off x="6200775" y="431303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91" name="Text 88"/>
          <p:cNvSpPr/>
          <p:nvPr/>
        </p:nvSpPr>
        <p:spPr>
          <a:xfrm>
            <a:off x="6400800" y="4307681"/>
            <a:ext cx="4903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History Log</a:t>
            </a:r>
            <a:endParaRPr lang="en-US" sz="584" dirty="0"/>
          </a:p>
        </p:txBody>
      </p:sp>
      <p:sp>
        <p:nvSpPr>
          <p:cNvPr id="92" name="Text 89"/>
          <p:cNvSpPr/>
          <p:nvPr/>
        </p:nvSpPr>
        <p:spPr>
          <a:xfrm>
            <a:off x="6891151" y="4307681"/>
            <a:ext cx="4402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Insert into</a:t>
            </a:r>
            <a:endParaRPr lang="en-US" sz="621" dirty="0"/>
          </a:p>
        </p:txBody>
      </p:sp>
      <p:sp>
        <p:nvSpPr>
          <p:cNvPr id="93" name="Shape 90"/>
          <p:cNvSpPr/>
          <p:nvPr/>
        </p:nvSpPr>
        <p:spPr>
          <a:xfrm>
            <a:off x="6400800" y="4434483"/>
            <a:ext cx="1675935" cy="1357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4" name="Text 91"/>
          <p:cNvSpPr/>
          <p:nvPr/>
        </p:nvSpPr>
        <p:spPr>
          <a:xfrm>
            <a:off x="6400800" y="4434483"/>
            <a:ext cx="1675935" cy="13573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wage_history</a:t>
            </a:r>
            <a:endParaRPr lang="en-US" sz="621" dirty="0"/>
          </a:p>
        </p:txBody>
      </p:sp>
      <p:sp>
        <p:nvSpPr>
          <p:cNvPr id="95" name="Text 92"/>
          <p:cNvSpPr/>
          <p:nvPr/>
        </p:nvSpPr>
        <p:spPr>
          <a:xfrm>
            <a:off x="6400800" y="4564856"/>
            <a:ext cx="16759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(worker_id, old_val, new_val, updated_by).</a:t>
            </a:r>
            <a:endParaRPr lang="en-US" sz="6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215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35869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팀원 관리 대시보드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소속 팀원 수, 금일 출역 인원 및 주간 팀원 출역 현황 차트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28763"/>
            <a:ext cx="5643563" cy="3300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35906"/>
            <a:ext cx="5643563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793081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606451"/>
            <a:ext cx="15043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Team Leader &gt; Dashboard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793081"/>
            <a:ext cx="5643563" cy="30289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1878806"/>
            <a:ext cx="21194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Team A (Carpentry) Overview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033274" y="1908274"/>
            <a:ext cx="81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2026.01.19 (Mon)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371475" y="2187773"/>
            <a:ext cx="1766878" cy="75366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273498"/>
            <a:ext cx="1595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Total Members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457200" y="2425303"/>
            <a:ext cx="159542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12</a:t>
            </a:r>
            <a:endParaRPr lang="en-US" sz="1397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8558"/>
            <a:ext cx="58936" cy="7858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711" y="2734270"/>
            <a:ext cx="2745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New +1</a:t>
            </a:r>
            <a:endParaRPr lang="en-US" sz="568" dirty="0"/>
          </a:p>
        </p:txBody>
      </p:sp>
      <p:sp>
        <p:nvSpPr>
          <p:cNvPr id="19" name="Shape 15"/>
          <p:cNvSpPr/>
          <p:nvPr/>
        </p:nvSpPr>
        <p:spPr>
          <a:xfrm>
            <a:off x="2224078" y="2187773"/>
            <a:ext cx="1766878" cy="75366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09803" y="2273498"/>
            <a:ext cx="1595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Today's Attendance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2309803" y="2425303"/>
            <a:ext cx="159542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10</a:t>
            </a:r>
            <a:endParaRPr lang="en-US" sz="1397" dirty="0"/>
          </a:p>
        </p:txBody>
      </p:sp>
      <p:sp>
        <p:nvSpPr>
          <p:cNvPr id="22" name="Text 18"/>
          <p:cNvSpPr/>
          <p:nvPr/>
        </p:nvSpPr>
        <p:spPr>
          <a:xfrm>
            <a:off x="2309803" y="2734270"/>
            <a:ext cx="15954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83.3% Rate</a:t>
            </a:r>
            <a:endParaRPr lang="en-US" sz="568" dirty="0"/>
          </a:p>
        </p:txBody>
      </p:sp>
      <p:sp>
        <p:nvSpPr>
          <p:cNvPr id="23" name="Shape 19"/>
          <p:cNvSpPr/>
          <p:nvPr/>
        </p:nvSpPr>
        <p:spPr>
          <a:xfrm>
            <a:off x="4076681" y="2187773"/>
            <a:ext cx="1766878" cy="75366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62406" y="2273498"/>
            <a:ext cx="1595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Issues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162406" y="2425303"/>
            <a:ext cx="159542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F4444"/>
                </a:solidFill>
              </a:rPr>
              <a:t>1</a:t>
            </a:r>
            <a:endParaRPr lang="en-US" sz="1397" dirty="0"/>
          </a:p>
        </p:txBody>
      </p:sp>
      <p:sp>
        <p:nvSpPr>
          <p:cNvPr id="26" name="Text 22"/>
          <p:cNvSpPr/>
          <p:nvPr/>
        </p:nvSpPr>
        <p:spPr>
          <a:xfrm>
            <a:off x="4162406" y="2734270"/>
            <a:ext cx="159542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F4444"/>
                </a:solidFill>
              </a:rPr>
              <a:t>Contract Pending</a:t>
            </a:r>
            <a:endParaRPr lang="en-US" sz="568" dirty="0"/>
          </a:p>
        </p:txBody>
      </p:sp>
      <p:sp>
        <p:nvSpPr>
          <p:cNvPr id="27" name="Shape 23"/>
          <p:cNvSpPr/>
          <p:nvPr/>
        </p:nvSpPr>
        <p:spPr>
          <a:xfrm>
            <a:off x="371475" y="3041452"/>
            <a:ext cx="5472113" cy="169485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3127177"/>
            <a:ext cx="53006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Weekly Attendance Trend</a:t>
            </a:r>
            <a:endParaRPr lang="en-US" sz="683" dirty="0"/>
          </a:p>
        </p:txBody>
      </p:sp>
      <p:sp>
        <p:nvSpPr>
          <p:cNvPr id="29" name="Text 25"/>
          <p:cNvSpPr/>
          <p:nvPr/>
        </p:nvSpPr>
        <p:spPr>
          <a:xfrm>
            <a:off x="946379" y="3680817"/>
            <a:ext cx="817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10</a:t>
            </a:r>
            <a:endParaRPr lang="en-US" sz="485" dirty="0"/>
          </a:p>
        </p:txBody>
      </p:sp>
      <p:sp>
        <p:nvSpPr>
          <p:cNvPr id="30" name="Text 26"/>
          <p:cNvSpPr/>
          <p:nvPr/>
        </p:nvSpPr>
        <p:spPr>
          <a:xfrm>
            <a:off x="901396" y="4450556"/>
            <a:ext cx="1717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Mon</a:t>
            </a:r>
            <a:endParaRPr lang="en-US" sz="534" dirty="0"/>
          </a:p>
        </p:txBody>
      </p:sp>
      <p:sp>
        <p:nvSpPr>
          <p:cNvPr id="31" name="Text 27"/>
          <p:cNvSpPr/>
          <p:nvPr/>
        </p:nvSpPr>
        <p:spPr>
          <a:xfrm>
            <a:off x="2006501" y="3623667"/>
            <a:ext cx="817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11</a:t>
            </a:r>
            <a:endParaRPr lang="en-US" sz="485" dirty="0"/>
          </a:p>
        </p:txBody>
      </p:sp>
      <p:sp>
        <p:nvSpPr>
          <p:cNvPr id="32" name="Text 28"/>
          <p:cNvSpPr/>
          <p:nvPr/>
        </p:nvSpPr>
        <p:spPr>
          <a:xfrm>
            <a:off x="1978875" y="4450556"/>
            <a:ext cx="1369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Tue</a:t>
            </a:r>
            <a:endParaRPr lang="en-US" sz="534" dirty="0"/>
          </a:p>
        </p:txBody>
      </p:sp>
      <p:sp>
        <p:nvSpPr>
          <p:cNvPr id="33" name="Text 29"/>
          <p:cNvSpPr/>
          <p:nvPr/>
        </p:nvSpPr>
        <p:spPr>
          <a:xfrm>
            <a:off x="3066622" y="3566517"/>
            <a:ext cx="817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12</a:t>
            </a:r>
            <a:endParaRPr lang="en-US" sz="485" dirty="0"/>
          </a:p>
        </p:txBody>
      </p:sp>
      <p:sp>
        <p:nvSpPr>
          <p:cNvPr id="34" name="Text 30"/>
          <p:cNvSpPr/>
          <p:nvPr/>
        </p:nvSpPr>
        <p:spPr>
          <a:xfrm>
            <a:off x="3023397" y="4450556"/>
            <a:ext cx="1681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Wed</a:t>
            </a:r>
            <a:endParaRPr lang="en-US" sz="534" dirty="0"/>
          </a:p>
        </p:txBody>
      </p:sp>
      <p:sp>
        <p:nvSpPr>
          <p:cNvPr id="35" name="Text 31"/>
          <p:cNvSpPr/>
          <p:nvPr/>
        </p:nvSpPr>
        <p:spPr>
          <a:xfrm>
            <a:off x="4147170" y="3737967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9</a:t>
            </a:r>
            <a:endParaRPr lang="en-US" sz="485" dirty="0"/>
          </a:p>
        </p:txBody>
      </p:sp>
      <p:sp>
        <p:nvSpPr>
          <p:cNvPr id="36" name="Text 32"/>
          <p:cNvSpPr/>
          <p:nvPr/>
        </p:nvSpPr>
        <p:spPr>
          <a:xfrm>
            <a:off x="4094764" y="4450556"/>
            <a:ext cx="1456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Thu</a:t>
            </a:r>
            <a:endParaRPr lang="en-US" sz="534" dirty="0"/>
          </a:p>
        </p:txBody>
      </p:sp>
      <p:sp>
        <p:nvSpPr>
          <p:cNvPr id="37" name="Text 33"/>
          <p:cNvSpPr/>
          <p:nvPr/>
        </p:nvSpPr>
        <p:spPr>
          <a:xfrm>
            <a:off x="5186865" y="3680817"/>
            <a:ext cx="817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10</a:t>
            </a:r>
            <a:endParaRPr lang="en-US" sz="485" dirty="0"/>
          </a:p>
        </p:txBody>
      </p:sp>
      <p:sp>
        <p:nvSpPr>
          <p:cNvPr id="38" name="Text 34"/>
          <p:cNvSpPr/>
          <p:nvPr/>
        </p:nvSpPr>
        <p:spPr>
          <a:xfrm>
            <a:off x="5178075" y="4450556"/>
            <a:ext cx="993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Fri</a:t>
            </a:r>
            <a:endParaRPr lang="en-US" sz="534" dirty="0"/>
          </a:p>
        </p:txBody>
      </p:sp>
      <p:sp>
        <p:nvSpPr>
          <p:cNvPr id="39" name="Shape 35"/>
          <p:cNvSpPr/>
          <p:nvPr/>
        </p:nvSpPr>
        <p:spPr>
          <a:xfrm>
            <a:off x="2786063" y="246459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6"/>
          <p:cNvSpPr/>
          <p:nvPr/>
        </p:nvSpPr>
        <p:spPr>
          <a:xfrm>
            <a:off x="2786063" y="246459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1" name="Shape 37"/>
          <p:cNvSpPr/>
          <p:nvPr/>
        </p:nvSpPr>
        <p:spPr>
          <a:xfrm>
            <a:off x="6143625" y="1535906"/>
            <a:ext cx="2714625" cy="131445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200775" y="1593056"/>
            <a:ext cx="2600325" cy="1143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Shape 39"/>
          <p:cNvSpPr/>
          <p:nvPr/>
        </p:nvSpPr>
        <p:spPr>
          <a:xfrm>
            <a:off x="6200775" y="1593056"/>
            <a:ext cx="2600325" cy="25003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0"/>
          <p:cNvSpPr/>
          <p:nvPr/>
        </p:nvSpPr>
        <p:spPr>
          <a:xfrm>
            <a:off x="6257925" y="1650206"/>
            <a:ext cx="8368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Team Dashboard</a:t>
            </a:r>
            <a:endParaRPr lang="en-US" sz="683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439" y="1650206"/>
            <a:ext cx="87511" cy="135731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6272213" y="1914525"/>
            <a:ext cx="2457450" cy="4339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6343650" y="1985963"/>
            <a:ext cx="41894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Today</a:t>
            </a:r>
            <a:endParaRPr lang="en-US" sz="584" dirty="0"/>
          </a:p>
        </p:txBody>
      </p:sp>
      <p:sp>
        <p:nvSpPr>
          <p:cNvPr id="48" name="Text 43"/>
          <p:cNvSpPr/>
          <p:nvPr/>
        </p:nvSpPr>
        <p:spPr>
          <a:xfrm>
            <a:off x="6343650" y="2102048"/>
            <a:ext cx="4189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10 / 12</a:t>
            </a:r>
            <a:endParaRPr lang="en-US" sz="885" dirty="0"/>
          </a:p>
        </p:txBody>
      </p:sp>
      <p:sp>
        <p:nvSpPr>
          <p:cNvPr id="49" name="Shape 44"/>
          <p:cNvSpPr/>
          <p:nvPr/>
        </p:nvSpPr>
        <p:spPr>
          <a:xfrm>
            <a:off x="8429625" y="2017216"/>
            <a:ext cx="228600" cy="2286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488" y="2074366"/>
            <a:ext cx="142875" cy="114300"/>
          </a:xfrm>
          <a:prstGeom prst="rect">
            <a:avLst/>
          </a:prstGeom>
        </p:spPr>
      </p:pic>
      <p:sp>
        <p:nvSpPr>
          <p:cNvPr id="51" name="Shape 45"/>
          <p:cNvSpPr/>
          <p:nvPr/>
        </p:nvSpPr>
        <p:spPr>
          <a:xfrm>
            <a:off x="6272213" y="2405658"/>
            <a:ext cx="2457450" cy="4339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6"/>
          <p:cNvSpPr/>
          <p:nvPr/>
        </p:nvSpPr>
        <p:spPr>
          <a:xfrm>
            <a:off x="6343650" y="2477095"/>
            <a:ext cx="2673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Rate</a:t>
            </a:r>
            <a:endParaRPr lang="en-US" sz="584" dirty="0"/>
          </a:p>
        </p:txBody>
      </p:sp>
      <p:sp>
        <p:nvSpPr>
          <p:cNvPr id="53" name="Text 47"/>
          <p:cNvSpPr/>
          <p:nvPr/>
        </p:nvSpPr>
        <p:spPr>
          <a:xfrm>
            <a:off x="6343650" y="2593181"/>
            <a:ext cx="267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83%</a:t>
            </a:r>
            <a:endParaRPr lang="en-US" sz="885" dirty="0"/>
          </a:p>
        </p:txBody>
      </p:sp>
      <p:sp>
        <p:nvSpPr>
          <p:cNvPr id="54" name="Shape 48"/>
          <p:cNvSpPr/>
          <p:nvPr/>
        </p:nvSpPr>
        <p:spPr>
          <a:xfrm>
            <a:off x="8429625" y="2508349"/>
            <a:ext cx="228600" cy="2286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631" y="2565499"/>
            <a:ext cx="128588" cy="114300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8572500" y="21074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0"/>
          <p:cNvSpPr/>
          <p:nvPr/>
        </p:nvSpPr>
        <p:spPr>
          <a:xfrm>
            <a:off x="8572500" y="210740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8" name="Shape 51"/>
          <p:cNvSpPr/>
          <p:nvPr/>
        </p:nvSpPr>
        <p:spPr>
          <a:xfrm>
            <a:off x="6143625" y="2878931"/>
            <a:ext cx="2714625" cy="197881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6215063" y="2950369"/>
            <a:ext cx="2571750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60" name="Shape 53"/>
          <p:cNvSpPr/>
          <p:nvPr/>
        </p:nvSpPr>
        <p:spPr>
          <a:xfrm>
            <a:off x="6215063" y="32057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4"/>
          <p:cNvSpPr/>
          <p:nvPr/>
        </p:nvSpPr>
        <p:spPr>
          <a:xfrm>
            <a:off x="6215063" y="32057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2" name="Text 55"/>
          <p:cNvSpPr/>
          <p:nvPr/>
        </p:nvSpPr>
        <p:spPr>
          <a:xfrm>
            <a:off x="6429375" y="3216473"/>
            <a:ext cx="633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Dashboard API</a:t>
            </a:r>
            <a:endParaRPr lang="en-US" sz="584" dirty="0"/>
          </a:p>
        </p:txBody>
      </p:sp>
      <p:sp>
        <p:nvSpPr>
          <p:cNvPr id="63" name="Shape 56"/>
          <p:cNvSpPr/>
          <p:nvPr/>
        </p:nvSpPr>
        <p:spPr>
          <a:xfrm>
            <a:off x="7127872" y="3205758"/>
            <a:ext cx="1221749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4" name="Text 57"/>
          <p:cNvSpPr/>
          <p:nvPr/>
        </p:nvSpPr>
        <p:spPr>
          <a:xfrm>
            <a:off x="7127872" y="3205758"/>
            <a:ext cx="1221749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/api/v1/team/dashboard</a:t>
            </a:r>
            <a:endParaRPr lang="en-US" sz="621" dirty="0"/>
          </a:p>
        </p:txBody>
      </p:sp>
      <p:sp>
        <p:nvSpPr>
          <p:cNvPr id="65" name="Text 58"/>
          <p:cNvSpPr/>
          <p:nvPr/>
        </p:nvSpPr>
        <p:spPr>
          <a:xfrm>
            <a:off x="8349621" y="3216473"/>
            <a:ext cx="1080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—</a:t>
            </a:r>
            <a:endParaRPr lang="en-US" sz="621" dirty="0"/>
          </a:p>
        </p:txBody>
      </p:sp>
      <p:sp>
        <p:nvSpPr>
          <p:cNvPr id="66" name="Text 59"/>
          <p:cNvSpPr/>
          <p:nvPr/>
        </p:nvSpPr>
        <p:spPr>
          <a:xfrm>
            <a:off x="6429375" y="3342187"/>
            <a:ext cx="2209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Aggregated stats for the logged-in team leader's team.</a:t>
            </a:r>
            <a:endParaRPr lang="en-US" sz="621" dirty="0"/>
          </a:p>
        </p:txBody>
      </p:sp>
      <p:sp>
        <p:nvSpPr>
          <p:cNvPr id="67" name="Shape 60"/>
          <p:cNvSpPr/>
          <p:nvPr/>
        </p:nvSpPr>
        <p:spPr>
          <a:xfrm>
            <a:off x="6215063" y="351433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1"/>
          <p:cNvSpPr/>
          <p:nvPr/>
        </p:nvSpPr>
        <p:spPr>
          <a:xfrm>
            <a:off x="6215063" y="35143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69" name="Text 62"/>
          <p:cNvSpPr/>
          <p:nvPr/>
        </p:nvSpPr>
        <p:spPr>
          <a:xfrm>
            <a:off x="6429375" y="3525050"/>
            <a:ext cx="8123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Chart Visualization</a:t>
            </a:r>
            <a:endParaRPr lang="en-US" sz="584" dirty="0"/>
          </a:p>
        </p:txBody>
      </p:sp>
      <p:sp>
        <p:nvSpPr>
          <p:cNvPr id="70" name="Shape 63"/>
          <p:cNvSpPr/>
          <p:nvPr/>
        </p:nvSpPr>
        <p:spPr>
          <a:xfrm>
            <a:off x="7306884" y="3514334"/>
            <a:ext cx="364917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Text 64"/>
          <p:cNvSpPr/>
          <p:nvPr/>
        </p:nvSpPr>
        <p:spPr>
          <a:xfrm>
            <a:off x="7306884" y="3514334"/>
            <a:ext cx="364917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Chart.js</a:t>
            </a:r>
            <a:endParaRPr lang="en-US" sz="621" dirty="0"/>
          </a:p>
        </p:txBody>
      </p:sp>
      <p:sp>
        <p:nvSpPr>
          <p:cNvPr id="72" name="Text 65"/>
          <p:cNvSpPr/>
          <p:nvPr/>
        </p:nvSpPr>
        <p:spPr>
          <a:xfrm>
            <a:off x="7671801" y="3525050"/>
            <a:ext cx="1047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— Bar chart of last 7 days</a:t>
            </a:r>
            <a:endParaRPr lang="en-US" sz="621" dirty="0"/>
          </a:p>
        </p:txBody>
      </p:sp>
      <p:sp>
        <p:nvSpPr>
          <p:cNvPr id="73" name="Text 66"/>
          <p:cNvSpPr/>
          <p:nvPr/>
        </p:nvSpPr>
        <p:spPr>
          <a:xfrm>
            <a:off x="6429375" y="3650763"/>
            <a:ext cx="4775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attendance.</a:t>
            </a:r>
            <a:endParaRPr lang="en-US" sz="621" dirty="0"/>
          </a:p>
        </p:txBody>
      </p:sp>
      <p:sp>
        <p:nvSpPr>
          <p:cNvPr id="74" name="Shape 67"/>
          <p:cNvSpPr/>
          <p:nvPr/>
        </p:nvSpPr>
        <p:spPr>
          <a:xfrm>
            <a:off x="6215063" y="382291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5" name="Text 68"/>
          <p:cNvSpPr/>
          <p:nvPr/>
        </p:nvSpPr>
        <p:spPr>
          <a:xfrm>
            <a:off x="6215063" y="38229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76" name="Text 69"/>
          <p:cNvSpPr/>
          <p:nvPr/>
        </p:nvSpPr>
        <p:spPr>
          <a:xfrm>
            <a:off x="6429375" y="3822911"/>
            <a:ext cx="2357438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Mobile Refresh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Pull-to-refresh to update stats; real-time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socket updates optional.</a:t>
            </a:r>
            <a:endParaRPr lang="en-US" sz="58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10675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481854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작업일보 작성 및 공수 관리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날짜별 공수(0.5 단위) 입력 스테퍼 및 현장 작업 사진 업로드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617585"/>
            <a:ext cx="5772150" cy="3014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617585"/>
            <a:ext cx="5772150" cy="1232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733671"/>
            <a:ext cx="577215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71538" y="1617585"/>
            <a:ext cx="12539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Team &gt; Daily Report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733671"/>
            <a:ext cx="5772150" cy="311110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1835469"/>
            <a:ext cx="11873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Daily Work Report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951456" y="1819396"/>
            <a:ext cx="1020719" cy="207169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93" y="1865830"/>
            <a:ext cx="87511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10404" y="1847971"/>
            <a:ext cx="8046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2026.01.20 (Tue)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371475" y="2155152"/>
            <a:ext cx="56007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Worker Man-hours</a:t>
            </a:r>
            <a:endParaRPr lang="en-US" sz="634" dirty="0"/>
          </a:p>
        </p:txBody>
      </p:sp>
      <p:sp>
        <p:nvSpPr>
          <p:cNvPr id="17" name="Shape 13"/>
          <p:cNvSpPr/>
          <p:nvPr/>
        </p:nvSpPr>
        <p:spPr>
          <a:xfrm>
            <a:off x="371475" y="2389110"/>
            <a:ext cx="5600700" cy="92690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1475" y="2389110"/>
            <a:ext cx="891406" cy="2446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371475" y="2626640"/>
            <a:ext cx="891406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371475" y="2389110"/>
            <a:ext cx="891406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Name</a:t>
            </a:r>
            <a:endParaRPr lang="en-US" sz="634" dirty="0"/>
          </a:p>
        </p:txBody>
      </p:sp>
      <p:sp>
        <p:nvSpPr>
          <p:cNvPr id="21" name="Shape 17"/>
          <p:cNvSpPr/>
          <p:nvPr/>
        </p:nvSpPr>
        <p:spPr>
          <a:xfrm>
            <a:off x="1262881" y="2389110"/>
            <a:ext cx="842851" cy="2446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8"/>
          <p:cNvSpPr/>
          <p:nvPr/>
        </p:nvSpPr>
        <p:spPr>
          <a:xfrm>
            <a:off x="1262881" y="2626640"/>
            <a:ext cx="84285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9"/>
          <p:cNvSpPr/>
          <p:nvPr/>
        </p:nvSpPr>
        <p:spPr>
          <a:xfrm>
            <a:off x="1262881" y="2389110"/>
            <a:ext cx="842851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Role</a:t>
            </a:r>
            <a:endParaRPr lang="en-US" sz="634" dirty="0"/>
          </a:p>
        </p:txBody>
      </p:sp>
      <p:sp>
        <p:nvSpPr>
          <p:cNvPr id="24" name="Shape 20"/>
          <p:cNvSpPr/>
          <p:nvPr/>
        </p:nvSpPr>
        <p:spPr>
          <a:xfrm>
            <a:off x="2105732" y="2389110"/>
            <a:ext cx="1819480" cy="2446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2105732" y="2626640"/>
            <a:ext cx="181948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2"/>
          <p:cNvSpPr/>
          <p:nvPr/>
        </p:nvSpPr>
        <p:spPr>
          <a:xfrm>
            <a:off x="2105732" y="2389110"/>
            <a:ext cx="1819480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Man-day</a:t>
            </a:r>
            <a:endParaRPr lang="en-US" sz="634" dirty="0"/>
          </a:p>
        </p:txBody>
      </p:sp>
      <p:sp>
        <p:nvSpPr>
          <p:cNvPr id="27" name="Shape 23"/>
          <p:cNvSpPr/>
          <p:nvPr/>
        </p:nvSpPr>
        <p:spPr>
          <a:xfrm>
            <a:off x="3925212" y="2389110"/>
            <a:ext cx="2046963" cy="2446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4"/>
          <p:cNvSpPr/>
          <p:nvPr/>
        </p:nvSpPr>
        <p:spPr>
          <a:xfrm>
            <a:off x="3925212" y="2626640"/>
            <a:ext cx="20469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5"/>
          <p:cNvSpPr/>
          <p:nvPr/>
        </p:nvSpPr>
        <p:spPr>
          <a:xfrm>
            <a:off x="3925212" y="2389110"/>
            <a:ext cx="2046963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Remarks</a:t>
            </a:r>
            <a:endParaRPr lang="en-US" sz="634" dirty="0"/>
          </a:p>
        </p:txBody>
      </p:sp>
      <p:sp>
        <p:nvSpPr>
          <p:cNvPr id="30" name="Text 26"/>
          <p:cNvSpPr/>
          <p:nvPr/>
        </p:nvSpPr>
        <p:spPr>
          <a:xfrm>
            <a:off x="371475" y="2630212"/>
            <a:ext cx="891406" cy="3321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김철수</a:t>
            </a:r>
            <a:endParaRPr lang="en-US" sz="674" dirty="0"/>
          </a:p>
        </p:txBody>
      </p:sp>
      <p:sp>
        <p:nvSpPr>
          <p:cNvPr id="31" name="Text 27"/>
          <p:cNvSpPr/>
          <p:nvPr/>
        </p:nvSpPr>
        <p:spPr>
          <a:xfrm>
            <a:off x="1262881" y="2630212"/>
            <a:ext cx="842851" cy="33218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일반공</a:t>
            </a:r>
            <a:endParaRPr lang="en-US" sz="674" dirty="0"/>
          </a:p>
        </p:txBody>
      </p:sp>
      <p:sp>
        <p:nvSpPr>
          <p:cNvPr id="32" name="Shape 28"/>
          <p:cNvSpPr/>
          <p:nvPr/>
        </p:nvSpPr>
        <p:spPr>
          <a:xfrm>
            <a:off x="2162882" y="2687362"/>
            <a:ext cx="685800" cy="2143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29"/>
          <p:cNvSpPr/>
          <p:nvPr/>
        </p:nvSpPr>
        <p:spPr>
          <a:xfrm>
            <a:off x="2177169" y="2701649"/>
            <a:ext cx="185738" cy="1857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390" y="2751655"/>
            <a:ext cx="75009" cy="8572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2384338" y="2731117"/>
            <a:ext cx="2143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172A"/>
                </a:solidFill>
              </a:rPr>
              <a:t>1.0</a:t>
            </a:r>
            <a:endParaRPr lang="en-US" sz="634" dirty="0"/>
          </a:p>
        </p:txBody>
      </p:sp>
      <p:sp>
        <p:nvSpPr>
          <p:cNvPr id="36" name="Shape 31"/>
          <p:cNvSpPr/>
          <p:nvPr/>
        </p:nvSpPr>
        <p:spPr>
          <a:xfrm>
            <a:off x="2634369" y="2701649"/>
            <a:ext cx="185738" cy="1857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590" y="2744512"/>
            <a:ext cx="75009" cy="8572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71475" y="2948108"/>
            <a:ext cx="891406" cy="33575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이민호</a:t>
            </a:r>
            <a:endParaRPr lang="en-US" sz="674" dirty="0"/>
          </a:p>
        </p:txBody>
      </p:sp>
      <p:sp>
        <p:nvSpPr>
          <p:cNvPr id="39" name="Text 33"/>
          <p:cNvSpPr/>
          <p:nvPr/>
        </p:nvSpPr>
        <p:spPr>
          <a:xfrm>
            <a:off x="1262881" y="2948108"/>
            <a:ext cx="842851" cy="33575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조적공</a:t>
            </a:r>
            <a:endParaRPr lang="en-US" sz="674" dirty="0"/>
          </a:p>
        </p:txBody>
      </p:sp>
      <p:sp>
        <p:nvSpPr>
          <p:cNvPr id="40" name="Shape 34"/>
          <p:cNvSpPr/>
          <p:nvPr/>
        </p:nvSpPr>
        <p:spPr>
          <a:xfrm>
            <a:off x="2162882" y="3008830"/>
            <a:ext cx="685800" cy="2143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5"/>
          <p:cNvSpPr/>
          <p:nvPr/>
        </p:nvSpPr>
        <p:spPr>
          <a:xfrm>
            <a:off x="2177169" y="3023118"/>
            <a:ext cx="185738" cy="1857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491" y="3073124"/>
            <a:ext cx="75009" cy="8572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394440" y="3052586"/>
            <a:ext cx="2143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172A"/>
                </a:solidFill>
              </a:rPr>
              <a:t>1.5</a:t>
            </a:r>
            <a:endParaRPr lang="en-US" sz="634" dirty="0"/>
          </a:p>
        </p:txBody>
      </p:sp>
      <p:sp>
        <p:nvSpPr>
          <p:cNvPr id="44" name="Shape 37"/>
          <p:cNvSpPr/>
          <p:nvPr/>
        </p:nvSpPr>
        <p:spPr>
          <a:xfrm>
            <a:off x="2644471" y="3023118"/>
            <a:ext cx="185738" cy="1857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933" y="3065980"/>
            <a:ext cx="75009" cy="8572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71475" y="3416024"/>
            <a:ext cx="56007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Site Photos</a:t>
            </a:r>
            <a:endParaRPr lang="en-US" sz="634" dirty="0"/>
          </a:p>
        </p:txBody>
      </p:sp>
      <p:sp>
        <p:nvSpPr>
          <p:cNvPr id="47" name="Shape 39"/>
          <p:cNvSpPr/>
          <p:nvPr/>
        </p:nvSpPr>
        <p:spPr>
          <a:xfrm>
            <a:off x="371475" y="3642838"/>
            <a:ext cx="5600700" cy="516136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1"/>
            </a:solidFill>
            <a:prstDash val="dash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598" y="3728563"/>
            <a:ext cx="196453" cy="157163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367623" y="3928588"/>
            <a:ext cx="16083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Drag &amp; Drop files here or click to upload</a:t>
            </a:r>
            <a:endParaRPr lang="en-US" sz="621" dirty="0"/>
          </a:p>
        </p:txBody>
      </p:sp>
      <p:sp>
        <p:nvSpPr>
          <p:cNvPr id="50" name="Shape 41"/>
          <p:cNvSpPr/>
          <p:nvPr/>
        </p:nvSpPr>
        <p:spPr>
          <a:xfrm>
            <a:off x="371475" y="4244699"/>
            <a:ext cx="428625" cy="4286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2"/>
          <p:cNvSpPr/>
          <p:nvPr/>
        </p:nvSpPr>
        <p:spPr>
          <a:xfrm>
            <a:off x="671513" y="4258987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38" y="4280418"/>
            <a:ext cx="44648" cy="71438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857250" y="4244699"/>
            <a:ext cx="428625" cy="4286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Shape 44"/>
          <p:cNvSpPr/>
          <p:nvPr/>
        </p:nvSpPr>
        <p:spPr>
          <a:xfrm>
            <a:off x="1157288" y="4258987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113" y="4280418"/>
            <a:ext cx="44648" cy="71438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2714625" y="254627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46"/>
          <p:cNvSpPr/>
          <p:nvPr/>
        </p:nvSpPr>
        <p:spPr>
          <a:xfrm>
            <a:off x="2714625" y="254627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58" name="Shape 47"/>
          <p:cNvSpPr/>
          <p:nvPr/>
        </p:nvSpPr>
        <p:spPr>
          <a:xfrm>
            <a:off x="6143625" y="1617585"/>
            <a:ext cx="2714625" cy="1271588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6215063" y="1717597"/>
            <a:ext cx="2571750" cy="10715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9"/>
          <p:cNvSpPr/>
          <p:nvPr/>
        </p:nvSpPr>
        <p:spPr>
          <a:xfrm>
            <a:off x="6215063" y="1717597"/>
            <a:ext cx="2571750" cy="25003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0"/>
          <p:cNvSpPr/>
          <p:nvPr/>
        </p:nvSpPr>
        <p:spPr>
          <a:xfrm>
            <a:off x="6215063" y="1717597"/>
            <a:ext cx="257175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작업일보 (Daily Report)</a:t>
            </a:r>
            <a:endParaRPr lang="en-US" sz="634" dirty="0"/>
          </a:p>
        </p:txBody>
      </p:sp>
      <p:sp>
        <p:nvSpPr>
          <p:cNvPr id="62" name="Text 51"/>
          <p:cNvSpPr/>
          <p:nvPr/>
        </p:nvSpPr>
        <p:spPr>
          <a:xfrm>
            <a:off x="6322219" y="2074785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63" name="Text 52"/>
          <p:cNvSpPr/>
          <p:nvPr/>
        </p:nvSpPr>
        <p:spPr>
          <a:xfrm>
            <a:off x="6322219" y="2224804"/>
            <a:ext cx="2563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일반공</a:t>
            </a:r>
            <a:endParaRPr lang="en-US" sz="568" dirty="0"/>
          </a:p>
        </p:txBody>
      </p:sp>
      <p:sp>
        <p:nvSpPr>
          <p:cNvPr id="64" name="Shape 53"/>
          <p:cNvSpPr/>
          <p:nvPr/>
        </p:nvSpPr>
        <p:spPr>
          <a:xfrm>
            <a:off x="7965281" y="2099788"/>
            <a:ext cx="214313" cy="214313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9575" y="2149794"/>
            <a:ext cx="100013" cy="114300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8236744" y="2139079"/>
            <a:ext cx="1714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1.0</a:t>
            </a:r>
            <a:endParaRPr lang="en-US" sz="683" dirty="0"/>
          </a:p>
        </p:txBody>
      </p:sp>
      <p:sp>
        <p:nvSpPr>
          <p:cNvPr id="67" name="Shape 55"/>
          <p:cNvSpPr/>
          <p:nvPr/>
        </p:nvSpPr>
        <p:spPr>
          <a:xfrm>
            <a:off x="8465344" y="2099788"/>
            <a:ext cx="214313" cy="214313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9638" y="2149794"/>
            <a:ext cx="100013" cy="11430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6322219" y="2510554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이민호</a:t>
            </a:r>
            <a:endParaRPr lang="en-US" sz="634" dirty="0"/>
          </a:p>
        </p:txBody>
      </p:sp>
      <p:sp>
        <p:nvSpPr>
          <p:cNvPr id="70" name="Text 57"/>
          <p:cNvSpPr/>
          <p:nvPr/>
        </p:nvSpPr>
        <p:spPr>
          <a:xfrm>
            <a:off x="6322219" y="2660572"/>
            <a:ext cx="2563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조적공</a:t>
            </a:r>
            <a:endParaRPr lang="en-US" sz="568" dirty="0"/>
          </a:p>
        </p:txBody>
      </p:sp>
      <p:sp>
        <p:nvSpPr>
          <p:cNvPr id="71" name="Shape 58"/>
          <p:cNvSpPr/>
          <p:nvPr/>
        </p:nvSpPr>
        <p:spPr>
          <a:xfrm>
            <a:off x="7965281" y="2535557"/>
            <a:ext cx="214313" cy="214313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9575" y="2585563"/>
            <a:ext cx="100013" cy="114300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8236744" y="2574847"/>
            <a:ext cx="1714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1.5</a:t>
            </a:r>
            <a:endParaRPr lang="en-US" sz="683" dirty="0"/>
          </a:p>
        </p:txBody>
      </p:sp>
      <p:sp>
        <p:nvSpPr>
          <p:cNvPr id="74" name="Shape 60"/>
          <p:cNvSpPr/>
          <p:nvPr/>
        </p:nvSpPr>
        <p:spPr>
          <a:xfrm>
            <a:off x="8465344" y="2535557"/>
            <a:ext cx="214313" cy="214313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9638" y="2585563"/>
            <a:ext cx="100013" cy="114300"/>
          </a:xfrm>
          <a:prstGeom prst="rect">
            <a:avLst/>
          </a:prstGeom>
        </p:spPr>
      </p:pic>
      <p:sp>
        <p:nvSpPr>
          <p:cNvPr id="76" name="Shape 61"/>
          <p:cNvSpPr/>
          <p:nvPr/>
        </p:nvSpPr>
        <p:spPr>
          <a:xfrm>
            <a:off x="8586788" y="243197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7" name="Text 62"/>
          <p:cNvSpPr/>
          <p:nvPr/>
        </p:nvSpPr>
        <p:spPr>
          <a:xfrm>
            <a:off x="8586788" y="243197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8" name="Shape 63"/>
          <p:cNvSpPr/>
          <p:nvPr/>
        </p:nvSpPr>
        <p:spPr>
          <a:xfrm>
            <a:off x="6143625" y="2946322"/>
            <a:ext cx="2714625" cy="205430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6215063" y="3024904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80" name="Shape 65"/>
          <p:cNvSpPr/>
          <p:nvPr/>
        </p:nvSpPr>
        <p:spPr>
          <a:xfrm>
            <a:off x="6215063" y="327314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66"/>
          <p:cNvSpPr/>
          <p:nvPr/>
        </p:nvSpPr>
        <p:spPr>
          <a:xfrm>
            <a:off x="6215063" y="327314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82" name="Text 67"/>
          <p:cNvSpPr/>
          <p:nvPr/>
        </p:nvSpPr>
        <p:spPr>
          <a:xfrm>
            <a:off x="6429375" y="3273149"/>
            <a:ext cx="66944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Man-hour Logic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Step: 0.5 unit.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Range: 0.0 ~ 2.5.</a:t>
            </a:r>
            <a:endParaRPr lang="en-US" sz="584" dirty="0"/>
          </a:p>
        </p:txBody>
      </p:sp>
      <p:sp>
        <p:nvSpPr>
          <p:cNvPr id="83" name="Shape 68"/>
          <p:cNvSpPr/>
          <p:nvPr/>
        </p:nvSpPr>
        <p:spPr>
          <a:xfrm>
            <a:off x="6215063" y="36245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69"/>
          <p:cNvSpPr/>
          <p:nvPr/>
        </p:nvSpPr>
        <p:spPr>
          <a:xfrm>
            <a:off x="6215063" y="36245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5" name="Text 70"/>
          <p:cNvSpPr/>
          <p:nvPr/>
        </p:nvSpPr>
        <p:spPr>
          <a:xfrm>
            <a:off x="6429375" y="3617444"/>
            <a:ext cx="8512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Image Compression</a:t>
            </a:r>
            <a:endParaRPr lang="en-US" sz="584" dirty="0"/>
          </a:p>
        </p:txBody>
      </p:sp>
      <p:sp>
        <p:nvSpPr>
          <p:cNvPr id="86" name="Text 71"/>
          <p:cNvSpPr/>
          <p:nvPr/>
        </p:nvSpPr>
        <p:spPr>
          <a:xfrm>
            <a:off x="6429375" y="3720303"/>
            <a:ext cx="1427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Lib:</a:t>
            </a:r>
            <a:endParaRPr lang="en-US" sz="621" dirty="0"/>
          </a:p>
        </p:txBody>
      </p:sp>
      <p:sp>
        <p:nvSpPr>
          <p:cNvPr id="87" name="Shape 72"/>
          <p:cNvSpPr/>
          <p:nvPr/>
        </p:nvSpPr>
        <p:spPr>
          <a:xfrm>
            <a:off x="6429375" y="3844593"/>
            <a:ext cx="1209554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8" name="Text 73"/>
          <p:cNvSpPr/>
          <p:nvPr/>
        </p:nvSpPr>
        <p:spPr>
          <a:xfrm>
            <a:off x="6429375" y="3844593"/>
            <a:ext cx="1209554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browser-image-compression</a:t>
            </a:r>
            <a:endParaRPr lang="en-US" sz="621" dirty="0"/>
          </a:p>
        </p:txBody>
      </p:sp>
      <p:sp>
        <p:nvSpPr>
          <p:cNvPr id="89" name="Text 74"/>
          <p:cNvSpPr/>
          <p:nvPr/>
        </p:nvSpPr>
        <p:spPr>
          <a:xfrm>
            <a:off x="6429375" y="4071742"/>
            <a:ext cx="6011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Max Size: 1MB.</a:t>
            </a:r>
            <a:endParaRPr lang="en-US" sz="621" dirty="0"/>
          </a:p>
        </p:txBody>
      </p:sp>
      <p:sp>
        <p:nvSpPr>
          <p:cNvPr id="90" name="Shape 75"/>
          <p:cNvSpPr/>
          <p:nvPr/>
        </p:nvSpPr>
        <p:spPr>
          <a:xfrm>
            <a:off x="6215063" y="422460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1" name="Text 76"/>
          <p:cNvSpPr/>
          <p:nvPr/>
        </p:nvSpPr>
        <p:spPr>
          <a:xfrm>
            <a:off x="6215063" y="422460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92" name="Text 77"/>
          <p:cNvSpPr/>
          <p:nvPr/>
        </p:nvSpPr>
        <p:spPr>
          <a:xfrm>
            <a:off x="6429375" y="4217464"/>
            <a:ext cx="4739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Submit API</a:t>
            </a:r>
            <a:endParaRPr lang="en-US" sz="584" dirty="0"/>
          </a:p>
        </p:txBody>
      </p:sp>
      <p:sp>
        <p:nvSpPr>
          <p:cNvPr id="93" name="Shape 78"/>
          <p:cNvSpPr/>
          <p:nvPr/>
        </p:nvSpPr>
        <p:spPr>
          <a:xfrm>
            <a:off x="6429375" y="4341754"/>
            <a:ext cx="1380362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4" name="Text 79"/>
          <p:cNvSpPr/>
          <p:nvPr/>
        </p:nvSpPr>
        <p:spPr>
          <a:xfrm>
            <a:off x="6429375" y="4341754"/>
            <a:ext cx="1380362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/api/v1/reports</a:t>
            </a:r>
            <a:endParaRPr lang="en-US" sz="621" dirty="0"/>
          </a:p>
        </p:txBody>
      </p:sp>
      <p:sp>
        <p:nvSpPr>
          <p:cNvPr id="95" name="Text 80"/>
          <p:cNvSpPr/>
          <p:nvPr/>
        </p:nvSpPr>
        <p:spPr>
          <a:xfrm>
            <a:off x="6429375" y="4466044"/>
            <a:ext cx="13803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Includes worker list &amp; photo URLs.</a:t>
            </a:r>
            <a:endParaRPr lang="en-US" sz="62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 출역 및 계약 조회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팀원들의 개별 출역 시간 확인 및 미서명 팀원 대상 서명 요청 전송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5715000" cy="34432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428750"/>
            <a:ext cx="571500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685925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499295"/>
            <a:ext cx="12216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Team &gt; Attendance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685925"/>
            <a:ext cx="5715000" cy="31718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371475" y="1773436"/>
            <a:ext cx="809839" cy="22681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0409"/>
            <a:ext cx="82153" cy="928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6503" y="1823442"/>
            <a:ext cx="4847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2026-01-20</a:t>
            </a:r>
            <a:endParaRPr lang="en-US" sz="634" dirty="0"/>
          </a:p>
        </p:txBody>
      </p:sp>
      <p:sp>
        <p:nvSpPr>
          <p:cNvPr id="15" name="Shape 11"/>
          <p:cNvSpPr/>
          <p:nvPr/>
        </p:nvSpPr>
        <p:spPr>
          <a:xfrm>
            <a:off x="4722270" y="1771650"/>
            <a:ext cx="1192755" cy="23038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570" y="1843088"/>
            <a:ext cx="85725" cy="857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22295" y="1828800"/>
            <a:ext cx="8784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Request All Pending</a:t>
            </a:r>
            <a:endParaRPr lang="en-US" sz="584" dirty="0"/>
          </a:p>
        </p:txBody>
      </p:sp>
      <p:sp>
        <p:nvSpPr>
          <p:cNvPr id="18" name="Shape 13"/>
          <p:cNvSpPr/>
          <p:nvPr/>
        </p:nvSpPr>
        <p:spPr>
          <a:xfrm>
            <a:off x="371475" y="2087761"/>
            <a:ext cx="5543550" cy="16769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371475" y="2087761"/>
            <a:ext cx="1073041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371475" y="2382441"/>
            <a:ext cx="107304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371475" y="2087761"/>
            <a:ext cx="1073041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Name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1444516" y="2087761"/>
            <a:ext cx="813076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1444516" y="2382441"/>
            <a:ext cx="813076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9"/>
          <p:cNvSpPr/>
          <p:nvPr/>
        </p:nvSpPr>
        <p:spPr>
          <a:xfrm>
            <a:off x="1444516" y="2087761"/>
            <a:ext cx="813076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Check-In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2257592" y="2087761"/>
            <a:ext cx="922772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1"/>
          <p:cNvSpPr/>
          <p:nvPr/>
        </p:nvSpPr>
        <p:spPr>
          <a:xfrm>
            <a:off x="2257592" y="2382441"/>
            <a:ext cx="922772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2"/>
          <p:cNvSpPr/>
          <p:nvPr/>
        </p:nvSpPr>
        <p:spPr>
          <a:xfrm>
            <a:off x="2257592" y="2087761"/>
            <a:ext cx="922772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Check-Out</a:t>
            </a:r>
            <a:endParaRPr lang="en-US" sz="634" dirty="0"/>
          </a:p>
        </p:txBody>
      </p:sp>
      <p:sp>
        <p:nvSpPr>
          <p:cNvPr id="28" name="Shape 23"/>
          <p:cNvSpPr/>
          <p:nvPr/>
        </p:nvSpPr>
        <p:spPr>
          <a:xfrm>
            <a:off x="3180364" y="2087761"/>
            <a:ext cx="998060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4"/>
          <p:cNvSpPr/>
          <p:nvPr/>
        </p:nvSpPr>
        <p:spPr>
          <a:xfrm>
            <a:off x="3180364" y="2382441"/>
            <a:ext cx="99806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5"/>
          <p:cNvSpPr/>
          <p:nvPr/>
        </p:nvSpPr>
        <p:spPr>
          <a:xfrm>
            <a:off x="3180364" y="2087761"/>
            <a:ext cx="998060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Attendance</a:t>
            </a:r>
            <a:endParaRPr lang="en-US" sz="634" dirty="0"/>
          </a:p>
        </p:txBody>
      </p:sp>
      <p:sp>
        <p:nvSpPr>
          <p:cNvPr id="31" name="Shape 26"/>
          <p:cNvSpPr/>
          <p:nvPr/>
        </p:nvSpPr>
        <p:spPr>
          <a:xfrm>
            <a:off x="4178424" y="2087761"/>
            <a:ext cx="806044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27"/>
          <p:cNvSpPr/>
          <p:nvPr/>
        </p:nvSpPr>
        <p:spPr>
          <a:xfrm>
            <a:off x="4178424" y="2382441"/>
            <a:ext cx="80604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28"/>
          <p:cNvSpPr/>
          <p:nvPr/>
        </p:nvSpPr>
        <p:spPr>
          <a:xfrm>
            <a:off x="4178424" y="2087761"/>
            <a:ext cx="806044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Contract</a:t>
            </a:r>
            <a:endParaRPr lang="en-US" sz="634" dirty="0"/>
          </a:p>
        </p:txBody>
      </p:sp>
      <p:sp>
        <p:nvSpPr>
          <p:cNvPr id="34" name="Shape 29"/>
          <p:cNvSpPr/>
          <p:nvPr/>
        </p:nvSpPr>
        <p:spPr>
          <a:xfrm>
            <a:off x="4984468" y="2087761"/>
            <a:ext cx="930557" cy="30182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0"/>
          <p:cNvSpPr/>
          <p:nvPr/>
        </p:nvSpPr>
        <p:spPr>
          <a:xfrm>
            <a:off x="4984468" y="2382441"/>
            <a:ext cx="93055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4984468" y="2087761"/>
            <a:ext cx="930557" cy="30182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Action</a:t>
            </a:r>
            <a:endParaRPr lang="en-US" sz="634" dirty="0"/>
          </a:p>
        </p:txBody>
      </p:sp>
      <p:sp>
        <p:nvSpPr>
          <p:cNvPr id="37" name="Text 32"/>
          <p:cNvSpPr/>
          <p:nvPr/>
        </p:nvSpPr>
        <p:spPr>
          <a:xfrm>
            <a:off x="371475" y="2386013"/>
            <a:ext cx="1073041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김철수 (일반공)</a:t>
            </a:r>
            <a:endParaRPr lang="en-US" sz="674" dirty="0"/>
          </a:p>
        </p:txBody>
      </p:sp>
      <p:sp>
        <p:nvSpPr>
          <p:cNvPr id="38" name="Text 33"/>
          <p:cNvSpPr/>
          <p:nvPr/>
        </p:nvSpPr>
        <p:spPr>
          <a:xfrm>
            <a:off x="1444516" y="2386013"/>
            <a:ext cx="813076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06:45:12</a:t>
            </a:r>
            <a:endParaRPr lang="en-US" sz="674" dirty="0"/>
          </a:p>
        </p:txBody>
      </p:sp>
      <p:sp>
        <p:nvSpPr>
          <p:cNvPr id="39" name="Text 34"/>
          <p:cNvSpPr/>
          <p:nvPr/>
        </p:nvSpPr>
        <p:spPr>
          <a:xfrm>
            <a:off x="2257592" y="2386013"/>
            <a:ext cx="922772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17:05:33</a:t>
            </a:r>
            <a:endParaRPr lang="en-US" sz="674" dirty="0"/>
          </a:p>
        </p:txBody>
      </p:sp>
      <p:sp>
        <p:nvSpPr>
          <p:cNvPr id="40" name="Shape 35"/>
          <p:cNvSpPr/>
          <p:nvPr/>
        </p:nvSpPr>
        <p:spPr>
          <a:xfrm>
            <a:off x="3266089" y="2471738"/>
            <a:ext cx="415426" cy="16430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6"/>
          <p:cNvSpPr/>
          <p:nvPr/>
        </p:nvSpPr>
        <p:spPr>
          <a:xfrm>
            <a:off x="3266089" y="2471738"/>
            <a:ext cx="415426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Present</a:t>
            </a:r>
            <a:endParaRPr lang="en-US" sz="534" dirty="0"/>
          </a:p>
        </p:txBody>
      </p:sp>
      <p:sp>
        <p:nvSpPr>
          <p:cNvPr id="42" name="Text 37"/>
          <p:cNvSpPr/>
          <p:nvPr/>
        </p:nvSpPr>
        <p:spPr>
          <a:xfrm>
            <a:off x="4264149" y="2490490"/>
            <a:ext cx="3129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Signed</a:t>
            </a:r>
            <a:endParaRPr lang="en-US" sz="634" dirty="0"/>
          </a:p>
        </p:txBody>
      </p:sp>
      <p:sp>
        <p:nvSpPr>
          <p:cNvPr id="43" name="Text 38"/>
          <p:cNvSpPr/>
          <p:nvPr/>
        </p:nvSpPr>
        <p:spPr>
          <a:xfrm>
            <a:off x="4984468" y="2386013"/>
            <a:ext cx="930557" cy="3393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-</a:t>
            </a:r>
            <a:endParaRPr lang="en-US" sz="674" dirty="0"/>
          </a:p>
        </p:txBody>
      </p:sp>
      <p:sp>
        <p:nvSpPr>
          <p:cNvPr id="44" name="Text 39"/>
          <p:cNvSpPr/>
          <p:nvPr/>
        </p:nvSpPr>
        <p:spPr>
          <a:xfrm>
            <a:off x="371475" y="2725341"/>
            <a:ext cx="1073041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이민호 (조적공)</a:t>
            </a:r>
            <a:endParaRPr lang="en-US" sz="674" dirty="0"/>
          </a:p>
        </p:txBody>
      </p:sp>
      <p:sp>
        <p:nvSpPr>
          <p:cNvPr id="45" name="Text 40"/>
          <p:cNvSpPr/>
          <p:nvPr/>
        </p:nvSpPr>
        <p:spPr>
          <a:xfrm>
            <a:off x="1444516" y="2725341"/>
            <a:ext cx="81307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06:50:22</a:t>
            </a:r>
            <a:endParaRPr lang="en-US" sz="674" dirty="0"/>
          </a:p>
        </p:txBody>
      </p:sp>
      <p:sp>
        <p:nvSpPr>
          <p:cNvPr id="46" name="Text 41"/>
          <p:cNvSpPr/>
          <p:nvPr/>
        </p:nvSpPr>
        <p:spPr>
          <a:xfrm>
            <a:off x="2257592" y="2725341"/>
            <a:ext cx="92277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-</a:t>
            </a:r>
            <a:endParaRPr lang="en-US" sz="674" dirty="0"/>
          </a:p>
        </p:txBody>
      </p:sp>
      <p:sp>
        <p:nvSpPr>
          <p:cNvPr id="47" name="Shape 42"/>
          <p:cNvSpPr/>
          <p:nvPr/>
        </p:nvSpPr>
        <p:spPr>
          <a:xfrm>
            <a:off x="3266089" y="2814638"/>
            <a:ext cx="447098" cy="16430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8" name="Text 43"/>
          <p:cNvSpPr/>
          <p:nvPr/>
        </p:nvSpPr>
        <p:spPr>
          <a:xfrm>
            <a:off x="3266089" y="2814638"/>
            <a:ext cx="44709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Working</a:t>
            </a:r>
            <a:endParaRPr lang="en-US" sz="534" dirty="0"/>
          </a:p>
        </p:txBody>
      </p:sp>
      <p:sp>
        <p:nvSpPr>
          <p:cNvPr id="49" name="Text 44"/>
          <p:cNvSpPr/>
          <p:nvPr/>
        </p:nvSpPr>
        <p:spPr>
          <a:xfrm>
            <a:off x="4264149" y="2833390"/>
            <a:ext cx="3811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Pending</a:t>
            </a:r>
            <a:endParaRPr lang="en-US" sz="634" dirty="0"/>
          </a:p>
        </p:txBody>
      </p:sp>
      <p:sp>
        <p:nvSpPr>
          <p:cNvPr id="50" name="Shape 45"/>
          <p:cNvSpPr/>
          <p:nvPr/>
        </p:nvSpPr>
        <p:spPr>
          <a:xfrm>
            <a:off x="5070193" y="2816423"/>
            <a:ext cx="490993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070193" y="2816423"/>
            <a:ext cx="490993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Send Req</a:t>
            </a:r>
            <a:endParaRPr lang="en-US" sz="534" dirty="0"/>
          </a:p>
        </p:txBody>
      </p:sp>
      <p:sp>
        <p:nvSpPr>
          <p:cNvPr id="52" name="Text 47"/>
          <p:cNvSpPr/>
          <p:nvPr/>
        </p:nvSpPr>
        <p:spPr>
          <a:xfrm>
            <a:off x="371475" y="3068241"/>
            <a:ext cx="1073041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박영수 (일반공)</a:t>
            </a:r>
            <a:endParaRPr lang="en-US" sz="674" dirty="0"/>
          </a:p>
        </p:txBody>
      </p:sp>
      <p:sp>
        <p:nvSpPr>
          <p:cNvPr id="53" name="Text 48"/>
          <p:cNvSpPr/>
          <p:nvPr/>
        </p:nvSpPr>
        <p:spPr>
          <a:xfrm>
            <a:off x="1444516" y="3068241"/>
            <a:ext cx="81307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-</a:t>
            </a:r>
            <a:endParaRPr lang="en-US" sz="674" dirty="0"/>
          </a:p>
        </p:txBody>
      </p:sp>
      <p:sp>
        <p:nvSpPr>
          <p:cNvPr id="54" name="Text 49"/>
          <p:cNvSpPr/>
          <p:nvPr/>
        </p:nvSpPr>
        <p:spPr>
          <a:xfrm>
            <a:off x="2257592" y="3068241"/>
            <a:ext cx="92277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-</a:t>
            </a:r>
            <a:endParaRPr lang="en-US" sz="674" dirty="0"/>
          </a:p>
        </p:txBody>
      </p:sp>
      <p:sp>
        <p:nvSpPr>
          <p:cNvPr id="55" name="Shape 50"/>
          <p:cNvSpPr/>
          <p:nvPr/>
        </p:nvSpPr>
        <p:spPr>
          <a:xfrm>
            <a:off x="3266089" y="3157538"/>
            <a:ext cx="389502" cy="16430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6" name="Text 51"/>
          <p:cNvSpPr/>
          <p:nvPr/>
        </p:nvSpPr>
        <p:spPr>
          <a:xfrm>
            <a:off x="3266089" y="3157538"/>
            <a:ext cx="38950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1B1B"/>
                </a:solidFill>
              </a:rPr>
              <a:t>Absent</a:t>
            </a:r>
            <a:endParaRPr lang="en-US" sz="534" dirty="0"/>
          </a:p>
        </p:txBody>
      </p:sp>
      <p:sp>
        <p:nvSpPr>
          <p:cNvPr id="57" name="Text 52"/>
          <p:cNvSpPr/>
          <p:nvPr/>
        </p:nvSpPr>
        <p:spPr>
          <a:xfrm>
            <a:off x="4264149" y="3176290"/>
            <a:ext cx="31298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Signed</a:t>
            </a:r>
            <a:endParaRPr lang="en-US" sz="634" dirty="0"/>
          </a:p>
        </p:txBody>
      </p:sp>
      <p:sp>
        <p:nvSpPr>
          <p:cNvPr id="58" name="Text 53"/>
          <p:cNvSpPr/>
          <p:nvPr/>
        </p:nvSpPr>
        <p:spPr>
          <a:xfrm>
            <a:off x="4984468" y="3068241"/>
            <a:ext cx="930557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-</a:t>
            </a:r>
            <a:endParaRPr lang="en-US" sz="674" dirty="0"/>
          </a:p>
        </p:txBody>
      </p:sp>
      <p:sp>
        <p:nvSpPr>
          <p:cNvPr id="59" name="Text 54"/>
          <p:cNvSpPr/>
          <p:nvPr/>
        </p:nvSpPr>
        <p:spPr>
          <a:xfrm>
            <a:off x="371475" y="3411141"/>
            <a:ext cx="1073041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정형돈 (목공)</a:t>
            </a:r>
            <a:endParaRPr lang="en-US" sz="674" dirty="0"/>
          </a:p>
        </p:txBody>
      </p:sp>
      <p:sp>
        <p:nvSpPr>
          <p:cNvPr id="60" name="Text 55"/>
          <p:cNvSpPr/>
          <p:nvPr/>
        </p:nvSpPr>
        <p:spPr>
          <a:xfrm>
            <a:off x="1444516" y="3411141"/>
            <a:ext cx="81307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06:55:10</a:t>
            </a:r>
            <a:endParaRPr lang="en-US" sz="674" dirty="0"/>
          </a:p>
        </p:txBody>
      </p:sp>
      <p:sp>
        <p:nvSpPr>
          <p:cNvPr id="61" name="Text 56"/>
          <p:cNvSpPr/>
          <p:nvPr/>
        </p:nvSpPr>
        <p:spPr>
          <a:xfrm>
            <a:off x="2257592" y="3411141"/>
            <a:ext cx="922772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17:00:05</a:t>
            </a:r>
            <a:endParaRPr lang="en-US" sz="674" dirty="0"/>
          </a:p>
        </p:txBody>
      </p:sp>
      <p:sp>
        <p:nvSpPr>
          <p:cNvPr id="62" name="Shape 57"/>
          <p:cNvSpPr/>
          <p:nvPr/>
        </p:nvSpPr>
        <p:spPr>
          <a:xfrm>
            <a:off x="3266089" y="3500438"/>
            <a:ext cx="415426" cy="16430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3" name="Text 58"/>
          <p:cNvSpPr/>
          <p:nvPr/>
        </p:nvSpPr>
        <p:spPr>
          <a:xfrm>
            <a:off x="3266089" y="3500438"/>
            <a:ext cx="415426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Present</a:t>
            </a:r>
            <a:endParaRPr lang="en-US" sz="534" dirty="0"/>
          </a:p>
        </p:txBody>
      </p:sp>
      <p:sp>
        <p:nvSpPr>
          <p:cNvPr id="64" name="Text 59"/>
          <p:cNvSpPr/>
          <p:nvPr/>
        </p:nvSpPr>
        <p:spPr>
          <a:xfrm>
            <a:off x="4264149" y="3519190"/>
            <a:ext cx="3811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9E0B"/>
                </a:solidFill>
              </a:rPr>
              <a:t>Pending</a:t>
            </a:r>
            <a:endParaRPr lang="en-US" sz="634" dirty="0"/>
          </a:p>
        </p:txBody>
      </p:sp>
      <p:sp>
        <p:nvSpPr>
          <p:cNvPr id="65" name="Shape 60"/>
          <p:cNvSpPr/>
          <p:nvPr/>
        </p:nvSpPr>
        <p:spPr>
          <a:xfrm>
            <a:off x="5070193" y="3502223"/>
            <a:ext cx="490993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F59E0B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5070193" y="3502223"/>
            <a:ext cx="490993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Send Req</a:t>
            </a:r>
            <a:endParaRPr lang="en-US" sz="534" dirty="0"/>
          </a:p>
        </p:txBody>
      </p:sp>
      <p:sp>
        <p:nvSpPr>
          <p:cNvPr id="67" name="Shape 62"/>
          <p:cNvSpPr/>
          <p:nvPr/>
        </p:nvSpPr>
        <p:spPr>
          <a:xfrm>
            <a:off x="5572125" y="27146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3"/>
          <p:cNvSpPr/>
          <p:nvPr/>
        </p:nvSpPr>
        <p:spPr>
          <a:xfrm>
            <a:off x="5572125" y="271462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9" name="Shape 64"/>
          <p:cNvSpPr/>
          <p:nvPr/>
        </p:nvSpPr>
        <p:spPr>
          <a:xfrm>
            <a:off x="6143625" y="1428750"/>
            <a:ext cx="2714625" cy="151447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229350" y="1514475"/>
            <a:ext cx="2543175" cy="12858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1" name="Shape 66"/>
          <p:cNvSpPr/>
          <p:nvPr/>
        </p:nvSpPr>
        <p:spPr>
          <a:xfrm>
            <a:off x="6229350" y="1514475"/>
            <a:ext cx="2543175" cy="2786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67"/>
          <p:cNvSpPr/>
          <p:nvPr/>
        </p:nvSpPr>
        <p:spPr>
          <a:xfrm>
            <a:off x="6229350" y="1514475"/>
            <a:ext cx="254317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팀원 출역 현황</a:t>
            </a:r>
            <a:endParaRPr lang="en-US" sz="634" dirty="0"/>
          </a:p>
        </p:txBody>
      </p:sp>
      <p:sp>
        <p:nvSpPr>
          <p:cNvPr id="73" name="Shape 68"/>
          <p:cNvSpPr/>
          <p:nvPr/>
        </p:nvSpPr>
        <p:spPr>
          <a:xfrm>
            <a:off x="6286500" y="1850231"/>
            <a:ext cx="2428875" cy="400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69"/>
          <p:cNvSpPr/>
          <p:nvPr/>
        </p:nvSpPr>
        <p:spPr>
          <a:xfrm>
            <a:off x="6357938" y="1921669"/>
            <a:ext cx="487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75" name="Text 70"/>
          <p:cNvSpPr/>
          <p:nvPr/>
        </p:nvSpPr>
        <p:spPr>
          <a:xfrm>
            <a:off x="6357938" y="2071688"/>
            <a:ext cx="4875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06:45 ~ 17:05</a:t>
            </a:r>
            <a:endParaRPr lang="en-US" sz="568" dirty="0"/>
          </a:p>
        </p:txBody>
      </p:sp>
      <p:sp>
        <p:nvSpPr>
          <p:cNvPr id="76" name="Text 71"/>
          <p:cNvSpPr/>
          <p:nvPr/>
        </p:nvSpPr>
        <p:spPr>
          <a:xfrm>
            <a:off x="8354755" y="1993106"/>
            <a:ext cx="2891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출근완료</a:t>
            </a:r>
            <a:endParaRPr lang="en-US" sz="534" dirty="0"/>
          </a:p>
        </p:txBody>
      </p:sp>
      <p:sp>
        <p:nvSpPr>
          <p:cNvPr id="77" name="Shape 72"/>
          <p:cNvSpPr/>
          <p:nvPr/>
        </p:nvSpPr>
        <p:spPr>
          <a:xfrm>
            <a:off x="6286500" y="2293144"/>
            <a:ext cx="2428875" cy="400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3"/>
          <p:cNvSpPr/>
          <p:nvPr/>
        </p:nvSpPr>
        <p:spPr>
          <a:xfrm>
            <a:off x="6357938" y="2364581"/>
            <a:ext cx="5973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이민호</a:t>
            </a:r>
            <a:endParaRPr lang="en-US" sz="634" dirty="0"/>
          </a:p>
        </p:txBody>
      </p:sp>
      <p:sp>
        <p:nvSpPr>
          <p:cNvPr id="79" name="Text 74"/>
          <p:cNvSpPr/>
          <p:nvPr/>
        </p:nvSpPr>
        <p:spPr>
          <a:xfrm>
            <a:off x="6357938" y="2514600"/>
            <a:ext cx="59731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06:50 ~ Working</a:t>
            </a:r>
            <a:endParaRPr lang="en-US" sz="568" dirty="0"/>
          </a:p>
        </p:txBody>
      </p:sp>
      <p:sp>
        <p:nvSpPr>
          <p:cNvPr id="80" name="Shape 75"/>
          <p:cNvSpPr/>
          <p:nvPr/>
        </p:nvSpPr>
        <p:spPr>
          <a:xfrm>
            <a:off x="8243888" y="2425303"/>
            <a:ext cx="400050" cy="155377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Text 76"/>
          <p:cNvSpPr/>
          <p:nvPr/>
        </p:nvSpPr>
        <p:spPr>
          <a:xfrm>
            <a:off x="8243888" y="2425303"/>
            <a:ext cx="400050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계약요청</a:t>
            </a:r>
            <a:endParaRPr lang="en-US" sz="485" dirty="0"/>
          </a:p>
        </p:txBody>
      </p:sp>
      <p:sp>
        <p:nvSpPr>
          <p:cNvPr id="82" name="Shape 77"/>
          <p:cNvSpPr/>
          <p:nvPr/>
        </p:nvSpPr>
        <p:spPr>
          <a:xfrm>
            <a:off x="8572500" y="245745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8"/>
          <p:cNvSpPr/>
          <p:nvPr/>
        </p:nvSpPr>
        <p:spPr>
          <a:xfrm>
            <a:off x="8572500" y="245745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84" name="Shape 79"/>
          <p:cNvSpPr/>
          <p:nvPr/>
        </p:nvSpPr>
        <p:spPr>
          <a:xfrm>
            <a:off x="6143625" y="2971800"/>
            <a:ext cx="2714625" cy="18859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215063" y="3043238"/>
            <a:ext cx="2571750" cy="183952"/>
          </a:xfrm>
          <a:prstGeom prst="rect">
            <a:avLst/>
          </a:prstGeom>
          <a:noFill/>
          <a:ln/>
        </p:spPr>
        <p:txBody>
          <a:bodyPr wrap="none" lIns="0" tIns="0" rIns="0" bIns="25527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86" name="Shape 81"/>
          <p:cNvSpPr/>
          <p:nvPr/>
        </p:nvSpPr>
        <p:spPr>
          <a:xfrm>
            <a:off x="6215063" y="328433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7" name="Text 82"/>
          <p:cNvSpPr/>
          <p:nvPr/>
        </p:nvSpPr>
        <p:spPr>
          <a:xfrm>
            <a:off x="6215063" y="328433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88" name="Text 83"/>
          <p:cNvSpPr/>
          <p:nvPr/>
        </p:nvSpPr>
        <p:spPr>
          <a:xfrm>
            <a:off x="6429375" y="3286125"/>
            <a:ext cx="3230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List API</a:t>
            </a:r>
            <a:endParaRPr lang="en-US" sz="584" dirty="0"/>
          </a:p>
        </p:txBody>
      </p:sp>
      <p:sp>
        <p:nvSpPr>
          <p:cNvPr id="89" name="Shape 84"/>
          <p:cNvSpPr/>
          <p:nvPr/>
        </p:nvSpPr>
        <p:spPr>
          <a:xfrm>
            <a:off x="6429375" y="3418619"/>
            <a:ext cx="2357438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0" name="Text 85"/>
          <p:cNvSpPr/>
          <p:nvPr/>
        </p:nvSpPr>
        <p:spPr>
          <a:xfrm>
            <a:off x="6429375" y="3418619"/>
            <a:ext cx="2357438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/api/v1/team/attendance</a:t>
            </a:r>
            <a:endParaRPr lang="en-US" sz="621" dirty="0"/>
          </a:p>
        </p:txBody>
      </p:sp>
      <p:sp>
        <p:nvSpPr>
          <p:cNvPr id="91" name="Text 86"/>
          <p:cNvSpPr/>
          <p:nvPr/>
        </p:nvSpPr>
        <p:spPr>
          <a:xfrm>
            <a:off x="6429375" y="3568973"/>
            <a:ext cx="23428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Params: date, teamId. Returns worker list with time logs &amp;</a:t>
            </a:r>
            <a:endParaRPr lang="en-US" sz="621" dirty="0"/>
          </a:p>
        </p:txBody>
      </p:sp>
      <p:sp>
        <p:nvSpPr>
          <p:cNvPr id="92" name="Text 87"/>
          <p:cNvSpPr/>
          <p:nvPr/>
        </p:nvSpPr>
        <p:spPr>
          <a:xfrm>
            <a:off x="6429375" y="3688966"/>
            <a:ext cx="6211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contract status.</a:t>
            </a:r>
            <a:endParaRPr lang="en-US" sz="621" dirty="0"/>
          </a:p>
        </p:txBody>
      </p:sp>
      <p:sp>
        <p:nvSpPr>
          <p:cNvPr id="93" name="Shape 88"/>
          <p:cNvSpPr/>
          <p:nvPr/>
        </p:nvSpPr>
        <p:spPr>
          <a:xfrm>
            <a:off x="6215063" y="385003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4" name="Text 89"/>
          <p:cNvSpPr/>
          <p:nvPr/>
        </p:nvSpPr>
        <p:spPr>
          <a:xfrm>
            <a:off x="6215063" y="385003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95" name="Text 90"/>
          <p:cNvSpPr/>
          <p:nvPr/>
        </p:nvSpPr>
        <p:spPr>
          <a:xfrm>
            <a:off x="6429375" y="3851821"/>
            <a:ext cx="742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Request Contract</a:t>
            </a:r>
            <a:endParaRPr lang="en-US" sz="584" dirty="0"/>
          </a:p>
        </p:txBody>
      </p:sp>
      <p:sp>
        <p:nvSpPr>
          <p:cNvPr id="96" name="Shape 91"/>
          <p:cNvSpPr/>
          <p:nvPr/>
        </p:nvSpPr>
        <p:spPr>
          <a:xfrm>
            <a:off x="6429375" y="3984315"/>
            <a:ext cx="1993971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7" name="Text 92"/>
          <p:cNvSpPr/>
          <p:nvPr/>
        </p:nvSpPr>
        <p:spPr>
          <a:xfrm>
            <a:off x="6429375" y="3984315"/>
            <a:ext cx="1993971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/api/v1/contracts/request</a:t>
            </a:r>
            <a:endParaRPr lang="en-US" sz="621" dirty="0"/>
          </a:p>
        </p:txBody>
      </p:sp>
      <p:sp>
        <p:nvSpPr>
          <p:cNvPr id="98" name="Text 93"/>
          <p:cNvSpPr/>
          <p:nvPr/>
        </p:nvSpPr>
        <p:spPr>
          <a:xfrm>
            <a:off x="6429375" y="4134669"/>
            <a:ext cx="19939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Triggers AlimTalk/SMS with signing link to worker.</a:t>
            </a:r>
            <a:endParaRPr lang="en-US" sz="621" dirty="0"/>
          </a:p>
        </p:txBody>
      </p:sp>
      <p:sp>
        <p:nvSpPr>
          <p:cNvPr id="99" name="Shape 94"/>
          <p:cNvSpPr/>
          <p:nvPr/>
        </p:nvSpPr>
        <p:spPr>
          <a:xfrm>
            <a:off x="6215063" y="42957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0" name="Text 95"/>
          <p:cNvSpPr/>
          <p:nvPr/>
        </p:nvSpPr>
        <p:spPr>
          <a:xfrm>
            <a:off x="6215063" y="429573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01" name="Text 96"/>
          <p:cNvSpPr/>
          <p:nvPr/>
        </p:nvSpPr>
        <p:spPr>
          <a:xfrm>
            <a:off x="6429375" y="4295738"/>
            <a:ext cx="23574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Status Sync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Contract status updates in real-time via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WebSocket or polling (interval: 30s).</a:t>
            </a:r>
            <a:endParaRPr lang="en-US" sz="58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9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개인 대시보드 및 출역 확인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나의 출역 요약 및 프로젝트별 누적 공수 정보 제공 UI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00188"/>
            <a:ext cx="5643563" cy="34432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00188"/>
            <a:ext cx="5643563" cy="12323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616273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500188"/>
            <a:ext cx="12807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Worker &gt; Dashboard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616273"/>
            <a:ext cx="5643563" cy="332005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1775222"/>
            <a:ext cx="1612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Hello, Kim Chul-soo 👋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4977436" y="1759148"/>
            <a:ext cx="809002" cy="226814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48" y="1826121"/>
            <a:ext cx="82153" cy="928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6751" y="1809155"/>
            <a:ext cx="3446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75569"/>
                </a:solidFill>
              </a:rPr>
              <a:t>2026.01</a:t>
            </a:r>
            <a:endParaRPr lang="en-US" sz="634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559" y="1826121"/>
            <a:ext cx="82153" cy="9286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28625" y="2121694"/>
            <a:ext cx="1714500" cy="10858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5781" y="2228850"/>
            <a:ext cx="257175" cy="257175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2300288"/>
            <a:ext cx="128588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5781" y="2557463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Total Man-days</a:t>
            </a:r>
            <a:endParaRPr lang="en-US" sz="584" dirty="0"/>
          </a:p>
        </p:txBody>
      </p:sp>
      <p:sp>
        <p:nvSpPr>
          <p:cNvPr id="21" name="Text 15"/>
          <p:cNvSpPr/>
          <p:nvPr/>
        </p:nvSpPr>
        <p:spPr>
          <a:xfrm>
            <a:off x="535781" y="2709267"/>
            <a:ext cx="1500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18.5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535781" y="2978944"/>
            <a:ext cx="15001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This Month</a:t>
            </a:r>
            <a:endParaRPr lang="en-US" sz="534" dirty="0"/>
          </a:p>
        </p:txBody>
      </p:sp>
      <p:sp>
        <p:nvSpPr>
          <p:cNvPr id="23" name="Shape 17"/>
          <p:cNvSpPr/>
          <p:nvPr/>
        </p:nvSpPr>
        <p:spPr>
          <a:xfrm>
            <a:off x="2250281" y="2121694"/>
            <a:ext cx="1714500" cy="10858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357438" y="2228850"/>
            <a:ext cx="257175" cy="257175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2300288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57438" y="2557463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Est. Pay (KRW)</a:t>
            </a:r>
            <a:endParaRPr lang="en-US" sz="584" dirty="0"/>
          </a:p>
        </p:txBody>
      </p:sp>
      <p:sp>
        <p:nvSpPr>
          <p:cNvPr id="27" name="Text 20"/>
          <p:cNvSpPr/>
          <p:nvPr/>
        </p:nvSpPr>
        <p:spPr>
          <a:xfrm>
            <a:off x="2357438" y="2709267"/>
            <a:ext cx="1500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3,250,000</a:t>
            </a:r>
            <a:endParaRPr lang="en-US" sz="1193" dirty="0"/>
          </a:p>
        </p:txBody>
      </p:sp>
      <p:sp>
        <p:nvSpPr>
          <p:cNvPr id="28" name="Text 21"/>
          <p:cNvSpPr/>
          <p:nvPr/>
        </p:nvSpPr>
        <p:spPr>
          <a:xfrm>
            <a:off x="2357438" y="2978944"/>
            <a:ext cx="15001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Pre-tax</a:t>
            </a:r>
            <a:endParaRPr lang="en-US" sz="534" dirty="0"/>
          </a:p>
        </p:txBody>
      </p:sp>
      <p:sp>
        <p:nvSpPr>
          <p:cNvPr id="29" name="Shape 22"/>
          <p:cNvSpPr/>
          <p:nvPr/>
        </p:nvSpPr>
        <p:spPr>
          <a:xfrm>
            <a:off x="4071938" y="2121694"/>
            <a:ext cx="1714500" cy="10858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179094" y="2243138"/>
            <a:ext cx="257175" cy="257175"/>
          </a:xfrm>
          <a:prstGeom prst="rect">
            <a:avLst/>
          </a:prstGeom>
          <a:solidFill>
            <a:srgbClr val="F3E8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819" y="2314575"/>
            <a:ext cx="85725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79094" y="2571750"/>
            <a:ext cx="15001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Active Sites</a:t>
            </a:r>
            <a:endParaRPr lang="en-US" sz="584" dirty="0"/>
          </a:p>
        </p:txBody>
      </p:sp>
      <p:sp>
        <p:nvSpPr>
          <p:cNvPr id="33" name="Text 25"/>
          <p:cNvSpPr/>
          <p:nvPr/>
        </p:nvSpPr>
        <p:spPr>
          <a:xfrm>
            <a:off x="4179094" y="2723555"/>
            <a:ext cx="1500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2</a:t>
            </a:r>
            <a:endParaRPr lang="en-US" sz="1193" dirty="0"/>
          </a:p>
        </p:txBody>
      </p:sp>
      <p:sp>
        <p:nvSpPr>
          <p:cNvPr id="34" name="Text 26"/>
          <p:cNvSpPr/>
          <p:nvPr/>
        </p:nvSpPr>
        <p:spPr>
          <a:xfrm>
            <a:off x="4179094" y="2993231"/>
            <a:ext cx="15001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A, Site B</a:t>
            </a:r>
            <a:endParaRPr lang="en-US" sz="534" dirty="0"/>
          </a:p>
        </p:txBody>
      </p:sp>
      <p:sp>
        <p:nvSpPr>
          <p:cNvPr id="35" name="Shape 27"/>
          <p:cNvSpPr/>
          <p:nvPr/>
        </p:nvSpPr>
        <p:spPr>
          <a:xfrm>
            <a:off x="428625" y="3350419"/>
            <a:ext cx="5357813" cy="1435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28625" y="3364706"/>
            <a:ext cx="5357813" cy="31432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Recent Attendance Logs</a:t>
            </a:r>
            <a:endParaRPr lang="en-US" sz="683" dirty="0"/>
          </a:p>
        </p:txBody>
      </p:sp>
      <p:sp>
        <p:nvSpPr>
          <p:cNvPr id="37" name="Shape 29"/>
          <p:cNvSpPr/>
          <p:nvPr/>
        </p:nvSpPr>
        <p:spPr>
          <a:xfrm>
            <a:off x="428625" y="3679031"/>
            <a:ext cx="1008301" cy="273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0"/>
          <p:cNvSpPr/>
          <p:nvPr/>
        </p:nvSpPr>
        <p:spPr>
          <a:xfrm>
            <a:off x="428625" y="3945136"/>
            <a:ext cx="100830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1"/>
          <p:cNvSpPr/>
          <p:nvPr/>
        </p:nvSpPr>
        <p:spPr>
          <a:xfrm>
            <a:off x="428625" y="3679031"/>
            <a:ext cx="1008301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Date</a:t>
            </a:r>
            <a:endParaRPr lang="en-US" sz="634" dirty="0"/>
          </a:p>
        </p:txBody>
      </p:sp>
      <p:sp>
        <p:nvSpPr>
          <p:cNvPr id="40" name="Shape 32"/>
          <p:cNvSpPr/>
          <p:nvPr/>
        </p:nvSpPr>
        <p:spPr>
          <a:xfrm>
            <a:off x="1436926" y="3679031"/>
            <a:ext cx="1294916" cy="273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Shape 33"/>
          <p:cNvSpPr/>
          <p:nvPr/>
        </p:nvSpPr>
        <p:spPr>
          <a:xfrm>
            <a:off x="1436926" y="3945136"/>
            <a:ext cx="1294916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4"/>
          <p:cNvSpPr/>
          <p:nvPr/>
        </p:nvSpPr>
        <p:spPr>
          <a:xfrm>
            <a:off x="1436926" y="3679031"/>
            <a:ext cx="1294916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Site</a:t>
            </a:r>
            <a:endParaRPr lang="en-US" sz="634" dirty="0"/>
          </a:p>
        </p:txBody>
      </p:sp>
      <p:sp>
        <p:nvSpPr>
          <p:cNvPr id="43" name="Shape 35"/>
          <p:cNvSpPr/>
          <p:nvPr/>
        </p:nvSpPr>
        <p:spPr>
          <a:xfrm>
            <a:off x="2731843" y="3679031"/>
            <a:ext cx="1106584" cy="273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36"/>
          <p:cNvSpPr/>
          <p:nvPr/>
        </p:nvSpPr>
        <p:spPr>
          <a:xfrm>
            <a:off x="2731843" y="3945136"/>
            <a:ext cx="110658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37"/>
          <p:cNvSpPr/>
          <p:nvPr/>
        </p:nvSpPr>
        <p:spPr>
          <a:xfrm>
            <a:off x="2731843" y="3679031"/>
            <a:ext cx="1106584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Time</a:t>
            </a:r>
            <a:endParaRPr lang="en-US" sz="634" dirty="0"/>
          </a:p>
        </p:txBody>
      </p:sp>
      <p:sp>
        <p:nvSpPr>
          <p:cNvPr id="46" name="Shape 38"/>
          <p:cNvSpPr/>
          <p:nvPr/>
        </p:nvSpPr>
        <p:spPr>
          <a:xfrm>
            <a:off x="3838426" y="3679031"/>
            <a:ext cx="877286" cy="273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39"/>
          <p:cNvSpPr/>
          <p:nvPr/>
        </p:nvSpPr>
        <p:spPr>
          <a:xfrm>
            <a:off x="3838426" y="3945136"/>
            <a:ext cx="877286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0"/>
          <p:cNvSpPr/>
          <p:nvPr/>
        </p:nvSpPr>
        <p:spPr>
          <a:xfrm>
            <a:off x="3838426" y="3679031"/>
            <a:ext cx="877286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Man-day</a:t>
            </a:r>
            <a:endParaRPr lang="en-US" sz="634" dirty="0"/>
          </a:p>
        </p:txBody>
      </p:sp>
      <p:sp>
        <p:nvSpPr>
          <p:cNvPr id="49" name="Shape 41"/>
          <p:cNvSpPr/>
          <p:nvPr/>
        </p:nvSpPr>
        <p:spPr>
          <a:xfrm>
            <a:off x="4715712" y="3679031"/>
            <a:ext cx="1070725" cy="273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2"/>
          <p:cNvSpPr/>
          <p:nvPr/>
        </p:nvSpPr>
        <p:spPr>
          <a:xfrm>
            <a:off x="4715712" y="3945136"/>
            <a:ext cx="107072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3"/>
          <p:cNvSpPr/>
          <p:nvPr/>
        </p:nvSpPr>
        <p:spPr>
          <a:xfrm>
            <a:off x="4715712" y="3679031"/>
            <a:ext cx="1070725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</a:rPr>
              <a:t>Status</a:t>
            </a:r>
            <a:endParaRPr lang="en-US" sz="634" dirty="0"/>
          </a:p>
        </p:txBody>
      </p:sp>
      <p:sp>
        <p:nvSpPr>
          <p:cNvPr id="52" name="Text 44"/>
          <p:cNvSpPr/>
          <p:nvPr/>
        </p:nvSpPr>
        <p:spPr>
          <a:xfrm>
            <a:off x="428625" y="3955852"/>
            <a:ext cx="1008301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2026-01-20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1436926" y="3955852"/>
            <a:ext cx="1294916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Seoul Apt Site A</a:t>
            </a:r>
            <a:endParaRPr lang="en-US" sz="674" dirty="0"/>
          </a:p>
        </p:txBody>
      </p:sp>
      <p:sp>
        <p:nvSpPr>
          <p:cNvPr id="54" name="Text 46"/>
          <p:cNvSpPr/>
          <p:nvPr/>
        </p:nvSpPr>
        <p:spPr>
          <a:xfrm>
            <a:off x="2731843" y="3955852"/>
            <a:ext cx="1106584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07:00 - 17:00</a:t>
            </a:r>
            <a:endParaRPr lang="en-US" sz="674" dirty="0"/>
          </a:p>
        </p:txBody>
      </p:sp>
      <p:sp>
        <p:nvSpPr>
          <p:cNvPr id="55" name="Text 47"/>
          <p:cNvSpPr/>
          <p:nvPr/>
        </p:nvSpPr>
        <p:spPr>
          <a:xfrm>
            <a:off x="3838426" y="3955852"/>
            <a:ext cx="877286" cy="27324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1.0</a:t>
            </a:r>
            <a:endParaRPr lang="en-US" sz="674" dirty="0"/>
          </a:p>
        </p:txBody>
      </p:sp>
      <p:sp>
        <p:nvSpPr>
          <p:cNvPr id="56" name="Shape 48"/>
          <p:cNvSpPr/>
          <p:nvPr/>
        </p:nvSpPr>
        <p:spPr>
          <a:xfrm>
            <a:off x="4822868" y="4013002"/>
            <a:ext cx="528051" cy="16430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7" name="Text 49"/>
          <p:cNvSpPr/>
          <p:nvPr/>
        </p:nvSpPr>
        <p:spPr>
          <a:xfrm>
            <a:off x="4822868" y="4013002"/>
            <a:ext cx="528051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Confirmed</a:t>
            </a:r>
            <a:endParaRPr lang="en-US" sz="534" dirty="0"/>
          </a:p>
        </p:txBody>
      </p:sp>
      <p:sp>
        <p:nvSpPr>
          <p:cNvPr id="58" name="Text 50"/>
          <p:cNvSpPr/>
          <p:nvPr/>
        </p:nvSpPr>
        <p:spPr>
          <a:xfrm>
            <a:off x="428625" y="4229100"/>
            <a:ext cx="1008301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2026-01-19</a:t>
            </a:r>
            <a:endParaRPr lang="en-US" sz="674" dirty="0"/>
          </a:p>
        </p:txBody>
      </p:sp>
      <p:sp>
        <p:nvSpPr>
          <p:cNvPr id="59" name="Text 51"/>
          <p:cNvSpPr/>
          <p:nvPr/>
        </p:nvSpPr>
        <p:spPr>
          <a:xfrm>
            <a:off x="1436926" y="4229100"/>
            <a:ext cx="1294916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Seoul Apt Site A</a:t>
            </a:r>
            <a:endParaRPr lang="en-US" sz="674" dirty="0"/>
          </a:p>
        </p:txBody>
      </p:sp>
      <p:sp>
        <p:nvSpPr>
          <p:cNvPr id="60" name="Text 52"/>
          <p:cNvSpPr/>
          <p:nvPr/>
        </p:nvSpPr>
        <p:spPr>
          <a:xfrm>
            <a:off x="2731843" y="4229100"/>
            <a:ext cx="1106584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07:00 - 17:00</a:t>
            </a:r>
            <a:endParaRPr lang="en-US" sz="674" dirty="0"/>
          </a:p>
        </p:txBody>
      </p:sp>
      <p:sp>
        <p:nvSpPr>
          <p:cNvPr id="61" name="Text 53"/>
          <p:cNvSpPr/>
          <p:nvPr/>
        </p:nvSpPr>
        <p:spPr>
          <a:xfrm>
            <a:off x="3838426" y="4229100"/>
            <a:ext cx="877286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1.0</a:t>
            </a:r>
            <a:endParaRPr lang="en-US" sz="674" dirty="0"/>
          </a:p>
        </p:txBody>
      </p:sp>
      <p:sp>
        <p:nvSpPr>
          <p:cNvPr id="62" name="Shape 54"/>
          <p:cNvSpPr/>
          <p:nvPr/>
        </p:nvSpPr>
        <p:spPr>
          <a:xfrm>
            <a:off x="4822868" y="4289822"/>
            <a:ext cx="528051" cy="16430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3" name="Text 55"/>
          <p:cNvSpPr/>
          <p:nvPr/>
        </p:nvSpPr>
        <p:spPr>
          <a:xfrm>
            <a:off x="4822868" y="4289822"/>
            <a:ext cx="528051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Confirmed</a:t>
            </a:r>
            <a:endParaRPr lang="en-US" sz="534" dirty="0"/>
          </a:p>
        </p:txBody>
      </p:sp>
      <p:sp>
        <p:nvSpPr>
          <p:cNvPr id="64" name="Text 56"/>
          <p:cNvSpPr/>
          <p:nvPr/>
        </p:nvSpPr>
        <p:spPr>
          <a:xfrm>
            <a:off x="428625" y="4505920"/>
            <a:ext cx="1008301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2026-01-18</a:t>
            </a:r>
            <a:endParaRPr lang="en-US" sz="674" dirty="0"/>
          </a:p>
        </p:txBody>
      </p:sp>
      <p:sp>
        <p:nvSpPr>
          <p:cNvPr id="65" name="Text 57"/>
          <p:cNvSpPr/>
          <p:nvPr/>
        </p:nvSpPr>
        <p:spPr>
          <a:xfrm>
            <a:off x="1436926" y="4505920"/>
            <a:ext cx="1294916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Busan Office B</a:t>
            </a:r>
            <a:endParaRPr lang="en-US" sz="674" dirty="0"/>
          </a:p>
        </p:txBody>
      </p:sp>
      <p:sp>
        <p:nvSpPr>
          <p:cNvPr id="66" name="Text 58"/>
          <p:cNvSpPr/>
          <p:nvPr/>
        </p:nvSpPr>
        <p:spPr>
          <a:xfrm>
            <a:off x="2731843" y="4505920"/>
            <a:ext cx="1106584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07:00 - 12:00</a:t>
            </a:r>
            <a:endParaRPr lang="en-US" sz="674" dirty="0"/>
          </a:p>
        </p:txBody>
      </p:sp>
      <p:sp>
        <p:nvSpPr>
          <p:cNvPr id="67" name="Text 59"/>
          <p:cNvSpPr/>
          <p:nvPr/>
        </p:nvSpPr>
        <p:spPr>
          <a:xfrm>
            <a:off x="3838426" y="4505920"/>
            <a:ext cx="877286" cy="27682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334155"/>
                </a:solidFill>
              </a:rPr>
              <a:t>0.5</a:t>
            </a:r>
            <a:endParaRPr lang="en-US" sz="674" dirty="0"/>
          </a:p>
        </p:txBody>
      </p:sp>
      <p:sp>
        <p:nvSpPr>
          <p:cNvPr id="68" name="Shape 60"/>
          <p:cNvSpPr/>
          <p:nvPr/>
        </p:nvSpPr>
        <p:spPr>
          <a:xfrm>
            <a:off x="4822868" y="4566642"/>
            <a:ext cx="436801" cy="16430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9" name="Text 61"/>
          <p:cNvSpPr/>
          <p:nvPr/>
        </p:nvSpPr>
        <p:spPr>
          <a:xfrm>
            <a:off x="4822868" y="4566642"/>
            <a:ext cx="436801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2400E"/>
                </a:solidFill>
              </a:rPr>
              <a:t>Pending</a:t>
            </a:r>
            <a:endParaRPr lang="en-US" sz="534" dirty="0"/>
          </a:p>
        </p:txBody>
      </p:sp>
      <p:sp>
        <p:nvSpPr>
          <p:cNvPr id="70" name="Shape 62"/>
          <p:cNvSpPr/>
          <p:nvPr/>
        </p:nvSpPr>
        <p:spPr>
          <a:xfrm>
            <a:off x="2786063" y="257175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1" name="Text 63"/>
          <p:cNvSpPr/>
          <p:nvPr/>
        </p:nvSpPr>
        <p:spPr>
          <a:xfrm>
            <a:off x="2786063" y="257175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72" name="Shape 64"/>
          <p:cNvSpPr/>
          <p:nvPr/>
        </p:nvSpPr>
        <p:spPr>
          <a:xfrm>
            <a:off x="6143625" y="1500188"/>
            <a:ext cx="2714625" cy="165735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6229350" y="1606897"/>
            <a:ext cx="2543175" cy="1428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Shape 66"/>
          <p:cNvSpPr/>
          <p:nvPr/>
        </p:nvSpPr>
        <p:spPr>
          <a:xfrm>
            <a:off x="6229350" y="1606897"/>
            <a:ext cx="2543175" cy="30718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5" name="Text 67"/>
          <p:cNvSpPr/>
          <p:nvPr/>
        </p:nvSpPr>
        <p:spPr>
          <a:xfrm>
            <a:off x="6315075" y="1692622"/>
            <a:ext cx="7193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My Dashboard</a:t>
            </a:r>
            <a:endParaRPr lang="en-US" sz="683" dirty="0"/>
          </a:p>
        </p:txBody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289" y="1710482"/>
            <a:ext cx="87511" cy="100013"/>
          </a:xfrm>
          <a:prstGeom prst="rect">
            <a:avLst/>
          </a:prstGeom>
        </p:spPr>
      </p:pic>
      <p:sp>
        <p:nvSpPr>
          <p:cNvPr id="77" name="Shape 68"/>
          <p:cNvSpPr/>
          <p:nvPr/>
        </p:nvSpPr>
        <p:spPr>
          <a:xfrm>
            <a:off x="6315075" y="1999804"/>
            <a:ext cx="2371725" cy="4822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69"/>
          <p:cNvSpPr/>
          <p:nvPr/>
        </p:nvSpPr>
        <p:spPr>
          <a:xfrm>
            <a:off x="6400800" y="2085529"/>
            <a:ext cx="56751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Jan 2026</a:t>
            </a:r>
            <a:endParaRPr lang="en-US" sz="621" dirty="0"/>
          </a:p>
        </p:txBody>
      </p:sp>
      <p:sp>
        <p:nvSpPr>
          <p:cNvPr id="79" name="Text 70"/>
          <p:cNvSpPr/>
          <p:nvPr/>
        </p:nvSpPr>
        <p:spPr>
          <a:xfrm>
            <a:off x="6400800" y="2201614"/>
            <a:ext cx="5675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18.5 MD</a:t>
            </a:r>
            <a:endParaRPr lang="en-US" sz="987" dirty="0"/>
          </a:p>
        </p:txBody>
      </p:sp>
      <p:sp>
        <p:nvSpPr>
          <p:cNvPr id="80" name="Text 71"/>
          <p:cNvSpPr/>
          <p:nvPr/>
        </p:nvSpPr>
        <p:spPr>
          <a:xfrm>
            <a:off x="8306619" y="2119461"/>
            <a:ext cx="2944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Est. Pay</a:t>
            </a:r>
            <a:endParaRPr lang="en-US" sz="568" dirty="0"/>
          </a:p>
        </p:txBody>
      </p:sp>
      <p:sp>
        <p:nvSpPr>
          <p:cNvPr id="81" name="Text 72"/>
          <p:cNvSpPr/>
          <p:nvPr/>
        </p:nvSpPr>
        <p:spPr>
          <a:xfrm>
            <a:off x="8306619" y="2226618"/>
            <a:ext cx="2944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3.25M</a:t>
            </a:r>
            <a:endParaRPr lang="en-US" sz="683" dirty="0"/>
          </a:p>
        </p:txBody>
      </p:sp>
      <p:sp>
        <p:nvSpPr>
          <p:cNvPr id="82" name="Text 73"/>
          <p:cNvSpPr/>
          <p:nvPr/>
        </p:nvSpPr>
        <p:spPr>
          <a:xfrm>
            <a:off x="6315075" y="2589163"/>
            <a:ext cx="23717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Recent Logs</a:t>
            </a:r>
            <a:endParaRPr lang="en-US" sz="584" dirty="0"/>
          </a:p>
        </p:txBody>
      </p:sp>
      <p:sp>
        <p:nvSpPr>
          <p:cNvPr id="83" name="Shape 74"/>
          <p:cNvSpPr/>
          <p:nvPr/>
        </p:nvSpPr>
        <p:spPr>
          <a:xfrm>
            <a:off x="6315075" y="2776686"/>
            <a:ext cx="2371725" cy="3911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6386513" y="2848124"/>
            <a:ext cx="491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01.20 (Tue)</a:t>
            </a:r>
            <a:endParaRPr lang="en-US" sz="634" dirty="0"/>
          </a:p>
        </p:txBody>
      </p:sp>
      <p:sp>
        <p:nvSpPr>
          <p:cNvPr id="85" name="Text 76"/>
          <p:cNvSpPr/>
          <p:nvPr/>
        </p:nvSpPr>
        <p:spPr>
          <a:xfrm>
            <a:off x="6386513" y="2974925"/>
            <a:ext cx="4911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Site A</a:t>
            </a:r>
            <a:endParaRPr lang="en-US" sz="568" dirty="0"/>
          </a:p>
        </p:txBody>
      </p:sp>
      <p:sp>
        <p:nvSpPr>
          <p:cNvPr id="86" name="Text 77"/>
          <p:cNvSpPr/>
          <p:nvPr/>
        </p:nvSpPr>
        <p:spPr>
          <a:xfrm>
            <a:off x="8259291" y="2852589"/>
            <a:ext cx="3560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1.0</a:t>
            </a:r>
            <a:endParaRPr lang="en-US" sz="634" dirty="0"/>
          </a:p>
        </p:txBody>
      </p:sp>
      <p:sp>
        <p:nvSpPr>
          <p:cNvPr id="87" name="Text 78"/>
          <p:cNvSpPr/>
          <p:nvPr/>
        </p:nvSpPr>
        <p:spPr>
          <a:xfrm>
            <a:off x="8259291" y="2979390"/>
            <a:ext cx="35607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66534"/>
                </a:solidFill>
              </a:rPr>
              <a:t>Confirmed</a:t>
            </a:r>
            <a:endParaRPr lang="en-US" sz="516" dirty="0"/>
          </a:p>
        </p:txBody>
      </p:sp>
      <p:sp>
        <p:nvSpPr>
          <p:cNvPr id="88" name="Shape 79"/>
          <p:cNvSpPr/>
          <p:nvPr/>
        </p:nvSpPr>
        <p:spPr>
          <a:xfrm>
            <a:off x="8572500" y="216411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9" name="Text 80"/>
          <p:cNvSpPr/>
          <p:nvPr/>
        </p:nvSpPr>
        <p:spPr>
          <a:xfrm>
            <a:off x="8572500" y="216411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90" name="Shape 81"/>
          <p:cNvSpPr/>
          <p:nvPr/>
        </p:nvSpPr>
        <p:spPr>
          <a:xfrm>
            <a:off x="6143625" y="3264247"/>
            <a:ext cx="2714625" cy="173637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1" name="Text 82"/>
          <p:cNvSpPr/>
          <p:nvPr/>
        </p:nvSpPr>
        <p:spPr>
          <a:xfrm>
            <a:off x="6250781" y="3378547"/>
            <a:ext cx="2500313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92" name="Shape 83"/>
          <p:cNvSpPr/>
          <p:nvPr/>
        </p:nvSpPr>
        <p:spPr>
          <a:xfrm>
            <a:off x="6250781" y="364822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3" name="Text 84"/>
          <p:cNvSpPr/>
          <p:nvPr/>
        </p:nvSpPr>
        <p:spPr>
          <a:xfrm>
            <a:off x="6250781" y="364822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94" name="Text 85"/>
          <p:cNvSpPr/>
          <p:nvPr/>
        </p:nvSpPr>
        <p:spPr>
          <a:xfrm>
            <a:off x="6465094" y="3650010"/>
            <a:ext cx="633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Dashboard API</a:t>
            </a:r>
            <a:endParaRPr lang="en-US" sz="584" dirty="0"/>
          </a:p>
        </p:txBody>
      </p:sp>
      <p:sp>
        <p:nvSpPr>
          <p:cNvPr id="95" name="Shape 86"/>
          <p:cNvSpPr/>
          <p:nvPr/>
        </p:nvSpPr>
        <p:spPr>
          <a:xfrm>
            <a:off x="6465094" y="3782504"/>
            <a:ext cx="1723095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6" name="Text 87"/>
          <p:cNvSpPr/>
          <p:nvPr/>
        </p:nvSpPr>
        <p:spPr>
          <a:xfrm>
            <a:off x="6465094" y="3782504"/>
            <a:ext cx="1723095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/api/v1/worker/dashboard</a:t>
            </a:r>
            <a:endParaRPr lang="en-US" sz="621" dirty="0"/>
          </a:p>
        </p:txBody>
      </p:sp>
      <p:sp>
        <p:nvSpPr>
          <p:cNvPr id="97" name="Text 88"/>
          <p:cNvSpPr/>
          <p:nvPr/>
        </p:nvSpPr>
        <p:spPr>
          <a:xfrm>
            <a:off x="6465094" y="3932858"/>
            <a:ext cx="17230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Returns monthly summary &amp; recent 5 logs.</a:t>
            </a:r>
            <a:endParaRPr lang="en-US" sz="621" dirty="0"/>
          </a:p>
        </p:txBody>
      </p:sp>
      <p:sp>
        <p:nvSpPr>
          <p:cNvPr id="98" name="Shape 89"/>
          <p:cNvSpPr/>
          <p:nvPr/>
        </p:nvSpPr>
        <p:spPr>
          <a:xfrm>
            <a:off x="6250781" y="410821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90"/>
          <p:cNvSpPr/>
          <p:nvPr/>
        </p:nvSpPr>
        <p:spPr>
          <a:xfrm>
            <a:off x="6250781" y="410821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00" name="Text 91"/>
          <p:cNvSpPr/>
          <p:nvPr/>
        </p:nvSpPr>
        <p:spPr>
          <a:xfrm>
            <a:off x="6465094" y="4110000"/>
            <a:ext cx="6602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Pay Calculation</a:t>
            </a:r>
            <a:endParaRPr lang="en-US" sz="584" dirty="0"/>
          </a:p>
        </p:txBody>
      </p:sp>
      <p:sp>
        <p:nvSpPr>
          <p:cNvPr id="101" name="Shape 92"/>
          <p:cNvSpPr/>
          <p:nvPr/>
        </p:nvSpPr>
        <p:spPr>
          <a:xfrm>
            <a:off x="6465094" y="4242495"/>
            <a:ext cx="1263774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2" name="Text 93"/>
          <p:cNvSpPr/>
          <p:nvPr/>
        </p:nvSpPr>
        <p:spPr>
          <a:xfrm>
            <a:off x="6465094" y="4242495"/>
            <a:ext cx="1263774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Sum(DailyWage * ManDay)</a:t>
            </a:r>
            <a:endParaRPr lang="en-US" sz="621" dirty="0"/>
          </a:p>
        </p:txBody>
      </p:sp>
      <p:sp>
        <p:nvSpPr>
          <p:cNvPr id="103" name="Text 94"/>
          <p:cNvSpPr/>
          <p:nvPr/>
        </p:nvSpPr>
        <p:spPr>
          <a:xfrm>
            <a:off x="6465094" y="4392848"/>
            <a:ext cx="12637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Based on 'Confirmed' logs only.</a:t>
            </a:r>
            <a:endParaRPr lang="en-US" sz="621" dirty="0"/>
          </a:p>
        </p:txBody>
      </p:sp>
      <p:sp>
        <p:nvSpPr>
          <p:cNvPr id="104" name="Shape 95"/>
          <p:cNvSpPr/>
          <p:nvPr/>
        </p:nvSpPr>
        <p:spPr>
          <a:xfrm>
            <a:off x="6250781" y="456820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5" name="Text 96"/>
          <p:cNvSpPr/>
          <p:nvPr/>
        </p:nvSpPr>
        <p:spPr>
          <a:xfrm>
            <a:off x="6250781" y="456820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06" name="Text 97"/>
          <p:cNvSpPr/>
          <p:nvPr/>
        </p:nvSpPr>
        <p:spPr>
          <a:xfrm>
            <a:off x="6465094" y="4568205"/>
            <a:ext cx="22860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Status Enum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PENDING (Team Leader Input) -&gt;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APPROVED (Site Manager) -&gt; CONFIRMED (Final).</a:t>
            </a:r>
            <a:endParaRPr lang="en-US" sz="58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안면 데이터 등록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Camera API 기반 가이드라인 캡처 및 임베딩 벡터 추출 프로세스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5715000" cy="3014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428750"/>
            <a:ext cx="5715000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685925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57250" y="1499295"/>
            <a:ext cx="15295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Worker &gt; Face Registration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685925"/>
            <a:ext cx="5715000" cy="2743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1685925"/>
            <a:ext cx="571500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0"/>
          <p:cNvSpPr/>
          <p:nvPr/>
        </p:nvSpPr>
        <p:spPr>
          <a:xfrm>
            <a:off x="2271713" y="1900238"/>
            <a:ext cx="1743075" cy="2314575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0B981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2706044" y="4279106"/>
            <a:ext cx="8743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Position face here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2900363" y="3800475"/>
            <a:ext cx="485775" cy="4857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71813" y="28289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3071813" y="282892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8" name="Shape 15"/>
          <p:cNvSpPr/>
          <p:nvPr/>
        </p:nvSpPr>
        <p:spPr>
          <a:xfrm>
            <a:off x="6143625" y="1428750"/>
            <a:ext cx="2714625" cy="148590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5063" y="1528763"/>
            <a:ext cx="2571750" cy="12858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6215063" y="1528763"/>
            <a:ext cx="2571750" cy="11715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5063" y="2700338"/>
            <a:ext cx="2571750" cy="3143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8501063" y="21431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8501063" y="214312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24" name="Shape 21"/>
          <p:cNvSpPr/>
          <p:nvPr/>
        </p:nvSpPr>
        <p:spPr>
          <a:xfrm>
            <a:off x="6143625" y="2971800"/>
            <a:ext cx="2714625" cy="20002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29350" y="3057525"/>
            <a:ext cx="2543175" cy="19823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6229350" y="331291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6229350" y="331291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6429375" y="3314700"/>
            <a:ext cx="6356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Camera Access</a:t>
            </a:r>
            <a:endParaRPr lang="en-US" sz="584" dirty="0"/>
          </a:p>
        </p:txBody>
      </p:sp>
      <p:sp>
        <p:nvSpPr>
          <p:cNvPr id="29" name="Shape 26"/>
          <p:cNvSpPr/>
          <p:nvPr/>
        </p:nvSpPr>
        <p:spPr>
          <a:xfrm>
            <a:off x="6429375" y="3447194"/>
            <a:ext cx="2193271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7"/>
          <p:cNvSpPr/>
          <p:nvPr/>
        </p:nvSpPr>
        <p:spPr>
          <a:xfrm>
            <a:off x="6429375" y="3447194"/>
            <a:ext cx="2193271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navigator.mediaDevices.getUserMedia({ video: true })</a:t>
            </a:r>
            <a:endParaRPr lang="en-US" sz="621" dirty="0"/>
          </a:p>
        </p:txBody>
      </p:sp>
      <p:sp>
        <p:nvSpPr>
          <p:cNvPr id="31" name="Text 28"/>
          <p:cNvSpPr/>
          <p:nvPr/>
        </p:nvSpPr>
        <p:spPr>
          <a:xfrm>
            <a:off x="6429375" y="3597548"/>
            <a:ext cx="1437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PC: Webcam, Mobile: Front Camera.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6229350" y="377290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6229350" y="377290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34" name="Text 31"/>
          <p:cNvSpPr/>
          <p:nvPr/>
        </p:nvSpPr>
        <p:spPr>
          <a:xfrm>
            <a:off x="6429375" y="3774691"/>
            <a:ext cx="9661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Face Detection (Client)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7395511" y="3774691"/>
            <a:ext cx="1650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Lib:</a:t>
            </a:r>
            <a:endParaRPr lang="en-US" sz="621" dirty="0"/>
          </a:p>
        </p:txBody>
      </p:sp>
      <p:sp>
        <p:nvSpPr>
          <p:cNvPr id="36" name="Shape 33"/>
          <p:cNvSpPr/>
          <p:nvPr/>
        </p:nvSpPr>
        <p:spPr>
          <a:xfrm>
            <a:off x="6429375" y="3907185"/>
            <a:ext cx="2343150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4"/>
          <p:cNvSpPr/>
          <p:nvPr/>
        </p:nvSpPr>
        <p:spPr>
          <a:xfrm>
            <a:off x="6429375" y="3907185"/>
            <a:ext cx="2343150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face-api.js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6429375" y="4057538"/>
            <a:ext cx="203488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(TinyFaceDetector). Ensure 1 face is present before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6429375" y="4177531"/>
            <a:ext cx="3309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capture.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6229350" y="43528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8"/>
          <p:cNvSpPr/>
          <p:nvPr/>
        </p:nvSpPr>
        <p:spPr>
          <a:xfrm>
            <a:off x="6229350" y="43528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6429375" y="4354674"/>
            <a:ext cx="697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Registration API</a:t>
            </a:r>
            <a:endParaRPr lang="en-US" sz="584" dirty="0"/>
          </a:p>
        </p:txBody>
      </p:sp>
      <p:sp>
        <p:nvSpPr>
          <p:cNvPr id="43" name="Shape 40"/>
          <p:cNvSpPr/>
          <p:nvPr/>
        </p:nvSpPr>
        <p:spPr>
          <a:xfrm>
            <a:off x="6429375" y="4487168"/>
            <a:ext cx="2343150" cy="1485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1"/>
          <p:cNvSpPr/>
          <p:nvPr/>
        </p:nvSpPr>
        <p:spPr>
          <a:xfrm>
            <a:off x="6429375" y="4487168"/>
            <a:ext cx="2343150" cy="14856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POST /api/v1/workers/face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6429375" y="4637522"/>
            <a:ext cx="22518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Multipart/form-data (image file). Server extracts &amp; saves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6429375" y="4757514"/>
            <a:ext cx="88607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embedding (FaceNet).</a:t>
            </a:r>
            <a:endParaRPr lang="en-US" sz="62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929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307306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전자 계약 서명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HTML 템플릿 렌더링 및 Canvas API 활용 베지어 곡선 서명 패드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600200"/>
            <a:ext cx="5643563" cy="31575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607344"/>
            <a:ext cx="5643563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64519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677888"/>
            <a:ext cx="13779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Worker &gt; Contract Sign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864519"/>
            <a:ext cx="5643563" cy="2886075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2" name="Shape 9"/>
          <p:cNvSpPr/>
          <p:nvPr/>
        </p:nvSpPr>
        <p:spPr>
          <a:xfrm>
            <a:off x="918697" y="1950244"/>
            <a:ext cx="4377668" cy="2714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61572" y="2093119"/>
            <a:ext cx="4091918" cy="20538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STANDARD LABOR CONTRACT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1061572" y="2398514"/>
            <a:ext cx="35562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Employer:</a:t>
            </a:r>
            <a:endParaRPr lang="en-US" sz="485" dirty="0"/>
          </a:p>
        </p:txBody>
      </p:sp>
      <p:sp>
        <p:nvSpPr>
          <p:cNvPr id="15" name="Text 12"/>
          <p:cNvSpPr/>
          <p:nvPr/>
        </p:nvSpPr>
        <p:spPr>
          <a:xfrm>
            <a:off x="4193437" y="2398514"/>
            <a:ext cx="96005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293B"/>
                </a:solidFill>
              </a:rPr>
              <a:t>Smart Construction Co., Ltd.</a:t>
            </a:r>
            <a:endParaRPr lang="en-US" sz="485" dirty="0"/>
          </a:p>
        </p:txBody>
      </p:sp>
      <p:sp>
        <p:nvSpPr>
          <p:cNvPr id="16" name="Text 13"/>
          <p:cNvSpPr/>
          <p:nvPr/>
        </p:nvSpPr>
        <p:spPr>
          <a:xfrm>
            <a:off x="1061572" y="2561034"/>
            <a:ext cx="36542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Employee:</a:t>
            </a:r>
            <a:endParaRPr lang="en-US" sz="485" dirty="0"/>
          </a:p>
        </p:txBody>
      </p:sp>
      <p:sp>
        <p:nvSpPr>
          <p:cNvPr id="17" name="Text 14"/>
          <p:cNvSpPr/>
          <p:nvPr/>
        </p:nvSpPr>
        <p:spPr>
          <a:xfrm>
            <a:off x="4703266" y="2561034"/>
            <a:ext cx="45022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293B"/>
                </a:solidFill>
              </a:rPr>
              <a:t>Kim Chul-soo</a:t>
            </a:r>
            <a:endParaRPr lang="en-US" sz="485" dirty="0"/>
          </a:p>
        </p:txBody>
      </p:sp>
      <p:sp>
        <p:nvSpPr>
          <p:cNvPr id="18" name="Text 15"/>
          <p:cNvSpPr/>
          <p:nvPr/>
        </p:nvSpPr>
        <p:spPr>
          <a:xfrm>
            <a:off x="1061572" y="2723555"/>
            <a:ext cx="18961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475569"/>
                </a:solidFill>
              </a:rPr>
              <a:t>Date:</a:t>
            </a:r>
            <a:endParaRPr lang="en-US" sz="485" dirty="0"/>
          </a:p>
        </p:txBody>
      </p:sp>
      <p:sp>
        <p:nvSpPr>
          <p:cNvPr id="19" name="Text 16"/>
          <p:cNvSpPr/>
          <p:nvPr/>
        </p:nvSpPr>
        <p:spPr>
          <a:xfrm>
            <a:off x="4780564" y="2723555"/>
            <a:ext cx="37292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293B"/>
                </a:solidFill>
              </a:rPr>
              <a:t>2026-01-20</a:t>
            </a:r>
            <a:endParaRPr lang="en-US" sz="485" dirty="0"/>
          </a:p>
        </p:txBody>
      </p:sp>
      <p:sp>
        <p:nvSpPr>
          <p:cNvPr id="20" name="Text 17"/>
          <p:cNvSpPr/>
          <p:nvPr/>
        </p:nvSpPr>
        <p:spPr>
          <a:xfrm>
            <a:off x="1061572" y="2921794"/>
            <a:ext cx="409191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Article 1 (Purpose) This contract aims to define the working conditions...</a:t>
            </a:r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
</a:t>
            </a:r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 Article 2 (Wage) The daily wage shall be 150,000 KRW...</a:t>
            </a:r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
</a:t>
            </a:r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 Article 3 (Safety) The employee must follow all safety regulations...</a:t>
            </a:r>
            <a:endParaRPr lang="en-US" sz="516" dirty="0"/>
          </a:p>
        </p:txBody>
      </p:sp>
      <p:sp>
        <p:nvSpPr>
          <p:cNvPr id="21" name="Text 18"/>
          <p:cNvSpPr/>
          <p:nvPr/>
        </p:nvSpPr>
        <p:spPr>
          <a:xfrm>
            <a:off x="1061572" y="3300413"/>
            <a:ext cx="409191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just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(Scroll to read full content...)</a:t>
            </a:r>
            <a:endParaRPr lang="en-US" sz="516" dirty="0"/>
          </a:p>
        </p:txBody>
      </p:sp>
      <p:sp>
        <p:nvSpPr>
          <p:cNvPr id="22" name="Shape 19"/>
          <p:cNvSpPr/>
          <p:nvPr/>
        </p:nvSpPr>
        <p:spPr>
          <a:xfrm>
            <a:off x="1061572" y="4121944"/>
            <a:ext cx="4091918" cy="400050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1168729" y="4278213"/>
            <a:ext cx="8255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Signature Required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3964642" y="4238923"/>
            <a:ext cx="1081692" cy="19466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3964642" y="4238923"/>
            <a:ext cx="1081692" cy="19466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Open Signature Pad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2428875" y="303609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2428875" y="303609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28" name="Shape 25"/>
          <p:cNvSpPr/>
          <p:nvPr/>
        </p:nvSpPr>
        <p:spPr>
          <a:xfrm>
            <a:off x="6143625" y="1607344"/>
            <a:ext cx="2714625" cy="1800225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29350" y="1693069"/>
            <a:ext cx="2543175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229350" y="1693069"/>
            <a:ext cx="2543175" cy="26967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8"/>
          <p:cNvSpPr/>
          <p:nvPr/>
        </p:nvSpPr>
        <p:spPr>
          <a:xfrm>
            <a:off x="6300788" y="1764506"/>
            <a:ext cx="4445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Sign Here</a:t>
            </a:r>
            <a:endParaRPr lang="en-US" sz="634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152" y="1781473"/>
            <a:ext cx="58936" cy="92869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229350" y="1962745"/>
            <a:ext cx="2543175" cy="13019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0"/>
          <p:cNvSpPr/>
          <p:nvPr/>
        </p:nvSpPr>
        <p:spPr>
          <a:xfrm>
            <a:off x="6315075" y="2048470"/>
            <a:ext cx="2371725" cy="860822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 rot="-300000">
            <a:off x="6790330" y="2322612"/>
            <a:ext cx="142121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0000"/>
                </a:solidFill>
              </a:rPr>
              <a:t>Kim Chul Soo</a:t>
            </a:r>
            <a:endParaRPr lang="en-US" sz="1704" dirty="0"/>
          </a:p>
        </p:txBody>
      </p:sp>
      <p:sp>
        <p:nvSpPr>
          <p:cNvPr id="36" name="Shape 32"/>
          <p:cNvSpPr/>
          <p:nvPr/>
        </p:nvSpPr>
        <p:spPr>
          <a:xfrm>
            <a:off x="6315075" y="2966442"/>
            <a:ext cx="1150144" cy="21252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3"/>
          <p:cNvSpPr/>
          <p:nvPr/>
        </p:nvSpPr>
        <p:spPr>
          <a:xfrm>
            <a:off x="6315075" y="2966442"/>
            <a:ext cx="1150144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Clear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7536656" y="2966442"/>
            <a:ext cx="1150144" cy="21252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5"/>
          <p:cNvSpPr/>
          <p:nvPr/>
        </p:nvSpPr>
        <p:spPr>
          <a:xfrm>
            <a:off x="7536656" y="2966442"/>
            <a:ext cx="1150144" cy="21252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Confirm</a:t>
            </a:r>
            <a:endParaRPr lang="en-US" sz="584" dirty="0"/>
          </a:p>
        </p:txBody>
      </p:sp>
      <p:sp>
        <p:nvSpPr>
          <p:cNvPr id="40" name="Shape 36"/>
          <p:cNvSpPr/>
          <p:nvPr/>
        </p:nvSpPr>
        <p:spPr>
          <a:xfrm>
            <a:off x="8572500" y="26360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7"/>
          <p:cNvSpPr/>
          <p:nvPr/>
        </p:nvSpPr>
        <p:spPr>
          <a:xfrm>
            <a:off x="8572500" y="263604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2" name="Shape 38"/>
          <p:cNvSpPr/>
          <p:nvPr/>
        </p:nvSpPr>
        <p:spPr>
          <a:xfrm>
            <a:off x="6143625" y="3436144"/>
            <a:ext cx="2714625" cy="14216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215063" y="3507581"/>
            <a:ext cx="2571750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44" name="Shape 40"/>
          <p:cNvSpPr/>
          <p:nvPr/>
        </p:nvSpPr>
        <p:spPr>
          <a:xfrm>
            <a:off x="6215063" y="375582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1"/>
          <p:cNvSpPr/>
          <p:nvPr/>
        </p:nvSpPr>
        <p:spPr>
          <a:xfrm>
            <a:off x="6215063" y="375582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6" name="Text 42"/>
          <p:cNvSpPr/>
          <p:nvPr/>
        </p:nvSpPr>
        <p:spPr>
          <a:xfrm>
            <a:off x="6429375" y="3762970"/>
            <a:ext cx="4745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Canvas API</a:t>
            </a:r>
            <a:endParaRPr lang="en-US" sz="584" dirty="0"/>
          </a:p>
        </p:txBody>
      </p:sp>
      <p:sp>
        <p:nvSpPr>
          <p:cNvPr id="47" name="Text 43"/>
          <p:cNvSpPr/>
          <p:nvPr/>
        </p:nvSpPr>
        <p:spPr>
          <a:xfrm>
            <a:off x="6903876" y="3762970"/>
            <a:ext cx="1873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Lib:</a:t>
            </a:r>
            <a:endParaRPr lang="en-US" sz="621" dirty="0"/>
          </a:p>
        </p:txBody>
      </p:sp>
      <p:sp>
        <p:nvSpPr>
          <p:cNvPr id="48" name="Shape 44"/>
          <p:cNvSpPr/>
          <p:nvPr/>
        </p:nvSpPr>
        <p:spPr>
          <a:xfrm>
            <a:off x="7134067" y="3755827"/>
            <a:ext cx="972443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5"/>
          <p:cNvSpPr/>
          <p:nvPr/>
        </p:nvSpPr>
        <p:spPr>
          <a:xfrm>
            <a:off x="7134067" y="3755827"/>
            <a:ext cx="972443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react-signature-canvas</a:t>
            </a:r>
            <a:endParaRPr lang="en-US" sz="621" dirty="0"/>
          </a:p>
        </p:txBody>
      </p:sp>
      <p:sp>
        <p:nvSpPr>
          <p:cNvPr id="50" name="Text 46"/>
          <p:cNvSpPr/>
          <p:nvPr/>
        </p:nvSpPr>
        <p:spPr>
          <a:xfrm>
            <a:off x="8106510" y="3762970"/>
            <a:ext cx="44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Use Bezier</a:t>
            </a:r>
            <a:endParaRPr lang="en-US" sz="621" dirty="0"/>
          </a:p>
        </p:txBody>
      </p:sp>
      <p:sp>
        <p:nvSpPr>
          <p:cNvPr id="51" name="Text 47"/>
          <p:cNvSpPr/>
          <p:nvPr/>
        </p:nvSpPr>
        <p:spPr>
          <a:xfrm>
            <a:off x="6429375" y="3880117"/>
            <a:ext cx="964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curves for smooth lines.</a:t>
            </a:r>
            <a:endParaRPr lang="en-US" sz="621" dirty="0"/>
          </a:p>
        </p:txBody>
      </p:sp>
      <p:sp>
        <p:nvSpPr>
          <p:cNvPr id="52" name="Shape 48"/>
          <p:cNvSpPr/>
          <p:nvPr/>
        </p:nvSpPr>
        <p:spPr>
          <a:xfrm>
            <a:off x="6215063" y="403298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49"/>
          <p:cNvSpPr/>
          <p:nvPr/>
        </p:nvSpPr>
        <p:spPr>
          <a:xfrm>
            <a:off x="6215063" y="403298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4" name="Text 50"/>
          <p:cNvSpPr/>
          <p:nvPr/>
        </p:nvSpPr>
        <p:spPr>
          <a:xfrm>
            <a:off x="6429375" y="4025838"/>
            <a:ext cx="6173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Data Handling</a:t>
            </a:r>
            <a:endParaRPr lang="en-US" sz="584" dirty="0"/>
          </a:p>
        </p:txBody>
      </p:sp>
      <p:sp>
        <p:nvSpPr>
          <p:cNvPr id="55" name="Text 51"/>
          <p:cNvSpPr/>
          <p:nvPr/>
        </p:nvSpPr>
        <p:spPr>
          <a:xfrm>
            <a:off x="7046695" y="4025838"/>
            <a:ext cx="12801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Convert canvas to Base64 PNG.</a:t>
            </a:r>
            <a:endParaRPr lang="en-US" sz="621" dirty="0"/>
          </a:p>
        </p:txBody>
      </p:sp>
      <p:sp>
        <p:nvSpPr>
          <p:cNvPr id="56" name="Shape 52"/>
          <p:cNvSpPr/>
          <p:nvPr/>
        </p:nvSpPr>
        <p:spPr>
          <a:xfrm>
            <a:off x="6472238" y="4135841"/>
            <a:ext cx="1320226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7" name="Text 53"/>
          <p:cNvSpPr/>
          <p:nvPr/>
        </p:nvSpPr>
        <p:spPr>
          <a:xfrm>
            <a:off x="6472238" y="4135841"/>
            <a:ext cx="1320226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canvas.toDataURL('image/png')</a:t>
            </a:r>
            <a:endParaRPr lang="en-US" sz="621" dirty="0"/>
          </a:p>
        </p:txBody>
      </p:sp>
      <p:sp>
        <p:nvSpPr>
          <p:cNvPr id="58" name="Shape 54"/>
          <p:cNvSpPr/>
          <p:nvPr/>
        </p:nvSpPr>
        <p:spPr>
          <a:xfrm>
            <a:off x="6215063" y="431013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5"/>
          <p:cNvSpPr/>
          <p:nvPr/>
        </p:nvSpPr>
        <p:spPr>
          <a:xfrm>
            <a:off x="6215063" y="431013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0" name="Text 56"/>
          <p:cNvSpPr/>
          <p:nvPr/>
        </p:nvSpPr>
        <p:spPr>
          <a:xfrm>
            <a:off x="6429375" y="4302993"/>
            <a:ext cx="4611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PDF Merge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6890510" y="4302993"/>
            <a:ext cx="17078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Backend: Overlay signature image on PDF</a:t>
            </a:r>
            <a:endParaRPr lang="en-US" sz="621" dirty="0"/>
          </a:p>
        </p:txBody>
      </p:sp>
      <p:sp>
        <p:nvSpPr>
          <p:cNvPr id="62" name="Text 58"/>
          <p:cNvSpPr/>
          <p:nvPr/>
        </p:nvSpPr>
        <p:spPr>
          <a:xfrm>
            <a:off x="6429375" y="4420140"/>
            <a:ext cx="6281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template using</a:t>
            </a:r>
            <a:endParaRPr lang="en-US" sz="621" dirty="0"/>
          </a:p>
        </p:txBody>
      </p:sp>
      <p:sp>
        <p:nvSpPr>
          <p:cNvPr id="63" name="Shape 59"/>
          <p:cNvSpPr/>
          <p:nvPr/>
        </p:nvSpPr>
        <p:spPr>
          <a:xfrm>
            <a:off x="7100357" y="4412996"/>
            <a:ext cx="599294" cy="13143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4" name="Text 60"/>
          <p:cNvSpPr/>
          <p:nvPr/>
        </p:nvSpPr>
        <p:spPr>
          <a:xfrm>
            <a:off x="7100357" y="4412996"/>
            <a:ext cx="599294" cy="131434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iText, PDFBox</a:t>
            </a:r>
            <a:endParaRPr lang="en-US" sz="621" dirty="0"/>
          </a:p>
        </p:txBody>
      </p:sp>
      <p:sp>
        <p:nvSpPr>
          <p:cNvPr id="65" name="Text 61"/>
          <p:cNvSpPr/>
          <p:nvPr/>
        </p:nvSpPr>
        <p:spPr>
          <a:xfrm>
            <a:off x="7699651" y="4420140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.</a:t>
            </a:r>
            <a:endParaRPr lang="en-US" sz="62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9037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304711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월간 출역 캘린더 및 예상 급여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캘린더 기반 공수 표시 및 세전 예상 급여 자동 계산 로직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97605"/>
            <a:ext cx="5643563" cy="3014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1597605"/>
            <a:ext cx="5643563" cy="26431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854780"/>
            <a:ext cx="5643563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1668149"/>
            <a:ext cx="11988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SmartCON Worker &gt; Calendar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285750" y="1854780"/>
            <a:ext cx="5643563" cy="2743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1945863"/>
            <a:ext cx="8376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January 2026</a:t>
            </a:r>
            <a:endParaRPr lang="en-US" sz="88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581" y="1976224"/>
            <a:ext cx="71438" cy="1143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38" y="1976224"/>
            <a:ext cx="71438" cy="1143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71475" y="2183392"/>
            <a:ext cx="3486150" cy="1259086"/>
          </a:xfrm>
          <a:prstGeom prst="rect">
            <a:avLst/>
          </a:prstGeom>
          <a:solidFill>
            <a:srgbClr val="E2E8F0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1475" y="2183392"/>
            <a:ext cx="491886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2"/>
          <p:cNvSpPr/>
          <p:nvPr/>
        </p:nvSpPr>
        <p:spPr>
          <a:xfrm>
            <a:off x="371475" y="2183392"/>
            <a:ext cx="491886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Sun</a:t>
            </a:r>
            <a:endParaRPr lang="en-US" sz="584" dirty="0"/>
          </a:p>
        </p:txBody>
      </p:sp>
      <p:sp>
        <p:nvSpPr>
          <p:cNvPr id="18" name="Shape 13"/>
          <p:cNvSpPr/>
          <p:nvPr/>
        </p:nvSpPr>
        <p:spPr>
          <a:xfrm>
            <a:off x="870505" y="2183392"/>
            <a:ext cx="491886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4"/>
          <p:cNvSpPr/>
          <p:nvPr/>
        </p:nvSpPr>
        <p:spPr>
          <a:xfrm>
            <a:off x="870505" y="2183392"/>
            <a:ext cx="491886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Mon</a:t>
            </a:r>
            <a:endParaRPr lang="en-US" sz="584" dirty="0"/>
          </a:p>
        </p:txBody>
      </p:sp>
      <p:sp>
        <p:nvSpPr>
          <p:cNvPr id="20" name="Shape 15"/>
          <p:cNvSpPr/>
          <p:nvPr/>
        </p:nvSpPr>
        <p:spPr>
          <a:xfrm>
            <a:off x="1369535" y="2183392"/>
            <a:ext cx="491914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6"/>
          <p:cNvSpPr/>
          <p:nvPr/>
        </p:nvSpPr>
        <p:spPr>
          <a:xfrm>
            <a:off x="1369535" y="2183392"/>
            <a:ext cx="491914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Tue</a:t>
            </a:r>
            <a:endParaRPr lang="en-US" sz="584" dirty="0"/>
          </a:p>
        </p:txBody>
      </p:sp>
      <p:sp>
        <p:nvSpPr>
          <p:cNvPr id="22" name="Shape 17"/>
          <p:cNvSpPr/>
          <p:nvPr/>
        </p:nvSpPr>
        <p:spPr>
          <a:xfrm>
            <a:off x="1868593" y="2183392"/>
            <a:ext cx="491886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8"/>
          <p:cNvSpPr/>
          <p:nvPr/>
        </p:nvSpPr>
        <p:spPr>
          <a:xfrm>
            <a:off x="1868593" y="2183392"/>
            <a:ext cx="491886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Wed</a:t>
            </a:r>
            <a:endParaRPr lang="en-US" sz="584" dirty="0"/>
          </a:p>
        </p:txBody>
      </p:sp>
      <p:sp>
        <p:nvSpPr>
          <p:cNvPr id="24" name="Shape 19"/>
          <p:cNvSpPr/>
          <p:nvPr/>
        </p:nvSpPr>
        <p:spPr>
          <a:xfrm>
            <a:off x="2367623" y="2183392"/>
            <a:ext cx="491914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0"/>
          <p:cNvSpPr/>
          <p:nvPr/>
        </p:nvSpPr>
        <p:spPr>
          <a:xfrm>
            <a:off x="2367623" y="2183392"/>
            <a:ext cx="491914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Thu</a:t>
            </a:r>
            <a:endParaRPr lang="en-US" sz="584" dirty="0"/>
          </a:p>
        </p:txBody>
      </p:sp>
      <p:sp>
        <p:nvSpPr>
          <p:cNvPr id="26" name="Shape 21"/>
          <p:cNvSpPr/>
          <p:nvPr/>
        </p:nvSpPr>
        <p:spPr>
          <a:xfrm>
            <a:off x="2866681" y="2183392"/>
            <a:ext cx="491886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2"/>
          <p:cNvSpPr/>
          <p:nvPr/>
        </p:nvSpPr>
        <p:spPr>
          <a:xfrm>
            <a:off x="2866681" y="2183392"/>
            <a:ext cx="491886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Fri</a:t>
            </a:r>
            <a:endParaRPr lang="en-US" sz="584" dirty="0"/>
          </a:p>
        </p:txBody>
      </p:sp>
      <p:sp>
        <p:nvSpPr>
          <p:cNvPr id="28" name="Shape 23"/>
          <p:cNvSpPr/>
          <p:nvPr/>
        </p:nvSpPr>
        <p:spPr>
          <a:xfrm>
            <a:off x="3365711" y="2183392"/>
            <a:ext cx="491886" cy="23038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4"/>
          <p:cNvSpPr/>
          <p:nvPr/>
        </p:nvSpPr>
        <p:spPr>
          <a:xfrm>
            <a:off x="3365711" y="2183392"/>
            <a:ext cx="491886" cy="23038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Sat</a:t>
            </a:r>
            <a:endParaRPr lang="en-US" sz="584" dirty="0"/>
          </a:p>
        </p:txBody>
      </p:sp>
      <p:sp>
        <p:nvSpPr>
          <p:cNvPr id="30" name="Shape 25"/>
          <p:cNvSpPr/>
          <p:nvPr/>
        </p:nvSpPr>
        <p:spPr>
          <a:xfrm>
            <a:off x="371475" y="2420922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407194" y="2456641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28</a:t>
            </a:r>
            <a:endParaRPr lang="en-US" sz="584" dirty="0"/>
          </a:p>
        </p:txBody>
      </p:sp>
      <p:sp>
        <p:nvSpPr>
          <p:cNvPr id="32" name="Shape 27"/>
          <p:cNvSpPr/>
          <p:nvPr/>
        </p:nvSpPr>
        <p:spPr>
          <a:xfrm>
            <a:off x="870505" y="2420922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8"/>
          <p:cNvSpPr/>
          <p:nvPr/>
        </p:nvSpPr>
        <p:spPr>
          <a:xfrm>
            <a:off x="906224" y="2456641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29</a:t>
            </a:r>
            <a:endParaRPr lang="en-US" sz="584" dirty="0"/>
          </a:p>
        </p:txBody>
      </p:sp>
      <p:sp>
        <p:nvSpPr>
          <p:cNvPr id="34" name="Shape 29"/>
          <p:cNvSpPr/>
          <p:nvPr/>
        </p:nvSpPr>
        <p:spPr>
          <a:xfrm>
            <a:off x="1369535" y="2420922"/>
            <a:ext cx="491914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0"/>
          <p:cNvSpPr/>
          <p:nvPr/>
        </p:nvSpPr>
        <p:spPr>
          <a:xfrm>
            <a:off x="1405254" y="2456641"/>
            <a:ext cx="4204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30</a:t>
            </a:r>
            <a:endParaRPr lang="en-US" sz="584" dirty="0"/>
          </a:p>
        </p:txBody>
      </p:sp>
      <p:sp>
        <p:nvSpPr>
          <p:cNvPr id="36" name="Shape 31"/>
          <p:cNvSpPr/>
          <p:nvPr/>
        </p:nvSpPr>
        <p:spPr>
          <a:xfrm>
            <a:off x="1868593" y="2420922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1904312" y="2456641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31</a:t>
            </a:r>
            <a:endParaRPr lang="en-US" sz="584" dirty="0"/>
          </a:p>
        </p:txBody>
      </p:sp>
      <p:sp>
        <p:nvSpPr>
          <p:cNvPr id="38" name="Shape 33"/>
          <p:cNvSpPr/>
          <p:nvPr/>
        </p:nvSpPr>
        <p:spPr>
          <a:xfrm>
            <a:off x="2367623" y="2420922"/>
            <a:ext cx="491914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4"/>
          <p:cNvSpPr/>
          <p:nvPr/>
        </p:nvSpPr>
        <p:spPr>
          <a:xfrm>
            <a:off x="2403342" y="2456641"/>
            <a:ext cx="4204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1</a:t>
            </a:r>
            <a:endParaRPr lang="en-US" sz="584" dirty="0"/>
          </a:p>
        </p:txBody>
      </p:sp>
      <p:sp>
        <p:nvSpPr>
          <p:cNvPr id="40" name="Shape 35"/>
          <p:cNvSpPr/>
          <p:nvPr/>
        </p:nvSpPr>
        <p:spPr>
          <a:xfrm>
            <a:off x="2866681" y="2420922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6"/>
          <p:cNvSpPr/>
          <p:nvPr/>
        </p:nvSpPr>
        <p:spPr>
          <a:xfrm>
            <a:off x="2902400" y="2456641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2</a:t>
            </a:r>
            <a:endParaRPr lang="en-US" sz="584" dirty="0"/>
          </a:p>
        </p:txBody>
      </p:sp>
      <p:sp>
        <p:nvSpPr>
          <p:cNvPr id="42" name="Shape 37"/>
          <p:cNvSpPr/>
          <p:nvPr/>
        </p:nvSpPr>
        <p:spPr>
          <a:xfrm>
            <a:off x="2902400" y="2758464"/>
            <a:ext cx="420449" cy="12680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3" name="Text 38"/>
          <p:cNvSpPr/>
          <p:nvPr/>
        </p:nvSpPr>
        <p:spPr>
          <a:xfrm>
            <a:off x="2902400" y="2758464"/>
            <a:ext cx="420449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40AF"/>
                </a:solidFill>
              </a:rPr>
              <a:t>1.0</a:t>
            </a:r>
            <a:endParaRPr lang="en-US" sz="485" dirty="0"/>
          </a:p>
        </p:txBody>
      </p:sp>
      <p:sp>
        <p:nvSpPr>
          <p:cNvPr id="44" name="Shape 39"/>
          <p:cNvSpPr/>
          <p:nvPr/>
        </p:nvSpPr>
        <p:spPr>
          <a:xfrm>
            <a:off x="3365711" y="2420922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0"/>
          <p:cNvSpPr/>
          <p:nvPr/>
        </p:nvSpPr>
        <p:spPr>
          <a:xfrm>
            <a:off x="3401430" y="2456641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3</a:t>
            </a:r>
            <a:endParaRPr lang="en-US" sz="584" dirty="0"/>
          </a:p>
        </p:txBody>
      </p:sp>
      <p:sp>
        <p:nvSpPr>
          <p:cNvPr id="46" name="Shape 41"/>
          <p:cNvSpPr/>
          <p:nvPr/>
        </p:nvSpPr>
        <p:spPr>
          <a:xfrm>
            <a:off x="371475" y="2928128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407194" y="2963847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4</a:t>
            </a:r>
            <a:endParaRPr lang="en-US" sz="584" dirty="0"/>
          </a:p>
        </p:txBody>
      </p:sp>
      <p:sp>
        <p:nvSpPr>
          <p:cNvPr id="48" name="Shape 43"/>
          <p:cNvSpPr/>
          <p:nvPr/>
        </p:nvSpPr>
        <p:spPr>
          <a:xfrm>
            <a:off x="870505" y="2928128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4"/>
          <p:cNvSpPr/>
          <p:nvPr/>
        </p:nvSpPr>
        <p:spPr>
          <a:xfrm>
            <a:off x="906224" y="2963847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5</a:t>
            </a:r>
            <a:endParaRPr lang="en-US" sz="584" dirty="0"/>
          </a:p>
        </p:txBody>
      </p:sp>
      <p:sp>
        <p:nvSpPr>
          <p:cNvPr id="50" name="Shape 45"/>
          <p:cNvSpPr/>
          <p:nvPr/>
        </p:nvSpPr>
        <p:spPr>
          <a:xfrm>
            <a:off x="906224" y="3265670"/>
            <a:ext cx="420449" cy="12680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1" name="Text 46"/>
          <p:cNvSpPr/>
          <p:nvPr/>
        </p:nvSpPr>
        <p:spPr>
          <a:xfrm>
            <a:off x="906224" y="3265670"/>
            <a:ext cx="420449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40AF"/>
                </a:solidFill>
              </a:rPr>
              <a:t>1.0</a:t>
            </a:r>
            <a:endParaRPr lang="en-US" sz="485" dirty="0"/>
          </a:p>
        </p:txBody>
      </p:sp>
      <p:sp>
        <p:nvSpPr>
          <p:cNvPr id="52" name="Shape 47"/>
          <p:cNvSpPr/>
          <p:nvPr/>
        </p:nvSpPr>
        <p:spPr>
          <a:xfrm>
            <a:off x="1369535" y="2928128"/>
            <a:ext cx="491914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48"/>
          <p:cNvSpPr/>
          <p:nvPr/>
        </p:nvSpPr>
        <p:spPr>
          <a:xfrm>
            <a:off x="1405254" y="2963847"/>
            <a:ext cx="4204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6</a:t>
            </a:r>
            <a:endParaRPr lang="en-US" sz="584" dirty="0"/>
          </a:p>
        </p:txBody>
      </p:sp>
      <p:sp>
        <p:nvSpPr>
          <p:cNvPr id="54" name="Shape 49"/>
          <p:cNvSpPr/>
          <p:nvPr/>
        </p:nvSpPr>
        <p:spPr>
          <a:xfrm>
            <a:off x="1405254" y="3265670"/>
            <a:ext cx="420477" cy="12680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5" name="Text 50"/>
          <p:cNvSpPr/>
          <p:nvPr/>
        </p:nvSpPr>
        <p:spPr>
          <a:xfrm>
            <a:off x="1405254" y="3265670"/>
            <a:ext cx="420477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40AF"/>
                </a:solidFill>
              </a:rPr>
              <a:t>1.0</a:t>
            </a:r>
            <a:endParaRPr lang="en-US" sz="485" dirty="0"/>
          </a:p>
        </p:txBody>
      </p:sp>
      <p:sp>
        <p:nvSpPr>
          <p:cNvPr id="56" name="Shape 51"/>
          <p:cNvSpPr/>
          <p:nvPr/>
        </p:nvSpPr>
        <p:spPr>
          <a:xfrm>
            <a:off x="1868593" y="2928128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2"/>
          <p:cNvSpPr/>
          <p:nvPr/>
        </p:nvSpPr>
        <p:spPr>
          <a:xfrm>
            <a:off x="1904312" y="2963847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7</a:t>
            </a:r>
            <a:endParaRPr lang="en-US" sz="584" dirty="0"/>
          </a:p>
        </p:txBody>
      </p:sp>
      <p:sp>
        <p:nvSpPr>
          <p:cNvPr id="58" name="Shape 53"/>
          <p:cNvSpPr/>
          <p:nvPr/>
        </p:nvSpPr>
        <p:spPr>
          <a:xfrm>
            <a:off x="1904312" y="3265670"/>
            <a:ext cx="420449" cy="1268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9" name="Text 54"/>
          <p:cNvSpPr/>
          <p:nvPr/>
        </p:nvSpPr>
        <p:spPr>
          <a:xfrm>
            <a:off x="1904312" y="3265670"/>
            <a:ext cx="420449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2400E"/>
                </a:solidFill>
              </a:rPr>
              <a:t>0.5</a:t>
            </a:r>
            <a:endParaRPr lang="en-US" sz="485" dirty="0"/>
          </a:p>
        </p:txBody>
      </p:sp>
      <p:sp>
        <p:nvSpPr>
          <p:cNvPr id="60" name="Shape 55"/>
          <p:cNvSpPr/>
          <p:nvPr/>
        </p:nvSpPr>
        <p:spPr>
          <a:xfrm>
            <a:off x="2367623" y="2928128"/>
            <a:ext cx="491914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6"/>
          <p:cNvSpPr/>
          <p:nvPr/>
        </p:nvSpPr>
        <p:spPr>
          <a:xfrm>
            <a:off x="2403342" y="2963847"/>
            <a:ext cx="42047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8</a:t>
            </a:r>
            <a:endParaRPr lang="en-US" sz="584" dirty="0"/>
          </a:p>
        </p:txBody>
      </p:sp>
      <p:sp>
        <p:nvSpPr>
          <p:cNvPr id="62" name="Shape 57"/>
          <p:cNvSpPr/>
          <p:nvPr/>
        </p:nvSpPr>
        <p:spPr>
          <a:xfrm>
            <a:off x="2403342" y="3265670"/>
            <a:ext cx="420477" cy="12680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3" name="Text 58"/>
          <p:cNvSpPr/>
          <p:nvPr/>
        </p:nvSpPr>
        <p:spPr>
          <a:xfrm>
            <a:off x="2403342" y="3265670"/>
            <a:ext cx="420477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40AF"/>
                </a:solidFill>
              </a:rPr>
              <a:t>1.0</a:t>
            </a:r>
            <a:endParaRPr lang="en-US" sz="485" dirty="0"/>
          </a:p>
        </p:txBody>
      </p:sp>
      <p:sp>
        <p:nvSpPr>
          <p:cNvPr id="64" name="Shape 59"/>
          <p:cNvSpPr/>
          <p:nvPr/>
        </p:nvSpPr>
        <p:spPr>
          <a:xfrm>
            <a:off x="2866681" y="2928128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0"/>
          <p:cNvSpPr/>
          <p:nvPr/>
        </p:nvSpPr>
        <p:spPr>
          <a:xfrm>
            <a:off x="2902400" y="2963847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9</a:t>
            </a:r>
            <a:endParaRPr lang="en-US" sz="584" dirty="0"/>
          </a:p>
        </p:txBody>
      </p:sp>
      <p:sp>
        <p:nvSpPr>
          <p:cNvPr id="66" name="Shape 61"/>
          <p:cNvSpPr/>
          <p:nvPr/>
        </p:nvSpPr>
        <p:spPr>
          <a:xfrm>
            <a:off x="2902400" y="3265670"/>
            <a:ext cx="420449" cy="12680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7" name="Text 62"/>
          <p:cNvSpPr/>
          <p:nvPr/>
        </p:nvSpPr>
        <p:spPr>
          <a:xfrm>
            <a:off x="2902400" y="3265670"/>
            <a:ext cx="420449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E40AF"/>
                </a:solidFill>
              </a:rPr>
              <a:t>1.0</a:t>
            </a:r>
            <a:endParaRPr lang="en-US" sz="485" dirty="0"/>
          </a:p>
        </p:txBody>
      </p:sp>
      <p:sp>
        <p:nvSpPr>
          <p:cNvPr id="68" name="Shape 63"/>
          <p:cNvSpPr/>
          <p:nvPr/>
        </p:nvSpPr>
        <p:spPr>
          <a:xfrm>
            <a:off x="3365711" y="2928128"/>
            <a:ext cx="491886" cy="5000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4"/>
          <p:cNvSpPr/>
          <p:nvPr/>
        </p:nvSpPr>
        <p:spPr>
          <a:xfrm>
            <a:off x="3401430" y="2963847"/>
            <a:ext cx="4204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10</a:t>
            </a:r>
            <a:endParaRPr lang="en-US" sz="584" dirty="0"/>
          </a:p>
        </p:txBody>
      </p:sp>
      <p:sp>
        <p:nvSpPr>
          <p:cNvPr id="70" name="Shape 65"/>
          <p:cNvSpPr/>
          <p:nvPr/>
        </p:nvSpPr>
        <p:spPr>
          <a:xfrm>
            <a:off x="3943350" y="1940505"/>
            <a:ext cx="1900238" cy="2571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4024303" y="2011942"/>
            <a:ext cx="1747847" cy="192881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Monthly Summary</a:t>
            </a:r>
            <a:endParaRPr lang="en-US" sz="683" dirty="0"/>
          </a:p>
        </p:txBody>
      </p:sp>
      <p:sp>
        <p:nvSpPr>
          <p:cNvPr id="72" name="Text 67"/>
          <p:cNvSpPr/>
          <p:nvPr/>
        </p:nvSpPr>
        <p:spPr>
          <a:xfrm>
            <a:off x="4024303" y="2295906"/>
            <a:ext cx="6332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Total Man-days</a:t>
            </a:r>
            <a:endParaRPr lang="en-US" sz="584" dirty="0"/>
          </a:p>
        </p:txBody>
      </p:sp>
      <p:sp>
        <p:nvSpPr>
          <p:cNvPr id="73" name="Text 68"/>
          <p:cNvSpPr/>
          <p:nvPr/>
        </p:nvSpPr>
        <p:spPr>
          <a:xfrm>
            <a:off x="5318131" y="2276261"/>
            <a:ext cx="4540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18.5 MD</a:t>
            </a:r>
            <a:endParaRPr lang="en-US" sz="784" dirty="0"/>
          </a:p>
        </p:txBody>
      </p:sp>
      <p:sp>
        <p:nvSpPr>
          <p:cNvPr id="74" name="Text 69"/>
          <p:cNvSpPr/>
          <p:nvPr/>
        </p:nvSpPr>
        <p:spPr>
          <a:xfrm>
            <a:off x="4024303" y="2522720"/>
            <a:ext cx="4657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Daily Wage</a:t>
            </a:r>
            <a:endParaRPr lang="en-US" sz="584" dirty="0"/>
          </a:p>
        </p:txBody>
      </p:sp>
      <p:sp>
        <p:nvSpPr>
          <p:cNvPr id="75" name="Text 70"/>
          <p:cNvSpPr/>
          <p:nvPr/>
        </p:nvSpPr>
        <p:spPr>
          <a:xfrm>
            <a:off x="5341906" y="2503075"/>
            <a:ext cx="4302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150,000</a:t>
            </a:r>
            <a:endParaRPr lang="en-US" sz="784" dirty="0"/>
          </a:p>
        </p:txBody>
      </p:sp>
      <p:sp>
        <p:nvSpPr>
          <p:cNvPr id="76" name="Text 71"/>
          <p:cNvSpPr/>
          <p:nvPr/>
        </p:nvSpPr>
        <p:spPr>
          <a:xfrm>
            <a:off x="4024303" y="2919199"/>
            <a:ext cx="6986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Est. Pay (Pre-tax)</a:t>
            </a:r>
            <a:endParaRPr lang="en-US" sz="584" dirty="0"/>
          </a:p>
        </p:txBody>
      </p:sp>
      <p:sp>
        <p:nvSpPr>
          <p:cNvPr id="77" name="Text 72"/>
          <p:cNvSpPr/>
          <p:nvPr/>
        </p:nvSpPr>
        <p:spPr>
          <a:xfrm>
            <a:off x="5109483" y="2879908"/>
            <a:ext cx="6626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2,775,000</a:t>
            </a:r>
            <a:endParaRPr lang="en-US" sz="987" dirty="0"/>
          </a:p>
        </p:txBody>
      </p:sp>
      <p:sp>
        <p:nvSpPr>
          <p:cNvPr id="78" name="Shape 73"/>
          <p:cNvSpPr/>
          <p:nvPr/>
        </p:nvSpPr>
        <p:spPr>
          <a:xfrm>
            <a:off x="2143125" y="288348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4"/>
          <p:cNvSpPr/>
          <p:nvPr/>
        </p:nvSpPr>
        <p:spPr>
          <a:xfrm>
            <a:off x="2143125" y="288348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80" name="Shape 75"/>
          <p:cNvSpPr/>
          <p:nvPr/>
        </p:nvSpPr>
        <p:spPr>
          <a:xfrm>
            <a:off x="6143625" y="1597605"/>
            <a:ext cx="2714625" cy="1485900"/>
          </a:xfrm>
          <a:prstGeom prst="rect">
            <a:avLst/>
          </a:prstGeom>
          <a:solidFill>
            <a:srgbClr val="0F172A"/>
          </a:solidFill>
          <a:ln w="27432">
            <a:solidFill>
              <a:srgbClr val="334155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215063" y="1697617"/>
            <a:ext cx="257175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77"/>
          <p:cNvSpPr/>
          <p:nvPr/>
        </p:nvSpPr>
        <p:spPr>
          <a:xfrm>
            <a:off x="6215063" y="1697617"/>
            <a:ext cx="2571750" cy="24110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3" name="Text 78"/>
          <p:cNvSpPr/>
          <p:nvPr/>
        </p:nvSpPr>
        <p:spPr>
          <a:xfrm>
            <a:off x="7210388" y="1754767"/>
            <a:ext cx="5810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My Calendar</a:t>
            </a:r>
            <a:endParaRPr lang="en-US" sz="634" dirty="0"/>
          </a:p>
        </p:txBody>
      </p:sp>
      <p:sp>
        <p:nvSpPr>
          <p:cNvPr id="84" name="Text 79"/>
          <p:cNvSpPr/>
          <p:nvPr/>
        </p:nvSpPr>
        <p:spPr>
          <a:xfrm>
            <a:off x="6364049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S</a:t>
            </a:r>
            <a:endParaRPr lang="en-US" sz="516" dirty="0"/>
          </a:p>
        </p:txBody>
      </p:sp>
      <p:sp>
        <p:nvSpPr>
          <p:cNvPr id="85" name="Text 80"/>
          <p:cNvSpPr/>
          <p:nvPr/>
        </p:nvSpPr>
        <p:spPr>
          <a:xfrm>
            <a:off x="6719171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M</a:t>
            </a:r>
            <a:endParaRPr lang="en-US" sz="516" dirty="0"/>
          </a:p>
        </p:txBody>
      </p:sp>
      <p:sp>
        <p:nvSpPr>
          <p:cNvPr id="86" name="Text 81"/>
          <p:cNvSpPr/>
          <p:nvPr/>
        </p:nvSpPr>
        <p:spPr>
          <a:xfrm>
            <a:off x="7074322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T</a:t>
            </a:r>
            <a:endParaRPr lang="en-US" sz="516" dirty="0"/>
          </a:p>
        </p:txBody>
      </p:sp>
      <p:sp>
        <p:nvSpPr>
          <p:cNvPr id="87" name="Text 82"/>
          <p:cNvSpPr/>
          <p:nvPr/>
        </p:nvSpPr>
        <p:spPr>
          <a:xfrm>
            <a:off x="7429472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W</a:t>
            </a:r>
            <a:endParaRPr lang="en-US" sz="516" dirty="0"/>
          </a:p>
        </p:txBody>
      </p:sp>
      <p:sp>
        <p:nvSpPr>
          <p:cNvPr id="88" name="Text 83"/>
          <p:cNvSpPr/>
          <p:nvPr/>
        </p:nvSpPr>
        <p:spPr>
          <a:xfrm>
            <a:off x="7784623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T</a:t>
            </a:r>
            <a:endParaRPr lang="en-US" sz="516" dirty="0"/>
          </a:p>
        </p:txBody>
      </p:sp>
      <p:sp>
        <p:nvSpPr>
          <p:cNvPr id="89" name="Text 84"/>
          <p:cNvSpPr/>
          <p:nvPr/>
        </p:nvSpPr>
        <p:spPr>
          <a:xfrm>
            <a:off x="8139773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F</a:t>
            </a:r>
            <a:endParaRPr lang="en-US" sz="516" dirty="0"/>
          </a:p>
        </p:txBody>
      </p:sp>
      <p:sp>
        <p:nvSpPr>
          <p:cNvPr id="90" name="Text 85"/>
          <p:cNvSpPr/>
          <p:nvPr/>
        </p:nvSpPr>
        <p:spPr>
          <a:xfrm>
            <a:off x="8494923" y="19958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S</a:t>
            </a:r>
            <a:endParaRPr lang="en-US" sz="516" dirty="0"/>
          </a:p>
        </p:txBody>
      </p:sp>
      <p:sp>
        <p:nvSpPr>
          <p:cNvPr id="91" name="Text 86"/>
          <p:cNvSpPr/>
          <p:nvPr/>
        </p:nvSpPr>
        <p:spPr>
          <a:xfrm>
            <a:off x="7784623" y="216731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1</a:t>
            </a:r>
            <a:endParaRPr lang="en-US" sz="516" dirty="0"/>
          </a:p>
        </p:txBody>
      </p:sp>
      <p:sp>
        <p:nvSpPr>
          <p:cNvPr id="92" name="Text 87"/>
          <p:cNvSpPr/>
          <p:nvPr/>
        </p:nvSpPr>
        <p:spPr>
          <a:xfrm>
            <a:off x="8190756" y="218964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2</a:t>
            </a:r>
            <a:endParaRPr lang="en-US" sz="516" dirty="0"/>
          </a:p>
        </p:txBody>
      </p:sp>
      <p:sp>
        <p:nvSpPr>
          <p:cNvPr id="93" name="Text 88"/>
          <p:cNvSpPr/>
          <p:nvPr/>
        </p:nvSpPr>
        <p:spPr>
          <a:xfrm>
            <a:off x="8494923" y="216731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3</a:t>
            </a:r>
            <a:endParaRPr lang="en-US" sz="516" dirty="0"/>
          </a:p>
        </p:txBody>
      </p:sp>
      <p:sp>
        <p:nvSpPr>
          <p:cNvPr id="94" name="Text 89"/>
          <p:cNvSpPr/>
          <p:nvPr/>
        </p:nvSpPr>
        <p:spPr>
          <a:xfrm>
            <a:off x="6364049" y="23387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4</a:t>
            </a:r>
            <a:endParaRPr lang="en-US" sz="516" dirty="0"/>
          </a:p>
        </p:txBody>
      </p:sp>
      <p:sp>
        <p:nvSpPr>
          <p:cNvPr id="95" name="Text 90"/>
          <p:cNvSpPr/>
          <p:nvPr/>
        </p:nvSpPr>
        <p:spPr>
          <a:xfrm>
            <a:off x="6770154" y="236109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5</a:t>
            </a:r>
            <a:endParaRPr lang="en-US" sz="516" dirty="0"/>
          </a:p>
        </p:txBody>
      </p:sp>
      <p:sp>
        <p:nvSpPr>
          <p:cNvPr id="96" name="Text 91"/>
          <p:cNvSpPr/>
          <p:nvPr/>
        </p:nvSpPr>
        <p:spPr>
          <a:xfrm>
            <a:off x="7125305" y="236109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6</a:t>
            </a:r>
            <a:endParaRPr lang="en-US" sz="516" dirty="0"/>
          </a:p>
        </p:txBody>
      </p:sp>
      <p:sp>
        <p:nvSpPr>
          <p:cNvPr id="97" name="Text 92"/>
          <p:cNvSpPr/>
          <p:nvPr/>
        </p:nvSpPr>
        <p:spPr>
          <a:xfrm>
            <a:off x="7480455" y="236109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7</a:t>
            </a:r>
            <a:endParaRPr lang="en-US" sz="516" dirty="0"/>
          </a:p>
        </p:txBody>
      </p:sp>
      <p:sp>
        <p:nvSpPr>
          <p:cNvPr id="98" name="Text 93"/>
          <p:cNvSpPr/>
          <p:nvPr/>
        </p:nvSpPr>
        <p:spPr>
          <a:xfrm>
            <a:off x="7835605" y="236109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8</a:t>
            </a:r>
            <a:endParaRPr lang="en-US" sz="516" dirty="0"/>
          </a:p>
        </p:txBody>
      </p:sp>
      <p:sp>
        <p:nvSpPr>
          <p:cNvPr id="99" name="Text 94"/>
          <p:cNvSpPr/>
          <p:nvPr/>
        </p:nvSpPr>
        <p:spPr>
          <a:xfrm>
            <a:off x="8190756" y="2361093"/>
            <a:ext cx="4088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9</a:t>
            </a:r>
            <a:endParaRPr lang="en-US" sz="516" dirty="0"/>
          </a:p>
        </p:txBody>
      </p:sp>
      <p:sp>
        <p:nvSpPr>
          <p:cNvPr id="100" name="Text 95"/>
          <p:cNvSpPr/>
          <p:nvPr/>
        </p:nvSpPr>
        <p:spPr>
          <a:xfrm>
            <a:off x="8494923" y="233876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4155"/>
                </a:solidFill>
              </a:rPr>
              <a:t>10</a:t>
            </a:r>
            <a:endParaRPr lang="en-US" sz="516" dirty="0"/>
          </a:p>
        </p:txBody>
      </p:sp>
      <p:sp>
        <p:nvSpPr>
          <p:cNvPr id="101" name="Shape 96"/>
          <p:cNvSpPr/>
          <p:nvPr/>
        </p:nvSpPr>
        <p:spPr>
          <a:xfrm>
            <a:off x="6215063" y="2590586"/>
            <a:ext cx="2571750" cy="39290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2" name="Shape 97"/>
          <p:cNvSpPr/>
          <p:nvPr/>
        </p:nvSpPr>
        <p:spPr>
          <a:xfrm>
            <a:off x="6215063" y="2590586"/>
            <a:ext cx="25717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" name="Text 98"/>
          <p:cNvSpPr/>
          <p:nvPr/>
        </p:nvSpPr>
        <p:spPr>
          <a:xfrm>
            <a:off x="6272213" y="2669167"/>
            <a:ext cx="3672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Total (Jan)</a:t>
            </a:r>
            <a:endParaRPr lang="en-US" sz="568" dirty="0"/>
          </a:p>
        </p:txBody>
      </p:sp>
      <p:sp>
        <p:nvSpPr>
          <p:cNvPr id="104" name="Text 99"/>
          <p:cNvSpPr/>
          <p:nvPr/>
        </p:nvSpPr>
        <p:spPr>
          <a:xfrm>
            <a:off x="8332403" y="2654880"/>
            <a:ext cx="3972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18.5 MD</a:t>
            </a:r>
            <a:endParaRPr lang="en-US" sz="683" dirty="0"/>
          </a:p>
        </p:txBody>
      </p:sp>
      <p:sp>
        <p:nvSpPr>
          <p:cNvPr id="105" name="Text 100"/>
          <p:cNvSpPr/>
          <p:nvPr/>
        </p:nvSpPr>
        <p:spPr>
          <a:xfrm>
            <a:off x="6272213" y="2804899"/>
            <a:ext cx="2829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Est. Pay</a:t>
            </a:r>
            <a:endParaRPr lang="en-US" sz="568" dirty="0"/>
          </a:p>
        </p:txBody>
      </p:sp>
      <p:sp>
        <p:nvSpPr>
          <p:cNvPr id="106" name="Text 101"/>
          <p:cNvSpPr/>
          <p:nvPr/>
        </p:nvSpPr>
        <p:spPr>
          <a:xfrm>
            <a:off x="8171780" y="2790611"/>
            <a:ext cx="5578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2.77M KRW</a:t>
            </a:r>
            <a:endParaRPr lang="en-US" sz="683" dirty="0"/>
          </a:p>
        </p:txBody>
      </p:sp>
      <p:sp>
        <p:nvSpPr>
          <p:cNvPr id="107" name="Shape 102"/>
          <p:cNvSpPr/>
          <p:nvPr/>
        </p:nvSpPr>
        <p:spPr>
          <a:xfrm>
            <a:off x="8601075" y="259773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8" name="Text 103"/>
          <p:cNvSpPr/>
          <p:nvPr/>
        </p:nvSpPr>
        <p:spPr>
          <a:xfrm>
            <a:off x="8601075" y="259773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09" name="Shape 104"/>
          <p:cNvSpPr/>
          <p:nvPr/>
        </p:nvSpPr>
        <p:spPr>
          <a:xfrm>
            <a:off x="6143625" y="3140655"/>
            <a:ext cx="2714625" cy="185997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6200775" y="3204949"/>
            <a:ext cx="2600325" cy="191095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Implementation Specs</a:t>
            </a:r>
            <a:endParaRPr lang="en-US" sz="784" dirty="0"/>
          </a:p>
        </p:txBody>
      </p:sp>
      <p:sp>
        <p:nvSpPr>
          <p:cNvPr id="111" name="Shape 106"/>
          <p:cNvSpPr/>
          <p:nvPr/>
        </p:nvSpPr>
        <p:spPr>
          <a:xfrm>
            <a:off x="6200775" y="34389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2" name="Text 107"/>
          <p:cNvSpPr/>
          <p:nvPr/>
        </p:nvSpPr>
        <p:spPr>
          <a:xfrm>
            <a:off x="6200775" y="343890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13" name="Text 108"/>
          <p:cNvSpPr/>
          <p:nvPr/>
        </p:nvSpPr>
        <p:spPr>
          <a:xfrm>
            <a:off x="6415088" y="3435334"/>
            <a:ext cx="5272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Monthly API</a:t>
            </a:r>
            <a:endParaRPr lang="en-US" sz="584" dirty="0"/>
          </a:p>
        </p:txBody>
      </p:sp>
      <p:sp>
        <p:nvSpPr>
          <p:cNvPr id="114" name="Shape 109"/>
          <p:cNvSpPr/>
          <p:nvPr/>
        </p:nvSpPr>
        <p:spPr>
          <a:xfrm>
            <a:off x="6415088" y="3564620"/>
            <a:ext cx="1943574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5" name="Text 110"/>
          <p:cNvSpPr/>
          <p:nvPr/>
        </p:nvSpPr>
        <p:spPr>
          <a:xfrm>
            <a:off x="6415088" y="3564620"/>
            <a:ext cx="1943574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GET /api/v1/worker/attendance/monthly</a:t>
            </a:r>
            <a:endParaRPr lang="en-US" sz="621" dirty="0"/>
          </a:p>
        </p:txBody>
      </p:sp>
      <p:sp>
        <p:nvSpPr>
          <p:cNvPr id="116" name="Text 111"/>
          <p:cNvSpPr/>
          <p:nvPr/>
        </p:nvSpPr>
        <p:spPr>
          <a:xfrm>
            <a:off x="6415088" y="3701049"/>
            <a:ext cx="19435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Params: year, month. Returns array of daily logs.</a:t>
            </a:r>
            <a:endParaRPr lang="en-US" sz="621" dirty="0"/>
          </a:p>
        </p:txBody>
      </p:sp>
      <p:sp>
        <p:nvSpPr>
          <p:cNvPr id="117" name="Shape 112"/>
          <p:cNvSpPr/>
          <p:nvPr/>
        </p:nvSpPr>
        <p:spPr>
          <a:xfrm>
            <a:off x="6200775" y="385890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8" name="Text 113"/>
          <p:cNvSpPr/>
          <p:nvPr/>
        </p:nvSpPr>
        <p:spPr>
          <a:xfrm>
            <a:off x="6200775" y="3858909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19" name="Text 114"/>
          <p:cNvSpPr/>
          <p:nvPr/>
        </p:nvSpPr>
        <p:spPr>
          <a:xfrm>
            <a:off x="6415088" y="3855337"/>
            <a:ext cx="4259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UI Library</a:t>
            </a:r>
            <a:endParaRPr lang="en-US" sz="584" dirty="0"/>
          </a:p>
        </p:txBody>
      </p:sp>
      <p:sp>
        <p:nvSpPr>
          <p:cNvPr id="120" name="Text 115"/>
          <p:cNvSpPr/>
          <p:nvPr/>
        </p:nvSpPr>
        <p:spPr>
          <a:xfrm>
            <a:off x="6841061" y="3855337"/>
            <a:ext cx="1513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PC:</a:t>
            </a:r>
            <a:endParaRPr lang="en-US" sz="621" dirty="0"/>
          </a:p>
        </p:txBody>
      </p:sp>
      <p:sp>
        <p:nvSpPr>
          <p:cNvPr id="121" name="Shape 116"/>
          <p:cNvSpPr/>
          <p:nvPr/>
        </p:nvSpPr>
        <p:spPr>
          <a:xfrm>
            <a:off x="6415088" y="3984622"/>
            <a:ext cx="1314338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2" name="Text 117"/>
          <p:cNvSpPr/>
          <p:nvPr/>
        </p:nvSpPr>
        <p:spPr>
          <a:xfrm>
            <a:off x="6415088" y="3984622"/>
            <a:ext cx="1314338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react-calendar</a:t>
            </a:r>
            <a:endParaRPr lang="en-US" sz="621" dirty="0"/>
          </a:p>
        </p:txBody>
      </p:sp>
      <p:sp>
        <p:nvSpPr>
          <p:cNvPr id="123" name="Text 118"/>
          <p:cNvSpPr/>
          <p:nvPr/>
        </p:nvSpPr>
        <p:spPr>
          <a:xfrm>
            <a:off x="6415088" y="4121051"/>
            <a:ext cx="1314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with custom tile content. Mobile:</a:t>
            </a:r>
            <a:endParaRPr lang="en-US" sz="621" dirty="0"/>
          </a:p>
        </p:txBody>
      </p:sp>
      <p:sp>
        <p:nvSpPr>
          <p:cNvPr id="124" name="Shape 119"/>
          <p:cNvSpPr/>
          <p:nvPr/>
        </p:nvSpPr>
        <p:spPr>
          <a:xfrm>
            <a:off x="6415088" y="4250336"/>
            <a:ext cx="1314338" cy="1400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5" name="Text 120"/>
          <p:cNvSpPr/>
          <p:nvPr/>
        </p:nvSpPr>
        <p:spPr>
          <a:xfrm>
            <a:off x="6415088" y="4250336"/>
            <a:ext cx="1314338" cy="140001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react-native-calendars</a:t>
            </a:r>
            <a:endParaRPr lang="en-US" sz="621" dirty="0"/>
          </a:p>
        </p:txBody>
      </p:sp>
      <p:sp>
        <p:nvSpPr>
          <p:cNvPr id="126" name="Text 121"/>
          <p:cNvSpPr/>
          <p:nvPr/>
        </p:nvSpPr>
        <p:spPr>
          <a:xfrm>
            <a:off x="6415088" y="4386765"/>
            <a:ext cx="2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.</a:t>
            </a:r>
            <a:endParaRPr lang="en-US" sz="621" dirty="0"/>
          </a:p>
        </p:txBody>
      </p:sp>
      <p:sp>
        <p:nvSpPr>
          <p:cNvPr id="127" name="Shape 122"/>
          <p:cNvSpPr/>
          <p:nvPr/>
        </p:nvSpPr>
        <p:spPr>
          <a:xfrm>
            <a:off x="6200775" y="454462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8" name="Text 123"/>
          <p:cNvSpPr/>
          <p:nvPr/>
        </p:nvSpPr>
        <p:spPr>
          <a:xfrm>
            <a:off x="6200775" y="454462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29" name="Text 124"/>
          <p:cNvSpPr/>
          <p:nvPr/>
        </p:nvSpPr>
        <p:spPr>
          <a:xfrm>
            <a:off x="6415088" y="4544625"/>
            <a:ext cx="2386013" cy="22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Calculation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Client-side sum for estimation. Disclaimer: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"Actual pay may vary due to tax/deductions."</a:t>
            </a:r>
            <a:endParaRPr lang="en-US" sz="58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기술 명세 및 최종 점검 리스트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00113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안정적인 시스템 운영을 위한 백엔드 핵심 기술 및 배포 전 필수 점검 항목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4972050" cy="9751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1475" y="1514475"/>
            <a:ext cx="357188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28" y="1614488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" y="1514475"/>
            <a:ext cx="4371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Multi-tenant Isolation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800100" y="1746647"/>
            <a:ext cx="43719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데이터 격리를 위해 모든 테이블에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tenant_id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컬럼을 추가하고, Hibernate Filter를 통해 쿼리 레벨에서 자동 필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터링을 적용합니다.</a:t>
            </a:r>
            <a:endParaRPr lang="en-US" sz="674" dirty="0"/>
          </a:p>
        </p:txBody>
      </p:sp>
      <p:sp>
        <p:nvSpPr>
          <p:cNvPr id="12" name="Shape 8"/>
          <p:cNvSpPr/>
          <p:nvPr/>
        </p:nvSpPr>
        <p:spPr>
          <a:xfrm>
            <a:off x="800100" y="2082403"/>
            <a:ext cx="4371975" cy="2214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9"/>
          <p:cNvSpPr/>
          <p:nvPr/>
        </p:nvSpPr>
        <p:spPr>
          <a:xfrm>
            <a:off x="800100" y="2082403"/>
            <a:ext cx="21431" cy="2214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800100" y="2082403"/>
            <a:ext cx="4371975" cy="22145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@Filter(name = "tenantFilter", condition = "tenant_id = :tenantId")</a:t>
            </a:r>
            <a:endParaRPr lang="en-US" sz="568" dirty="0"/>
          </a:p>
        </p:txBody>
      </p:sp>
      <p:sp>
        <p:nvSpPr>
          <p:cNvPr id="15" name="Shape 11"/>
          <p:cNvSpPr/>
          <p:nvPr/>
        </p:nvSpPr>
        <p:spPr>
          <a:xfrm>
            <a:off x="285750" y="2475309"/>
            <a:ext cx="4972050" cy="9751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1475" y="2561034"/>
            <a:ext cx="357188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8" y="2661047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" y="2561034"/>
            <a:ext cx="4371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Security &amp; Encryption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800100" y="2793206"/>
            <a:ext cx="43719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주민등록번호 및 계좌번호는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AES-256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알고리즘으로 암호화하여 DB에 저장하며, 비밀번호는 Salt를 포함한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SHA-256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해싱을 적용합니다.</a:t>
            </a:r>
            <a:endParaRPr lang="en-US" sz="674" dirty="0"/>
          </a:p>
        </p:txBody>
      </p:sp>
      <p:sp>
        <p:nvSpPr>
          <p:cNvPr id="20" name="Shape 15"/>
          <p:cNvSpPr/>
          <p:nvPr/>
        </p:nvSpPr>
        <p:spPr>
          <a:xfrm>
            <a:off x="800100" y="3128963"/>
            <a:ext cx="4371975" cy="2214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800100" y="3128963"/>
            <a:ext cx="21431" cy="2214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7"/>
          <p:cNvSpPr/>
          <p:nvPr/>
        </p:nvSpPr>
        <p:spPr>
          <a:xfrm>
            <a:off x="800100" y="3128963"/>
            <a:ext cx="4371975" cy="22145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Cipher.getInstance("AES/CBC/PKCS5Padding");</a:t>
            </a:r>
            <a:endParaRPr lang="en-US" sz="568" dirty="0"/>
          </a:p>
        </p:txBody>
      </p:sp>
      <p:sp>
        <p:nvSpPr>
          <p:cNvPr id="23" name="Shape 18"/>
          <p:cNvSpPr/>
          <p:nvPr/>
        </p:nvSpPr>
        <p:spPr>
          <a:xfrm>
            <a:off x="285750" y="3521869"/>
            <a:ext cx="4972050" cy="9751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71475" y="3607594"/>
            <a:ext cx="357188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58" y="3707606"/>
            <a:ext cx="160734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0100" y="3607594"/>
            <a:ext cx="4371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Performance Optimization</a:t>
            </a:r>
            <a:endParaRPr lang="en-US" sz="885" dirty="0"/>
          </a:p>
        </p:txBody>
      </p:sp>
      <p:sp>
        <p:nvSpPr>
          <p:cNvPr id="27" name="Text 21"/>
          <p:cNvSpPr/>
          <p:nvPr/>
        </p:nvSpPr>
        <p:spPr>
          <a:xfrm>
            <a:off x="800100" y="3839766"/>
            <a:ext cx="43719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JWT 토큰 블랙리스트 및 공통 코드 캐싱을 위해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Redis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를 사용하고, 대용량 정산 데이터 처리는 Spring Batch를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통해 비동기로 수행합니다.</a:t>
            </a:r>
            <a:endParaRPr lang="en-US" sz="674" dirty="0"/>
          </a:p>
        </p:txBody>
      </p:sp>
      <p:sp>
        <p:nvSpPr>
          <p:cNvPr id="28" name="Shape 22"/>
          <p:cNvSpPr/>
          <p:nvPr/>
        </p:nvSpPr>
        <p:spPr>
          <a:xfrm>
            <a:off x="800100" y="4175522"/>
            <a:ext cx="4371975" cy="2214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Shape 23"/>
          <p:cNvSpPr/>
          <p:nvPr/>
        </p:nvSpPr>
        <p:spPr>
          <a:xfrm>
            <a:off x="800100" y="4175522"/>
            <a:ext cx="21431" cy="2214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4"/>
          <p:cNvSpPr/>
          <p:nvPr/>
        </p:nvSpPr>
        <p:spPr>
          <a:xfrm>
            <a:off x="800100" y="4175522"/>
            <a:ext cx="4371975" cy="22145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B82F6"/>
                </a:solidFill>
              </a:rPr>
              <a:t>@Cacheable(value = "commonCodes", key = "#codeGroup")</a:t>
            </a:r>
            <a:endParaRPr lang="en-US" sz="568" dirty="0"/>
          </a:p>
        </p:txBody>
      </p:sp>
      <p:sp>
        <p:nvSpPr>
          <p:cNvPr id="31" name="Shape 25"/>
          <p:cNvSpPr/>
          <p:nvPr/>
        </p:nvSpPr>
        <p:spPr>
          <a:xfrm>
            <a:off x="5543550" y="1428750"/>
            <a:ext cx="3314700" cy="3571875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1543050"/>
            <a:ext cx="117872" cy="15716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18584" y="1514475"/>
            <a:ext cx="11565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Final Checklist</a:t>
            </a:r>
            <a:endParaRPr lang="en-US" sz="1090" dirty="0"/>
          </a:p>
        </p:txBody>
      </p:sp>
      <p:sp>
        <p:nvSpPr>
          <p:cNvPr id="34" name="Text 27"/>
          <p:cNvSpPr/>
          <p:nvPr/>
        </p:nvSpPr>
        <p:spPr>
          <a:xfrm>
            <a:off x="5629275" y="1900238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Frontend (React/Native)</a:t>
            </a:r>
            <a:endParaRPr lang="en-US" sz="683" dirty="0"/>
          </a:p>
        </p:txBody>
      </p:sp>
      <p:sp>
        <p:nvSpPr>
          <p:cNvPr id="35" name="Shape 28"/>
          <p:cNvSpPr/>
          <p:nvPr/>
        </p:nvSpPr>
        <p:spPr>
          <a:xfrm>
            <a:off x="5629275" y="2093119"/>
            <a:ext cx="3143250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686425" y="2150269"/>
            <a:ext cx="171450" cy="171450"/>
          </a:xfrm>
          <a:prstGeom prst="rect">
            <a:avLst/>
          </a:prstGeom>
          <a:solidFill>
            <a:srgbClr val="DCFCE7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7856" y="2171700"/>
            <a:ext cx="100013" cy="10001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915025" y="2153841"/>
            <a:ext cx="16887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모든 입력 폼 유효성 검사 (Validation) 적용</a:t>
            </a:r>
            <a:endParaRPr lang="en-US" sz="634" dirty="0"/>
          </a:p>
        </p:txBody>
      </p:sp>
      <p:sp>
        <p:nvSpPr>
          <p:cNvPr id="39" name="Shape 31"/>
          <p:cNvSpPr/>
          <p:nvPr/>
        </p:nvSpPr>
        <p:spPr>
          <a:xfrm>
            <a:off x="5629275" y="2407444"/>
            <a:ext cx="3143250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686425" y="2464594"/>
            <a:ext cx="171450" cy="171450"/>
          </a:xfrm>
          <a:prstGeom prst="rect">
            <a:avLst/>
          </a:prstGeom>
          <a:solidFill>
            <a:srgbClr val="DCFCE7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7856" y="2486025"/>
            <a:ext cx="100013" cy="10001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915025" y="2468166"/>
            <a:ext cx="18841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API 에러 응답에 대한 사용자 알림 (Toast/Alert)</a:t>
            </a:r>
            <a:endParaRPr lang="en-US" sz="634" dirty="0"/>
          </a:p>
        </p:txBody>
      </p:sp>
      <p:sp>
        <p:nvSpPr>
          <p:cNvPr id="43" name="Shape 34"/>
          <p:cNvSpPr/>
          <p:nvPr/>
        </p:nvSpPr>
        <p:spPr>
          <a:xfrm>
            <a:off x="5629275" y="2721769"/>
            <a:ext cx="3143250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943600" y="2796778"/>
            <a:ext cx="12927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모바일 반응형 레이아웃 깨짐 확인</a:t>
            </a:r>
            <a:endParaRPr lang="en-US" sz="634" dirty="0"/>
          </a:p>
        </p:txBody>
      </p:sp>
      <p:sp>
        <p:nvSpPr>
          <p:cNvPr id="45" name="Text 36"/>
          <p:cNvSpPr/>
          <p:nvPr/>
        </p:nvSpPr>
        <p:spPr>
          <a:xfrm>
            <a:off x="5629275" y="3150394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Backend (Spring Boot)</a:t>
            </a:r>
            <a:endParaRPr lang="en-US" sz="683" dirty="0"/>
          </a:p>
        </p:txBody>
      </p:sp>
      <p:sp>
        <p:nvSpPr>
          <p:cNvPr id="46" name="Shape 37"/>
          <p:cNvSpPr/>
          <p:nvPr/>
        </p:nvSpPr>
        <p:spPr>
          <a:xfrm>
            <a:off x="5629275" y="3343275"/>
            <a:ext cx="3143250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686425" y="3400425"/>
            <a:ext cx="171450" cy="171450"/>
          </a:xfrm>
          <a:prstGeom prst="rect">
            <a:avLst/>
          </a:prstGeom>
          <a:solidFill>
            <a:srgbClr val="DCFCE7"/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7856" y="3421856"/>
            <a:ext cx="100013" cy="100013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915025" y="3403997"/>
            <a:ext cx="16072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테넌트 격리 필터 동작 테스트 (Unit Test)</a:t>
            </a:r>
            <a:endParaRPr lang="en-US" sz="634" dirty="0"/>
          </a:p>
        </p:txBody>
      </p:sp>
      <p:sp>
        <p:nvSpPr>
          <p:cNvPr id="50" name="Shape 40"/>
          <p:cNvSpPr/>
          <p:nvPr/>
        </p:nvSpPr>
        <p:spPr>
          <a:xfrm>
            <a:off x="5629275" y="3657600"/>
            <a:ext cx="3143250" cy="30003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5943600" y="3732609"/>
            <a:ext cx="16567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Swagger API 문서 최신화 및 예제 값 확인</a:t>
            </a:r>
            <a:endParaRPr lang="en-US" sz="634" dirty="0"/>
          </a:p>
        </p:txBody>
      </p:sp>
      <p:sp>
        <p:nvSpPr>
          <p:cNvPr id="52" name="Text 42"/>
          <p:cNvSpPr/>
          <p:nvPr/>
        </p:nvSpPr>
        <p:spPr>
          <a:xfrm>
            <a:off x="5629275" y="4709517"/>
            <a:ext cx="3143250" cy="20538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* 모든 항목이 'Checked' 상태여야 운영 배포가 가능합니다.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2026-01-19T05:56:55Z</dcterms:created>
  <dcterms:modified xsi:type="dcterms:W3CDTF">2026-01-19T05:56:55Z</dcterms:modified>
</cp:coreProperties>
</file>