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887276"/>
            <a:ext cx="1028309" cy="303609"/>
          </a:xfrm>
          <a:prstGeom prst="round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1500" y="887276"/>
            <a:ext cx="1028309" cy="303609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VERSION 3.0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571500" y="1398054"/>
            <a:ext cx="800100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SmartCON Lite</a:t>
            </a:r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통합 상세설계 가이드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571500" y="2638165"/>
            <a:ext cx="80010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플랫폼별 UI 명세 및 CRUD 완벽 가이드</a:t>
            </a:r>
            <a:endParaRPr lang="en-US" sz="1602" dirty="0"/>
          </a:p>
        </p:txBody>
      </p:sp>
      <p:sp>
        <p:nvSpPr>
          <p:cNvPr id="7" name="Shape 4"/>
          <p:cNvSpPr/>
          <p:nvPr/>
        </p:nvSpPr>
        <p:spPr>
          <a:xfrm>
            <a:off x="571500" y="3398974"/>
            <a:ext cx="2524116" cy="85010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3398974"/>
            <a:ext cx="28575" cy="85010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3573996"/>
            <a:ext cx="142875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28688" y="3541849"/>
            <a:ext cx="99443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플랫폼 완전 분리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714375" y="3806168"/>
            <a:ext cx="223836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PC Web, Mobile Web, Mobile App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 각 환경별 전용 UI/UX 설계</a:t>
            </a:r>
            <a:endParaRPr lang="en-US" sz="727" dirty="0"/>
          </a:p>
        </p:txBody>
      </p:sp>
      <p:sp>
        <p:nvSpPr>
          <p:cNvPr id="12" name="Shape 8"/>
          <p:cNvSpPr/>
          <p:nvPr/>
        </p:nvSpPr>
        <p:spPr>
          <a:xfrm>
            <a:off x="3309928" y="3398974"/>
            <a:ext cx="2524116" cy="85010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9"/>
          <p:cNvSpPr/>
          <p:nvPr/>
        </p:nvSpPr>
        <p:spPr>
          <a:xfrm>
            <a:off x="3309928" y="3398974"/>
            <a:ext cx="28575" cy="85010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803" y="3573996"/>
            <a:ext cx="125016" cy="1428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49256" y="3541849"/>
            <a:ext cx="99914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CRUD 상세 명세</a:t>
            </a:r>
            <a:endParaRPr lang="en-US" sz="987" dirty="0"/>
          </a:p>
        </p:txBody>
      </p:sp>
      <p:sp>
        <p:nvSpPr>
          <p:cNvPr id="16" name="Text 11"/>
          <p:cNvSpPr/>
          <p:nvPr/>
        </p:nvSpPr>
        <p:spPr>
          <a:xfrm>
            <a:off x="3452803" y="3806168"/>
            <a:ext cx="223836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목록, 상세, 등록, 수정, 삭제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 모든 데이터 조작 흐름 완벽 정의</a:t>
            </a:r>
            <a:endParaRPr lang="en-US" sz="727" dirty="0"/>
          </a:p>
        </p:txBody>
      </p:sp>
      <p:sp>
        <p:nvSpPr>
          <p:cNvPr id="17" name="Shape 12"/>
          <p:cNvSpPr/>
          <p:nvPr/>
        </p:nvSpPr>
        <p:spPr>
          <a:xfrm>
            <a:off x="6048356" y="3398974"/>
            <a:ext cx="2524144" cy="85010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3"/>
          <p:cNvSpPr/>
          <p:nvPr/>
        </p:nvSpPr>
        <p:spPr>
          <a:xfrm>
            <a:off x="6048356" y="3398974"/>
            <a:ext cx="28575" cy="85010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31" y="3573996"/>
            <a:ext cx="178594" cy="1428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41263" y="3541849"/>
            <a:ext cx="82582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개발자 친화적</a:t>
            </a:r>
            <a:endParaRPr lang="en-US" sz="987" dirty="0"/>
          </a:p>
        </p:txBody>
      </p:sp>
      <p:sp>
        <p:nvSpPr>
          <p:cNvPr id="21" name="Text 15"/>
          <p:cNvSpPr/>
          <p:nvPr/>
        </p:nvSpPr>
        <p:spPr>
          <a:xfrm>
            <a:off x="6191231" y="3806168"/>
            <a:ext cx="223839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API 엔드포인트, 파라미터,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 팝업 텍스트까지 포함한 구현 지침</a:t>
            </a:r>
            <a:endParaRPr lang="en-US" sz="727" dirty="0"/>
          </a:p>
        </p:txBody>
      </p:sp>
      <p:sp>
        <p:nvSpPr>
          <p:cNvPr id="22" name="Shape 16"/>
          <p:cNvSpPr/>
          <p:nvPr/>
        </p:nvSpPr>
        <p:spPr>
          <a:xfrm>
            <a:off x="571500" y="4563070"/>
            <a:ext cx="8001000" cy="2946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571500" y="4563070"/>
            <a:ext cx="80010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18"/>
          <p:cNvSpPr/>
          <p:nvPr/>
        </p:nvSpPr>
        <p:spPr>
          <a:xfrm>
            <a:off x="571500" y="4713089"/>
            <a:ext cx="113895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Target: 초급 풀스택 개발자</a:t>
            </a:r>
            <a:endParaRPr lang="en-US" sz="727" dirty="0"/>
          </a:p>
        </p:txBody>
      </p:sp>
      <p:sp>
        <p:nvSpPr>
          <p:cNvPr id="25" name="Text 19"/>
          <p:cNvSpPr/>
          <p:nvPr/>
        </p:nvSpPr>
        <p:spPr>
          <a:xfrm>
            <a:off x="7786799" y="4713089"/>
            <a:ext cx="78570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Date: 2026.01.20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3571875" cy="3571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428625"/>
            <a:ext cx="3571875" cy="21431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642938"/>
            <a:ext cx="1428750" cy="335756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285750" y="642938"/>
            <a:ext cx="1428750" cy="3357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SmartCON Lite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1928813" y="1608237"/>
            <a:ext cx="17145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Email</a:t>
            </a:r>
            <a:endParaRPr lang="en-US" sz="584" dirty="0"/>
          </a:p>
        </p:txBody>
      </p:sp>
      <p:sp>
        <p:nvSpPr>
          <p:cNvPr id="8" name="Shape 5"/>
          <p:cNvSpPr/>
          <p:nvPr/>
        </p:nvSpPr>
        <p:spPr>
          <a:xfrm>
            <a:off x="3500438" y="160734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3500438" y="160734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1928813" y="2094012"/>
            <a:ext cx="17145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Password</a:t>
            </a:r>
            <a:endParaRPr lang="en-US" sz="584" dirty="0"/>
          </a:p>
        </p:txBody>
      </p:sp>
      <p:sp>
        <p:nvSpPr>
          <p:cNvPr id="11" name="Shape 8"/>
          <p:cNvSpPr/>
          <p:nvPr/>
        </p:nvSpPr>
        <p:spPr>
          <a:xfrm>
            <a:off x="3500438" y="2035969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3500438" y="203596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3" name="Shape 10"/>
          <p:cNvSpPr/>
          <p:nvPr/>
        </p:nvSpPr>
        <p:spPr>
          <a:xfrm>
            <a:off x="1928813" y="2579787"/>
            <a:ext cx="1714500" cy="25003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1928813" y="2579787"/>
            <a:ext cx="1714500" cy="25003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LOGIN</a:t>
            </a:r>
            <a:endParaRPr lang="en-US" sz="634" dirty="0"/>
          </a:p>
        </p:txBody>
      </p:sp>
      <p:sp>
        <p:nvSpPr>
          <p:cNvPr id="15" name="Shape 12"/>
          <p:cNvSpPr/>
          <p:nvPr/>
        </p:nvSpPr>
        <p:spPr>
          <a:xfrm>
            <a:off x="3500438" y="239315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3"/>
          <p:cNvSpPr/>
          <p:nvPr/>
        </p:nvSpPr>
        <p:spPr>
          <a:xfrm>
            <a:off x="3500438" y="239315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1928813" y="2936974"/>
            <a:ext cx="23853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Find ID</a:t>
            </a:r>
            <a:endParaRPr lang="en-US" sz="516" dirty="0"/>
          </a:p>
        </p:txBody>
      </p:sp>
      <p:sp>
        <p:nvSpPr>
          <p:cNvPr id="18" name="Text 15"/>
          <p:cNvSpPr/>
          <p:nvPr/>
        </p:nvSpPr>
        <p:spPr>
          <a:xfrm>
            <a:off x="3116600" y="2936974"/>
            <a:ext cx="526712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Reset Password</a:t>
            </a:r>
            <a:endParaRPr lang="en-US" sz="516" dirty="0"/>
          </a:p>
        </p:txBody>
      </p:sp>
      <p:sp>
        <p:nvSpPr>
          <p:cNvPr id="19" name="Shape 16"/>
          <p:cNvSpPr/>
          <p:nvPr/>
        </p:nvSpPr>
        <p:spPr>
          <a:xfrm>
            <a:off x="3500438" y="267890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7"/>
          <p:cNvSpPr/>
          <p:nvPr/>
        </p:nvSpPr>
        <p:spPr>
          <a:xfrm>
            <a:off x="3500438" y="267890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4</a:t>
            </a:r>
            <a:endParaRPr lang="en-US" sz="584" dirty="0"/>
          </a:p>
        </p:txBody>
      </p:sp>
      <p:sp>
        <p:nvSpPr>
          <p:cNvPr id="21" name="Text 18"/>
          <p:cNvSpPr/>
          <p:nvPr/>
        </p:nvSpPr>
        <p:spPr>
          <a:xfrm>
            <a:off x="4143375" y="428625"/>
            <a:ext cx="47148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[공통] 로그인 (PC Web)</a:t>
            </a:r>
            <a:endParaRPr lang="en-US" sz="1602" dirty="0"/>
          </a:p>
        </p:txBody>
      </p:sp>
      <p:sp>
        <p:nvSpPr>
          <p:cNvPr id="22" name="Text 19"/>
          <p:cNvSpPr/>
          <p:nvPr/>
        </p:nvSpPr>
        <p:spPr>
          <a:xfrm>
            <a:off x="4143375" y="796528"/>
            <a:ext cx="47148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본사/현장 관리자 접근을 위한 인증 화면</a:t>
            </a:r>
            <a:endParaRPr lang="en-US" sz="834" dirty="0"/>
          </a:p>
        </p:txBody>
      </p:sp>
      <p:sp>
        <p:nvSpPr>
          <p:cNvPr id="23" name="Shape 20"/>
          <p:cNvSpPr/>
          <p:nvPr/>
        </p:nvSpPr>
        <p:spPr>
          <a:xfrm>
            <a:off x="4143375" y="1182291"/>
            <a:ext cx="285750" cy="23753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21"/>
          <p:cNvSpPr/>
          <p:nvPr/>
        </p:nvSpPr>
        <p:spPr>
          <a:xfrm>
            <a:off x="4143375" y="1405533"/>
            <a:ext cx="2857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22"/>
          <p:cNvSpPr/>
          <p:nvPr/>
        </p:nvSpPr>
        <p:spPr>
          <a:xfrm>
            <a:off x="4143375" y="1182291"/>
            <a:ext cx="285750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No</a:t>
            </a:r>
            <a:endParaRPr lang="en-US" sz="584" dirty="0"/>
          </a:p>
        </p:txBody>
      </p:sp>
      <p:sp>
        <p:nvSpPr>
          <p:cNvPr id="26" name="Shape 23"/>
          <p:cNvSpPr/>
          <p:nvPr/>
        </p:nvSpPr>
        <p:spPr>
          <a:xfrm>
            <a:off x="4429125" y="1182291"/>
            <a:ext cx="714375" cy="23753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Shape 24"/>
          <p:cNvSpPr/>
          <p:nvPr/>
        </p:nvSpPr>
        <p:spPr>
          <a:xfrm>
            <a:off x="4429125" y="1405533"/>
            <a:ext cx="7143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Text 25"/>
          <p:cNvSpPr/>
          <p:nvPr/>
        </p:nvSpPr>
        <p:spPr>
          <a:xfrm>
            <a:off x="4429125" y="1182291"/>
            <a:ext cx="714375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Element</a:t>
            </a:r>
            <a:endParaRPr lang="en-US" sz="584" dirty="0"/>
          </a:p>
        </p:txBody>
      </p:sp>
      <p:sp>
        <p:nvSpPr>
          <p:cNvPr id="29" name="Shape 26"/>
          <p:cNvSpPr/>
          <p:nvPr/>
        </p:nvSpPr>
        <p:spPr>
          <a:xfrm>
            <a:off x="5143500" y="1182291"/>
            <a:ext cx="3714750" cy="23753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7"/>
          <p:cNvSpPr/>
          <p:nvPr/>
        </p:nvSpPr>
        <p:spPr>
          <a:xfrm>
            <a:off x="5143500" y="1405533"/>
            <a:ext cx="37147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" name="Text 28"/>
          <p:cNvSpPr/>
          <p:nvPr/>
        </p:nvSpPr>
        <p:spPr>
          <a:xfrm>
            <a:off x="5143500" y="1182291"/>
            <a:ext cx="3714750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Implementation Spec</a:t>
            </a:r>
            <a:endParaRPr lang="en-US" sz="584" dirty="0"/>
          </a:p>
        </p:txBody>
      </p:sp>
      <p:sp>
        <p:nvSpPr>
          <p:cNvPr id="32" name="Shape 29"/>
          <p:cNvSpPr/>
          <p:nvPr/>
        </p:nvSpPr>
        <p:spPr>
          <a:xfrm>
            <a:off x="4200525" y="1469827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30"/>
          <p:cNvSpPr/>
          <p:nvPr/>
        </p:nvSpPr>
        <p:spPr>
          <a:xfrm>
            <a:off x="4200525" y="146982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34" name="Text 31"/>
          <p:cNvSpPr/>
          <p:nvPr/>
        </p:nvSpPr>
        <p:spPr>
          <a:xfrm>
            <a:off x="4429125" y="1412677"/>
            <a:ext cx="714375" cy="36075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Email Input</a:t>
            </a:r>
            <a:endParaRPr lang="en-US" sz="621" dirty="0"/>
          </a:p>
        </p:txBody>
      </p:sp>
      <p:sp>
        <p:nvSpPr>
          <p:cNvPr id="35" name="Text 32"/>
          <p:cNvSpPr/>
          <p:nvPr/>
        </p:nvSpPr>
        <p:spPr>
          <a:xfrm>
            <a:off x="5200650" y="1469827"/>
            <a:ext cx="36004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Regex: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^[^\s@]+@[^\s@]+\.[^\s@]+$</a:t>
            </a:r>
            <a:endParaRPr lang="en-US" sz="621" dirty="0"/>
          </a:p>
        </p:txBody>
      </p:sp>
      <p:sp>
        <p:nvSpPr>
          <p:cNvPr id="36" name="Text 33"/>
          <p:cNvSpPr/>
          <p:nvPr/>
        </p:nvSpPr>
        <p:spPr>
          <a:xfrm>
            <a:off x="5200650" y="1585913"/>
            <a:ext cx="36004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Error: "유효한 이메일 형식이 아닙니다."</a:t>
            </a:r>
            <a:endParaRPr lang="en-US" sz="621" dirty="0"/>
          </a:p>
        </p:txBody>
      </p:sp>
      <p:sp>
        <p:nvSpPr>
          <p:cNvPr id="37" name="Shape 34"/>
          <p:cNvSpPr/>
          <p:nvPr/>
        </p:nvSpPr>
        <p:spPr>
          <a:xfrm>
            <a:off x="4200525" y="183415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8" name="Text 35"/>
          <p:cNvSpPr/>
          <p:nvPr/>
        </p:nvSpPr>
        <p:spPr>
          <a:xfrm>
            <a:off x="4200525" y="183415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39" name="Text 36"/>
          <p:cNvSpPr/>
          <p:nvPr/>
        </p:nvSpPr>
        <p:spPr>
          <a:xfrm>
            <a:off x="4429125" y="1773436"/>
            <a:ext cx="714375" cy="3643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PW Input</a:t>
            </a:r>
            <a:endParaRPr lang="en-US" sz="621" dirty="0"/>
          </a:p>
        </p:txBody>
      </p:sp>
      <p:sp>
        <p:nvSpPr>
          <p:cNvPr id="40" name="Text 37"/>
          <p:cNvSpPr/>
          <p:nvPr/>
        </p:nvSpPr>
        <p:spPr>
          <a:xfrm>
            <a:off x="5200650" y="1834158"/>
            <a:ext cx="36004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Type: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password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(Masking)</a:t>
            </a:r>
            <a:endParaRPr lang="en-US" sz="621" dirty="0"/>
          </a:p>
        </p:txBody>
      </p:sp>
      <p:sp>
        <p:nvSpPr>
          <p:cNvPr id="41" name="Text 38"/>
          <p:cNvSpPr/>
          <p:nvPr/>
        </p:nvSpPr>
        <p:spPr>
          <a:xfrm>
            <a:off x="5200650" y="1950244"/>
            <a:ext cx="36004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Enter Key: 로그인 버튼 트리거</a:t>
            </a:r>
            <a:endParaRPr lang="en-US" sz="621" dirty="0"/>
          </a:p>
        </p:txBody>
      </p:sp>
      <p:sp>
        <p:nvSpPr>
          <p:cNvPr id="42" name="Shape 39"/>
          <p:cNvSpPr/>
          <p:nvPr/>
        </p:nvSpPr>
        <p:spPr>
          <a:xfrm>
            <a:off x="4200525" y="2198489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3" name="Text 40"/>
          <p:cNvSpPr/>
          <p:nvPr/>
        </p:nvSpPr>
        <p:spPr>
          <a:xfrm>
            <a:off x="4200525" y="219848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44" name="Text 41"/>
          <p:cNvSpPr/>
          <p:nvPr/>
        </p:nvSpPr>
        <p:spPr>
          <a:xfrm>
            <a:off x="4429125" y="2137767"/>
            <a:ext cx="714375" cy="49113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Login Btn</a:t>
            </a:r>
            <a:endParaRPr lang="en-US" sz="621" dirty="0"/>
          </a:p>
        </p:txBody>
      </p:sp>
      <p:sp>
        <p:nvSpPr>
          <p:cNvPr id="45" name="Text 42"/>
          <p:cNvSpPr/>
          <p:nvPr/>
        </p:nvSpPr>
        <p:spPr>
          <a:xfrm>
            <a:off x="5200650" y="2198489"/>
            <a:ext cx="36004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POST /api/v1/auth/login</a:t>
            </a:r>
            <a:endParaRPr lang="en-US" sz="621" dirty="0"/>
          </a:p>
        </p:txBody>
      </p:sp>
      <p:sp>
        <p:nvSpPr>
          <p:cNvPr id="46" name="Text 43"/>
          <p:cNvSpPr/>
          <p:nvPr/>
        </p:nvSpPr>
        <p:spPr>
          <a:xfrm>
            <a:off x="5200650" y="2314575"/>
            <a:ext cx="36004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Success: JWT Token 저장 (LocalStorage) 및 리다이렉트</a:t>
            </a:r>
            <a:endParaRPr lang="en-US" sz="621" dirty="0"/>
          </a:p>
        </p:txBody>
      </p:sp>
      <p:sp>
        <p:nvSpPr>
          <p:cNvPr id="47" name="Text 44"/>
          <p:cNvSpPr/>
          <p:nvPr/>
        </p:nvSpPr>
        <p:spPr>
          <a:xfrm>
            <a:off x="5200650" y="2441377"/>
            <a:ext cx="36004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Fail: "이메일 또는 비밀번호가 일치하지 않습니다."</a:t>
            </a:r>
            <a:endParaRPr lang="en-US" sz="621" dirty="0"/>
          </a:p>
        </p:txBody>
      </p:sp>
      <p:sp>
        <p:nvSpPr>
          <p:cNvPr id="48" name="Shape 45"/>
          <p:cNvSpPr/>
          <p:nvPr/>
        </p:nvSpPr>
        <p:spPr>
          <a:xfrm>
            <a:off x="4143375" y="3452971"/>
            <a:ext cx="4714875" cy="140477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531" y="3596739"/>
            <a:ext cx="100013" cy="100013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4407694" y="3574414"/>
            <a:ext cx="123958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59E0B"/>
                </a:solidFill>
              </a:rPr>
              <a:t>[팝업 4] 비밀번호 재설정 모달</a:t>
            </a:r>
            <a:endParaRPr lang="en-US" sz="683" dirty="0"/>
          </a:p>
        </p:txBody>
      </p:sp>
      <p:sp>
        <p:nvSpPr>
          <p:cNvPr id="51" name="Text 47"/>
          <p:cNvSpPr/>
          <p:nvPr/>
        </p:nvSpPr>
        <p:spPr>
          <a:xfrm>
            <a:off x="4250531" y="3790513"/>
            <a:ext cx="4500563" cy="96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• Title: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"비밀번호 재설정"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• Body: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"가입 시 등록한 이메일을 입력하세요."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• Input: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이메일 (필수)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• Buttons: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- [확인]: API 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POST /api/v1/auth/reset-password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호출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→ 성공 시 Alert: "인증 메일이 발송되었습니다."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- [취소]: 모달 닫기</a:t>
            </a:r>
            <a:endParaRPr lang="en-US" sz="58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08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2400300" cy="4400550"/>
          </a:xfrm>
          <a:prstGeom prst="rect">
            <a:avLst/>
          </a:prstGeom>
          <a:solidFill>
            <a:srgbClr val="1E293B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2286000" cy="428625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966" y="1489472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79416" y="1457325"/>
            <a:ext cx="95583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SmartCON</a:t>
            </a:r>
            <a:endParaRPr lang="en-US" sz="1193" dirty="0"/>
          </a:p>
        </p:txBody>
      </p:sp>
      <p:sp>
        <p:nvSpPr>
          <p:cNvPr id="7" name="Shape 3"/>
          <p:cNvSpPr/>
          <p:nvPr/>
        </p:nvSpPr>
        <p:spPr>
          <a:xfrm>
            <a:off x="2400300" y="207168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4"/>
          <p:cNvSpPr/>
          <p:nvPr/>
        </p:nvSpPr>
        <p:spPr>
          <a:xfrm>
            <a:off x="2400300" y="20716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9" name="Shape 5"/>
          <p:cNvSpPr/>
          <p:nvPr/>
        </p:nvSpPr>
        <p:spPr>
          <a:xfrm>
            <a:off x="2400300" y="250031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6"/>
          <p:cNvSpPr/>
          <p:nvPr/>
        </p:nvSpPr>
        <p:spPr>
          <a:xfrm>
            <a:off x="2400300" y="25003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11" name="Shape 7"/>
          <p:cNvSpPr/>
          <p:nvPr/>
        </p:nvSpPr>
        <p:spPr>
          <a:xfrm>
            <a:off x="642938" y="2937867"/>
            <a:ext cx="1857375" cy="33575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8"/>
          <p:cNvSpPr/>
          <p:nvPr/>
        </p:nvSpPr>
        <p:spPr>
          <a:xfrm>
            <a:off x="642938" y="2937867"/>
            <a:ext cx="1857375" cy="335756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로그인</a:t>
            </a:r>
            <a:endParaRPr lang="en-US" sz="683" dirty="0"/>
          </a:p>
        </p:txBody>
      </p:sp>
      <p:sp>
        <p:nvSpPr>
          <p:cNvPr id="13" name="Shape 9"/>
          <p:cNvSpPr/>
          <p:nvPr/>
        </p:nvSpPr>
        <p:spPr>
          <a:xfrm>
            <a:off x="2400300" y="292893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0"/>
          <p:cNvSpPr/>
          <p:nvPr/>
        </p:nvSpPr>
        <p:spPr>
          <a:xfrm>
            <a:off x="2400300" y="29289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15" name="Text 11"/>
          <p:cNvSpPr/>
          <p:nvPr/>
        </p:nvSpPr>
        <p:spPr>
          <a:xfrm>
            <a:off x="949058" y="3559373"/>
            <a:ext cx="4166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아이디 찾기</a:t>
            </a:r>
            <a:endParaRPr lang="en-US" sz="621" dirty="0"/>
          </a:p>
        </p:txBody>
      </p:sp>
      <p:sp>
        <p:nvSpPr>
          <p:cNvPr id="16" name="Text 12"/>
          <p:cNvSpPr/>
          <p:nvPr/>
        </p:nvSpPr>
        <p:spPr>
          <a:xfrm>
            <a:off x="1508559" y="3559373"/>
            <a:ext cx="4724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|</a:t>
            </a:r>
            <a:endParaRPr lang="en-US" sz="621" dirty="0"/>
          </a:p>
        </p:txBody>
      </p:sp>
      <p:sp>
        <p:nvSpPr>
          <p:cNvPr id="17" name="Text 13"/>
          <p:cNvSpPr/>
          <p:nvPr/>
        </p:nvSpPr>
        <p:spPr>
          <a:xfrm>
            <a:off x="1698678" y="3559373"/>
            <a:ext cx="49551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비밀번호 찾기</a:t>
            </a:r>
            <a:endParaRPr lang="en-US" sz="621" dirty="0"/>
          </a:p>
        </p:txBody>
      </p:sp>
      <p:sp>
        <p:nvSpPr>
          <p:cNvPr id="18" name="Shape 14"/>
          <p:cNvSpPr/>
          <p:nvPr/>
        </p:nvSpPr>
        <p:spPr>
          <a:xfrm>
            <a:off x="1971675" y="335756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5"/>
          <p:cNvSpPr/>
          <p:nvPr/>
        </p:nvSpPr>
        <p:spPr>
          <a:xfrm>
            <a:off x="1971675" y="33575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20" name="Text 16"/>
          <p:cNvSpPr/>
          <p:nvPr/>
        </p:nvSpPr>
        <p:spPr>
          <a:xfrm>
            <a:off x="3429000" y="428625"/>
            <a:ext cx="5286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[공통] 로그인 (Mobile Web/App)</a:t>
            </a:r>
            <a:endParaRPr lang="en-US" sz="1602" dirty="0"/>
          </a:p>
        </p:txBody>
      </p:sp>
      <p:sp>
        <p:nvSpPr>
          <p:cNvPr id="21" name="Text 17"/>
          <p:cNvSpPr/>
          <p:nvPr/>
        </p:nvSpPr>
        <p:spPr>
          <a:xfrm>
            <a:off x="3429000" y="817959"/>
            <a:ext cx="52863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현장 관리자 및 노무자용 모바일 최적화 로그인 화면</a:t>
            </a:r>
            <a:endParaRPr lang="en-US" sz="834" dirty="0"/>
          </a:p>
        </p:txBody>
      </p:sp>
      <p:sp>
        <p:nvSpPr>
          <p:cNvPr id="22" name="Shape 18"/>
          <p:cNvSpPr/>
          <p:nvPr/>
        </p:nvSpPr>
        <p:spPr>
          <a:xfrm>
            <a:off x="3429000" y="1346597"/>
            <a:ext cx="35718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19"/>
          <p:cNvSpPr/>
          <p:nvPr/>
        </p:nvSpPr>
        <p:spPr>
          <a:xfrm>
            <a:off x="3429000" y="1637705"/>
            <a:ext cx="3571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20"/>
          <p:cNvSpPr/>
          <p:nvPr/>
        </p:nvSpPr>
        <p:spPr>
          <a:xfrm>
            <a:off x="3429000" y="1346597"/>
            <a:ext cx="35718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25" name="Shape 21"/>
          <p:cNvSpPr/>
          <p:nvPr/>
        </p:nvSpPr>
        <p:spPr>
          <a:xfrm>
            <a:off x="3786188" y="1346597"/>
            <a:ext cx="857250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2"/>
          <p:cNvSpPr/>
          <p:nvPr/>
        </p:nvSpPr>
        <p:spPr>
          <a:xfrm>
            <a:off x="3786188" y="1637705"/>
            <a:ext cx="8572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Text 23"/>
          <p:cNvSpPr/>
          <p:nvPr/>
        </p:nvSpPr>
        <p:spPr>
          <a:xfrm>
            <a:off x="3786188" y="1346597"/>
            <a:ext cx="857250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Element</a:t>
            </a:r>
            <a:endParaRPr lang="en-US" sz="634" dirty="0"/>
          </a:p>
        </p:txBody>
      </p:sp>
      <p:sp>
        <p:nvSpPr>
          <p:cNvPr id="28" name="Shape 24"/>
          <p:cNvSpPr/>
          <p:nvPr/>
        </p:nvSpPr>
        <p:spPr>
          <a:xfrm>
            <a:off x="4643438" y="1346597"/>
            <a:ext cx="407193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5"/>
          <p:cNvSpPr/>
          <p:nvPr/>
        </p:nvSpPr>
        <p:spPr>
          <a:xfrm>
            <a:off x="4643438" y="1637705"/>
            <a:ext cx="407193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Text 26"/>
          <p:cNvSpPr/>
          <p:nvPr/>
        </p:nvSpPr>
        <p:spPr>
          <a:xfrm>
            <a:off x="4643438" y="1346597"/>
            <a:ext cx="407193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31" name="Shape 27"/>
          <p:cNvSpPr/>
          <p:nvPr/>
        </p:nvSpPr>
        <p:spPr>
          <a:xfrm>
            <a:off x="3514725" y="173057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2" name="Text 28"/>
          <p:cNvSpPr/>
          <p:nvPr/>
        </p:nvSpPr>
        <p:spPr>
          <a:xfrm>
            <a:off x="3514725" y="173057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33" name="Text 29"/>
          <p:cNvSpPr/>
          <p:nvPr/>
        </p:nvSpPr>
        <p:spPr>
          <a:xfrm>
            <a:off x="3786188" y="1644848"/>
            <a:ext cx="857250" cy="44648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Email Input</a:t>
            </a:r>
            <a:endParaRPr lang="en-US" sz="674" dirty="0"/>
          </a:p>
        </p:txBody>
      </p:sp>
      <p:sp>
        <p:nvSpPr>
          <p:cNvPr id="34" name="Text 30"/>
          <p:cNvSpPr/>
          <p:nvPr/>
        </p:nvSpPr>
        <p:spPr>
          <a:xfrm>
            <a:off x="4729163" y="1730573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Type: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email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(키보드 최적화)</a:t>
            </a:r>
            <a:endParaRPr lang="en-US" sz="674" dirty="0"/>
          </a:p>
        </p:txBody>
      </p:sp>
      <p:sp>
        <p:nvSpPr>
          <p:cNvPr id="35" name="Text 31"/>
          <p:cNvSpPr/>
          <p:nvPr/>
        </p:nvSpPr>
        <p:spPr>
          <a:xfrm>
            <a:off x="4729163" y="1866305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Validation: 빈 값 체크 및 이메일 형식</a:t>
            </a:r>
            <a:endParaRPr lang="en-US" sz="674" dirty="0"/>
          </a:p>
        </p:txBody>
      </p:sp>
      <p:sp>
        <p:nvSpPr>
          <p:cNvPr id="36" name="Shape 32"/>
          <p:cNvSpPr/>
          <p:nvPr/>
        </p:nvSpPr>
        <p:spPr>
          <a:xfrm>
            <a:off x="3514725" y="2180630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7" name="Text 33"/>
          <p:cNvSpPr/>
          <p:nvPr/>
        </p:nvSpPr>
        <p:spPr>
          <a:xfrm>
            <a:off x="3514725" y="218063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38" name="Text 34"/>
          <p:cNvSpPr/>
          <p:nvPr/>
        </p:nvSpPr>
        <p:spPr>
          <a:xfrm>
            <a:off x="3786188" y="2091333"/>
            <a:ext cx="857250" cy="4411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PW Input</a:t>
            </a:r>
            <a:endParaRPr lang="en-US" sz="674" dirty="0"/>
          </a:p>
        </p:txBody>
      </p:sp>
      <p:sp>
        <p:nvSpPr>
          <p:cNvPr id="39" name="Text 35"/>
          <p:cNvSpPr/>
          <p:nvPr/>
        </p:nvSpPr>
        <p:spPr>
          <a:xfrm>
            <a:off x="4729163" y="2180630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Type: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password</a:t>
            </a:r>
            <a:endParaRPr lang="en-US" sz="674" dirty="0"/>
          </a:p>
        </p:txBody>
      </p:sp>
      <p:sp>
        <p:nvSpPr>
          <p:cNvPr id="40" name="Text 36"/>
          <p:cNvSpPr/>
          <p:nvPr/>
        </p:nvSpPr>
        <p:spPr>
          <a:xfrm>
            <a:off x="4729163" y="2307431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UX: '비밀번호 보기' 토글 아이콘 제공 권장</a:t>
            </a:r>
            <a:endParaRPr lang="en-US" sz="674" dirty="0"/>
          </a:p>
        </p:txBody>
      </p:sp>
      <p:sp>
        <p:nvSpPr>
          <p:cNvPr id="41" name="Shape 37"/>
          <p:cNvSpPr/>
          <p:nvPr/>
        </p:nvSpPr>
        <p:spPr>
          <a:xfrm>
            <a:off x="3514725" y="262175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38"/>
          <p:cNvSpPr/>
          <p:nvPr/>
        </p:nvSpPr>
        <p:spPr>
          <a:xfrm>
            <a:off x="3514725" y="262175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43" name="Text 39"/>
          <p:cNvSpPr/>
          <p:nvPr/>
        </p:nvSpPr>
        <p:spPr>
          <a:xfrm>
            <a:off x="3786188" y="2532459"/>
            <a:ext cx="857250" cy="56792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Login Btn</a:t>
            </a:r>
            <a:endParaRPr lang="en-US" sz="674" dirty="0"/>
          </a:p>
        </p:txBody>
      </p:sp>
      <p:sp>
        <p:nvSpPr>
          <p:cNvPr id="44" name="Text 40"/>
          <p:cNvSpPr/>
          <p:nvPr/>
        </p:nvSpPr>
        <p:spPr>
          <a:xfrm>
            <a:off x="4729163" y="2621756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POST /api/v1/auth/login</a:t>
            </a:r>
            <a:endParaRPr lang="en-US" sz="674" dirty="0"/>
          </a:p>
        </p:txBody>
      </p:sp>
      <p:sp>
        <p:nvSpPr>
          <p:cNvPr id="45" name="Text 41"/>
          <p:cNvSpPr/>
          <p:nvPr/>
        </p:nvSpPr>
        <p:spPr>
          <a:xfrm>
            <a:off x="4729163" y="2748558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Response: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{ accessToken, refreshToken, role }</a:t>
            </a:r>
            <a:endParaRPr lang="en-US" sz="674" dirty="0"/>
          </a:p>
        </p:txBody>
      </p:sp>
      <p:sp>
        <p:nvSpPr>
          <p:cNvPr id="46" name="Text 42"/>
          <p:cNvSpPr/>
          <p:nvPr/>
        </p:nvSpPr>
        <p:spPr>
          <a:xfrm>
            <a:off x="4729163" y="2875359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Routing: Role에 따라 현장관리/노무자 메인으로 이동</a:t>
            </a:r>
            <a:endParaRPr lang="en-US" sz="674" dirty="0"/>
          </a:p>
        </p:txBody>
      </p:sp>
      <p:sp>
        <p:nvSpPr>
          <p:cNvPr id="47" name="Shape 43"/>
          <p:cNvSpPr/>
          <p:nvPr/>
        </p:nvSpPr>
        <p:spPr>
          <a:xfrm>
            <a:off x="3429000" y="3318272"/>
            <a:ext cx="5286375" cy="159004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75" y="3486150"/>
            <a:ext cx="85725" cy="114300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3729038" y="3461147"/>
            <a:ext cx="120634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59E0B"/>
                </a:solidFill>
              </a:rPr>
              <a:t>[팝업 4] 아이디 찾기 모달</a:t>
            </a:r>
            <a:endParaRPr lang="en-US" sz="784" dirty="0"/>
          </a:p>
        </p:txBody>
      </p:sp>
      <p:sp>
        <p:nvSpPr>
          <p:cNvPr id="50" name="Text 45"/>
          <p:cNvSpPr/>
          <p:nvPr/>
        </p:nvSpPr>
        <p:spPr>
          <a:xfrm>
            <a:off x="3571875" y="3711178"/>
            <a:ext cx="5000625" cy="1039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• Title: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"아이디 찾기"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• Body: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"가입 시 등록한 휴대폰 번호를 입력하세요."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• Input: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휴대폰 번호 (형식: 010-0000-0000)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• Buttons: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- [확인]: API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POST /api/v1/auth/find-email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호출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→ 성공 시 Alert: "가입된 이메일: user***@example.com"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- [취소]: 모달 닫기</a:t>
            </a:r>
            <a:endParaRPr lang="en-US" sz="6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5729288" cy="415766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85750" y="428625"/>
            <a:ext cx="5715000" cy="17859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600075"/>
            <a:ext cx="57150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3"/>
          <p:cNvSpPr/>
          <p:nvPr/>
        </p:nvSpPr>
        <p:spPr>
          <a:xfrm>
            <a:off x="285750" y="600075"/>
            <a:ext cx="1364456" cy="39719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4"/>
          <p:cNvSpPr/>
          <p:nvPr/>
        </p:nvSpPr>
        <p:spPr>
          <a:xfrm>
            <a:off x="1643063" y="600075"/>
            <a:ext cx="7144" cy="3971925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Shape 5"/>
          <p:cNvSpPr/>
          <p:nvPr/>
        </p:nvSpPr>
        <p:spPr>
          <a:xfrm>
            <a:off x="392906" y="707231"/>
            <a:ext cx="1143000" cy="241102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56" y="784920"/>
            <a:ext cx="96441" cy="857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7934" y="764381"/>
            <a:ext cx="315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대시보드</a:t>
            </a:r>
            <a:endParaRPr lang="en-US" sz="584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6" y="1133177"/>
            <a:ext cx="64294" cy="857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85788" y="1112639"/>
            <a:ext cx="315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프로젝트</a:t>
            </a:r>
            <a:endParaRPr lang="en-US" sz="621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56" y="1481435"/>
            <a:ext cx="107156" cy="857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8650" y="1460897"/>
            <a:ext cx="4166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노무자 관리</a:t>
            </a:r>
            <a:endParaRPr lang="en-US" sz="621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056" y="1829693"/>
            <a:ext cx="64294" cy="857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85788" y="1809155"/>
            <a:ext cx="33776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정산 관리</a:t>
            </a:r>
            <a:endParaRPr lang="en-US" sz="621" dirty="0"/>
          </a:p>
        </p:txBody>
      </p:sp>
      <p:sp>
        <p:nvSpPr>
          <p:cNvPr id="17" name="Shape 10"/>
          <p:cNvSpPr/>
          <p:nvPr/>
        </p:nvSpPr>
        <p:spPr>
          <a:xfrm>
            <a:off x="1643063" y="600075"/>
            <a:ext cx="4357688" cy="39719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1"/>
          <p:cNvSpPr/>
          <p:nvPr/>
        </p:nvSpPr>
        <p:spPr>
          <a:xfrm>
            <a:off x="1785938" y="771525"/>
            <a:ext cx="3940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통합 현황</a:t>
            </a:r>
            <a:endParaRPr lang="en-US" sz="683" dirty="0"/>
          </a:p>
        </p:txBody>
      </p:sp>
      <p:sp>
        <p:nvSpPr>
          <p:cNvPr id="19" name="Shape 12"/>
          <p:cNvSpPr/>
          <p:nvPr/>
        </p:nvSpPr>
        <p:spPr>
          <a:xfrm>
            <a:off x="5286208" y="742950"/>
            <a:ext cx="571667" cy="201811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5371933" y="778669"/>
            <a:ext cx="33949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2026.01</a:t>
            </a:r>
            <a:endParaRPr lang="en-US" sz="621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1428" y="792956"/>
            <a:ext cx="75009" cy="85725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786813" y="14287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15"/>
          <p:cNvSpPr/>
          <p:nvPr/>
        </p:nvSpPr>
        <p:spPr>
          <a:xfrm>
            <a:off x="8786813" y="14287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24" name="Shape 16"/>
          <p:cNvSpPr/>
          <p:nvPr/>
        </p:nvSpPr>
        <p:spPr>
          <a:xfrm>
            <a:off x="1785938" y="1073348"/>
            <a:ext cx="1285875" cy="57507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1893094" y="1180505"/>
            <a:ext cx="10715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총 출역 인원</a:t>
            </a:r>
            <a:endParaRPr lang="en-US" sz="516" dirty="0"/>
          </a:p>
        </p:txBody>
      </p:sp>
      <p:sp>
        <p:nvSpPr>
          <p:cNvPr id="26" name="Text 18"/>
          <p:cNvSpPr/>
          <p:nvPr/>
        </p:nvSpPr>
        <p:spPr>
          <a:xfrm>
            <a:off x="1893094" y="1319808"/>
            <a:ext cx="107156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1,234명</a:t>
            </a:r>
            <a:endParaRPr lang="en-US" sz="987" dirty="0"/>
          </a:p>
        </p:txBody>
      </p:sp>
      <p:sp>
        <p:nvSpPr>
          <p:cNvPr id="27" name="Shape 19"/>
          <p:cNvSpPr/>
          <p:nvPr/>
        </p:nvSpPr>
        <p:spPr>
          <a:xfrm>
            <a:off x="2857500" y="114478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0"/>
          <p:cNvSpPr/>
          <p:nvPr/>
        </p:nvSpPr>
        <p:spPr>
          <a:xfrm>
            <a:off x="2857500" y="114478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29" name="Shape 21"/>
          <p:cNvSpPr/>
          <p:nvPr/>
        </p:nvSpPr>
        <p:spPr>
          <a:xfrm>
            <a:off x="3178969" y="1073348"/>
            <a:ext cx="1285875" cy="56257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3286125" y="1180505"/>
            <a:ext cx="10715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누적 공수</a:t>
            </a:r>
            <a:endParaRPr lang="en-US" sz="516" dirty="0"/>
          </a:p>
        </p:txBody>
      </p:sp>
      <p:sp>
        <p:nvSpPr>
          <p:cNvPr id="31" name="Text 23"/>
          <p:cNvSpPr/>
          <p:nvPr/>
        </p:nvSpPr>
        <p:spPr>
          <a:xfrm>
            <a:off x="3286125" y="1319808"/>
            <a:ext cx="10715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5,678.5</a:t>
            </a:r>
            <a:endParaRPr lang="en-US" sz="987" dirty="0"/>
          </a:p>
        </p:txBody>
      </p:sp>
      <p:sp>
        <p:nvSpPr>
          <p:cNvPr id="32" name="Shape 24"/>
          <p:cNvSpPr/>
          <p:nvPr/>
        </p:nvSpPr>
        <p:spPr>
          <a:xfrm>
            <a:off x="4572000" y="1073348"/>
            <a:ext cx="1285875" cy="56257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4679156" y="1180505"/>
            <a:ext cx="10715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정산 예정액</a:t>
            </a:r>
            <a:endParaRPr lang="en-US" sz="516" dirty="0"/>
          </a:p>
        </p:txBody>
      </p:sp>
      <p:sp>
        <p:nvSpPr>
          <p:cNvPr id="34" name="Text 26"/>
          <p:cNvSpPr/>
          <p:nvPr/>
        </p:nvSpPr>
        <p:spPr>
          <a:xfrm>
            <a:off x="4679156" y="1319808"/>
            <a:ext cx="10715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B981"/>
                </a:solidFill>
              </a:rPr>
              <a:t>₩102,040,000</a:t>
            </a:r>
            <a:endParaRPr lang="en-US" sz="987" dirty="0"/>
          </a:p>
        </p:txBody>
      </p:sp>
      <p:sp>
        <p:nvSpPr>
          <p:cNvPr id="35" name="Shape 27"/>
          <p:cNvSpPr/>
          <p:nvPr/>
        </p:nvSpPr>
        <p:spPr>
          <a:xfrm>
            <a:off x="1785938" y="1777008"/>
            <a:ext cx="2643188" cy="2652117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1893094" y="1884164"/>
            <a:ext cx="242887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일별 출역 추이</a:t>
            </a:r>
            <a:endParaRPr lang="en-US" sz="516" dirty="0"/>
          </a:p>
        </p:txBody>
      </p:sp>
      <p:sp>
        <p:nvSpPr>
          <p:cNvPr id="37" name="Shape 29"/>
          <p:cNvSpPr/>
          <p:nvPr/>
        </p:nvSpPr>
        <p:spPr>
          <a:xfrm>
            <a:off x="4214813" y="184844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8" name="Text 30"/>
          <p:cNvSpPr/>
          <p:nvPr/>
        </p:nvSpPr>
        <p:spPr>
          <a:xfrm>
            <a:off x="4214813" y="184844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39" name="Shape 31"/>
          <p:cNvSpPr/>
          <p:nvPr/>
        </p:nvSpPr>
        <p:spPr>
          <a:xfrm>
            <a:off x="4536281" y="1777008"/>
            <a:ext cx="1321594" cy="2652117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4536281" y="1777008"/>
            <a:ext cx="992591" cy="155377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4536281" y="4211241"/>
            <a:ext cx="1321594" cy="217884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3431" y="4288036"/>
            <a:ext cx="71438" cy="7143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4664869" y="4273748"/>
            <a:ext cx="665820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0B981"/>
                </a:solidFill>
              </a:rPr>
              <a:t>실시간 안면 인증 현황</a:t>
            </a:r>
            <a:endParaRPr lang="en-US" sz="516" dirty="0"/>
          </a:p>
        </p:txBody>
      </p:sp>
      <p:sp>
        <p:nvSpPr>
          <p:cNvPr id="44" name="Shape 34"/>
          <p:cNvSpPr/>
          <p:nvPr/>
        </p:nvSpPr>
        <p:spPr>
          <a:xfrm>
            <a:off x="5643563" y="184844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35"/>
          <p:cNvSpPr/>
          <p:nvPr/>
        </p:nvSpPr>
        <p:spPr>
          <a:xfrm>
            <a:off x="5643563" y="184844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4</a:t>
            </a:r>
            <a:endParaRPr lang="en-US" sz="584" dirty="0"/>
          </a:p>
        </p:txBody>
      </p:sp>
      <p:sp>
        <p:nvSpPr>
          <p:cNvPr id="46" name="Text 36"/>
          <p:cNvSpPr/>
          <p:nvPr/>
        </p:nvSpPr>
        <p:spPr>
          <a:xfrm>
            <a:off x="6215063" y="428625"/>
            <a:ext cx="2643188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B981"/>
                </a:solidFill>
              </a:rPr>
              <a:t>[본사] 통합 대시보드 (PC Web)</a:t>
            </a:r>
            <a:endParaRPr lang="en-US" sz="1397" dirty="0"/>
          </a:p>
        </p:txBody>
      </p:sp>
      <p:sp>
        <p:nvSpPr>
          <p:cNvPr id="47" name="Text 37"/>
          <p:cNvSpPr/>
          <p:nvPr/>
        </p:nvSpPr>
        <p:spPr>
          <a:xfrm>
            <a:off x="6215063" y="753666"/>
            <a:ext cx="264318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전체 현장 운영 현황 및 통계 조회</a:t>
            </a:r>
            <a:endParaRPr lang="en-US" sz="727" dirty="0"/>
          </a:p>
        </p:txBody>
      </p:sp>
      <p:sp>
        <p:nvSpPr>
          <p:cNvPr id="48" name="Shape 38"/>
          <p:cNvSpPr/>
          <p:nvPr/>
        </p:nvSpPr>
        <p:spPr>
          <a:xfrm>
            <a:off x="6215063" y="1119783"/>
            <a:ext cx="285750" cy="23753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9" name="Shape 39"/>
          <p:cNvSpPr/>
          <p:nvPr/>
        </p:nvSpPr>
        <p:spPr>
          <a:xfrm>
            <a:off x="6215063" y="1343025"/>
            <a:ext cx="2857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0" name="Text 40"/>
          <p:cNvSpPr/>
          <p:nvPr/>
        </p:nvSpPr>
        <p:spPr>
          <a:xfrm>
            <a:off x="6215063" y="1119783"/>
            <a:ext cx="285750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No</a:t>
            </a:r>
            <a:endParaRPr lang="en-US" sz="584" dirty="0"/>
          </a:p>
        </p:txBody>
      </p:sp>
      <p:sp>
        <p:nvSpPr>
          <p:cNvPr id="51" name="Shape 41"/>
          <p:cNvSpPr/>
          <p:nvPr/>
        </p:nvSpPr>
        <p:spPr>
          <a:xfrm>
            <a:off x="6500813" y="1119783"/>
            <a:ext cx="714375" cy="23753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2" name="Shape 42"/>
          <p:cNvSpPr/>
          <p:nvPr/>
        </p:nvSpPr>
        <p:spPr>
          <a:xfrm>
            <a:off x="6500813" y="1343025"/>
            <a:ext cx="7143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3" name="Text 43"/>
          <p:cNvSpPr/>
          <p:nvPr/>
        </p:nvSpPr>
        <p:spPr>
          <a:xfrm>
            <a:off x="6500813" y="1119783"/>
            <a:ext cx="714375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Element</a:t>
            </a:r>
            <a:endParaRPr lang="en-US" sz="584" dirty="0"/>
          </a:p>
        </p:txBody>
      </p:sp>
      <p:sp>
        <p:nvSpPr>
          <p:cNvPr id="54" name="Shape 44"/>
          <p:cNvSpPr/>
          <p:nvPr/>
        </p:nvSpPr>
        <p:spPr>
          <a:xfrm>
            <a:off x="7215188" y="1119783"/>
            <a:ext cx="1643063" cy="23753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5" name="Shape 45"/>
          <p:cNvSpPr/>
          <p:nvPr/>
        </p:nvSpPr>
        <p:spPr>
          <a:xfrm>
            <a:off x="7215188" y="1343025"/>
            <a:ext cx="1643063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6" name="Text 46"/>
          <p:cNvSpPr/>
          <p:nvPr/>
        </p:nvSpPr>
        <p:spPr>
          <a:xfrm>
            <a:off x="7215188" y="1119783"/>
            <a:ext cx="1643063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Implementation Spec</a:t>
            </a:r>
            <a:endParaRPr lang="en-US" sz="584" dirty="0"/>
          </a:p>
        </p:txBody>
      </p:sp>
      <p:sp>
        <p:nvSpPr>
          <p:cNvPr id="57" name="Shape 47"/>
          <p:cNvSpPr/>
          <p:nvPr/>
        </p:nvSpPr>
        <p:spPr>
          <a:xfrm>
            <a:off x="6272213" y="1407319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8" name="Text 48"/>
          <p:cNvSpPr/>
          <p:nvPr/>
        </p:nvSpPr>
        <p:spPr>
          <a:xfrm>
            <a:off x="6272213" y="140731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59" name="Text 49"/>
          <p:cNvSpPr/>
          <p:nvPr/>
        </p:nvSpPr>
        <p:spPr>
          <a:xfrm>
            <a:off x="6500813" y="1350169"/>
            <a:ext cx="714375" cy="36075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Month Select</a:t>
            </a:r>
            <a:endParaRPr lang="en-US" sz="621" dirty="0"/>
          </a:p>
        </p:txBody>
      </p:sp>
      <p:sp>
        <p:nvSpPr>
          <p:cNvPr id="60" name="Text 50"/>
          <p:cNvSpPr/>
          <p:nvPr/>
        </p:nvSpPr>
        <p:spPr>
          <a:xfrm>
            <a:off x="7272338" y="1407319"/>
            <a:ext cx="1528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Default: Current Month (YYYY.MM)</a:t>
            </a:r>
            <a:endParaRPr lang="en-US" sz="621" dirty="0"/>
          </a:p>
        </p:txBody>
      </p:sp>
      <p:sp>
        <p:nvSpPr>
          <p:cNvPr id="61" name="Text 51"/>
          <p:cNvSpPr/>
          <p:nvPr/>
        </p:nvSpPr>
        <p:spPr>
          <a:xfrm>
            <a:off x="7272338" y="1523405"/>
            <a:ext cx="15287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Event: onChange → Refresh All Data</a:t>
            </a:r>
            <a:endParaRPr lang="en-US" sz="621" dirty="0"/>
          </a:p>
        </p:txBody>
      </p:sp>
      <p:sp>
        <p:nvSpPr>
          <p:cNvPr id="62" name="Shape 52"/>
          <p:cNvSpPr/>
          <p:nvPr/>
        </p:nvSpPr>
        <p:spPr>
          <a:xfrm>
            <a:off x="6272213" y="1771650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3" name="Text 53"/>
          <p:cNvSpPr/>
          <p:nvPr/>
        </p:nvSpPr>
        <p:spPr>
          <a:xfrm>
            <a:off x="6272213" y="177165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64" name="Text 54"/>
          <p:cNvSpPr/>
          <p:nvPr/>
        </p:nvSpPr>
        <p:spPr>
          <a:xfrm>
            <a:off x="6500813" y="1710928"/>
            <a:ext cx="714375" cy="46970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Stat Cards</a:t>
            </a:r>
            <a:endParaRPr lang="en-US" sz="621" dirty="0"/>
          </a:p>
        </p:txBody>
      </p:sp>
      <p:sp>
        <p:nvSpPr>
          <p:cNvPr id="65" name="Text 55"/>
          <p:cNvSpPr/>
          <p:nvPr/>
        </p:nvSpPr>
        <p:spPr>
          <a:xfrm>
            <a:off x="7272338" y="1771650"/>
            <a:ext cx="1528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GET /api/v1/dashboard/stats</a:t>
            </a:r>
            <a:endParaRPr lang="en-US" sz="621" dirty="0"/>
          </a:p>
        </p:txBody>
      </p:sp>
      <p:sp>
        <p:nvSpPr>
          <p:cNvPr id="66" name="Text 56"/>
          <p:cNvSpPr/>
          <p:nvPr/>
        </p:nvSpPr>
        <p:spPr>
          <a:xfrm>
            <a:off x="7272338" y="1887736"/>
            <a:ext cx="1528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Params: </a:t>
            </a:r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?month=2026-01</a:t>
            </a:r>
            <a:endParaRPr lang="en-US" sz="621" dirty="0"/>
          </a:p>
        </p:txBody>
      </p:sp>
      <p:sp>
        <p:nvSpPr>
          <p:cNvPr id="67" name="Text 57"/>
          <p:cNvSpPr/>
          <p:nvPr/>
        </p:nvSpPr>
        <p:spPr>
          <a:xfrm>
            <a:off x="7272338" y="2003822"/>
            <a:ext cx="1528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Cache: Redis (TTL 5min)</a:t>
            </a:r>
            <a:endParaRPr lang="en-US" sz="621" dirty="0"/>
          </a:p>
        </p:txBody>
      </p:sp>
      <p:sp>
        <p:nvSpPr>
          <p:cNvPr id="68" name="Shape 58"/>
          <p:cNvSpPr/>
          <p:nvPr/>
        </p:nvSpPr>
        <p:spPr>
          <a:xfrm>
            <a:off x="6272213" y="2241352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9" name="Text 59"/>
          <p:cNvSpPr/>
          <p:nvPr/>
        </p:nvSpPr>
        <p:spPr>
          <a:xfrm>
            <a:off x="6272213" y="224135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70" name="Text 60"/>
          <p:cNvSpPr/>
          <p:nvPr/>
        </p:nvSpPr>
        <p:spPr>
          <a:xfrm>
            <a:off x="6500813" y="2180630"/>
            <a:ext cx="714375" cy="46970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Trend Chart</a:t>
            </a:r>
            <a:endParaRPr lang="en-US" sz="621" dirty="0"/>
          </a:p>
        </p:txBody>
      </p:sp>
      <p:sp>
        <p:nvSpPr>
          <p:cNvPr id="71" name="Text 61"/>
          <p:cNvSpPr/>
          <p:nvPr/>
        </p:nvSpPr>
        <p:spPr>
          <a:xfrm>
            <a:off x="7272338" y="2241352"/>
            <a:ext cx="1528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Lib: Chart.js (Line Chart)</a:t>
            </a:r>
            <a:endParaRPr lang="en-US" sz="621" dirty="0"/>
          </a:p>
        </p:txBody>
      </p:sp>
      <p:sp>
        <p:nvSpPr>
          <p:cNvPr id="72" name="Text 62"/>
          <p:cNvSpPr/>
          <p:nvPr/>
        </p:nvSpPr>
        <p:spPr>
          <a:xfrm>
            <a:off x="7272338" y="2357438"/>
            <a:ext cx="1528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Data: Daily worker count array</a:t>
            </a:r>
            <a:endParaRPr lang="en-US" sz="621" dirty="0"/>
          </a:p>
        </p:txBody>
      </p:sp>
      <p:sp>
        <p:nvSpPr>
          <p:cNvPr id="73" name="Text 63"/>
          <p:cNvSpPr/>
          <p:nvPr/>
        </p:nvSpPr>
        <p:spPr>
          <a:xfrm>
            <a:off x="7272338" y="2473523"/>
            <a:ext cx="1528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X: Date (1~31), Y: Count</a:t>
            </a:r>
            <a:endParaRPr lang="en-US" sz="621" dirty="0"/>
          </a:p>
        </p:txBody>
      </p:sp>
      <p:sp>
        <p:nvSpPr>
          <p:cNvPr id="74" name="Shape 64"/>
          <p:cNvSpPr/>
          <p:nvPr/>
        </p:nvSpPr>
        <p:spPr>
          <a:xfrm>
            <a:off x="6272213" y="271105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5" name="Text 65"/>
          <p:cNvSpPr/>
          <p:nvPr/>
        </p:nvSpPr>
        <p:spPr>
          <a:xfrm>
            <a:off x="6272213" y="271105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4</a:t>
            </a:r>
            <a:endParaRPr lang="en-US" sz="584" dirty="0"/>
          </a:p>
        </p:txBody>
      </p:sp>
      <p:sp>
        <p:nvSpPr>
          <p:cNvPr id="76" name="Text 66"/>
          <p:cNvSpPr/>
          <p:nvPr/>
        </p:nvSpPr>
        <p:spPr>
          <a:xfrm>
            <a:off x="6500813" y="2650331"/>
            <a:ext cx="714375" cy="46970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Live Feed</a:t>
            </a:r>
            <a:endParaRPr lang="en-US" sz="621" dirty="0"/>
          </a:p>
        </p:txBody>
      </p:sp>
      <p:sp>
        <p:nvSpPr>
          <p:cNvPr id="77" name="Text 67"/>
          <p:cNvSpPr/>
          <p:nvPr/>
        </p:nvSpPr>
        <p:spPr>
          <a:xfrm>
            <a:off x="7272338" y="2711053"/>
            <a:ext cx="1528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Feature: Recent FaceNet logs</a:t>
            </a:r>
            <a:endParaRPr lang="en-US" sz="621" dirty="0"/>
          </a:p>
        </p:txBody>
      </p:sp>
      <p:sp>
        <p:nvSpPr>
          <p:cNvPr id="78" name="Text 68"/>
          <p:cNvSpPr/>
          <p:nvPr/>
        </p:nvSpPr>
        <p:spPr>
          <a:xfrm>
            <a:off x="7272338" y="2827139"/>
            <a:ext cx="1528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Update: WebSocket or Polling (30s)</a:t>
            </a:r>
            <a:endParaRPr lang="en-US" sz="621" dirty="0"/>
          </a:p>
        </p:txBody>
      </p:sp>
      <p:sp>
        <p:nvSpPr>
          <p:cNvPr id="79" name="Text 69"/>
          <p:cNvSpPr/>
          <p:nvPr/>
        </p:nvSpPr>
        <p:spPr>
          <a:xfrm>
            <a:off x="7272338" y="2943225"/>
            <a:ext cx="1528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Privacy: Masked name, Time only</a:t>
            </a:r>
            <a:endParaRPr lang="en-US" sz="621" dirty="0"/>
          </a:p>
        </p:txBody>
      </p:sp>
      <p:sp>
        <p:nvSpPr>
          <p:cNvPr id="80" name="Shape 70"/>
          <p:cNvSpPr/>
          <p:nvPr/>
        </p:nvSpPr>
        <p:spPr>
          <a:xfrm>
            <a:off x="6215063" y="3266480"/>
            <a:ext cx="2643188" cy="72687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2219" y="3391495"/>
            <a:ext cx="69652" cy="92869"/>
          </a:xfrm>
          <a:prstGeom prst="rect">
            <a:avLst/>
          </a:prstGeom>
        </p:spPr>
      </p:pic>
      <p:sp>
        <p:nvSpPr>
          <p:cNvPr id="82" name="Text 71"/>
          <p:cNvSpPr/>
          <p:nvPr/>
        </p:nvSpPr>
        <p:spPr>
          <a:xfrm>
            <a:off x="6391870" y="3373636"/>
            <a:ext cx="87837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Performance Note</a:t>
            </a:r>
            <a:endParaRPr lang="en-US" sz="634" dirty="0"/>
          </a:p>
        </p:txBody>
      </p:sp>
      <p:sp>
        <p:nvSpPr>
          <p:cNvPr id="83" name="Text 72"/>
          <p:cNvSpPr/>
          <p:nvPr/>
        </p:nvSpPr>
        <p:spPr>
          <a:xfrm>
            <a:off x="6322219" y="3536156"/>
            <a:ext cx="2428875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대시보드 데이터는 쿼리 부하가 높으므로 </a:t>
            </a:r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CBD5E1"/>
                </a:solidFill>
              </a:rPr>
              <a:t>Redis Caching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을 필수 적용합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니다.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Key: </a:t>
            </a:r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E2E8F0"/>
                </a:solidFill>
              </a:rPr>
              <a:t>dashboard:stats:{tenantId}:{month}</a:t>
            </a:r>
            <a:endParaRPr lang="en-US" sz="56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4107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689372"/>
            <a:ext cx="85725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85750"/>
            <a:ext cx="3625146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[본사] 프로젝트 관리 - 목록 (PC Web)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6892268" y="453628"/>
            <a:ext cx="196598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프로젝트 현황 조회 및 신규 프로젝트 생성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285750" y="832247"/>
            <a:ext cx="8586788" cy="230028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750" y="832247"/>
            <a:ext cx="8572500" cy="17859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1003697"/>
            <a:ext cx="85725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Shape 7"/>
          <p:cNvSpPr/>
          <p:nvPr/>
        </p:nvSpPr>
        <p:spPr>
          <a:xfrm>
            <a:off x="285750" y="1003697"/>
            <a:ext cx="435769" cy="21145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8"/>
          <p:cNvSpPr/>
          <p:nvPr/>
        </p:nvSpPr>
        <p:spPr>
          <a:xfrm>
            <a:off x="714375" y="1003697"/>
            <a:ext cx="7144" cy="2114550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9" y="1146572"/>
            <a:ext cx="128588" cy="11430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69" y="1403747"/>
            <a:ext cx="128588" cy="11430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660922"/>
            <a:ext cx="142875" cy="1143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14375" y="1003697"/>
            <a:ext cx="8143875" cy="21145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0"/>
          <p:cNvSpPr/>
          <p:nvPr/>
        </p:nvSpPr>
        <p:spPr>
          <a:xfrm>
            <a:off x="2286000" y="1296591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1"/>
          <p:cNvSpPr/>
          <p:nvPr/>
        </p:nvSpPr>
        <p:spPr>
          <a:xfrm>
            <a:off x="2286000" y="129659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8" name="Shape 12"/>
          <p:cNvSpPr/>
          <p:nvPr/>
        </p:nvSpPr>
        <p:spPr>
          <a:xfrm>
            <a:off x="2543175" y="1148358"/>
            <a:ext cx="639366" cy="23753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3143250" y="1296591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4"/>
          <p:cNvSpPr/>
          <p:nvPr/>
        </p:nvSpPr>
        <p:spPr>
          <a:xfrm>
            <a:off x="3143250" y="129659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21" name="Shape 15"/>
          <p:cNvSpPr/>
          <p:nvPr/>
        </p:nvSpPr>
        <p:spPr>
          <a:xfrm>
            <a:off x="7873389" y="1146572"/>
            <a:ext cx="841986" cy="24110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689" y="1224260"/>
            <a:ext cx="75009" cy="857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105561" y="1203722"/>
            <a:ext cx="49551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신규 프로젝트</a:t>
            </a:r>
            <a:endParaRPr lang="en-US" sz="584" dirty="0"/>
          </a:p>
        </p:txBody>
      </p:sp>
      <p:sp>
        <p:nvSpPr>
          <p:cNvPr id="24" name="Shape 17"/>
          <p:cNvSpPr/>
          <p:nvPr/>
        </p:nvSpPr>
        <p:spPr>
          <a:xfrm>
            <a:off x="8501063" y="1296591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18"/>
          <p:cNvSpPr/>
          <p:nvPr/>
        </p:nvSpPr>
        <p:spPr>
          <a:xfrm>
            <a:off x="8501063" y="129659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26" name="Shape 19"/>
          <p:cNvSpPr/>
          <p:nvPr/>
        </p:nvSpPr>
        <p:spPr>
          <a:xfrm>
            <a:off x="857250" y="1494830"/>
            <a:ext cx="2309524" cy="2732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Shape 20"/>
          <p:cNvSpPr/>
          <p:nvPr/>
        </p:nvSpPr>
        <p:spPr>
          <a:xfrm>
            <a:off x="857250" y="1760934"/>
            <a:ext cx="2309524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Text 21"/>
          <p:cNvSpPr/>
          <p:nvPr/>
        </p:nvSpPr>
        <p:spPr>
          <a:xfrm>
            <a:off x="857250" y="1494830"/>
            <a:ext cx="2309524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프로젝트명</a:t>
            </a:r>
            <a:endParaRPr lang="en-US" sz="584" dirty="0"/>
          </a:p>
        </p:txBody>
      </p:sp>
      <p:sp>
        <p:nvSpPr>
          <p:cNvPr id="29" name="Shape 22"/>
          <p:cNvSpPr/>
          <p:nvPr/>
        </p:nvSpPr>
        <p:spPr>
          <a:xfrm>
            <a:off x="3166774" y="1494830"/>
            <a:ext cx="1547096" cy="2732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Shape 23"/>
          <p:cNvSpPr/>
          <p:nvPr/>
        </p:nvSpPr>
        <p:spPr>
          <a:xfrm>
            <a:off x="3166774" y="1760934"/>
            <a:ext cx="1547096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" name="Text 24"/>
          <p:cNvSpPr/>
          <p:nvPr/>
        </p:nvSpPr>
        <p:spPr>
          <a:xfrm>
            <a:off x="3166774" y="1494830"/>
            <a:ext cx="1547096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위치</a:t>
            </a:r>
            <a:endParaRPr lang="en-US" sz="584" dirty="0"/>
          </a:p>
        </p:txBody>
      </p:sp>
      <p:sp>
        <p:nvSpPr>
          <p:cNvPr id="32" name="Shape 25"/>
          <p:cNvSpPr/>
          <p:nvPr/>
        </p:nvSpPr>
        <p:spPr>
          <a:xfrm>
            <a:off x="4713870" y="1494830"/>
            <a:ext cx="2110504" cy="2732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Shape 26"/>
          <p:cNvSpPr/>
          <p:nvPr/>
        </p:nvSpPr>
        <p:spPr>
          <a:xfrm>
            <a:off x="4713870" y="1760934"/>
            <a:ext cx="2110504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27"/>
          <p:cNvSpPr/>
          <p:nvPr/>
        </p:nvSpPr>
        <p:spPr>
          <a:xfrm>
            <a:off x="4713870" y="1494830"/>
            <a:ext cx="2110504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기간</a:t>
            </a:r>
            <a:endParaRPr lang="en-US" sz="584" dirty="0"/>
          </a:p>
        </p:txBody>
      </p:sp>
      <p:sp>
        <p:nvSpPr>
          <p:cNvPr id="35" name="Shape 28"/>
          <p:cNvSpPr/>
          <p:nvPr/>
        </p:nvSpPr>
        <p:spPr>
          <a:xfrm>
            <a:off x="6824374" y="1494830"/>
            <a:ext cx="1101086" cy="2732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Shape 29"/>
          <p:cNvSpPr/>
          <p:nvPr/>
        </p:nvSpPr>
        <p:spPr>
          <a:xfrm>
            <a:off x="6824374" y="1760934"/>
            <a:ext cx="1101086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7" name="Text 30"/>
          <p:cNvSpPr/>
          <p:nvPr/>
        </p:nvSpPr>
        <p:spPr>
          <a:xfrm>
            <a:off x="6824374" y="1494830"/>
            <a:ext cx="1101086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상태</a:t>
            </a:r>
            <a:endParaRPr lang="en-US" sz="584" dirty="0"/>
          </a:p>
        </p:txBody>
      </p:sp>
      <p:sp>
        <p:nvSpPr>
          <p:cNvPr id="38" name="Shape 31"/>
          <p:cNvSpPr/>
          <p:nvPr/>
        </p:nvSpPr>
        <p:spPr>
          <a:xfrm>
            <a:off x="7925460" y="1494830"/>
            <a:ext cx="789915" cy="27324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9" name="Shape 32"/>
          <p:cNvSpPr/>
          <p:nvPr/>
        </p:nvSpPr>
        <p:spPr>
          <a:xfrm>
            <a:off x="7925460" y="1760934"/>
            <a:ext cx="789915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0" name="Text 33"/>
          <p:cNvSpPr/>
          <p:nvPr/>
        </p:nvSpPr>
        <p:spPr>
          <a:xfrm>
            <a:off x="7925460" y="1494830"/>
            <a:ext cx="789915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관리</a:t>
            </a:r>
            <a:endParaRPr lang="en-US" sz="584" dirty="0"/>
          </a:p>
        </p:txBody>
      </p:sp>
      <p:sp>
        <p:nvSpPr>
          <p:cNvPr id="41" name="Text 34"/>
          <p:cNvSpPr/>
          <p:nvPr/>
        </p:nvSpPr>
        <p:spPr>
          <a:xfrm>
            <a:off x="857250" y="1764506"/>
            <a:ext cx="2309524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강남 A타워 신축</a:t>
            </a:r>
            <a:endParaRPr lang="en-US" sz="621" dirty="0"/>
          </a:p>
        </p:txBody>
      </p:sp>
      <p:sp>
        <p:nvSpPr>
          <p:cNvPr id="42" name="Text 35"/>
          <p:cNvSpPr/>
          <p:nvPr/>
        </p:nvSpPr>
        <p:spPr>
          <a:xfrm>
            <a:off x="3166774" y="1764506"/>
            <a:ext cx="1547096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서울시 강남구</a:t>
            </a:r>
            <a:endParaRPr lang="en-US" sz="621" dirty="0"/>
          </a:p>
        </p:txBody>
      </p:sp>
      <p:sp>
        <p:nvSpPr>
          <p:cNvPr id="43" name="Text 36"/>
          <p:cNvSpPr/>
          <p:nvPr/>
        </p:nvSpPr>
        <p:spPr>
          <a:xfrm>
            <a:off x="4713870" y="1764506"/>
            <a:ext cx="2110504" cy="27324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2026.01 ~ 2026.12</a:t>
            </a:r>
            <a:endParaRPr lang="en-US" sz="621" dirty="0"/>
          </a:p>
        </p:txBody>
      </p:sp>
      <p:sp>
        <p:nvSpPr>
          <p:cNvPr id="44" name="Shape 37"/>
          <p:cNvSpPr/>
          <p:nvPr/>
        </p:nvSpPr>
        <p:spPr>
          <a:xfrm>
            <a:off x="6895812" y="1839516"/>
            <a:ext cx="311479" cy="126802"/>
          </a:xfrm>
          <a:prstGeom prst="round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45" name="Text 38"/>
          <p:cNvSpPr/>
          <p:nvPr/>
        </p:nvSpPr>
        <p:spPr>
          <a:xfrm>
            <a:off x="6895812" y="1839516"/>
            <a:ext cx="311479" cy="12680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3B82F6"/>
                </a:solidFill>
              </a:rPr>
              <a:t>진행중</a:t>
            </a:r>
            <a:endParaRPr lang="en-US" sz="485" dirty="0"/>
          </a:p>
        </p:txBody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6898" y="1855589"/>
            <a:ext cx="85725" cy="85725"/>
          </a:xfrm>
          <a:prstGeom prst="rect">
            <a:avLst/>
          </a:prstGeom>
        </p:spPr>
      </p:pic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4919" y="1855589"/>
            <a:ext cx="75009" cy="85725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857250" y="2037755"/>
            <a:ext cx="2309524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판교 B오피스 리모델링</a:t>
            </a:r>
            <a:endParaRPr lang="en-US" sz="621" dirty="0"/>
          </a:p>
        </p:txBody>
      </p:sp>
      <p:sp>
        <p:nvSpPr>
          <p:cNvPr id="49" name="Text 40"/>
          <p:cNvSpPr/>
          <p:nvPr/>
        </p:nvSpPr>
        <p:spPr>
          <a:xfrm>
            <a:off x="3166774" y="2037755"/>
            <a:ext cx="1547096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성남시 분당구</a:t>
            </a:r>
            <a:endParaRPr lang="en-US" sz="621" dirty="0"/>
          </a:p>
        </p:txBody>
      </p:sp>
      <p:sp>
        <p:nvSpPr>
          <p:cNvPr id="50" name="Text 41"/>
          <p:cNvSpPr/>
          <p:nvPr/>
        </p:nvSpPr>
        <p:spPr>
          <a:xfrm>
            <a:off x="4713870" y="2037755"/>
            <a:ext cx="2110504" cy="27682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2026.03 ~ 2026.08</a:t>
            </a:r>
            <a:endParaRPr lang="en-US" sz="621" dirty="0"/>
          </a:p>
        </p:txBody>
      </p:sp>
      <p:sp>
        <p:nvSpPr>
          <p:cNvPr id="51" name="Shape 42"/>
          <p:cNvSpPr/>
          <p:nvPr/>
        </p:nvSpPr>
        <p:spPr>
          <a:xfrm>
            <a:off x="6895812" y="2116336"/>
            <a:ext cx="245762" cy="126802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2" name="Text 43"/>
          <p:cNvSpPr/>
          <p:nvPr/>
        </p:nvSpPr>
        <p:spPr>
          <a:xfrm>
            <a:off x="6895812" y="2116336"/>
            <a:ext cx="245762" cy="12680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0B981"/>
                </a:solidFill>
              </a:rPr>
              <a:t>완료</a:t>
            </a:r>
            <a:endParaRPr lang="en-US" sz="485" dirty="0"/>
          </a:p>
        </p:txBody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6898" y="2132409"/>
            <a:ext cx="85725" cy="85725"/>
          </a:xfrm>
          <a:prstGeom prst="rect">
            <a:avLst/>
          </a:prstGeom>
        </p:spPr>
      </p:pic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4919" y="2132409"/>
            <a:ext cx="75009" cy="85725"/>
          </a:xfrm>
          <a:prstGeom prst="rect">
            <a:avLst/>
          </a:prstGeom>
        </p:spPr>
      </p:pic>
      <p:sp>
        <p:nvSpPr>
          <p:cNvPr id="55" name="Shape 44"/>
          <p:cNvSpPr/>
          <p:nvPr/>
        </p:nvSpPr>
        <p:spPr>
          <a:xfrm>
            <a:off x="4572000" y="1903809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6" name="Text 45"/>
          <p:cNvSpPr/>
          <p:nvPr/>
        </p:nvSpPr>
        <p:spPr>
          <a:xfrm>
            <a:off x="4572000" y="190380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4</a:t>
            </a:r>
            <a:endParaRPr lang="en-US" sz="584" dirty="0"/>
          </a:p>
        </p:txBody>
      </p:sp>
      <p:sp>
        <p:nvSpPr>
          <p:cNvPr id="57" name="Shape 46"/>
          <p:cNvSpPr/>
          <p:nvPr/>
        </p:nvSpPr>
        <p:spPr>
          <a:xfrm>
            <a:off x="8358188" y="1903809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8" name="Text 47"/>
          <p:cNvSpPr/>
          <p:nvPr/>
        </p:nvSpPr>
        <p:spPr>
          <a:xfrm>
            <a:off x="8358188" y="190380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5</a:t>
            </a:r>
            <a:endParaRPr lang="en-US" sz="584" dirty="0"/>
          </a:p>
        </p:txBody>
      </p:sp>
      <p:sp>
        <p:nvSpPr>
          <p:cNvPr id="59" name="Shape 48"/>
          <p:cNvSpPr/>
          <p:nvPr/>
        </p:nvSpPr>
        <p:spPr>
          <a:xfrm>
            <a:off x="285750" y="3261122"/>
            <a:ext cx="4179094" cy="157162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0" name="Text 49"/>
          <p:cNvSpPr/>
          <p:nvPr/>
        </p:nvSpPr>
        <p:spPr>
          <a:xfrm>
            <a:off x="392906" y="3368278"/>
            <a:ext cx="396478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UI 구현 명세</a:t>
            </a:r>
            <a:endParaRPr lang="en-US" sz="683" dirty="0"/>
          </a:p>
        </p:txBody>
      </p:sp>
      <p:sp>
        <p:nvSpPr>
          <p:cNvPr id="61" name="Text 50"/>
          <p:cNvSpPr/>
          <p:nvPr/>
        </p:nvSpPr>
        <p:spPr>
          <a:xfrm>
            <a:off x="392906" y="3584377"/>
            <a:ext cx="214313" cy="19645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No</a:t>
            </a:r>
            <a:endParaRPr lang="en-US" sz="534" dirty="0"/>
          </a:p>
        </p:txBody>
      </p:sp>
      <p:sp>
        <p:nvSpPr>
          <p:cNvPr id="62" name="Text 51"/>
          <p:cNvSpPr/>
          <p:nvPr/>
        </p:nvSpPr>
        <p:spPr>
          <a:xfrm>
            <a:off x="607219" y="3584377"/>
            <a:ext cx="571500" cy="19645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Element</a:t>
            </a:r>
            <a:endParaRPr lang="en-US" sz="534" dirty="0"/>
          </a:p>
        </p:txBody>
      </p:sp>
      <p:sp>
        <p:nvSpPr>
          <p:cNvPr id="63" name="Text 52"/>
          <p:cNvSpPr/>
          <p:nvPr/>
        </p:nvSpPr>
        <p:spPr>
          <a:xfrm>
            <a:off x="1178719" y="3584377"/>
            <a:ext cx="3178969" cy="19645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Spec</a:t>
            </a:r>
            <a:endParaRPr lang="en-US" sz="534" dirty="0"/>
          </a:p>
        </p:txBody>
      </p:sp>
      <p:sp>
        <p:nvSpPr>
          <p:cNvPr id="64" name="Shape 53"/>
          <p:cNvSpPr/>
          <p:nvPr/>
        </p:nvSpPr>
        <p:spPr>
          <a:xfrm>
            <a:off x="435769" y="3827264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5" name="Text 54"/>
          <p:cNvSpPr/>
          <p:nvPr/>
        </p:nvSpPr>
        <p:spPr>
          <a:xfrm>
            <a:off x="435769" y="382726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</a:t>
            </a:r>
            <a:endParaRPr lang="en-US" sz="485" dirty="0"/>
          </a:p>
        </p:txBody>
      </p:sp>
      <p:sp>
        <p:nvSpPr>
          <p:cNvPr id="66" name="Text 55"/>
          <p:cNvSpPr/>
          <p:nvPr/>
        </p:nvSpPr>
        <p:spPr>
          <a:xfrm>
            <a:off x="607219" y="3780830"/>
            <a:ext cx="571500" cy="207169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Search</a:t>
            </a:r>
            <a:endParaRPr lang="en-US" sz="568" dirty="0"/>
          </a:p>
        </p:txBody>
      </p:sp>
      <p:sp>
        <p:nvSpPr>
          <p:cNvPr id="67" name="Text 56"/>
          <p:cNvSpPr/>
          <p:nvPr/>
        </p:nvSpPr>
        <p:spPr>
          <a:xfrm>
            <a:off x="1221581" y="3827264"/>
            <a:ext cx="16589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API:</a:t>
            </a:r>
            <a:endParaRPr lang="en-US" sz="568" dirty="0"/>
          </a:p>
        </p:txBody>
      </p:sp>
      <p:sp>
        <p:nvSpPr>
          <p:cNvPr id="68" name="Shape 57"/>
          <p:cNvSpPr/>
          <p:nvPr/>
        </p:nvSpPr>
        <p:spPr>
          <a:xfrm>
            <a:off x="1387478" y="3820120"/>
            <a:ext cx="1176291" cy="12680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9" name="Text 58"/>
          <p:cNvSpPr/>
          <p:nvPr/>
        </p:nvSpPr>
        <p:spPr>
          <a:xfrm>
            <a:off x="1387478" y="3820120"/>
            <a:ext cx="1176291" cy="126802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E2E8F0"/>
                </a:solidFill>
              </a:rPr>
              <a:t>GET /api/v1/projects?search={kw}</a:t>
            </a:r>
            <a:endParaRPr lang="en-US" sz="516" dirty="0"/>
          </a:p>
        </p:txBody>
      </p:sp>
      <p:sp>
        <p:nvSpPr>
          <p:cNvPr id="70" name="Text 59"/>
          <p:cNvSpPr/>
          <p:nvPr/>
        </p:nvSpPr>
        <p:spPr>
          <a:xfrm>
            <a:off x="2563769" y="3827264"/>
            <a:ext cx="71069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(Debounce 300ms)</a:t>
            </a:r>
            <a:endParaRPr lang="en-US" sz="568" dirty="0"/>
          </a:p>
        </p:txBody>
      </p:sp>
      <p:sp>
        <p:nvSpPr>
          <p:cNvPr id="71" name="Shape 60"/>
          <p:cNvSpPr/>
          <p:nvPr/>
        </p:nvSpPr>
        <p:spPr>
          <a:xfrm>
            <a:off x="435769" y="4034433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2" name="Text 61"/>
          <p:cNvSpPr/>
          <p:nvPr/>
        </p:nvSpPr>
        <p:spPr>
          <a:xfrm>
            <a:off x="435769" y="403443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2</a:t>
            </a:r>
            <a:endParaRPr lang="en-US" sz="485" dirty="0"/>
          </a:p>
        </p:txBody>
      </p:sp>
      <p:sp>
        <p:nvSpPr>
          <p:cNvPr id="73" name="Text 62"/>
          <p:cNvSpPr/>
          <p:nvPr/>
        </p:nvSpPr>
        <p:spPr>
          <a:xfrm>
            <a:off x="607219" y="3987998"/>
            <a:ext cx="571500" cy="207169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Filter</a:t>
            </a:r>
            <a:endParaRPr lang="en-US" sz="568" dirty="0"/>
          </a:p>
        </p:txBody>
      </p:sp>
      <p:sp>
        <p:nvSpPr>
          <p:cNvPr id="74" name="Text 63"/>
          <p:cNvSpPr/>
          <p:nvPr/>
        </p:nvSpPr>
        <p:spPr>
          <a:xfrm>
            <a:off x="1221581" y="4034433"/>
            <a:ext cx="16589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API:</a:t>
            </a:r>
            <a:endParaRPr lang="en-US" sz="568" dirty="0"/>
          </a:p>
        </p:txBody>
      </p:sp>
      <p:sp>
        <p:nvSpPr>
          <p:cNvPr id="75" name="Shape 64"/>
          <p:cNvSpPr/>
          <p:nvPr/>
        </p:nvSpPr>
        <p:spPr>
          <a:xfrm>
            <a:off x="1387478" y="4027289"/>
            <a:ext cx="1269383" cy="12680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6" name="Text 65"/>
          <p:cNvSpPr/>
          <p:nvPr/>
        </p:nvSpPr>
        <p:spPr>
          <a:xfrm>
            <a:off x="1387478" y="4027289"/>
            <a:ext cx="1269383" cy="126802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E2E8F0"/>
                </a:solidFill>
              </a:rPr>
              <a:t>GET /api/v1/projects?status={status}</a:t>
            </a:r>
            <a:endParaRPr lang="en-US" sz="516" dirty="0"/>
          </a:p>
        </p:txBody>
      </p:sp>
      <p:sp>
        <p:nvSpPr>
          <p:cNvPr id="77" name="Shape 66"/>
          <p:cNvSpPr/>
          <p:nvPr/>
        </p:nvSpPr>
        <p:spPr>
          <a:xfrm>
            <a:off x="435769" y="4241602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8" name="Text 67"/>
          <p:cNvSpPr/>
          <p:nvPr/>
        </p:nvSpPr>
        <p:spPr>
          <a:xfrm>
            <a:off x="435769" y="424160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3</a:t>
            </a:r>
            <a:endParaRPr lang="en-US" sz="485" dirty="0"/>
          </a:p>
        </p:txBody>
      </p:sp>
      <p:sp>
        <p:nvSpPr>
          <p:cNvPr id="79" name="Text 68"/>
          <p:cNvSpPr/>
          <p:nvPr/>
        </p:nvSpPr>
        <p:spPr>
          <a:xfrm>
            <a:off x="607219" y="4195167"/>
            <a:ext cx="571500" cy="207169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Create Btn</a:t>
            </a:r>
            <a:endParaRPr lang="en-US" sz="568" dirty="0"/>
          </a:p>
        </p:txBody>
      </p:sp>
      <p:sp>
        <p:nvSpPr>
          <p:cNvPr id="80" name="Text 69"/>
          <p:cNvSpPr/>
          <p:nvPr/>
        </p:nvSpPr>
        <p:spPr>
          <a:xfrm>
            <a:off x="1178719" y="4195167"/>
            <a:ext cx="3178969" cy="207169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Click → [팝업 1] 프로젝트 생성 모달 표시</a:t>
            </a:r>
            <a:endParaRPr lang="en-US" sz="568" dirty="0"/>
          </a:p>
        </p:txBody>
      </p:sp>
      <p:sp>
        <p:nvSpPr>
          <p:cNvPr id="81" name="Shape 70"/>
          <p:cNvSpPr/>
          <p:nvPr/>
        </p:nvSpPr>
        <p:spPr>
          <a:xfrm>
            <a:off x="435769" y="4448770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2" name="Text 71"/>
          <p:cNvSpPr/>
          <p:nvPr/>
        </p:nvSpPr>
        <p:spPr>
          <a:xfrm>
            <a:off x="435769" y="444877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4</a:t>
            </a:r>
            <a:endParaRPr lang="en-US" sz="485" dirty="0"/>
          </a:p>
        </p:txBody>
      </p:sp>
      <p:sp>
        <p:nvSpPr>
          <p:cNvPr id="83" name="Text 72"/>
          <p:cNvSpPr/>
          <p:nvPr/>
        </p:nvSpPr>
        <p:spPr>
          <a:xfrm>
            <a:off x="607219" y="4402336"/>
            <a:ext cx="571500" cy="207169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List Table</a:t>
            </a:r>
            <a:endParaRPr lang="en-US" sz="568" dirty="0"/>
          </a:p>
        </p:txBody>
      </p:sp>
      <p:sp>
        <p:nvSpPr>
          <p:cNvPr id="84" name="Text 73"/>
          <p:cNvSpPr/>
          <p:nvPr/>
        </p:nvSpPr>
        <p:spPr>
          <a:xfrm>
            <a:off x="1178719" y="4402336"/>
            <a:ext cx="3178969" cy="207169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Pagination 적용 (10개씩), 클릭 시 상세 페이지 이동</a:t>
            </a:r>
            <a:endParaRPr lang="en-US" sz="568" dirty="0"/>
          </a:p>
        </p:txBody>
      </p:sp>
      <p:sp>
        <p:nvSpPr>
          <p:cNvPr id="85" name="Shape 74"/>
          <p:cNvSpPr/>
          <p:nvPr/>
        </p:nvSpPr>
        <p:spPr>
          <a:xfrm>
            <a:off x="435769" y="4655939"/>
            <a:ext cx="114300" cy="1143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6" name="Text 75"/>
          <p:cNvSpPr/>
          <p:nvPr/>
        </p:nvSpPr>
        <p:spPr>
          <a:xfrm>
            <a:off x="435769" y="465593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5</a:t>
            </a:r>
            <a:endParaRPr lang="en-US" sz="485" dirty="0"/>
          </a:p>
        </p:txBody>
      </p:sp>
      <p:sp>
        <p:nvSpPr>
          <p:cNvPr id="87" name="Text 76"/>
          <p:cNvSpPr/>
          <p:nvPr/>
        </p:nvSpPr>
        <p:spPr>
          <a:xfrm>
            <a:off x="607219" y="4609505"/>
            <a:ext cx="571500" cy="207169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Actions</a:t>
            </a:r>
            <a:endParaRPr lang="en-US" sz="568" dirty="0"/>
          </a:p>
        </p:txBody>
      </p:sp>
      <p:sp>
        <p:nvSpPr>
          <p:cNvPr id="88" name="Text 77"/>
          <p:cNvSpPr/>
          <p:nvPr/>
        </p:nvSpPr>
        <p:spPr>
          <a:xfrm>
            <a:off x="1178719" y="4609505"/>
            <a:ext cx="3178969" cy="207169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Edit: 수정 모달 / Delete: 삭제 확인 Alert</a:t>
            </a:r>
            <a:endParaRPr lang="en-US" sz="568" dirty="0"/>
          </a:p>
        </p:txBody>
      </p:sp>
      <p:sp>
        <p:nvSpPr>
          <p:cNvPr id="89" name="Shape 78"/>
          <p:cNvSpPr/>
          <p:nvPr/>
        </p:nvSpPr>
        <p:spPr>
          <a:xfrm>
            <a:off x="4679156" y="3261122"/>
            <a:ext cx="4179094" cy="157162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90" name="Text 79"/>
          <p:cNvSpPr/>
          <p:nvPr/>
        </p:nvSpPr>
        <p:spPr>
          <a:xfrm>
            <a:off x="4786313" y="3368278"/>
            <a:ext cx="396478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59E0B"/>
                </a:solidFill>
              </a:rPr>
              <a:t>[팝업 1] 프로젝트 생성</a:t>
            </a:r>
            <a:endParaRPr lang="en-US" sz="683" dirty="0"/>
          </a:p>
        </p:txBody>
      </p:sp>
      <p:sp>
        <p:nvSpPr>
          <p:cNvPr id="91" name="Text 80"/>
          <p:cNvSpPr/>
          <p:nvPr/>
        </p:nvSpPr>
        <p:spPr>
          <a:xfrm>
            <a:off x="4786313" y="3584377"/>
            <a:ext cx="252174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• Fields: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- 프로젝트명 (필수, Max 100)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- 위치 (필수), 기간 (Date Range)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- 예상 인원 (Number)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• API:</a:t>
            </a:r>
            <a:pPr algn="l" indent="0" marL="0">
              <a:lnSpc>
                <a:spcPts val="1000"/>
              </a:lnSpc>
              <a:buNone/>
            </a:pPr>
            <a:r>
              <a:rPr lang="en-US" sz="516" dirty="0">
                <a:solidFill>
                  <a:srgbClr val="E2E8F0"/>
                </a:solidFill>
              </a:rPr>
              <a:t>POST /api/v1/projects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• Validation: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필수값 누락 시 "모든 정보를 입력해주세요."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• Success: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목록 갱신 및 Toast "생성 완료"</a:t>
            </a:r>
            <a:endParaRPr lang="en-US" sz="584" dirty="0"/>
          </a:p>
        </p:txBody>
      </p:sp>
      <p:pic>
        <p:nvPicPr>
          <p:cNvPr id="9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0931" y="3584377"/>
            <a:ext cx="1300163" cy="8715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4286250" cy="392906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428625"/>
            <a:ext cx="4286250" cy="221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642938"/>
            <a:ext cx="4286250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785813"/>
            <a:ext cx="113259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A 아파트 신축 공사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428625" y="1028700"/>
            <a:ext cx="331208" cy="17145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028700"/>
            <a:ext cx="331208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D4ED8"/>
                </a:solidFill>
              </a:rPr>
              <a:t>진행중</a:t>
            </a:r>
            <a:endParaRPr lang="en-US" sz="534" dirty="0"/>
          </a:p>
        </p:txBody>
      </p:sp>
      <p:sp>
        <p:nvSpPr>
          <p:cNvPr id="9" name="Shape 6"/>
          <p:cNvSpPr/>
          <p:nvPr/>
        </p:nvSpPr>
        <p:spPr>
          <a:xfrm>
            <a:off x="3714750" y="785813"/>
            <a:ext cx="328613" cy="19109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3714750" y="785813"/>
            <a:ext cx="328613" cy="191095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수정</a:t>
            </a:r>
            <a:endParaRPr lang="en-US" sz="534" dirty="0"/>
          </a:p>
        </p:txBody>
      </p:sp>
      <p:sp>
        <p:nvSpPr>
          <p:cNvPr id="11" name="Shape 8"/>
          <p:cNvSpPr/>
          <p:nvPr/>
        </p:nvSpPr>
        <p:spPr>
          <a:xfrm>
            <a:off x="4100513" y="785813"/>
            <a:ext cx="328613" cy="19109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4100513" y="785813"/>
            <a:ext cx="328613" cy="191095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삭제</a:t>
            </a:r>
            <a:endParaRPr lang="en-US" sz="534" dirty="0"/>
          </a:p>
        </p:txBody>
      </p:sp>
      <p:sp>
        <p:nvSpPr>
          <p:cNvPr id="13" name="Shape 10"/>
          <p:cNvSpPr/>
          <p:nvPr/>
        </p:nvSpPr>
        <p:spPr>
          <a:xfrm>
            <a:off x="4214813" y="857250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1"/>
          <p:cNvSpPr/>
          <p:nvPr/>
        </p:nvSpPr>
        <p:spPr>
          <a:xfrm>
            <a:off x="4214813" y="85725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5" name="Shape 12"/>
          <p:cNvSpPr/>
          <p:nvPr/>
        </p:nvSpPr>
        <p:spPr>
          <a:xfrm>
            <a:off x="428625" y="1343025"/>
            <a:ext cx="4000500" cy="94297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1450181"/>
            <a:ext cx="714375" cy="71437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57313" y="1450181"/>
            <a:ext cx="1453753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위치: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서울시 강남구 역삼동</a:t>
            </a:r>
            <a:endParaRPr lang="en-US" sz="584" dirty="0"/>
          </a:p>
        </p:txBody>
      </p:sp>
      <p:sp>
        <p:nvSpPr>
          <p:cNvPr id="18" name="Text 14"/>
          <p:cNvSpPr/>
          <p:nvPr/>
        </p:nvSpPr>
        <p:spPr>
          <a:xfrm>
            <a:off x="2868216" y="1450181"/>
            <a:ext cx="1453753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기간: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2026.01 ~ 2026.12</a:t>
            </a:r>
            <a:endParaRPr lang="en-US" sz="584" dirty="0"/>
          </a:p>
        </p:txBody>
      </p:sp>
      <p:sp>
        <p:nvSpPr>
          <p:cNvPr id="19" name="Text 15"/>
          <p:cNvSpPr/>
          <p:nvPr/>
        </p:nvSpPr>
        <p:spPr>
          <a:xfrm>
            <a:off x="1357313" y="1835944"/>
            <a:ext cx="1453753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예상인원: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120명</a:t>
            </a:r>
            <a:endParaRPr lang="en-US" sz="584" dirty="0"/>
          </a:p>
        </p:txBody>
      </p:sp>
      <p:sp>
        <p:nvSpPr>
          <p:cNvPr id="20" name="Text 16"/>
          <p:cNvSpPr/>
          <p:nvPr/>
        </p:nvSpPr>
        <p:spPr>
          <a:xfrm>
            <a:off x="2868216" y="1835944"/>
            <a:ext cx="1453753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관리자: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김현장 소장</a:t>
            </a:r>
            <a:endParaRPr lang="en-US" sz="584" dirty="0"/>
          </a:p>
        </p:txBody>
      </p:sp>
      <p:sp>
        <p:nvSpPr>
          <p:cNvPr id="21" name="Shape 17"/>
          <p:cNvSpPr/>
          <p:nvPr/>
        </p:nvSpPr>
        <p:spPr>
          <a:xfrm>
            <a:off x="357188" y="50006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18"/>
          <p:cNvSpPr/>
          <p:nvPr/>
        </p:nvSpPr>
        <p:spPr>
          <a:xfrm>
            <a:off x="357188" y="50006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23" name="Text 19"/>
          <p:cNvSpPr/>
          <p:nvPr/>
        </p:nvSpPr>
        <p:spPr>
          <a:xfrm>
            <a:off x="428625" y="2414588"/>
            <a:ext cx="503355" cy="20716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현장 목록 (3)</a:t>
            </a:r>
            <a:endParaRPr lang="en-US" sz="634" dirty="0"/>
          </a:p>
        </p:txBody>
      </p:sp>
      <p:sp>
        <p:nvSpPr>
          <p:cNvPr id="24" name="Text 20"/>
          <p:cNvSpPr/>
          <p:nvPr/>
        </p:nvSpPr>
        <p:spPr>
          <a:xfrm>
            <a:off x="1074855" y="2414588"/>
            <a:ext cx="641933" cy="192881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노무자 목록 (45)</a:t>
            </a:r>
            <a:endParaRPr lang="en-US" sz="634" dirty="0"/>
          </a:p>
        </p:txBody>
      </p:sp>
      <p:sp>
        <p:nvSpPr>
          <p:cNvPr id="25" name="Text 21"/>
          <p:cNvSpPr/>
          <p:nvPr/>
        </p:nvSpPr>
        <p:spPr>
          <a:xfrm>
            <a:off x="1859663" y="2414588"/>
            <a:ext cx="451368" cy="192881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계약서 관리</a:t>
            </a:r>
            <a:endParaRPr lang="en-US" sz="634" dirty="0"/>
          </a:p>
        </p:txBody>
      </p:sp>
      <p:sp>
        <p:nvSpPr>
          <p:cNvPr id="26" name="Shape 22"/>
          <p:cNvSpPr/>
          <p:nvPr/>
        </p:nvSpPr>
        <p:spPr>
          <a:xfrm>
            <a:off x="428625" y="207168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3"/>
          <p:cNvSpPr/>
          <p:nvPr/>
        </p:nvSpPr>
        <p:spPr>
          <a:xfrm>
            <a:off x="428625" y="207168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28" name="Shape 24"/>
          <p:cNvSpPr/>
          <p:nvPr/>
        </p:nvSpPr>
        <p:spPr>
          <a:xfrm>
            <a:off x="428625" y="2764631"/>
            <a:ext cx="4000500" cy="145018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07219" y="2943225"/>
            <a:ext cx="58603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101동 골조 공사</a:t>
            </a:r>
            <a:endParaRPr lang="en-US" sz="621" dirty="0"/>
          </a:p>
        </p:txBody>
      </p:sp>
      <p:sp>
        <p:nvSpPr>
          <p:cNvPr id="30" name="Text 26"/>
          <p:cNvSpPr/>
          <p:nvPr/>
        </p:nvSpPr>
        <p:spPr>
          <a:xfrm>
            <a:off x="4013922" y="2943225"/>
            <a:ext cx="23660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진행중</a:t>
            </a:r>
            <a:endParaRPr lang="en-US" sz="621" dirty="0"/>
          </a:p>
        </p:txBody>
      </p:sp>
      <p:sp>
        <p:nvSpPr>
          <p:cNvPr id="31" name="Text 27"/>
          <p:cNvSpPr/>
          <p:nvPr/>
        </p:nvSpPr>
        <p:spPr>
          <a:xfrm>
            <a:off x="607219" y="3220045"/>
            <a:ext cx="58603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102동 기초 공사</a:t>
            </a:r>
            <a:endParaRPr lang="en-US" sz="621" dirty="0"/>
          </a:p>
        </p:txBody>
      </p:sp>
      <p:sp>
        <p:nvSpPr>
          <p:cNvPr id="32" name="Text 28"/>
          <p:cNvSpPr/>
          <p:nvPr/>
        </p:nvSpPr>
        <p:spPr>
          <a:xfrm>
            <a:off x="4013922" y="3220045"/>
            <a:ext cx="23660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진행중</a:t>
            </a:r>
            <a:endParaRPr lang="en-US" sz="621" dirty="0"/>
          </a:p>
        </p:txBody>
      </p:sp>
      <p:sp>
        <p:nvSpPr>
          <p:cNvPr id="33" name="Text 29"/>
          <p:cNvSpPr/>
          <p:nvPr/>
        </p:nvSpPr>
        <p:spPr>
          <a:xfrm>
            <a:off x="607219" y="3496866"/>
            <a:ext cx="59667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지하 주차장 토목</a:t>
            </a:r>
            <a:endParaRPr lang="en-US" sz="621" dirty="0"/>
          </a:p>
        </p:txBody>
      </p:sp>
      <p:sp>
        <p:nvSpPr>
          <p:cNvPr id="34" name="Text 30"/>
          <p:cNvSpPr/>
          <p:nvPr/>
        </p:nvSpPr>
        <p:spPr>
          <a:xfrm>
            <a:off x="4013922" y="3496866"/>
            <a:ext cx="23660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59E0B"/>
                </a:solidFill>
              </a:rPr>
              <a:t>대기중</a:t>
            </a:r>
            <a:endParaRPr lang="en-US" sz="621" dirty="0"/>
          </a:p>
        </p:txBody>
      </p:sp>
      <p:sp>
        <p:nvSpPr>
          <p:cNvPr id="35" name="Text 31"/>
          <p:cNvSpPr/>
          <p:nvPr/>
        </p:nvSpPr>
        <p:spPr>
          <a:xfrm>
            <a:off x="4857750" y="428625"/>
            <a:ext cx="40005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[본사] 프로젝트 관리 - 상세 (PC Web)</a:t>
            </a:r>
            <a:endParaRPr lang="en-US" sz="1602" dirty="0"/>
          </a:p>
        </p:txBody>
      </p:sp>
      <p:sp>
        <p:nvSpPr>
          <p:cNvPr id="36" name="Text 32"/>
          <p:cNvSpPr/>
          <p:nvPr/>
        </p:nvSpPr>
        <p:spPr>
          <a:xfrm>
            <a:off x="4857750" y="796528"/>
            <a:ext cx="40005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프로젝트 상세 정보 조회 및 수정/삭제 기능</a:t>
            </a:r>
            <a:endParaRPr lang="en-US" sz="834" dirty="0"/>
          </a:p>
        </p:txBody>
      </p:sp>
      <p:sp>
        <p:nvSpPr>
          <p:cNvPr id="37" name="Shape 33"/>
          <p:cNvSpPr/>
          <p:nvPr/>
        </p:nvSpPr>
        <p:spPr>
          <a:xfrm>
            <a:off x="4857750" y="1182291"/>
            <a:ext cx="285750" cy="23753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Shape 34"/>
          <p:cNvSpPr/>
          <p:nvPr/>
        </p:nvSpPr>
        <p:spPr>
          <a:xfrm>
            <a:off x="4857750" y="1405533"/>
            <a:ext cx="2857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" name="Text 35"/>
          <p:cNvSpPr/>
          <p:nvPr/>
        </p:nvSpPr>
        <p:spPr>
          <a:xfrm>
            <a:off x="4857750" y="1182291"/>
            <a:ext cx="285750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No</a:t>
            </a:r>
            <a:endParaRPr lang="en-US" sz="584" dirty="0"/>
          </a:p>
        </p:txBody>
      </p:sp>
      <p:sp>
        <p:nvSpPr>
          <p:cNvPr id="40" name="Shape 36"/>
          <p:cNvSpPr/>
          <p:nvPr/>
        </p:nvSpPr>
        <p:spPr>
          <a:xfrm>
            <a:off x="5143500" y="1182291"/>
            <a:ext cx="714375" cy="23753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Shape 37"/>
          <p:cNvSpPr/>
          <p:nvPr/>
        </p:nvSpPr>
        <p:spPr>
          <a:xfrm>
            <a:off x="5143500" y="1405533"/>
            <a:ext cx="7143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" name="Text 38"/>
          <p:cNvSpPr/>
          <p:nvPr/>
        </p:nvSpPr>
        <p:spPr>
          <a:xfrm>
            <a:off x="5143500" y="1182291"/>
            <a:ext cx="714375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Element</a:t>
            </a:r>
            <a:endParaRPr lang="en-US" sz="584" dirty="0"/>
          </a:p>
        </p:txBody>
      </p:sp>
      <p:sp>
        <p:nvSpPr>
          <p:cNvPr id="43" name="Shape 39"/>
          <p:cNvSpPr/>
          <p:nvPr/>
        </p:nvSpPr>
        <p:spPr>
          <a:xfrm>
            <a:off x="5857875" y="1182291"/>
            <a:ext cx="3000375" cy="23753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Shape 40"/>
          <p:cNvSpPr/>
          <p:nvPr/>
        </p:nvSpPr>
        <p:spPr>
          <a:xfrm>
            <a:off x="5857875" y="1405533"/>
            <a:ext cx="30003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5" name="Text 41"/>
          <p:cNvSpPr/>
          <p:nvPr/>
        </p:nvSpPr>
        <p:spPr>
          <a:xfrm>
            <a:off x="5857875" y="1182291"/>
            <a:ext cx="3000375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Implementation Spec</a:t>
            </a:r>
            <a:endParaRPr lang="en-US" sz="584" dirty="0"/>
          </a:p>
        </p:txBody>
      </p:sp>
      <p:sp>
        <p:nvSpPr>
          <p:cNvPr id="46" name="Shape 42"/>
          <p:cNvSpPr/>
          <p:nvPr/>
        </p:nvSpPr>
        <p:spPr>
          <a:xfrm>
            <a:off x="4914900" y="1469827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7" name="Text 43"/>
          <p:cNvSpPr/>
          <p:nvPr/>
        </p:nvSpPr>
        <p:spPr>
          <a:xfrm>
            <a:off x="4914900" y="146982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48" name="Text 44"/>
          <p:cNvSpPr/>
          <p:nvPr/>
        </p:nvSpPr>
        <p:spPr>
          <a:xfrm>
            <a:off x="5143500" y="1412677"/>
            <a:ext cx="714375" cy="36075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Info Section</a:t>
            </a:r>
            <a:endParaRPr lang="en-US" sz="621" dirty="0"/>
          </a:p>
        </p:txBody>
      </p:sp>
      <p:sp>
        <p:nvSpPr>
          <p:cNvPr id="49" name="Text 45"/>
          <p:cNvSpPr/>
          <p:nvPr/>
        </p:nvSpPr>
        <p:spPr>
          <a:xfrm>
            <a:off x="5915025" y="1469827"/>
            <a:ext cx="28860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GET /api/v1/projects/{id}</a:t>
            </a:r>
            <a:endParaRPr lang="en-US" sz="621" dirty="0"/>
          </a:p>
        </p:txBody>
      </p:sp>
      <p:sp>
        <p:nvSpPr>
          <p:cNvPr id="50" name="Text 46"/>
          <p:cNvSpPr/>
          <p:nvPr/>
        </p:nvSpPr>
        <p:spPr>
          <a:xfrm>
            <a:off x="5915025" y="1585913"/>
            <a:ext cx="28860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Read-only: 수정 버튼 클릭 시에만 편집 가능</a:t>
            </a:r>
            <a:endParaRPr lang="en-US" sz="621" dirty="0"/>
          </a:p>
        </p:txBody>
      </p:sp>
      <p:sp>
        <p:nvSpPr>
          <p:cNvPr id="51" name="Shape 47"/>
          <p:cNvSpPr/>
          <p:nvPr/>
        </p:nvSpPr>
        <p:spPr>
          <a:xfrm>
            <a:off x="4914900" y="183415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2" name="Text 48"/>
          <p:cNvSpPr/>
          <p:nvPr/>
        </p:nvSpPr>
        <p:spPr>
          <a:xfrm>
            <a:off x="4914900" y="183415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53" name="Text 49"/>
          <p:cNvSpPr/>
          <p:nvPr/>
        </p:nvSpPr>
        <p:spPr>
          <a:xfrm>
            <a:off x="5143500" y="1773436"/>
            <a:ext cx="714375" cy="3643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Tabs</a:t>
            </a:r>
            <a:endParaRPr lang="en-US" sz="621" dirty="0"/>
          </a:p>
        </p:txBody>
      </p:sp>
      <p:sp>
        <p:nvSpPr>
          <p:cNvPr id="54" name="Text 50"/>
          <p:cNvSpPr/>
          <p:nvPr/>
        </p:nvSpPr>
        <p:spPr>
          <a:xfrm>
            <a:off x="5915025" y="1834158"/>
            <a:ext cx="28860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Logic: Client-side Routing or State</a:t>
            </a:r>
            <a:endParaRPr lang="en-US" sz="621" dirty="0"/>
          </a:p>
        </p:txBody>
      </p:sp>
      <p:sp>
        <p:nvSpPr>
          <p:cNvPr id="55" name="Text 51"/>
          <p:cNvSpPr/>
          <p:nvPr/>
        </p:nvSpPr>
        <p:spPr>
          <a:xfrm>
            <a:off x="5915025" y="1950244"/>
            <a:ext cx="28860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Lazy Load: 탭 클릭 시 해당 데이터 Fetch</a:t>
            </a:r>
            <a:endParaRPr lang="en-US" sz="621" dirty="0"/>
          </a:p>
        </p:txBody>
      </p:sp>
      <p:sp>
        <p:nvSpPr>
          <p:cNvPr id="56" name="Shape 52"/>
          <p:cNvSpPr/>
          <p:nvPr/>
        </p:nvSpPr>
        <p:spPr>
          <a:xfrm>
            <a:off x="4914900" y="2198489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7" name="Text 53"/>
          <p:cNvSpPr/>
          <p:nvPr/>
        </p:nvSpPr>
        <p:spPr>
          <a:xfrm>
            <a:off x="4914900" y="219848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58" name="Text 54"/>
          <p:cNvSpPr/>
          <p:nvPr/>
        </p:nvSpPr>
        <p:spPr>
          <a:xfrm>
            <a:off x="5143500" y="2137767"/>
            <a:ext cx="714375" cy="37504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Action Btns</a:t>
            </a:r>
            <a:endParaRPr lang="en-US" sz="621" dirty="0"/>
          </a:p>
        </p:txBody>
      </p:sp>
      <p:sp>
        <p:nvSpPr>
          <p:cNvPr id="59" name="Text 55"/>
          <p:cNvSpPr/>
          <p:nvPr/>
        </p:nvSpPr>
        <p:spPr>
          <a:xfrm>
            <a:off x="5915025" y="2198489"/>
            <a:ext cx="28860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Edit: 수정 팝업 호출 (기존 데이터 바인딩)</a:t>
            </a:r>
            <a:endParaRPr lang="en-US" sz="621" dirty="0"/>
          </a:p>
        </p:txBody>
      </p:sp>
      <p:sp>
        <p:nvSpPr>
          <p:cNvPr id="60" name="Text 56"/>
          <p:cNvSpPr/>
          <p:nvPr/>
        </p:nvSpPr>
        <p:spPr>
          <a:xfrm>
            <a:off x="5915025" y="2325291"/>
            <a:ext cx="28860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Delete: 삭제 확인 팝업 호출</a:t>
            </a:r>
            <a:endParaRPr lang="en-US" sz="621" dirty="0"/>
          </a:p>
        </p:txBody>
      </p:sp>
      <p:sp>
        <p:nvSpPr>
          <p:cNvPr id="61" name="Shape 57"/>
          <p:cNvSpPr/>
          <p:nvPr/>
        </p:nvSpPr>
        <p:spPr>
          <a:xfrm>
            <a:off x="4857750" y="2730698"/>
            <a:ext cx="4000500" cy="81617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6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906" y="2860179"/>
            <a:ext cx="100013" cy="100013"/>
          </a:xfrm>
          <a:prstGeom prst="rect">
            <a:avLst/>
          </a:prstGeom>
        </p:spPr>
      </p:pic>
      <p:sp>
        <p:nvSpPr>
          <p:cNvPr id="63" name="Text 58"/>
          <p:cNvSpPr/>
          <p:nvPr/>
        </p:nvSpPr>
        <p:spPr>
          <a:xfrm>
            <a:off x="5122069" y="2837855"/>
            <a:ext cx="93753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59E0B"/>
                </a:solidFill>
              </a:rPr>
              <a:t>[팝업 2] 프로젝트 수정</a:t>
            </a:r>
            <a:endParaRPr lang="en-US" sz="683" dirty="0"/>
          </a:p>
        </p:txBody>
      </p:sp>
      <p:sp>
        <p:nvSpPr>
          <p:cNvPr id="64" name="Text 59"/>
          <p:cNvSpPr/>
          <p:nvPr/>
        </p:nvSpPr>
        <p:spPr>
          <a:xfrm>
            <a:off x="4964906" y="3039666"/>
            <a:ext cx="37861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• Input: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프로젝트명, 위치, 기간, 예상인원 (기존 값 Pre-fill)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• API: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PATCH /api/v1/projects/{id}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• Validation: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필수 값 체크 (생성 시와 동일)</a:t>
            </a:r>
            <a:endParaRPr lang="en-US" sz="584" dirty="0"/>
          </a:p>
        </p:txBody>
      </p:sp>
      <p:sp>
        <p:nvSpPr>
          <p:cNvPr id="65" name="Shape 60"/>
          <p:cNvSpPr/>
          <p:nvPr/>
        </p:nvSpPr>
        <p:spPr>
          <a:xfrm>
            <a:off x="4857750" y="3604022"/>
            <a:ext cx="4000500" cy="81617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6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906" y="3733502"/>
            <a:ext cx="87511" cy="100013"/>
          </a:xfrm>
          <a:prstGeom prst="rect">
            <a:avLst/>
          </a:prstGeom>
        </p:spPr>
      </p:pic>
      <p:sp>
        <p:nvSpPr>
          <p:cNvPr id="67" name="Text 61"/>
          <p:cNvSpPr/>
          <p:nvPr/>
        </p:nvSpPr>
        <p:spPr>
          <a:xfrm>
            <a:off x="5109567" y="3711178"/>
            <a:ext cx="114754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59E0B"/>
                </a:solidFill>
              </a:rPr>
              <a:t>[팝업 3] 프로젝트 삭제 확인</a:t>
            </a:r>
            <a:endParaRPr lang="en-US" sz="683" dirty="0"/>
          </a:p>
        </p:txBody>
      </p:sp>
      <p:sp>
        <p:nvSpPr>
          <p:cNvPr id="68" name="Text 62"/>
          <p:cNvSpPr/>
          <p:nvPr/>
        </p:nvSpPr>
        <p:spPr>
          <a:xfrm>
            <a:off x="4964906" y="3912989"/>
            <a:ext cx="37861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• Body: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"프로젝트 '{name}'을 삭제하시겠습니까? 하위 현장 데이터도 모두 삭제됩니다."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• API: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DELETE /api/v1/projects/{id}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• Result: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성공 시 목록 화면으로 리다이렉트</a:t>
            </a:r>
            <a:endParaRPr lang="en-US" sz="5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2400300" cy="4400550"/>
          </a:xfrm>
          <a:prstGeom prst="rect">
            <a:avLst/>
          </a:prstGeom>
          <a:solidFill>
            <a:srgbClr val="1E293B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2286000" cy="3643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785813"/>
            <a:ext cx="2286000" cy="7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550069"/>
            <a:ext cx="100013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139" y="525066"/>
            <a:ext cx="66065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프로젝트 관리</a:t>
            </a:r>
            <a:endParaRPr lang="en-US" sz="784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141" y="550069"/>
            <a:ext cx="114300" cy="1143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28625" y="785813"/>
            <a:ext cx="2286000" cy="392906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5"/>
          <p:cNvSpPr/>
          <p:nvPr/>
        </p:nvSpPr>
        <p:spPr>
          <a:xfrm>
            <a:off x="535781" y="892969"/>
            <a:ext cx="2071688" cy="29289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985838"/>
            <a:ext cx="92869" cy="9286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1525" y="964406"/>
            <a:ext cx="6969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프로젝트명 검색...</a:t>
            </a:r>
            <a:endParaRPr lang="en-US" sz="674" dirty="0"/>
          </a:p>
        </p:txBody>
      </p:sp>
      <p:sp>
        <p:nvSpPr>
          <p:cNvPr id="13" name="Shape 7"/>
          <p:cNvSpPr/>
          <p:nvPr/>
        </p:nvSpPr>
        <p:spPr>
          <a:xfrm>
            <a:off x="535781" y="1278731"/>
            <a:ext cx="2071688" cy="73044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42938" y="1385888"/>
            <a:ext cx="76510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A 아파트 신축공사</a:t>
            </a:r>
            <a:endParaRPr lang="en-US" sz="683" dirty="0"/>
          </a:p>
        </p:txBody>
      </p:sp>
      <p:sp>
        <p:nvSpPr>
          <p:cNvPr id="15" name="Shape 9"/>
          <p:cNvSpPr/>
          <p:nvPr/>
        </p:nvSpPr>
        <p:spPr>
          <a:xfrm>
            <a:off x="2217409" y="1385888"/>
            <a:ext cx="282904" cy="132159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16" name="Text 10"/>
          <p:cNvSpPr/>
          <p:nvPr/>
        </p:nvSpPr>
        <p:spPr>
          <a:xfrm>
            <a:off x="2217409" y="1385888"/>
            <a:ext cx="282904" cy="132159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B82F6"/>
                </a:solidFill>
              </a:rPr>
              <a:t>진행중</a:t>
            </a:r>
            <a:endParaRPr lang="en-US" sz="516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1608237"/>
            <a:ext cx="64294" cy="857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50094" y="1587698"/>
            <a:ext cx="75439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서울시 강남구 역삼동</a:t>
            </a:r>
            <a:endParaRPr lang="en-US" sz="621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1758255"/>
            <a:ext cx="75009" cy="8572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60809" y="1743075"/>
            <a:ext cx="97007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2026.01.15 ~ 2026.06.30</a:t>
            </a:r>
            <a:endParaRPr lang="en-US" sz="621" dirty="0"/>
          </a:p>
        </p:txBody>
      </p:sp>
      <p:sp>
        <p:nvSpPr>
          <p:cNvPr id="21" name="Shape 13"/>
          <p:cNvSpPr/>
          <p:nvPr/>
        </p:nvSpPr>
        <p:spPr>
          <a:xfrm>
            <a:off x="2507456" y="120729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14"/>
          <p:cNvSpPr/>
          <p:nvPr/>
        </p:nvSpPr>
        <p:spPr>
          <a:xfrm>
            <a:off x="2507456" y="12072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23" name="Shape 15"/>
          <p:cNvSpPr/>
          <p:nvPr/>
        </p:nvSpPr>
        <p:spPr>
          <a:xfrm>
            <a:off x="535781" y="2080617"/>
            <a:ext cx="2071688" cy="73044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642938" y="2187773"/>
            <a:ext cx="46127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B 물류센터</a:t>
            </a:r>
            <a:endParaRPr lang="en-US" sz="683" dirty="0"/>
          </a:p>
        </p:txBody>
      </p:sp>
      <p:sp>
        <p:nvSpPr>
          <p:cNvPr id="25" name="Shape 17"/>
          <p:cNvSpPr/>
          <p:nvPr/>
        </p:nvSpPr>
        <p:spPr>
          <a:xfrm>
            <a:off x="2283126" y="2187773"/>
            <a:ext cx="217187" cy="132159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6" name="Text 18"/>
          <p:cNvSpPr/>
          <p:nvPr/>
        </p:nvSpPr>
        <p:spPr>
          <a:xfrm>
            <a:off x="2283126" y="2187773"/>
            <a:ext cx="217187" cy="132159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0B981"/>
                </a:solidFill>
              </a:rPr>
              <a:t>완료</a:t>
            </a:r>
            <a:endParaRPr lang="en-US" sz="516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8" y="2410123"/>
            <a:ext cx="64294" cy="8572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50094" y="2389584"/>
            <a:ext cx="49551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경기도 이천시</a:t>
            </a:r>
            <a:endParaRPr lang="en-US" sz="621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8" y="2560141"/>
            <a:ext cx="75009" cy="85725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60809" y="2544961"/>
            <a:ext cx="97007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2025.01.01 ~ 2025.12.31</a:t>
            </a:r>
            <a:endParaRPr lang="en-US" sz="621" dirty="0"/>
          </a:p>
        </p:txBody>
      </p:sp>
      <p:sp>
        <p:nvSpPr>
          <p:cNvPr id="31" name="Shape 21"/>
          <p:cNvSpPr/>
          <p:nvPr/>
        </p:nvSpPr>
        <p:spPr>
          <a:xfrm>
            <a:off x="2214563" y="4214813"/>
            <a:ext cx="357188" cy="35718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30648" y="4321969"/>
            <a:ext cx="125016" cy="142875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2436019" y="417909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4" name="Text 23"/>
          <p:cNvSpPr/>
          <p:nvPr/>
        </p:nvSpPr>
        <p:spPr>
          <a:xfrm>
            <a:off x="2436019" y="417909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35" name="Text 24"/>
          <p:cNvSpPr/>
          <p:nvPr/>
        </p:nvSpPr>
        <p:spPr>
          <a:xfrm>
            <a:off x="3429000" y="428625"/>
            <a:ext cx="5286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[본사] 프로젝트 관리 (Mobile Web)</a:t>
            </a:r>
            <a:endParaRPr lang="en-US" sz="1602" dirty="0"/>
          </a:p>
        </p:txBody>
      </p:sp>
      <p:sp>
        <p:nvSpPr>
          <p:cNvPr id="36" name="Text 25"/>
          <p:cNvSpPr/>
          <p:nvPr/>
        </p:nvSpPr>
        <p:spPr>
          <a:xfrm>
            <a:off x="3429000" y="817959"/>
            <a:ext cx="52863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모바일 환경에서의 프로젝트 목록 조회 및 간편 관리 UI</a:t>
            </a:r>
            <a:endParaRPr lang="en-US" sz="834" dirty="0"/>
          </a:p>
        </p:txBody>
      </p:sp>
      <p:sp>
        <p:nvSpPr>
          <p:cNvPr id="37" name="Shape 26"/>
          <p:cNvSpPr/>
          <p:nvPr/>
        </p:nvSpPr>
        <p:spPr>
          <a:xfrm>
            <a:off x="3429000" y="1346597"/>
            <a:ext cx="35718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Shape 27"/>
          <p:cNvSpPr/>
          <p:nvPr/>
        </p:nvSpPr>
        <p:spPr>
          <a:xfrm>
            <a:off x="3429000" y="1637705"/>
            <a:ext cx="3571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" name="Text 28"/>
          <p:cNvSpPr/>
          <p:nvPr/>
        </p:nvSpPr>
        <p:spPr>
          <a:xfrm>
            <a:off x="3429000" y="1346597"/>
            <a:ext cx="35718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40" name="Shape 29"/>
          <p:cNvSpPr/>
          <p:nvPr/>
        </p:nvSpPr>
        <p:spPr>
          <a:xfrm>
            <a:off x="3786188" y="1346597"/>
            <a:ext cx="857250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Shape 30"/>
          <p:cNvSpPr/>
          <p:nvPr/>
        </p:nvSpPr>
        <p:spPr>
          <a:xfrm>
            <a:off x="3786188" y="1637705"/>
            <a:ext cx="8572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" name="Text 31"/>
          <p:cNvSpPr/>
          <p:nvPr/>
        </p:nvSpPr>
        <p:spPr>
          <a:xfrm>
            <a:off x="3786188" y="1346597"/>
            <a:ext cx="857250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Element</a:t>
            </a:r>
            <a:endParaRPr lang="en-US" sz="634" dirty="0"/>
          </a:p>
        </p:txBody>
      </p:sp>
      <p:sp>
        <p:nvSpPr>
          <p:cNvPr id="43" name="Shape 32"/>
          <p:cNvSpPr/>
          <p:nvPr/>
        </p:nvSpPr>
        <p:spPr>
          <a:xfrm>
            <a:off x="4643438" y="1346597"/>
            <a:ext cx="407193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Shape 33"/>
          <p:cNvSpPr/>
          <p:nvPr/>
        </p:nvSpPr>
        <p:spPr>
          <a:xfrm>
            <a:off x="4643438" y="1637705"/>
            <a:ext cx="407193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5" name="Text 34"/>
          <p:cNvSpPr/>
          <p:nvPr/>
        </p:nvSpPr>
        <p:spPr>
          <a:xfrm>
            <a:off x="4643438" y="1346597"/>
            <a:ext cx="407193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46" name="Shape 35"/>
          <p:cNvSpPr/>
          <p:nvPr/>
        </p:nvSpPr>
        <p:spPr>
          <a:xfrm>
            <a:off x="3514725" y="173057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7" name="Text 36"/>
          <p:cNvSpPr/>
          <p:nvPr/>
        </p:nvSpPr>
        <p:spPr>
          <a:xfrm>
            <a:off x="3514725" y="173057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48" name="Text 37"/>
          <p:cNvSpPr/>
          <p:nvPr/>
        </p:nvSpPr>
        <p:spPr>
          <a:xfrm>
            <a:off x="3786188" y="1644848"/>
            <a:ext cx="857250" cy="57328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Project Card</a:t>
            </a:r>
            <a:endParaRPr lang="en-US" sz="674" dirty="0"/>
          </a:p>
        </p:txBody>
      </p:sp>
      <p:sp>
        <p:nvSpPr>
          <p:cNvPr id="49" name="Text 38"/>
          <p:cNvSpPr/>
          <p:nvPr/>
        </p:nvSpPr>
        <p:spPr>
          <a:xfrm>
            <a:off x="4729163" y="1730573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Event: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onClick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→ 상세 페이지 이동</a:t>
            </a:r>
            <a:endParaRPr lang="en-US" sz="674" dirty="0"/>
          </a:p>
        </p:txBody>
      </p:sp>
      <p:sp>
        <p:nvSpPr>
          <p:cNvPr id="50" name="Text 39"/>
          <p:cNvSpPr/>
          <p:nvPr/>
        </p:nvSpPr>
        <p:spPr>
          <a:xfrm>
            <a:off x="4729163" y="1866305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Data: 이름, 위치, 기간, 상태(Badge)</a:t>
            </a:r>
            <a:endParaRPr lang="en-US" sz="674" dirty="0"/>
          </a:p>
        </p:txBody>
      </p:sp>
      <p:sp>
        <p:nvSpPr>
          <p:cNvPr id="51" name="Text 40"/>
          <p:cNvSpPr/>
          <p:nvPr/>
        </p:nvSpPr>
        <p:spPr>
          <a:xfrm>
            <a:off x="4729163" y="2002036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GET /api/v1/projects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(Paging)</a:t>
            </a:r>
            <a:endParaRPr lang="en-US" sz="674" dirty="0"/>
          </a:p>
        </p:txBody>
      </p:sp>
      <p:sp>
        <p:nvSpPr>
          <p:cNvPr id="52" name="Shape 41"/>
          <p:cNvSpPr/>
          <p:nvPr/>
        </p:nvSpPr>
        <p:spPr>
          <a:xfrm>
            <a:off x="3514725" y="230743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3" name="Text 42"/>
          <p:cNvSpPr/>
          <p:nvPr/>
        </p:nvSpPr>
        <p:spPr>
          <a:xfrm>
            <a:off x="3514725" y="23074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54" name="Text 43"/>
          <p:cNvSpPr/>
          <p:nvPr/>
        </p:nvSpPr>
        <p:spPr>
          <a:xfrm>
            <a:off x="3786188" y="2218134"/>
            <a:ext cx="857250" cy="4411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FAB (Add)</a:t>
            </a:r>
            <a:endParaRPr lang="en-US" sz="674" dirty="0"/>
          </a:p>
        </p:txBody>
      </p:sp>
      <p:sp>
        <p:nvSpPr>
          <p:cNvPr id="55" name="Text 44"/>
          <p:cNvSpPr/>
          <p:nvPr/>
        </p:nvSpPr>
        <p:spPr>
          <a:xfrm>
            <a:off x="4729163" y="2307431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Event: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onClick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→ 생성 모달 표시</a:t>
            </a:r>
            <a:endParaRPr lang="en-US" sz="674" dirty="0"/>
          </a:p>
        </p:txBody>
      </p:sp>
      <p:sp>
        <p:nvSpPr>
          <p:cNvPr id="56" name="Text 45"/>
          <p:cNvSpPr/>
          <p:nvPr/>
        </p:nvSpPr>
        <p:spPr>
          <a:xfrm>
            <a:off x="4729163" y="2443163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Position: Fixed Bottom-Right</a:t>
            </a:r>
            <a:endParaRPr lang="en-US" sz="674" dirty="0"/>
          </a:p>
        </p:txBody>
      </p:sp>
      <p:sp>
        <p:nvSpPr>
          <p:cNvPr id="57" name="Shape 46"/>
          <p:cNvSpPr/>
          <p:nvPr/>
        </p:nvSpPr>
        <p:spPr>
          <a:xfrm>
            <a:off x="3429000" y="3119140"/>
            <a:ext cx="5286375" cy="173861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5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71875" y="3301305"/>
            <a:ext cx="114300" cy="114300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3757613" y="3276302"/>
            <a:ext cx="171176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59E0B"/>
                </a:solidFill>
              </a:rPr>
              <a:t>[팝업] 프로젝트 생성 모달 (Mobile)</a:t>
            </a:r>
            <a:endParaRPr lang="en-US" sz="784" dirty="0"/>
          </a:p>
        </p:txBody>
      </p:sp>
      <p:sp>
        <p:nvSpPr>
          <p:cNvPr id="60" name="Text 48"/>
          <p:cNvSpPr/>
          <p:nvPr/>
        </p:nvSpPr>
        <p:spPr>
          <a:xfrm>
            <a:off x="3571875" y="3526334"/>
            <a:ext cx="5000625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• Title: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"새 프로젝트"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• Inputs: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- 프로젝트명 (Text, 필수)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- 위치 (Text, 필수)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- 기간 (Date Range, 필수)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• Buttons: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- [생성]: API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POST /api/v1/projects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호출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- [취소]: 모달 닫기</a:t>
            </a:r>
            <a:endParaRPr lang="en-US" sz="634" dirty="0"/>
          </a:p>
        </p:txBody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>
            <a:alphaModFix amt="50000"/>
          </a:blip>
          <a:stretch>
            <a:fillRect/>
          </a:stretch>
        </p:blipFill>
        <p:spPr>
          <a:xfrm>
            <a:off x="8272463" y="4557713"/>
            <a:ext cx="728663" cy="4429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4286250" cy="3857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428625"/>
            <a:ext cx="4286250" cy="21431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642938"/>
            <a:ext cx="4286250" cy="364331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806351"/>
            <a:ext cx="506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출역 관리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3429000" y="821531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5"/>
          <p:cNvSpPr/>
          <p:nvPr/>
        </p:nvSpPr>
        <p:spPr>
          <a:xfrm>
            <a:off x="3429000" y="82153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9" name="Shape 6"/>
          <p:cNvSpPr/>
          <p:nvPr/>
        </p:nvSpPr>
        <p:spPr>
          <a:xfrm>
            <a:off x="3761184" y="785813"/>
            <a:ext cx="667941" cy="230386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8625" y="1194792"/>
            <a:ext cx="4000500" cy="8804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28625" y="1194792"/>
            <a:ext cx="621227" cy="26967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9"/>
          <p:cNvSpPr/>
          <p:nvPr/>
        </p:nvSpPr>
        <p:spPr>
          <a:xfrm>
            <a:off x="428625" y="1194792"/>
            <a:ext cx="621227" cy="26967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이름</a:t>
            </a:r>
            <a:endParaRPr lang="en-US" sz="584" dirty="0"/>
          </a:p>
        </p:txBody>
      </p:sp>
      <p:sp>
        <p:nvSpPr>
          <p:cNvPr id="13" name="Shape 10"/>
          <p:cNvSpPr/>
          <p:nvPr/>
        </p:nvSpPr>
        <p:spPr>
          <a:xfrm>
            <a:off x="1049852" y="1194792"/>
            <a:ext cx="592624" cy="26967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1"/>
          <p:cNvSpPr/>
          <p:nvPr/>
        </p:nvSpPr>
        <p:spPr>
          <a:xfrm>
            <a:off x="1049852" y="1194792"/>
            <a:ext cx="592624" cy="26967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출근</a:t>
            </a:r>
            <a:endParaRPr lang="en-US" sz="584" dirty="0"/>
          </a:p>
        </p:txBody>
      </p:sp>
      <p:sp>
        <p:nvSpPr>
          <p:cNvPr id="15" name="Shape 12"/>
          <p:cNvSpPr/>
          <p:nvPr/>
        </p:nvSpPr>
        <p:spPr>
          <a:xfrm>
            <a:off x="1642476" y="1194792"/>
            <a:ext cx="592624" cy="26967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3"/>
          <p:cNvSpPr/>
          <p:nvPr/>
        </p:nvSpPr>
        <p:spPr>
          <a:xfrm>
            <a:off x="1642476" y="1194792"/>
            <a:ext cx="592624" cy="26967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퇴근</a:t>
            </a:r>
            <a:endParaRPr lang="en-US" sz="584" dirty="0"/>
          </a:p>
        </p:txBody>
      </p:sp>
      <p:sp>
        <p:nvSpPr>
          <p:cNvPr id="17" name="Shape 14"/>
          <p:cNvSpPr/>
          <p:nvPr/>
        </p:nvSpPr>
        <p:spPr>
          <a:xfrm>
            <a:off x="2235101" y="1194792"/>
            <a:ext cx="492109" cy="26967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5"/>
          <p:cNvSpPr/>
          <p:nvPr/>
        </p:nvSpPr>
        <p:spPr>
          <a:xfrm>
            <a:off x="2235101" y="1194792"/>
            <a:ext cx="492109" cy="26967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공수</a:t>
            </a:r>
            <a:endParaRPr lang="en-US" sz="584" dirty="0"/>
          </a:p>
        </p:txBody>
      </p:sp>
      <p:sp>
        <p:nvSpPr>
          <p:cNvPr id="19" name="Shape 16"/>
          <p:cNvSpPr/>
          <p:nvPr/>
        </p:nvSpPr>
        <p:spPr>
          <a:xfrm>
            <a:off x="2727210" y="1194792"/>
            <a:ext cx="589415" cy="26967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7"/>
          <p:cNvSpPr/>
          <p:nvPr/>
        </p:nvSpPr>
        <p:spPr>
          <a:xfrm>
            <a:off x="2727210" y="1194792"/>
            <a:ext cx="589415" cy="26967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상태</a:t>
            </a:r>
            <a:endParaRPr lang="en-US" sz="584" dirty="0"/>
          </a:p>
        </p:txBody>
      </p:sp>
      <p:sp>
        <p:nvSpPr>
          <p:cNvPr id="21" name="Shape 18"/>
          <p:cNvSpPr/>
          <p:nvPr/>
        </p:nvSpPr>
        <p:spPr>
          <a:xfrm>
            <a:off x="3316625" y="1194792"/>
            <a:ext cx="1112500" cy="26967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19"/>
          <p:cNvSpPr/>
          <p:nvPr/>
        </p:nvSpPr>
        <p:spPr>
          <a:xfrm>
            <a:off x="3316625" y="1194792"/>
            <a:ext cx="1112500" cy="26967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관리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428625" y="1464469"/>
            <a:ext cx="621227" cy="30182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김철수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1049852" y="1464469"/>
            <a:ext cx="592624" cy="30182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06:55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1642476" y="1464469"/>
            <a:ext cx="592624" cy="30182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17:00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2235101" y="1464469"/>
            <a:ext cx="492109" cy="30182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1.0</a:t>
            </a:r>
            <a:endParaRPr lang="en-US" sz="621" dirty="0"/>
          </a:p>
        </p:txBody>
      </p:sp>
      <p:sp>
        <p:nvSpPr>
          <p:cNvPr id="27" name="Shape 24"/>
          <p:cNvSpPr/>
          <p:nvPr/>
        </p:nvSpPr>
        <p:spPr>
          <a:xfrm>
            <a:off x="2798648" y="1553766"/>
            <a:ext cx="217187" cy="12680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8" name="Text 25"/>
          <p:cNvSpPr/>
          <p:nvPr/>
        </p:nvSpPr>
        <p:spPr>
          <a:xfrm>
            <a:off x="2798648" y="1553766"/>
            <a:ext cx="217187" cy="12680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66534"/>
                </a:solidFill>
              </a:rPr>
              <a:t>출근</a:t>
            </a:r>
            <a:endParaRPr lang="en-US" sz="485" dirty="0"/>
          </a:p>
        </p:txBody>
      </p:sp>
      <p:sp>
        <p:nvSpPr>
          <p:cNvPr id="29" name="Shape 26"/>
          <p:cNvSpPr/>
          <p:nvPr/>
        </p:nvSpPr>
        <p:spPr>
          <a:xfrm>
            <a:off x="3388063" y="1535906"/>
            <a:ext cx="257175" cy="15537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7"/>
          <p:cNvSpPr/>
          <p:nvPr/>
        </p:nvSpPr>
        <p:spPr>
          <a:xfrm>
            <a:off x="3388063" y="1535906"/>
            <a:ext cx="257175" cy="155377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</a:rPr>
              <a:t>수정</a:t>
            </a:r>
            <a:endParaRPr lang="en-US" sz="516" dirty="0"/>
          </a:p>
        </p:txBody>
      </p:sp>
      <p:sp>
        <p:nvSpPr>
          <p:cNvPr id="31" name="Shape 28"/>
          <p:cNvSpPr/>
          <p:nvPr/>
        </p:nvSpPr>
        <p:spPr>
          <a:xfrm>
            <a:off x="3667534" y="1535906"/>
            <a:ext cx="257175" cy="155377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29"/>
          <p:cNvSpPr/>
          <p:nvPr/>
        </p:nvSpPr>
        <p:spPr>
          <a:xfrm>
            <a:off x="3667534" y="1535906"/>
            <a:ext cx="257175" cy="155377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</a:rPr>
              <a:t>삭제</a:t>
            </a:r>
            <a:endParaRPr lang="en-US" sz="516" dirty="0"/>
          </a:p>
        </p:txBody>
      </p:sp>
      <p:sp>
        <p:nvSpPr>
          <p:cNvPr id="33" name="Text 30"/>
          <p:cNvSpPr/>
          <p:nvPr/>
        </p:nvSpPr>
        <p:spPr>
          <a:xfrm>
            <a:off x="428625" y="1766292"/>
            <a:ext cx="621227" cy="30539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이영희</a:t>
            </a:r>
            <a:endParaRPr lang="en-US" sz="621" dirty="0"/>
          </a:p>
        </p:txBody>
      </p:sp>
      <p:sp>
        <p:nvSpPr>
          <p:cNvPr id="34" name="Text 31"/>
          <p:cNvSpPr/>
          <p:nvPr/>
        </p:nvSpPr>
        <p:spPr>
          <a:xfrm>
            <a:off x="1049852" y="1766292"/>
            <a:ext cx="592624" cy="30539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07:10</a:t>
            </a:r>
            <a:endParaRPr lang="en-US" sz="621" dirty="0"/>
          </a:p>
        </p:txBody>
      </p:sp>
      <p:sp>
        <p:nvSpPr>
          <p:cNvPr id="35" name="Text 32"/>
          <p:cNvSpPr/>
          <p:nvPr/>
        </p:nvSpPr>
        <p:spPr>
          <a:xfrm>
            <a:off x="1642476" y="1766292"/>
            <a:ext cx="592624" cy="30539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17:00</a:t>
            </a:r>
            <a:endParaRPr lang="en-US" sz="621" dirty="0"/>
          </a:p>
        </p:txBody>
      </p:sp>
      <p:sp>
        <p:nvSpPr>
          <p:cNvPr id="36" name="Text 33"/>
          <p:cNvSpPr/>
          <p:nvPr/>
        </p:nvSpPr>
        <p:spPr>
          <a:xfrm>
            <a:off x="2235101" y="1766292"/>
            <a:ext cx="492109" cy="30539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1.0</a:t>
            </a:r>
            <a:endParaRPr lang="en-US" sz="621" dirty="0"/>
          </a:p>
        </p:txBody>
      </p:sp>
      <p:sp>
        <p:nvSpPr>
          <p:cNvPr id="37" name="Shape 34"/>
          <p:cNvSpPr/>
          <p:nvPr/>
        </p:nvSpPr>
        <p:spPr>
          <a:xfrm>
            <a:off x="2798648" y="1859161"/>
            <a:ext cx="217187" cy="12680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8" name="Text 35"/>
          <p:cNvSpPr/>
          <p:nvPr/>
        </p:nvSpPr>
        <p:spPr>
          <a:xfrm>
            <a:off x="2798648" y="1859161"/>
            <a:ext cx="217187" cy="12680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92400E"/>
                </a:solidFill>
              </a:rPr>
              <a:t>지각</a:t>
            </a:r>
            <a:endParaRPr lang="en-US" sz="485" dirty="0"/>
          </a:p>
        </p:txBody>
      </p:sp>
      <p:sp>
        <p:nvSpPr>
          <p:cNvPr id="39" name="Shape 36"/>
          <p:cNvSpPr/>
          <p:nvPr/>
        </p:nvSpPr>
        <p:spPr>
          <a:xfrm>
            <a:off x="3388063" y="1841302"/>
            <a:ext cx="257175" cy="15537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0" name="Text 37"/>
          <p:cNvSpPr/>
          <p:nvPr/>
        </p:nvSpPr>
        <p:spPr>
          <a:xfrm>
            <a:off x="3388063" y="1841302"/>
            <a:ext cx="257175" cy="155377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</a:rPr>
              <a:t>수정</a:t>
            </a:r>
            <a:endParaRPr lang="en-US" sz="516" dirty="0"/>
          </a:p>
        </p:txBody>
      </p:sp>
      <p:sp>
        <p:nvSpPr>
          <p:cNvPr id="41" name="Shape 38"/>
          <p:cNvSpPr/>
          <p:nvPr/>
        </p:nvSpPr>
        <p:spPr>
          <a:xfrm>
            <a:off x="3667534" y="1841302"/>
            <a:ext cx="257175" cy="155377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Text 39"/>
          <p:cNvSpPr/>
          <p:nvPr/>
        </p:nvSpPr>
        <p:spPr>
          <a:xfrm>
            <a:off x="3667534" y="1841302"/>
            <a:ext cx="257175" cy="155377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</a:rPr>
              <a:t>삭제</a:t>
            </a:r>
            <a:endParaRPr lang="en-US" sz="516" dirty="0"/>
          </a:p>
        </p:txBody>
      </p:sp>
      <p:sp>
        <p:nvSpPr>
          <p:cNvPr id="43" name="Shape 40"/>
          <p:cNvSpPr/>
          <p:nvPr/>
        </p:nvSpPr>
        <p:spPr>
          <a:xfrm>
            <a:off x="3857625" y="135731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4" name="Text 41"/>
          <p:cNvSpPr/>
          <p:nvPr/>
        </p:nvSpPr>
        <p:spPr>
          <a:xfrm>
            <a:off x="3857625" y="135731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45" name="Shape 42"/>
          <p:cNvSpPr/>
          <p:nvPr/>
        </p:nvSpPr>
        <p:spPr>
          <a:xfrm>
            <a:off x="4214813" y="135731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6" name="Text 43"/>
          <p:cNvSpPr/>
          <p:nvPr/>
        </p:nvSpPr>
        <p:spPr>
          <a:xfrm>
            <a:off x="4214813" y="135731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47" name="Text 44"/>
          <p:cNvSpPr/>
          <p:nvPr/>
        </p:nvSpPr>
        <p:spPr>
          <a:xfrm>
            <a:off x="4857750" y="428625"/>
            <a:ext cx="40005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[현장] 출역 관리 - 목록 (PC Web)</a:t>
            </a:r>
            <a:endParaRPr lang="en-US" sz="1602" dirty="0"/>
          </a:p>
        </p:txBody>
      </p:sp>
      <p:sp>
        <p:nvSpPr>
          <p:cNvPr id="48" name="Text 45"/>
          <p:cNvSpPr/>
          <p:nvPr/>
        </p:nvSpPr>
        <p:spPr>
          <a:xfrm>
            <a:off x="4857750" y="796528"/>
            <a:ext cx="40005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일별 출역 현황 조회 및 데이터 수정/삭제 (CRUD)</a:t>
            </a:r>
            <a:endParaRPr lang="en-US" sz="834" dirty="0"/>
          </a:p>
        </p:txBody>
      </p:sp>
      <p:sp>
        <p:nvSpPr>
          <p:cNvPr id="49" name="Shape 46"/>
          <p:cNvSpPr/>
          <p:nvPr/>
        </p:nvSpPr>
        <p:spPr>
          <a:xfrm>
            <a:off x="4857750" y="1182291"/>
            <a:ext cx="285750" cy="23753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0" name="Shape 47"/>
          <p:cNvSpPr/>
          <p:nvPr/>
        </p:nvSpPr>
        <p:spPr>
          <a:xfrm>
            <a:off x="4857750" y="1405533"/>
            <a:ext cx="2857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1" name="Text 48"/>
          <p:cNvSpPr/>
          <p:nvPr/>
        </p:nvSpPr>
        <p:spPr>
          <a:xfrm>
            <a:off x="4857750" y="1182291"/>
            <a:ext cx="285750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No</a:t>
            </a:r>
            <a:endParaRPr lang="en-US" sz="584" dirty="0"/>
          </a:p>
        </p:txBody>
      </p:sp>
      <p:sp>
        <p:nvSpPr>
          <p:cNvPr id="52" name="Shape 49"/>
          <p:cNvSpPr/>
          <p:nvPr/>
        </p:nvSpPr>
        <p:spPr>
          <a:xfrm>
            <a:off x="5143500" y="1182291"/>
            <a:ext cx="714375" cy="23753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3" name="Shape 50"/>
          <p:cNvSpPr/>
          <p:nvPr/>
        </p:nvSpPr>
        <p:spPr>
          <a:xfrm>
            <a:off x="5143500" y="1405533"/>
            <a:ext cx="7143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4" name="Text 51"/>
          <p:cNvSpPr/>
          <p:nvPr/>
        </p:nvSpPr>
        <p:spPr>
          <a:xfrm>
            <a:off x="5143500" y="1182291"/>
            <a:ext cx="714375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Element</a:t>
            </a:r>
            <a:endParaRPr lang="en-US" sz="584" dirty="0"/>
          </a:p>
        </p:txBody>
      </p:sp>
      <p:sp>
        <p:nvSpPr>
          <p:cNvPr id="55" name="Shape 52"/>
          <p:cNvSpPr/>
          <p:nvPr/>
        </p:nvSpPr>
        <p:spPr>
          <a:xfrm>
            <a:off x="5857875" y="1182291"/>
            <a:ext cx="3000375" cy="23753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6" name="Shape 53"/>
          <p:cNvSpPr/>
          <p:nvPr/>
        </p:nvSpPr>
        <p:spPr>
          <a:xfrm>
            <a:off x="5857875" y="1405533"/>
            <a:ext cx="30003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7" name="Text 54"/>
          <p:cNvSpPr/>
          <p:nvPr/>
        </p:nvSpPr>
        <p:spPr>
          <a:xfrm>
            <a:off x="5857875" y="1182291"/>
            <a:ext cx="3000375" cy="2375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Implementation Spec</a:t>
            </a:r>
            <a:endParaRPr lang="en-US" sz="584" dirty="0"/>
          </a:p>
        </p:txBody>
      </p:sp>
      <p:sp>
        <p:nvSpPr>
          <p:cNvPr id="58" name="Shape 55"/>
          <p:cNvSpPr/>
          <p:nvPr/>
        </p:nvSpPr>
        <p:spPr>
          <a:xfrm>
            <a:off x="4914900" y="1469827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9" name="Text 56"/>
          <p:cNvSpPr/>
          <p:nvPr/>
        </p:nvSpPr>
        <p:spPr>
          <a:xfrm>
            <a:off x="4914900" y="146982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60" name="Text 57"/>
          <p:cNvSpPr/>
          <p:nvPr/>
        </p:nvSpPr>
        <p:spPr>
          <a:xfrm>
            <a:off x="5143500" y="1412677"/>
            <a:ext cx="714375" cy="46613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Date Picker</a:t>
            </a:r>
            <a:endParaRPr lang="en-US" sz="621" dirty="0"/>
          </a:p>
        </p:txBody>
      </p:sp>
      <p:sp>
        <p:nvSpPr>
          <p:cNvPr id="61" name="Text 58"/>
          <p:cNvSpPr/>
          <p:nvPr/>
        </p:nvSpPr>
        <p:spPr>
          <a:xfrm>
            <a:off x="5915025" y="1469827"/>
            <a:ext cx="28860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Event: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onChange</a:t>
            </a:r>
            <a:endParaRPr lang="en-US" sz="621" dirty="0"/>
          </a:p>
        </p:txBody>
      </p:sp>
      <p:sp>
        <p:nvSpPr>
          <p:cNvPr id="62" name="Text 59"/>
          <p:cNvSpPr/>
          <p:nvPr/>
        </p:nvSpPr>
        <p:spPr>
          <a:xfrm>
            <a:off x="5915025" y="1585913"/>
            <a:ext cx="28860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GET /api/v1/attendance/records</a:t>
            </a:r>
            <a:endParaRPr lang="en-US" sz="621" dirty="0"/>
          </a:p>
        </p:txBody>
      </p:sp>
      <p:sp>
        <p:nvSpPr>
          <p:cNvPr id="63" name="Text 60"/>
          <p:cNvSpPr/>
          <p:nvPr/>
        </p:nvSpPr>
        <p:spPr>
          <a:xfrm>
            <a:off x="5915025" y="1701998"/>
            <a:ext cx="28860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Params: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?date=YYYY-MM-DD</a:t>
            </a:r>
            <a:endParaRPr lang="en-US" sz="621" dirty="0"/>
          </a:p>
        </p:txBody>
      </p:sp>
      <p:sp>
        <p:nvSpPr>
          <p:cNvPr id="64" name="Shape 61"/>
          <p:cNvSpPr/>
          <p:nvPr/>
        </p:nvSpPr>
        <p:spPr>
          <a:xfrm>
            <a:off x="4914900" y="193952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5" name="Text 62"/>
          <p:cNvSpPr/>
          <p:nvPr/>
        </p:nvSpPr>
        <p:spPr>
          <a:xfrm>
            <a:off x="4914900" y="193952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66" name="Text 63"/>
          <p:cNvSpPr/>
          <p:nvPr/>
        </p:nvSpPr>
        <p:spPr>
          <a:xfrm>
            <a:off x="5143500" y="1878806"/>
            <a:ext cx="714375" cy="35361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Edit Btn</a:t>
            </a:r>
            <a:endParaRPr lang="en-US" sz="621" dirty="0"/>
          </a:p>
        </p:txBody>
      </p:sp>
      <p:sp>
        <p:nvSpPr>
          <p:cNvPr id="67" name="Text 64"/>
          <p:cNvSpPr/>
          <p:nvPr/>
        </p:nvSpPr>
        <p:spPr>
          <a:xfrm>
            <a:off x="5915025" y="1939528"/>
            <a:ext cx="28860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Action: Open 'Edit Record' Modal</a:t>
            </a:r>
            <a:endParaRPr lang="en-US" sz="621" dirty="0"/>
          </a:p>
        </p:txBody>
      </p:sp>
      <p:sp>
        <p:nvSpPr>
          <p:cNvPr id="68" name="Text 65"/>
          <p:cNvSpPr/>
          <p:nvPr/>
        </p:nvSpPr>
        <p:spPr>
          <a:xfrm>
            <a:off x="5915025" y="2055614"/>
            <a:ext cx="28860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Data: Load current row data into modal</a:t>
            </a:r>
            <a:endParaRPr lang="en-US" sz="621" dirty="0"/>
          </a:p>
        </p:txBody>
      </p:sp>
      <p:sp>
        <p:nvSpPr>
          <p:cNvPr id="69" name="Shape 66"/>
          <p:cNvSpPr/>
          <p:nvPr/>
        </p:nvSpPr>
        <p:spPr>
          <a:xfrm>
            <a:off x="4914900" y="229314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0" name="Text 67"/>
          <p:cNvSpPr/>
          <p:nvPr/>
        </p:nvSpPr>
        <p:spPr>
          <a:xfrm>
            <a:off x="4914900" y="229314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71" name="Text 68"/>
          <p:cNvSpPr/>
          <p:nvPr/>
        </p:nvSpPr>
        <p:spPr>
          <a:xfrm>
            <a:off x="5143500" y="2232422"/>
            <a:ext cx="714375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Delete Btn</a:t>
            </a:r>
            <a:endParaRPr lang="en-US" sz="621" dirty="0"/>
          </a:p>
        </p:txBody>
      </p:sp>
      <p:sp>
        <p:nvSpPr>
          <p:cNvPr id="72" name="Text 69"/>
          <p:cNvSpPr/>
          <p:nvPr/>
        </p:nvSpPr>
        <p:spPr>
          <a:xfrm>
            <a:off x="5915025" y="2293144"/>
            <a:ext cx="28860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• Action: Open 'Delete Confirmation' Alert</a:t>
            </a:r>
            <a:endParaRPr lang="en-US" sz="621" dirty="0"/>
          </a:p>
        </p:txBody>
      </p:sp>
      <p:sp>
        <p:nvSpPr>
          <p:cNvPr id="73" name="Shape 70"/>
          <p:cNvSpPr/>
          <p:nvPr/>
        </p:nvSpPr>
        <p:spPr>
          <a:xfrm>
            <a:off x="4857750" y="2739628"/>
            <a:ext cx="4000500" cy="121622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7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906" y="2883396"/>
            <a:ext cx="100013" cy="100013"/>
          </a:xfrm>
          <a:prstGeom prst="rect">
            <a:avLst/>
          </a:prstGeom>
        </p:spPr>
      </p:pic>
      <p:sp>
        <p:nvSpPr>
          <p:cNvPr id="75" name="Text 71"/>
          <p:cNvSpPr/>
          <p:nvPr/>
        </p:nvSpPr>
        <p:spPr>
          <a:xfrm>
            <a:off x="5122069" y="2861072"/>
            <a:ext cx="117355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59E0B"/>
                </a:solidFill>
              </a:rPr>
              <a:t>[팝업 1] 출역 기록 수정 모달</a:t>
            </a:r>
            <a:endParaRPr lang="en-US" sz="683" dirty="0"/>
          </a:p>
        </p:txBody>
      </p:sp>
      <p:sp>
        <p:nvSpPr>
          <p:cNvPr id="76" name="Text 72"/>
          <p:cNvSpPr/>
          <p:nvPr/>
        </p:nvSpPr>
        <p:spPr>
          <a:xfrm>
            <a:off x="4964906" y="3077170"/>
            <a:ext cx="3786188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• Title: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"출역 기록 수정"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• Inputs: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- 출/퇴근 시간 (Time Picker)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- 공수 (Select: 0.5, 1.0, 1.5, 2.0)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- 상태 (Select: 출근, 지각, 조퇴, 결근)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• Button [저장]: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API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PATCH /api/v1/attendance/records/{id}</a:t>
            </a:r>
            <a:endParaRPr lang="en-US" sz="584" dirty="0"/>
          </a:p>
        </p:txBody>
      </p:sp>
      <p:sp>
        <p:nvSpPr>
          <p:cNvPr id="77" name="Shape 73"/>
          <p:cNvSpPr/>
          <p:nvPr/>
        </p:nvSpPr>
        <p:spPr>
          <a:xfrm>
            <a:off x="4857750" y="4027289"/>
            <a:ext cx="4000500" cy="83046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7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906" y="4171057"/>
            <a:ext cx="87511" cy="100013"/>
          </a:xfrm>
          <a:prstGeom prst="rect">
            <a:avLst/>
          </a:prstGeom>
        </p:spPr>
      </p:pic>
      <p:sp>
        <p:nvSpPr>
          <p:cNvPr id="79" name="Text 74"/>
          <p:cNvSpPr/>
          <p:nvPr/>
        </p:nvSpPr>
        <p:spPr>
          <a:xfrm>
            <a:off x="5109567" y="4148733"/>
            <a:ext cx="96354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59E0B"/>
                </a:solidFill>
              </a:rPr>
              <a:t>[팝업 2] 삭제 확인 알림</a:t>
            </a:r>
            <a:endParaRPr lang="en-US" sz="683" dirty="0"/>
          </a:p>
        </p:txBody>
      </p:sp>
      <p:sp>
        <p:nvSpPr>
          <p:cNvPr id="80" name="Text 75"/>
          <p:cNvSpPr/>
          <p:nvPr/>
        </p:nvSpPr>
        <p:spPr>
          <a:xfrm>
            <a:off x="4964906" y="4364831"/>
            <a:ext cx="37861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• Body: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"'{이름}'의 출역 기록을 삭제하시겠습니까?"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• Button [삭제]: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API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DELETE /api/v1/attendance/records/{id}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 → 성공 시 목록 갱신 (Refresh List)</a:t>
            </a:r>
            <a:endParaRPr lang="en-US" sz="58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2400300" cy="4400550"/>
          </a:xfrm>
          <a:prstGeom prst="rect">
            <a:avLst/>
          </a:prstGeom>
          <a:solidFill>
            <a:srgbClr val="1E293B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2286000" cy="3643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785813"/>
            <a:ext cx="2286000" cy="7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550069"/>
            <a:ext cx="100013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6692" y="525066"/>
            <a:ext cx="79555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실시간 출역 현황</a:t>
            </a:r>
            <a:endParaRPr lang="en-US" sz="784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141" y="550069"/>
            <a:ext cx="114300" cy="1143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28625" y="785813"/>
            <a:ext cx="2286000" cy="392906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5"/>
          <p:cNvSpPr/>
          <p:nvPr/>
        </p:nvSpPr>
        <p:spPr>
          <a:xfrm>
            <a:off x="535781" y="892969"/>
            <a:ext cx="2071688" cy="51613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42938" y="1000125"/>
            <a:ext cx="13146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총원</a:t>
            </a:r>
            <a:endParaRPr lang="en-US" sz="516" dirty="0"/>
          </a:p>
        </p:txBody>
      </p:sp>
      <p:sp>
        <p:nvSpPr>
          <p:cNvPr id="12" name="Text 7"/>
          <p:cNvSpPr/>
          <p:nvPr/>
        </p:nvSpPr>
        <p:spPr>
          <a:xfrm>
            <a:off x="642938" y="1132284"/>
            <a:ext cx="1314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45</a:t>
            </a:r>
            <a:endParaRPr lang="en-US" sz="784" dirty="0"/>
          </a:p>
        </p:txBody>
      </p:sp>
      <p:sp>
        <p:nvSpPr>
          <p:cNvPr id="13" name="Text 8"/>
          <p:cNvSpPr/>
          <p:nvPr/>
        </p:nvSpPr>
        <p:spPr>
          <a:xfrm>
            <a:off x="1505880" y="1000125"/>
            <a:ext cx="13146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출근</a:t>
            </a:r>
            <a:endParaRPr lang="en-US" sz="516" dirty="0"/>
          </a:p>
        </p:txBody>
      </p:sp>
      <p:sp>
        <p:nvSpPr>
          <p:cNvPr id="14" name="Text 9"/>
          <p:cNvSpPr/>
          <p:nvPr/>
        </p:nvSpPr>
        <p:spPr>
          <a:xfrm>
            <a:off x="1505880" y="1132284"/>
            <a:ext cx="1314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40</a:t>
            </a:r>
            <a:endParaRPr lang="en-US" sz="784" dirty="0"/>
          </a:p>
        </p:txBody>
      </p:sp>
      <p:sp>
        <p:nvSpPr>
          <p:cNvPr id="15" name="Text 10"/>
          <p:cNvSpPr/>
          <p:nvPr/>
        </p:nvSpPr>
        <p:spPr>
          <a:xfrm>
            <a:off x="2368823" y="1000125"/>
            <a:ext cx="13146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대기</a:t>
            </a:r>
            <a:endParaRPr lang="en-US" sz="516" dirty="0"/>
          </a:p>
        </p:txBody>
      </p:sp>
      <p:sp>
        <p:nvSpPr>
          <p:cNvPr id="16" name="Text 11"/>
          <p:cNvSpPr/>
          <p:nvPr/>
        </p:nvSpPr>
        <p:spPr>
          <a:xfrm>
            <a:off x="2368823" y="1132284"/>
            <a:ext cx="1314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59E0B"/>
                </a:solidFill>
              </a:rPr>
              <a:t>5</a:t>
            </a:r>
            <a:endParaRPr lang="en-US" sz="784" dirty="0"/>
          </a:p>
        </p:txBody>
      </p:sp>
      <p:sp>
        <p:nvSpPr>
          <p:cNvPr id="17" name="Shape 12"/>
          <p:cNvSpPr/>
          <p:nvPr/>
        </p:nvSpPr>
        <p:spPr>
          <a:xfrm>
            <a:off x="2400300" y="128587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3"/>
          <p:cNvSpPr/>
          <p:nvPr/>
        </p:nvSpPr>
        <p:spPr>
          <a:xfrm>
            <a:off x="2400300" y="128587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9" name="Shape 14"/>
          <p:cNvSpPr/>
          <p:nvPr/>
        </p:nvSpPr>
        <p:spPr>
          <a:xfrm>
            <a:off x="535781" y="1501973"/>
            <a:ext cx="2071688" cy="84474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2938" y="1609130"/>
            <a:ext cx="64589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홍길동 (철근팀)</a:t>
            </a:r>
            <a:endParaRPr lang="en-US" sz="683" dirty="0"/>
          </a:p>
        </p:txBody>
      </p:sp>
      <p:sp>
        <p:nvSpPr>
          <p:cNvPr id="21" name="Text 16"/>
          <p:cNvSpPr/>
          <p:nvPr/>
        </p:nvSpPr>
        <p:spPr>
          <a:xfrm>
            <a:off x="2120801" y="1623417"/>
            <a:ext cx="37951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06:50 AM</a:t>
            </a:r>
            <a:endParaRPr lang="en-US" sz="584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828800"/>
            <a:ext cx="58936" cy="7858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4736" y="1810941"/>
            <a:ext cx="61782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현장 내 (GPS 일치)</a:t>
            </a:r>
            <a:endParaRPr lang="en-US" sz="568" dirty="0"/>
          </a:p>
        </p:txBody>
      </p:sp>
      <p:sp>
        <p:nvSpPr>
          <p:cNvPr id="24" name="Shape 18"/>
          <p:cNvSpPr/>
          <p:nvPr/>
        </p:nvSpPr>
        <p:spPr>
          <a:xfrm>
            <a:off x="642938" y="1996678"/>
            <a:ext cx="900113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19"/>
          <p:cNvSpPr/>
          <p:nvPr/>
        </p:nvSpPr>
        <p:spPr>
          <a:xfrm>
            <a:off x="642938" y="1996678"/>
            <a:ext cx="900113" cy="22860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승인</a:t>
            </a:r>
            <a:endParaRPr lang="en-US" sz="584" dirty="0"/>
          </a:p>
        </p:txBody>
      </p:sp>
      <p:sp>
        <p:nvSpPr>
          <p:cNvPr id="26" name="Shape 20"/>
          <p:cNvSpPr/>
          <p:nvPr/>
        </p:nvSpPr>
        <p:spPr>
          <a:xfrm>
            <a:off x="1600200" y="1996678"/>
            <a:ext cx="900113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1"/>
          <p:cNvSpPr/>
          <p:nvPr/>
        </p:nvSpPr>
        <p:spPr>
          <a:xfrm>
            <a:off x="1600200" y="1996678"/>
            <a:ext cx="900113" cy="22860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반려</a:t>
            </a:r>
            <a:endParaRPr lang="en-US" sz="584" dirty="0"/>
          </a:p>
        </p:txBody>
      </p:sp>
      <p:sp>
        <p:nvSpPr>
          <p:cNvPr id="28" name="Shape 22"/>
          <p:cNvSpPr/>
          <p:nvPr/>
        </p:nvSpPr>
        <p:spPr>
          <a:xfrm>
            <a:off x="2507456" y="143053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Text 23"/>
          <p:cNvSpPr/>
          <p:nvPr/>
        </p:nvSpPr>
        <p:spPr>
          <a:xfrm>
            <a:off x="2507456" y="143053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30" name="Shape 24"/>
          <p:cNvSpPr/>
          <p:nvPr/>
        </p:nvSpPr>
        <p:spPr>
          <a:xfrm>
            <a:off x="535781" y="2418159"/>
            <a:ext cx="2071688" cy="8286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42938" y="2525316"/>
            <a:ext cx="64589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김철수 (목공팀)</a:t>
            </a:r>
            <a:endParaRPr lang="en-US" sz="683" dirty="0"/>
          </a:p>
        </p:txBody>
      </p:sp>
      <p:sp>
        <p:nvSpPr>
          <p:cNvPr id="32" name="Text 26"/>
          <p:cNvSpPr/>
          <p:nvPr/>
        </p:nvSpPr>
        <p:spPr>
          <a:xfrm>
            <a:off x="2120801" y="2539603"/>
            <a:ext cx="37951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07:05 AM</a:t>
            </a:r>
            <a:endParaRPr lang="en-US" sz="584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2744986"/>
            <a:ext cx="58936" cy="78581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44736" y="2727127"/>
            <a:ext cx="61782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현장 내 (GPS 일치)</a:t>
            </a:r>
            <a:endParaRPr lang="en-US" sz="568" dirty="0"/>
          </a:p>
        </p:txBody>
      </p:sp>
      <p:sp>
        <p:nvSpPr>
          <p:cNvPr id="35" name="Shape 28"/>
          <p:cNvSpPr/>
          <p:nvPr/>
        </p:nvSpPr>
        <p:spPr>
          <a:xfrm>
            <a:off x="642938" y="2912864"/>
            <a:ext cx="1943100" cy="212527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1580" y="2980730"/>
            <a:ext cx="85725" cy="8572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477305" y="2966442"/>
            <a:ext cx="36006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승인 완료</a:t>
            </a:r>
            <a:endParaRPr lang="en-US" sz="584" dirty="0"/>
          </a:p>
        </p:txBody>
      </p:sp>
      <p:sp>
        <p:nvSpPr>
          <p:cNvPr id="38" name="Text 30"/>
          <p:cNvSpPr/>
          <p:nvPr/>
        </p:nvSpPr>
        <p:spPr>
          <a:xfrm>
            <a:off x="3429000" y="428625"/>
            <a:ext cx="5286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[현장] 출역 관리 (Mobile Web)</a:t>
            </a:r>
            <a:endParaRPr lang="en-US" sz="1602" dirty="0"/>
          </a:p>
        </p:txBody>
      </p:sp>
      <p:sp>
        <p:nvSpPr>
          <p:cNvPr id="39" name="Text 31"/>
          <p:cNvSpPr/>
          <p:nvPr/>
        </p:nvSpPr>
        <p:spPr>
          <a:xfrm>
            <a:off x="3429000" y="817959"/>
            <a:ext cx="52863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모바일에서의 실시간 출역 현황 확인 및 승인 UI</a:t>
            </a:r>
            <a:endParaRPr lang="en-US" sz="834" dirty="0"/>
          </a:p>
        </p:txBody>
      </p:sp>
      <p:sp>
        <p:nvSpPr>
          <p:cNvPr id="40" name="Shape 32"/>
          <p:cNvSpPr/>
          <p:nvPr/>
        </p:nvSpPr>
        <p:spPr>
          <a:xfrm>
            <a:off x="3429000" y="1275159"/>
            <a:ext cx="35718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Shape 33"/>
          <p:cNvSpPr/>
          <p:nvPr/>
        </p:nvSpPr>
        <p:spPr>
          <a:xfrm>
            <a:off x="3429000" y="1566267"/>
            <a:ext cx="3571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" name="Text 34"/>
          <p:cNvSpPr/>
          <p:nvPr/>
        </p:nvSpPr>
        <p:spPr>
          <a:xfrm>
            <a:off x="3429000" y="1275159"/>
            <a:ext cx="35718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43" name="Shape 35"/>
          <p:cNvSpPr/>
          <p:nvPr/>
        </p:nvSpPr>
        <p:spPr>
          <a:xfrm>
            <a:off x="3786188" y="1275159"/>
            <a:ext cx="857250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Shape 36"/>
          <p:cNvSpPr/>
          <p:nvPr/>
        </p:nvSpPr>
        <p:spPr>
          <a:xfrm>
            <a:off x="3786188" y="1566267"/>
            <a:ext cx="8572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5" name="Text 37"/>
          <p:cNvSpPr/>
          <p:nvPr/>
        </p:nvSpPr>
        <p:spPr>
          <a:xfrm>
            <a:off x="3786188" y="1275159"/>
            <a:ext cx="857250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Element</a:t>
            </a:r>
            <a:endParaRPr lang="en-US" sz="634" dirty="0"/>
          </a:p>
        </p:txBody>
      </p:sp>
      <p:sp>
        <p:nvSpPr>
          <p:cNvPr id="46" name="Shape 38"/>
          <p:cNvSpPr/>
          <p:nvPr/>
        </p:nvSpPr>
        <p:spPr>
          <a:xfrm>
            <a:off x="4643438" y="1275159"/>
            <a:ext cx="407193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Shape 39"/>
          <p:cNvSpPr/>
          <p:nvPr/>
        </p:nvSpPr>
        <p:spPr>
          <a:xfrm>
            <a:off x="4643438" y="1566267"/>
            <a:ext cx="407193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8" name="Text 40"/>
          <p:cNvSpPr/>
          <p:nvPr/>
        </p:nvSpPr>
        <p:spPr>
          <a:xfrm>
            <a:off x="4643438" y="1275159"/>
            <a:ext cx="407193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49" name="Shape 41"/>
          <p:cNvSpPr/>
          <p:nvPr/>
        </p:nvSpPr>
        <p:spPr>
          <a:xfrm>
            <a:off x="3514725" y="165913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0" name="Text 42"/>
          <p:cNvSpPr/>
          <p:nvPr/>
        </p:nvSpPr>
        <p:spPr>
          <a:xfrm>
            <a:off x="3514725" y="165913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51" name="Text 43"/>
          <p:cNvSpPr/>
          <p:nvPr/>
        </p:nvSpPr>
        <p:spPr>
          <a:xfrm>
            <a:off x="3786188" y="1573411"/>
            <a:ext cx="857250" cy="4286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Summary Stats</a:t>
            </a:r>
            <a:endParaRPr lang="en-US" sz="674" dirty="0"/>
          </a:p>
        </p:txBody>
      </p:sp>
      <p:sp>
        <p:nvSpPr>
          <p:cNvPr id="52" name="Text 44"/>
          <p:cNvSpPr/>
          <p:nvPr/>
        </p:nvSpPr>
        <p:spPr>
          <a:xfrm>
            <a:off x="4729163" y="1659136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GET /api/v1/site/stats/live</a:t>
            </a:r>
            <a:endParaRPr lang="en-US" sz="674" dirty="0"/>
          </a:p>
        </p:txBody>
      </p:sp>
      <p:sp>
        <p:nvSpPr>
          <p:cNvPr id="53" name="Text 45"/>
          <p:cNvSpPr/>
          <p:nvPr/>
        </p:nvSpPr>
        <p:spPr>
          <a:xfrm>
            <a:off x="4729163" y="1785938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Refresh: Pull-to-refresh or 30s Polling</a:t>
            </a:r>
            <a:endParaRPr lang="en-US" sz="674" dirty="0"/>
          </a:p>
        </p:txBody>
      </p:sp>
      <p:sp>
        <p:nvSpPr>
          <p:cNvPr id="54" name="Shape 46"/>
          <p:cNvSpPr/>
          <p:nvPr/>
        </p:nvSpPr>
        <p:spPr>
          <a:xfrm>
            <a:off x="3514725" y="209133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5" name="Text 47"/>
          <p:cNvSpPr/>
          <p:nvPr/>
        </p:nvSpPr>
        <p:spPr>
          <a:xfrm>
            <a:off x="3514725" y="209133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56" name="Text 48"/>
          <p:cNvSpPr/>
          <p:nvPr/>
        </p:nvSpPr>
        <p:spPr>
          <a:xfrm>
            <a:off x="3786188" y="2002036"/>
            <a:ext cx="857250" cy="5589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Approval Action</a:t>
            </a:r>
            <a:endParaRPr lang="en-US" sz="674" dirty="0"/>
          </a:p>
        </p:txBody>
      </p:sp>
      <p:sp>
        <p:nvSpPr>
          <p:cNvPr id="57" name="Text 49"/>
          <p:cNvSpPr/>
          <p:nvPr/>
        </p:nvSpPr>
        <p:spPr>
          <a:xfrm>
            <a:off x="4729163" y="2091333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Approve: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POST /api/v1/attendance/approve</a:t>
            </a:r>
            <a:endParaRPr lang="en-US" sz="674" dirty="0"/>
          </a:p>
        </p:txBody>
      </p:sp>
      <p:sp>
        <p:nvSpPr>
          <p:cNvPr id="58" name="Text 50"/>
          <p:cNvSpPr/>
          <p:nvPr/>
        </p:nvSpPr>
        <p:spPr>
          <a:xfrm>
            <a:off x="4729163" y="2218134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Reject: Open 'Rejection Reason' Modal</a:t>
            </a:r>
            <a:endParaRPr lang="en-US" sz="674" dirty="0"/>
          </a:p>
        </p:txBody>
      </p:sp>
      <p:sp>
        <p:nvSpPr>
          <p:cNvPr id="59" name="Text 51"/>
          <p:cNvSpPr/>
          <p:nvPr/>
        </p:nvSpPr>
        <p:spPr>
          <a:xfrm>
            <a:off x="4729163" y="2344936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GPS Check: Highlight if distance &gt; 500m</a:t>
            </a:r>
            <a:endParaRPr lang="en-US" sz="674" dirty="0"/>
          </a:p>
        </p:txBody>
      </p:sp>
      <p:sp>
        <p:nvSpPr>
          <p:cNvPr id="60" name="Shape 52"/>
          <p:cNvSpPr/>
          <p:nvPr/>
        </p:nvSpPr>
        <p:spPr>
          <a:xfrm>
            <a:off x="3429000" y="2800127"/>
            <a:ext cx="5286375" cy="141290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6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7588" y="2968005"/>
            <a:ext cx="114300" cy="114300"/>
          </a:xfrm>
          <a:prstGeom prst="rect">
            <a:avLst/>
          </a:prstGeom>
        </p:spPr>
      </p:pic>
      <p:sp>
        <p:nvSpPr>
          <p:cNvPr id="62" name="Text 53"/>
          <p:cNvSpPr/>
          <p:nvPr/>
        </p:nvSpPr>
        <p:spPr>
          <a:xfrm>
            <a:off x="3743325" y="2943002"/>
            <a:ext cx="124611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59E0B"/>
                </a:solidFill>
              </a:rPr>
              <a:t>[팝업] 반려 사유 입력 모달</a:t>
            </a:r>
            <a:endParaRPr lang="en-US" sz="784" dirty="0"/>
          </a:p>
        </p:txBody>
      </p:sp>
      <p:sp>
        <p:nvSpPr>
          <p:cNvPr id="63" name="Text 54"/>
          <p:cNvSpPr/>
          <p:nvPr/>
        </p:nvSpPr>
        <p:spPr>
          <a:xfrm>
            <a:off x="3557588" y="3193033"/>
            <a:ext cx="5029200" cy="891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• Title: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"출역 반려"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• Input: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사유 선택 (현장 이탈, 본인 아님, 기타)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• Buttons: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- [확인]: API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POST /api/v1/attendance/reject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호출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→ 성공 시 목록에서 '반려됨' 상태로 변경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- [취소]: 모달 닫기</a:t>
            </a:r>
            <a:endParaRPr lang="en-US" sz="634" dirty="0"/>
          </a:p>
        </p:txBody>
      </p:sp>
      <p:sp>
        <p:nvSpPr>
          <p:cNvPr id="64" name="Shape 55"/>
          <p:cNvSpPr/>
          <p:nvPr/>
        </p:nvSpPr>
        <p:spPr>
          <a:xfrm>
            <a:off x="3429000" y="4355902"/>
            <a:ext cx="5286375" cy="64472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6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6156" y="4495205"/>
            <a:ext cx="92869" cy="92869"/>
          </a:xfrm>
          <a:prstGeom prst="rect">
            <a:avLst/>
          </a:prstGeom>
        </p:spPr>
      </p:pic>
      <p:sp>
        <p:nvSpPr>
          <p:cNvPr id="66" name="Text 56"/>
          <p:cNvSpPr/>
          <p:nvPr/>
        </p:nvSpPr>
        <p:spPr>
          <a:xfrm>
            <a:off x="3629025" y="4477345"/>
            <a:ext cx="96725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GPS Validation Logic</a:t>
            </a:r>
            <a:endParaRPr lang="en-US" sz="634" dirty="0"/>
          </a:p>
        </p:txBody>
      </p:sp>
      <p:sp>
        <p:nvSpPr>
          <p:cNvPr id="67" name="Text 57"/>
          <p:cNvSpPr/>
          <p:nvPr/>
        </p:nvSpPr>
        <p:spPr>
          <a:xfrm>
            <a:off x="3536156" y="4639866"/>
            <a:ext cx="5072063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출역 승인 시, 노무자의 앱에서 전송된 GPS 좌표와 현장 중심 좌표 간의 거리를 계산합니다. 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허용 반경(예: 500m) 이내일 경우 'GPS 일치' 표시, 초과 시 '위치 불일치' 경고를 표시합니다.</a:t>
            </a:r>
            <a:endParaRPr lang="en-US" sz="62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2400300" cy="4400550"/>
          </a:xfrm>
          <a:prstGeom prst="rect">
            <a:avLst/>
          </a:prstGeom>
          <a:solidFill>
            <a:srgbClr val="1E293B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2286000" cy="3643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785813"/>
            <a:ext cx="2286000" cy="7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550069"/>
            <a:ext cx="100013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46429" y="525066"/>
            <a:ext cx="4503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안면 등록</a:t>
            </a:r>
            <a:endParaRPr lang="en-US" sz="784" dirty="0"/>
          </a:p>
        </p:txBody>
      </p:sp>
      <p:sp>
        <p:nvSpPr>
          <p:cNvPr id="8" name="Shape 4"/>
          <p:cNvSpPr/>
          <p:nvPr/>
        </p:nvSpPr>
        <p:spPr>
          <a:xfrm>
            <a:off x="428625" y="785813"/>
            <a:ext cx="2286000" cy="39290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5"/>
          <p:cNvSpPr/>
          <p:nvPr/>
        </p:nvSpPr>
        <p:spPr>
          <a:xfrm>
            <a:off x="700088" y="1071563"/>
            <a:ext cx="1743075" cy="2171700"/>
          </a:xfrm>
          <a:prstGeom prst="round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10B981"/>
            </a:solidFill>
            <a:prstDash val="dash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594" y="1857375"/>
            <a:ext cx="500063" cy="5715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328863" y="21431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7"/>
          <p:cNvSpPr/>
          <p:nvPr/>
        </p:nvSpPr>
        <p:spPr>
          <a:xfrm>
            <a:off x="2328863" y="214312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3" name="Text 8"/>
          <p:cNvSpPr/>
          <p:nvPr/>
        </p:nvSpPr>
        <p:spPr>
          <a:xfrm>
            <a:off x="920567" y="3470077"/>
            <a:ext cx="130208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정면을 응시하고</a:t>
            </a:r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얼굴을 가이드 안에 맞춰주세요.</a:t>
            </a:r>
            <a:endParaRPr lang="en-US" sz="683" dirty="0"/>
          </a:p>
        </p:txBody>
      </p:sp>
      <p:sp>
        <p:nvSpPr>
          <p:cNvPr id="14" name="Shape 9"/>
          <p:cNvSpPr/>
          <p:nvPr/>
        </p:nvSpPr>
        <p:spPr>
          <a:xfrm>
            <a:off x="1293019" y="3871913"/>
            <a:ext cx="557213" cy="557213"/>
          </a:xfrm>
          <a:prstGeom prst="ellipse">
            <a:avLst/>
          </a:prstGeom>
          <a:solidFill>
            <a:srgbClr val="FFFFFF"/>
          </a:solidFill>
          <a:ln w="27432">
            <a:solidFill>
              <a:srgbClr val="CBD5E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2650331" y="78581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1"/>
          <p:cNvSpPr/>
          <p:nvPr/>
        </p:nvSpPr>
        <p:spPr>
          <a:xfrm>
            <a:off x="2650331" y="7858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17" name="Text 12"/>
          <p:cNvSpPr/>
          <p:nvPr/>
        </p:nvSpPr>
        <p:spPr>
          <a:xfrm>
            <a:off x="3429000" y="428625"/>
            <a:ext cx="5286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[노무자] 안면인식 등록 (Mobile App)</a:t>
            </a:r>
            <a:endParaRPr lang="en-US" sz="1602" dirty="0"/>
          </a:p>
        </p:txBody>
      </p:sp>
      <p:sp>
        <p:nvSpPr>
          <p:cNvPr id="18" name="Text 13"/>
          <p:cNvSpPr/>
          <p:nvPr/>
        </p:nvSpPr>
        <p:spPr>
          <a:xfrm>
            <a:off x="3429000" y="817959"/>
            <a:ext cx="52863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출퇴근 인증을 위한 안면 데이터 등록 프로세스</a:t>
            </a:r>
            <a:endParaRPr lang="en-US" sz="834" dirty="0"/>
          </a:p>
        </p:txBody>
      </p:sp>
      <p:sp>
        <p:nvSpPr>
          <p:cNvPr id="19" name="Shape 14"/>
          <p:cNvSpPr/>
          <p:nvPr/>
        </p:nvSpPr>
        <p:spPr>
          <a:xfrm>
            <a:off x="3429000" y="1346597"/>
            <a:ext cx="35718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5"/>
          <p:cNvSpPr/>
          <p:nvPr/>
        </p:nvSpPr>
        <p:spPr>
          <a:xfrm>
            <a:off x="3429000" y="1637705"/>
            <a:ext cx="3571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Text 16"/>
          <p:cNvSpPr/>
          <p:nvPr/>
        </p:nvSpPr>
        <p:spPr>
          <a:xfrm>
            <a:off x="3429000" y="1346597"/>
            <a:ext cx="35718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22" name="Shape 17"/>
          <p:cNvSpPr/>
          <p:nvPr/>
        </p:nvSpPr>
        <p:spPr>
          <a:xfrm>
            <a:off x="3786188" y="1346597"/>
            <a:ext cx="857250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18"/>
          <p:cNvSpPr/>
          <p:nvPr/>
        </p:nvSpPr>
        <p:spPr>
          <a:xfrm>
            <a:off x="3786188" y="1637705"/>
            <a:ext cx="8572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19"/>
          <p:cNvSpPr/>
          <p:nvPr/>
        </p:nvSpPr>
        <p:spPr>
          <a:xfrm>
            <a:off x="3786188" y="1346597"/>
            <a:ext cx="857250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Element</a:t>
            </a:r>
            <a:endParaRPr lang="en-US" sz="634" dirty="0"/>
          </a:p>
        </p:txBody>
      </p:sp>
      <p:sp>
        <p:nvSpPr>
          <p:cNvPr id="25" name="Shape 20"/>
          <p:cNvSpPr/>
          <p:nvPr/>
        </p:nvSpPr>
        <p:spPr>
          <a:xfrm>
            <a:off x="4643438" y="1346597"/>
            <a:ext cx="407193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1"/>
          <p:cNvSpPr/>
          <p:nvPr/>
        </p:nvSpPr>
        <p:spPr>
          <a:xfrm>
            <a:off x="4643438" y="1637705"/>
            <a:ext cx="407193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Text 22"/>
          <p:cNvSpPr/>
          <p:nvPr/>
        </p:nvSpPr>
        <p:spPr>
          <a:xfrm>
            <a:off x="4643438" y="1346597"/>
            <a:ext cx="407193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28" name="Shape 23"/>
          <p:cNvSpPr/>
          <p:nvPr/>
        </p:nvSpPr>
        <p:spPr>
          <a:xfrm>
            <a:off x="3514725" y="173057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Text 24"/>
          <p:cNvSpPr/>
          <p:nvPr/>
        </p:nvSpPr>
        <p:spPr>
          <a:xfrm>
            <a:off x="3514725" y="173057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30" name="Text 25"/>
          <p:cNvSpPr/>
          <p:nvPr/>
        </p:nvSpPr>
        <p:spPr>
          <a:xfrm>
            <a:off x="3786188" y="1644848"/>
            <a:ext cx="857250" cy="5643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Camera View</a:t>
            </a:r>
            <a:endParaRPr lang="en-US" sz="674" dirty="0"/>
          </a:p>
        </p:txBody>
      </p:sp>
      <p:sp>
        <p:nvSpPr>
          <p:cNvPr id="31" name="Text 26"/>
          <p:cNvSpPr/>
          <p:nvPr/>
        </p:nvSpPr>
        <p:spPr>
          <a:xfrm>
            <a:off x="4729163" y="1730573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navigator.mediaDevices.getUserMedia</a:t>
            </a:r>
            <a:endParaRPr lang="en-US" sz="674" dirty="0"/>
          </a:p>
        </p:txBody>
      </p:sp>
      <p:sp>
        <p:nvSpPr>
          <p:cNvPr id="32" name="Text 27"/>
          <p:cNvSpPr/>
          <p:nvPr/>
        </p:nvSpPr>
        <p:spPr>
          <a:xfrm>
            <a:off x="4729163" y="1857375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Constraint: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{ video: { facingMode: 'user' } }</a:t>
            </a:r>
            <a:endParaRPr lang="en-US" sz="674" dirty="0"/>
          </a:p>
        </p:txBody>
      </p:sp>
      <p:sp>
        <p:nvSpPr>
          <p:cNvPr id="33" name="Text 28"/>
          <p:cNvSpPr/>
          <p:nvPr/>
        </p:nvSpPr>
        <p:spPr>
          <a:xfrm>
            <a:off x="4729163" y="1984177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Permission: 카메라 권한 요청 필수</a:t>
            </a:r>
            <a:endParaRPr lang="en-US" sz="674" dirty="0"/>
          </a:p>
        </p:txBody>
      </p:sp>
      <p:sp>
        <p:nvSpPr>
          <p:cNvPr id="34" name="Shape 29"/>
          <p:cNvSpPr/>
          <p:nvPr/>
        </p:nvSpPr>
        <p:spPr>
          <a:xfrm>
            <a:off x="3514725" y="2298502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5" name="Text 30"/>
          <p:cNvSpPr/>
          <p:nvPr/>
        </p:nvSpPr>
        <p:spPr>
          <a:xfrm>
            <a:off x="3514725" y="229850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36" name="Text 31"/>
          <p:cNvSpPr/>
          <p:nvPr/>
        </p:nvSpPr>
        <p:spPr>
          <a:xfrm>
            <a:off x="3786188" y="2209205"/>
            <a:ext cx="857250" cy="56792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Capture Btn</a:t>
            </a:r>
            <a:endParaRPr lang="en-US" sz="674" dirty="0"/>
          </a:p>
        </p:txBody>
      </p:sp>
      <p:sp>
        <p:nvSpPr>
          <p:cNvPr id="37" name="Text 32"/>
          <p:cNvSpPr/>
          <p:nvPr/>
        </p:nvSpPr>
        <p:spPr>
          <a:xfrm>
            <a:off x="4729163" y="2298502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Logic: Video Stream → Canvas drawImage</a:t>
            </a:r>
            <a:endParaRPr lang="en-US" sz="674" dirty="0"/>
          </a:p>
        </p:txBody>
      </p:sp>
      <p:sp>
        <p:nvSpPr>
          <p:cNvPr id="38" name="Text 33"/>
          <p:cNvSpPr/>
          <p:nvPr/>
        </p:nvSpPr>
        <p:spPr>
          <a:xfrm>
            <a:off x="4729163" y="2434233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Format: JPEG/WebP (Quality 0.8)</a:t>
            </a:r>
            <a:endParaRPr lang="en-US" sz="674" dirty="0"/>
          </a:p>
        </p:txBody>
      </p:sp>
      <p:sp>
        <p:nvSpPr>
          <p:cNvPr id="39" name="Text 34"/>
          <p:cNvSpPr/>
          <p:nvPr/>
        </p:nvSpPr>
        <p:spPr>
          <a:xfrm>
            <a:off x="4729163" y="2561034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POST /api/v1/workers/face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(Multipart)</a:t>
            </a:r>
            <a:endParaRPr lang="en-US" sz="674" dirty="0"/>
          </a:p>
        </p:txBody>
      </p:sp>
      <p:sp>
        <p:nvSpPr>
          <p:cNvPr id="40" name="Shape 35"/>
          <p:cNvSpPr/>
          <p:nvPr/>
        </p:nvSpPr>
        <p:spPr>
          <a:xfrm>
            <a:off x="3429000" y="3204753"/>
            <a:ext cx="5286375" cy="165299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75" y="3386919"/>
            <a:ext cx="114300" cy="11430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3757613" y="3361916"/>
            <a:ext cx="12756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F4444"/>
                </a:solidFill>
              </a:rPr>
              <a:t>예외 처리 및 실패 시나리오</a:t>
            </a:r>
            <a:endParaRPr lang="en-US" sz="784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625" y="3647666"/>
            <a:ext cx="92869" cy="30573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4021931" y="3619091"/>
            <a:ext cx="3527813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권한 거부 (Permission Denied):</a:t>
            </a:r>
            <a:pPr algn="l" indent="0" marL="0">
              <a:lnSpc>
                <a:spcPts val="13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"카메라 접근 권한이 필요합니다. 설정에서 허용해주세요." Alert 표시 후 설정 화면 이동 유도</a:t>
            </a:r>
            <a:endParaRPr lang="en-US" sz="634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7625" y="3981971"/>
            <a:ext cx="116086" cy="30573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4045148" y="3953396"/>
            <a:ext cx="4059213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얼굴 미검출 (No Face Detected):</a:t>
            </a:r>
            <a:pPr algn="l" indent="0" marL="0">
              <a:lnSpc>
                <a:spcPts val="13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서버 응답 400 Bad Request → "얼굴을 인식할 수 없습니다. 밝은 곳에서 다시 시도해주세요." Toast 표시</a:t>
            </a:r>
            <a:endParaRPr lang="en-US" sz="634" dirty="0"/>
          </a:p>
        </p:txBody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7625" y="4316276"/>
            <a:ext cx="116086" cy="30573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4045148" y="4287701"/>
            <a:ext cx="1868900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다중 얼굴 (Multiple Faces):</a:t>
            </a:r>
            <a:pPr algn="l" indent="0" marL="0">
              <a:lnSpc>
                <a:spcPts val="13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"한 명의 얼굴만 촬영해주세요." 안내 메시지 표시</a:t>
            </a:r>
            <a:endParaRPr lang="en-US" sz="6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765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2400300" cy="4400550"/>
          </a:xfrm>
          <a:prstGeom prst="rect">
            <a:avLst/>
          </a:prstGeom>
          <a:solidFill>
            <a:srgbClr val="1E293B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2286000" cy="3643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785813"/>
            <a:ext cx="2286000" cy="7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550069"/>
            <a:ext cx="100013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26437" y="525066"/>
            <a:ext cx="6903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전자 계약 서명</a:t>
            </a:r>
            <a:endParaRPr lang="en-US" sz="784" dirty="0"/>
          </a:p>
        </p:txBody>
      </p:sp>
      <p:sp>
        <p:nvSpPr>
          <p:cNvPr id="8" name="Shape 4"/>
          <p:cNvSpPr/>
          <p:nvPr/>
        </p:nvSpPr>
        <p:spPr>
          <a:xfrm>
            <a:off x="428625" y="785813"/>
            <a:ext cx="2286000" cy="392906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5"/>
          <p:cNvSpPr/>
          <p:nvPr/>
        </p:nvSpPr>
        <p:spPr>
          <a:xfrm>
            <a:off x="535781" y="892969"/>
            <a:ext cx="2071688" cy="2000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6"/>
          <p:cNvSpPr/>
          <p:nvPr/>
        </p:nvSpPr>
        <p:spPr>
          <a:xfrm>
            <a:off x="642938" y="1000125"/>
            <a:ext cx="1857375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표준 근로 계약서</a:t>
            </a:r>
            <a:endParaRPr lang="en-US" sz="584" dirty="0"/>
          </a:p>
        </p:txBody>
      </p:sp>
      <p:sp>
        <p:nvSpPr>
          <p:cNvPr id="11" name="Text 7"/>
          <p:cNvSpPr/>
          <p:nvPr/>
        </p:nvSpPr>
        <p:spPr>
          <a:xfrm>
            <a:off x="642938" y="1208717"/>
            <a:ext cx="1857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333333"/>
                </a:solidFill>
              </a:rPr>
              <a:t>1. 근로계약기간: 2026년 1월 20일부터...</a:t>
            </a:r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333333"/>
                </a:solidFill>
              </a:rPr>
              <a:t> 2. 근무장소: 서울시 강남구 역삼동...</a:t>
            </a:r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333333"/>
                </a:solidFill>
              </a:rPr>
              <a:t> 3. 업무내용: 형틀 목공 업무 일체...</a:t>
            </a:r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333333"/>
                </a:solidFill>
              </a:rPr>
              <a:t> 4. 소정근로시간: 07:00 ~ 16:00...</a:t>
            </a:r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333333"/>
                </a:solidFill>
              </a:rPr>
              <a:t> ...</a:t>
            </a:r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333333"/>
                </a:solidFill>
              </a:rPr>
              <a:t> (이하 생략)</a:t>
            </a:r>
            <a:endParaRPr lang="en-US" sz="516" dirty="0"/>
          </a:p>
        </p:txBody>
      </p:sp>
      <p:sp>
        <p:nvSpPr>
          <p:cNvPr id="12" name="Shape 8"/>
          <p:cNvSpPr/>
          <p:nvPr/>
        </p:nvSpPr>
        <p:spPr>
          <a:xfrm>
            <a:off x="2400300" y="150018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9"/>
          <p:cNvSpPr/>
          <p:nvPr/>
        </p:nvSpPr>
        <p:spPr>
          <a:xfrm>
            <a:off x="2400300" y="15001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4" name="Shape 10"/>
          <p:cNvSpPr/>
          <p:nvPr/>
        </p:nvSpPr>
        <p:spPr>
          <a:xfrm>
            <a:off x="535781" y="3000375"/>
            <a:ext cx="2071688" cy="105548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07219" y="3071813"/>
            <a:ext cx="19288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서명 (Signature)</a:t>
            </a:r>
            <a:endParaRPr lang="en-US" sz="621" dirty="0"/>
          </a:p>
        </p:txBody>
      </p:sp>
      <p:sp>
        <p:nvSpPr>
          <p:cNvPr id="16" name="Shape 12"/>
          <p:cNvSpPr/>
          <p:nvPr/>
        </p:nvSpPr>
        <p:spPr>
          <a:xfrm>
            <a:off x="607219" y="3255764"/>
            <a:ext cx="1928813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2400300" y="3143250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4"/>
          <p:cNvSpPr/>
          <p:nvPr/>
        </p:nvSpPr>
        <p:spPr>
          <a:xfrm>
            <a:off x="2400300" y="31432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19" name="Shape 15"/>
          <p:cNvSpPr/>
          <p:nvPr/>
        </p:nvSpPr>
        <p:spPr>
          <a:xfrm>
            <a:off x="535781" y="4311253"/>
            <a:ext cx="1000125" cy="29646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6"/>
          <p:cNvSpPr/>
          <p:nvPr/>
        </p:nvSpPr>
        <p:spPr>
          <a:xfrm>
            <a:off x="535781" y="4311253"/>
            <a:ext cx="1000125" cy="29646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지우기</a:t>
            </a:r>
            <a:endParaRPr lang="en-US" sz="634" dirty="0"/>
          </a:p>
        </p:txBody>
      </p:sp>
      <p:sp>
        <p:nvSpPr>
          <p:cNvPr id="21" name="Shape 17"/>
          <p:cNvSpPr/>
          <p:nvPr/>
        </p:nvSpPr>
        <p:spPr>
          <a:xfrm>
            <a:off x="1607344" y="4311253"/>
            <a:ext cx="1000125" cy="29646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18"/>
          <p:cNvSpPr/>
          <p:nvPr/>
        </p:nvSpPr>
        <p:spPr>
          <a:xfrm>
            <a:off x="1607344" y="4311253"/>
            <a:ext cx="1000125" cy="29646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서명 완료</a:t>
            </a:r>
            <a:endParaRPr lang="en-US" sz="634" dirty="0"/>
          </a:p>
        </p:txBody>
      </p:sp>
      <p:sp>
        <p:nvSpPr>
          <p:cNvPr id="23" name="Shape 19"/>
          <p:cNvSpPr/>
          <p:nvPr/>
        </p:nvSpPr>
        <p:spPr>
          <a:xfrm>
            <a:off x="2400300" y="421481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20"/>
          <p:cNvSpPr/>
          <p:nvPr/>
        </p:nvSpPr>
        <p:spPr>
          <a:xfrm>
            <a:off x="2400300" y="42148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25" name="Text 21"/>
          <p:cNvSpPr/>
          <p:nvPr/>
        </p:nvSpPr>
        <p:spPr>
          <a:xfrm>
            <a:off x="3429000" y="428625"/>
            <a:ext cx="5286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[노무자] 전자 계약 서명 (Mobile App)</a:t>
            </a:r>
            <a:endParaRPr lang="en-US" sz="1602" dirty="0"/>
          </a:p>
        </p:txBody>
      </p:sp>
      <p:sp>
        <p:nvSpPr>
          <p:cNvPr id="26" name="Text 22"/>
          <p:cNvSpPr/>
          <p:nvPr/>
        </p:nvSpPr>
        <p:spPr>
          <a:xfrm>
            <a:off x="3429000" y="817959"/>
            <a:ext cx="52863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근로계약서 PDF 확인 및 Canvas 기반 전자 서명</a:t>
            </a:r>
            <a:endParaRPr lang="en-US" sz="834" dirty="0"/>
          </a:p>
        </p:txBody>
      </p:sp>
      <p:sp>
        <p:nvSpPr>
          <p:cNvPr id="27" name="Shape 23"/>
          <p:cNvSpPr/>
          <p:nvPr/>
        </p:nvSpPr>
        <p:spPr>
          <a:xfrm>
            <a:off x="3429000" y="1346597"/>
            <a:ext cx="35718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Shape 24"/>
          <p:cNvSpPr/>
          <p:nvPr/>
        </p:nvSpPr>
        <p:spPr>
          <a:xfrm>
            <a:off x="3429000" y="1637705"/>
            <a:ext cx="3571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" name="Text 25"/>
          <p:cNvSpPr/>
          <p:nvPr/>
        </p:nvSpPr>
        <p:spPr>
          <a:xfrm>
            <a:off x="3429000" y="1346597"/>
            <a:ext cx="35718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30" name="Shape 26"/>
          <p:cNvSpPr/>
          <p:nvPr/>
        </p:nvSpPr>
        <p:spPr>
          <a:xfrm>
            <a:off x="3786188" y="1346597"/>
            <a:ext cx="857250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Shape 27"/>
          <p:cNvSpPr/>
          <p:nvPr/>
        </p:nvSpPr>
        <p:spPr>
          <a:xfrm>
            <a:off x="3786188" y="1637705"/>
            <a:ext cx="8572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" name="Text 28"/>
          <p:cNvSpPr/>
          <p:nvPr/>
        </p:nvSpPr>
        <p:spPr>
          <a:xfrm>
            <a:off x="3786188" y="1346597"/>
            <a:ext cx="857250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Element</a:t>
            </a:r>
            <a:endParaRPr lang="en-US" sz="634" dirty="0"/>
          </a:p>
        </p:txBody>
      </p:sp>
      <p:sp>
        <p:nvSpPr>
          <p:cNvPr id="33" name="Shape 29"/>
          <p:cNvSpPr/>
          <p:nvPr/>
        </p:nvSpPr>
        <p:spPr>
          <a:xfrm>
            <a:off x="4643438" y="1346597"/>
            <a:ext cx="407193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Shape 30"/>
          <p:cNvSpPr/>
          <p:nvPr/>
        </p:nvSpPr>
        <p:spPr>
          <a:xfrm>
            <a:off x="4643438" y="1637705"/>
            <a:ext cx="407193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5" name="Text 31"/>
          <p:cNvSpPr/>
          <p:nvPr/>
        </p:nvSpPr>
        <p:spPr>
          <a:xfrm>
            <a:off x="4643438" y="1346597"/>
            <a:ext cx="407193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36" name="Shape 32"/>
          <p:cNvSpPr/>
          <p:nvPr/>
        </p:nvSpPr>
        <p:spPr>
          <a:xfrm>
            <a:off x="3514725" y="173057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7" name="Text 33"/>
          <p:cNvSpPr/>
          <p:nvPr/>
        </p:nvSpPr>
        <p:spPr>
          <a:xfrm>
            <a:off x="3514725" y="173057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38" name="Text 34"/>
          <p:cNvSpPr/>
          <p:nvPr/>
        </p:nvSpPr>
        <p:spPr>
          <a:xfrm>
            <a:off x="3786188" y="1644848"/>
            <a:ext cx="857250" cy="4286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PDF Viewer</a:t>
            </a:r>
            <a:endParaRPr lang="en-US" sz="674" dirty="0"/>
          </a:p>
        </p:txBody>
      </p:sp>
      <p:sp>
        <p:nvSpPr>
          <p:cNvPr id="39" name="Text 35"/>
          <p:cNvSpPr/>
          <p:nvPr/>
        </p:nvSpPr>
        <p:spPr>
          <a:xfrm>
            <a:off x="4729163" y="1730573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Lib: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react-pdf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or Native WebView</a:t>
            </a:r>
            <a:endParaRPr lang="en-US" sz="674" dirty="0"/>
          </a:p>
        </p:txBody>
      </p:sp>
      <p:sp>
        <p:nvSpPr>
          <p:cNvPr id="40" name="Text 36"/>
          <p:cNvSpPr/>
          <p:nvPr/>
        </p:nvSpPr>
        <p:spPr>
          <a:xfrm>
            <a:off x="4729163" y="1857375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Source: S3 Presigned URL (Read-only)</a:t>
            </a:r>
            <a:endParaRPr lang="en-US" sz="674" dirty="0"/>
          </a:p>
        </p:txBody>
      </p:sp>
      <p:sp>
        <p:nvSpPr>
          <p:cNvPr id="41" name="Shape 37"/>
          <p:cNvSpPr/>
          <p:nvPr/>
        </p:nvSpPr>
        <p:spPr>
          <a:xfrm>
            <a:off x="3514725" y="2162770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38"/>
          <p:cNvSpPr/>
          <p:nvPr/>
        </p:nvSpPr>
        <p:spPr>
          <a:xfrm>
            <a:off x="3514725" y="216277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43" name="Text 39"/>
          <p:cNvSpPr/>
          <p:nvPr/>
        </p:nvSpPr>
        <p:spPr>
          <a:xfrm>
            <a:off x="3786188" y="2073473"/>
            <a:ext cx="857250" cy="55899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Signature Pad</a:t>
            </a:r>
            <a:endParaRPr lang="en-US" sz="674" dirty="0"/>
          </a:p>
        </p:txBody>
      </p:sp>
      <p:sp>
        <p:nvSpPr>
          <p:cNvPr id="44" name="Text 40"/>
          <p:cNvSpPr/>
          <p:nvPr/>
        </p:nvSpPr>
        <p:spPr>
          <a:xfrm>
            <a:off x="4729163" y="2162770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Lib: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react-signature-canvas</a:t>
            </a:r>
            <a:endParaRPr lang="en-US" sz="674" dirty="0"/>
          </a:p>
        </p:txBody>
      </p:sp>
      <p:sp>
        <p:nvSpPr>
          <p:cNvPr id="45" name="Text 41"/>
          <p:cNvSpPr/>
          <p:nvPr/>
        </p:nvSpPr>
        <p:spPr>
          <a:xfrm>
            <a:off x="4729163" y="2289572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Output: Base64 PNG Data URL</a:t>
            </a:r>
            <a:endParaRPr lang="en-US" sz="674" dirty="0"/>
          </a:p>
        </p:txBody>
      </p:sp>
      <p:sp>
        <p:nvSpPr>
          <p:cNvPr id="46" name="Text 42"/>
          <p:cNvSpPr/>
          <p:nvPr/>
        </p:nvSpPr>
        <p:spPr>
          <a:xfrm>
            <a:off x="4729163" y="2416373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Validation: Check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isEmpty()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before submit</a:t>
            </a:r>
            <a:endParaRPr lang="en-US" sz="674" dirty="0"/>
          </a:p>
        </p:txBody>
      </p:sp>
      <p:sp>
        <p:nvSpPr>
          <p:cNvPr id="47" name="Shape 43"/>
          <p:cNvSpPr/>
          <p:nvPr/>
        </p:nvSpPr>
        <p:spPr>
          <a:xfrm>
            <a:off x="3514725" y="272176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8" name="Text 44"/>
          <p:cNvSpPr/>
          <p:nvPr/>
        </p:nvSpPr>
        <p:spPr>
          <a:xfrm>
            <a:off x="3514725" y="272176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49" name="Text 45"/>
          <p:cNvSpPr/>
          <p:nvPr/>
        </p:nvSpPr>
        <p:spPr>
          <a:xfrm>
            <a:off x="3786188" y="2632472"/>
            <a:ext cx="857250" cy="4321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Submit Btn</a:t>
            </a:r>
            <a:endParaRPr lang="en-US" sz="674" dirty="0"/>
          </a:p>
        </p:txBody>
      </p:sp>
      <p:sp>
        <p:nvSpPr>
          <p:cNvPr id="50" name="Text 46"/>
          <p:cNvSpPr/>
          <p:nvPr/>
        </p:nvSpPr>
        <p:spPr>
          <a:xfrm>
            <a:off x="4729163" y="2721769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POST /api/v1/contracts/{id}/sign</a:t>
            </a:r>
            <a:endParaRPr lang="en-US" sz="674" dirty="0"/>
          </a:p>
        </p:txBody>
      </p:sp>
      <p:sp>
        <p:nvSpPr>
          <p:cNvPr id="51" name="Text 47"/>
          <p:cNvSpPr/>
          <p:nvPr/>
        </p:nvSpPr>
        <p:spPr>
          <a:xfrm>
            <a:off x="4729163" y="2848570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Payload: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{ signatureImage: "base64..." }</a:t>
            </a:r>
            <a:endParaRPr lang="en-US" sz="674" dirty="0"/>
          </a:p>
        </p:txBody>
      </p:sp>
      <p:sp>
        <p:nvSpPr>
          <p:cNvPr id="52" name="Shape 48"/>
          <p:cNvSpPr/>
          <p:nvPr/>
        </p:nvSpPr>
        <p:spPr>
          <a:xfrm>
            <a:off x="3429000" y="3282553"/>
            <a:ext cx="5286375" cy="172968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75" y="3445966"/>
            <a:ext cx="142875" cy="114300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3786188" y="3425428"/>
            <a:ext cx="14655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59E0B"/>
                </a:solidFill>
              </a:rPr>
              <a:t>Backend Processing Logic</a:t>
            </a:r>
            <a:endParaRPr lang="en-US" sz="784" dirty="0"/>
          </a:p>
        </p:txBody>
      </p:sp>
      <p:sp>
        <p:nvSpPr>
          <p:cNvPr id="55" name="Text 50"/>
          <p:cNvSpPr/>
          <p:nvPr/>
        </p:nvSpPr>
        <p:spPr>
          <a:xfrm>
            <a:off x="3571875" y="3666530"/>
            <a:ext cx="5000625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1. Image Processing: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- Receive Base64 signature image.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- Overlay signature onto PDF at specific coordinates (x, y) using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PDFBox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or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iText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.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2. Storage &amp; Security: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- Upload signed PDF to S3 (Bucket: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smartcon-contracts-signed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).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- Encryption: AES-256 Server-Side Encryption (SSE-S3).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- Audit Log: Record IP, Timestamp, and User Agent.</a:t>
            </a:r>
            <a:endParaRPr lang="en-US" sz="6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648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2400300" cy="4400550"/>
          </a:xfrm>
          <a:prstGeom prst="rect">
            <a:avLst/>
          </a:prstGeom>
          <a:solidFill>
            <a:srgbClr val="1E293B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25" y="428625"/>
            <a:ext cx="2286000" cy="3643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785813"/>
            <a:ext cx="2286000" cy="7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550069"/>
            <a:ext cx="100013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26437" y="525066"/>
            <a:ext cx="6903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나의 출역 현황</a:t>
            </a:r>
            <a:endParaRPr lang="en-US" sz="784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456" y="550069"/>
            <a:ext cx="100013" cy="1143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28625" y="785813"/>
            <a:ext cx="2286000" cy="392906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5"/>
          <p:cNvSpPr/>
          <p:nvPr/>
        </p:nvSpPr>
        <p:spPr>
          <a:xfrm>
            <a:off x="535781" y="892969"/>
            <a:ext cx="2071688" cy="86796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6"/>
          <p:cNvSpPr/>
          <p:nvPr/>
        </p:nvSpPr>
        <p:spPr>
          <a:xfrm>
            <a:off x="678656" y="1035844"/>
            <a:ext cx="17859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>
                    <a:alpha val="90000"/>
                  </a:srgbClr>
                </a:solidFill>
              </a:rPr>
              <a:t>1월 예상 급여</a:t>
            </a:r>
            <a:endParaRPr lang="en-US" sz="621" dirty="0"/>
          </a:p>
        </p:txBody>
      </p:sp>
      <p:sp>
        <p:nvSpPr>
          <p:cNvPr id="12" name="Text 7"/>
          <p:cNvSpPr/>
          <p:nvPr/>
        </p:nvSpPr>
        <p:spPr>
          <a:xfrm>
            <a:off x="678656" y="1198364"/>
            <a:ext cx="17859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₩ 3,500,000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678656" y="1503759"/>
            <a:ext cx="5838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/>
                </a:solidFill>
              </a:rPr>
              <a:t>총 공수: 20.0 MD</a:t>
            </a:r>
            <a:endParaRPr lang="en-US" sz="568" dirty="0"/>
          </a:p>
        </p:txBody>
      </p:sp>
      <p:sp>
        <p:nvSpPr>
          <p:cNvPr id="14" name="Text 9"/>
          <p:cNvSpPr/>
          <p:nvPr/>
        </p:nvSpPr>
        <p:spPr>
          <a:xfrm>
            <a:off x="1915446" y="1503759"/>
            <a:ext cx="54914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/>
                </a:solidFill>
              </a:rPr>
              <a:t>단가: 175,000원</a:t>
            </a:r>
            <a:endParaRPr lang="en-US" sz="568" dirty="0"/>
          </a:p>
        </p:txBody>
      </p:sp>
      <p:sp>
        <p:nvSpPr>
          <p:cNvPr id="15" name="Shape 10"/>
          <p:cNvSpPr/>
          <p:nvPr/>
        </p:nvSpPr>
        <p:spPr>
          <a:xfrm>
            <a:off x="2364581" y="96440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1"/>
          <p:cNvSpPr/>
          <p:nvPr/>
        </p:nvSpPr>
        <p:spPr>
          <a:xfrm>
            <a:off x="2364581" y="96440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7" name="Shape 12"/>
          <p:cNvSpPr/>
          <p:nvPr/>
        </p:nvSpPr>
        <p:spPr>
          <a:xfrm>
            <a:off x="535781" y="1868091"/>
            <a:ext cx="2071688" cy="153412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975247"/>
            <a:ext cx="62508" cy="14466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3575" y="1975247"/>
            <a:ext cx="4960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2026년 1월</a:t>
            </a:r>
            <a:endParaRPr lang="en-US" sz="683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7777" y="1975247"/>
            <a:ext cx="62508" cy="14466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2938" y="2227064"/>
            <a:ext cx="2163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일</a:t>
            </a:r>
            <a:endParaRPr lang="en-US" sz="516" dirty="0"/>
          </a:p>
        </p:txBody>
      </p:sp>
      <p:sp>
        <p:nvSpPr>
          <p:cNvPr id="22" name="Text 15"/>
          <p:cNvSpPr/>
          <p:nvPr/>
        </p:nvSpPr>
        <p:spPr>
          <a:xfrm>
            <a:off x="916437" y="2227064"/>
            <a:ext cx="2163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월</a:t>
            </a:r>
            <a:endParaRPr lang="en-US" sz="516" dirty="0"/>
          </a:p>
        </p:txBody>
      </p:sp>
      <p:sp>
        <p:nvSpPr>
          <p:cNvPr id="23" name="Text 16"/>
          <p:cNvSpPr/>
          <p:nvPr/>
        </p:nvSpPr>
        <p:spPr>
          <a:xfrm>
            <a:off x="1189937" y="2227064"/>
            <a:ext cx="2163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화</a:t>
            </a:r>
            <a:endParaRPr lang="en-US" sz="516" dirty="0"/>
          </a:p>
        </p:txBody>
      </p:sp>
      <p:sp>
        <p:nvSpPr>
          <p:cNvPr id="24" name="Text 17"/>
          <p:cNvSpPr/>
          <p:nvPr/>
        </p:nvSpPr>
        <p:spPr>
          <a:xfrm>
            <a:off x="1463436" y="2227064"/>
            <a:ext cx="2163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수</a:t>
            </a:r>
            <a:endParaRPr lang="en-US" sz="516" dirty="0"/>
          </a:p>
        </p:txBody>
      </p:sp>
      <p:sp>
        <p:nvSpPr>
          <p:cNvPr id="25" name="Text 18"/>
          <p:cNvSpPr/>
          <p:nvPr/>
        </p:nvSpPr>
        <p:spPr>
          <a:xfrm>
            <a:off x="1736936" y="2227064"/>
            <a:ext cx="2163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목</a:t>
            </a:r>
            <a:endParaRPr lang="en-US" sz="516" dirty="0"/>
          </a:p>
        </p:txBody>
      </p:sp>
      <p:sp>
        <p:nvSpPr>
          <p:cNvPr id="26" name="Text 19"/>
          <p:cNvSpPr/>
          <p:nvPr/>
        </p:nvSpPr>
        <p:spPr>
          <a:xfrm>
            <a:off x="2010435" y="2227064"/>
            <a:ext cx="2163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금</a:t>
            </a:r>
            <a:endParaRPr lang="en-US" sz="516" dirty="0"/>
          </a:p>
        </p:txBody>
      </p:sp>
      <p:sp>
        <p:nvSpPr>
          <p:cNvPr id="27" name="Text 20"/>
          <p:cNvSpPr/>
          <p:nvPr/>
        </p:nvSpPr>
        <p:spPr>
          <a:xfrm>
            <a:off x="2283935" y="2227064"/>
            <a:ext cx="21637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64748B"/>
                </a:solidFill>
              </a:rPr>
              <a:t>토</a:t>
            </a:r>
            <a:endParaRPr lang="en-US" sz="516" dirty="0"/>
          </a:p>
        </p:txBody>
      </p:sp>
      <p:sp>
        <p:nvSpPr>
          <p:cNvPr id="28" name="Text 21"/>
          <p:cNvSpPr/>
          <p:nvPr/>
        </p:nvSpPr>
        <p:spPr>
          <a:xfrm>
            <a:off x="642938" y="2423517"/>
            <a:ext cx="21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28</a:t>
            </a:r>
            <a:endParaRPr lang="en-US" sz="621" dirty="0"/>
          </a:p>
        </p:txBody>
      </p:sp>
      <p:sp>
        <p:nvSpPr>
          <p:cNvPr id="29" name="Text 22"/>
          <p:cNvSpPr/>
          <p:nvPr/>
        </p:nvSpPr>
        <p:spPr>
          <a:xfrm>
            <a:off x="916437" y="2423517"/>
            <a:ext cx="21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29</a:t>
            </a:r>
            <a:endParaRPr lang="en-US" sz="621" dirty="0"/>
          </a:p>
        </p:txBody>
      </p:sp>
      <p:sp>
        <p:nvSpPr>
          <p:cNvPr id="30" name="Text 23"/>
          <p:cNvSpPr/>
          <p:nvPr/>
        </p:nvSpPr>
        <p:spPr>
          <a:xfrm>
            <a:off x="1189937" y="2423517"/>
            <a:ext cx="21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30</a:t>
            </a:r>
            <a:endParaRPr lang="en-US" sz="621" dirty="0"/>
          </a:p>
        </p:txBody>
      </p:sp>
      <p:sp>
        <p:nvSpPr>
          <p:cNvPr id="31" name="Text 24"/>
          <p:cNvSpPr/>
          <p:nvPr/>
        </p:nvSpPr>
        <p:spPr>
          <a:xfrm>
            <a:off x="1463436" y="2423517"/>
            <a:ext cx="21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31</a:t>
            </a:r>
            <a:endParaRPr lang="en-US" sz="621" dirty="0"/>
          </a:p>
        </p:txBody>
      </p:sp>
      <p:sp>
        <p:nvSpPr>
          <p:cNvPr id="32" name="Text 25"/>
          <p:cNvSpPr/>
          <p:nvPr/>
        </p:nvSpPr>
        <p:spPr>
          <a:xfrm>
            <a:off x="1736936" y="2423517"/>
            <a:ext cx="21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</a:t>
            </a:r>
            <a:endParaRPr lang="en-US" sz="621" dirty="0"/>
          </a:p>
        </p:txBody>
      </p:sp>
      <p:sp>
        <p:nvSpPr>
          <p:cNvPr id="33" name="Text 26"/>
          <p:cNvSpPr/>
          <p:nvPr/>
        </p:nvSpPr>
        <p:spPr>
          <a:xfrm>
            <a:off x="2094068" y="2451199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2</a:t>
            </a:r>
            <a:endParaRPr lang="en-US" sz="621" dirty="0"/>
          </a:p>
        </p:txBody>
      </p:sp>
      <p:sp>
        <p:nvSpPr>
          <p:cNvPr id="34" name="Text 27"/>
          <p:cNvSpPr/>
          <p:nvPr/>
        </p:nvSpPr>
        <p:spPr>
          <a:xfrm>
            <a:off x="2283935" y="2423517"/>
            <a:ext cx="2163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3</a:t>
            </a:r>
            <a:endParaRPr lang="en-US" sz="621" dirty="0"/>
          </a:p>
        </p:txBody>
      </p:sp>
      <p:sp>
        <p:nvSpPr>
          <p:cNvPr id="35" name="Text 28"/>
          <p:cNvSpPr/>
          <p:nvPr/>
        </p:nvSpPr>
        <p:spPr>
          <a:xfrm>
            <a:off x="642938" y="2652117"/>
            <a:ext cx="21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4</a:t>
            </a:r>
            <a:endParaRPr lang="en-US" sz="621" dirty="0"/>
          </a:p>
        </p:txBody>
      </p:sp>
      <p:sp>
        <p:nvSpPr>
          <p:cNvPr id="36" name="Text 29"/>
          <p:cNvSpPr/>
          <p:nvPr/>
        </p:nvSpPr>
        <p:spPr>
          <a:xfrm>
            <a:off x="1000069" y="2679799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5</a:t>
            </a:r>
            <a:endParaRPr lang="en-US" sz="621" dirty="0"/>
          </a:p>
        </p:txBody>
      </p:sp>
      <p:sp>
        <p:nvSpPr>
          <p:cNvPr id="37" name="Text 30"/>
          <p:cNvSpPr/>
          <p:nvPr/>
        </p:nvSpPr>
        <p:spPr>
          <a:xfrm>
            <a:off x="1273569" y="2679799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6</a:t>
            </a:r>
            <a:endParaRPr lang="en-US" sz="621" dirty="0"/>
          </a:p>
        </p:txBody>
      </p:sp>
      <p:sp>
        <p:nvSpPr>
          <p:cNvPr id="38" name="Text 31"/>
          <p:cNvSpPr/>
          <p:nvPr/>
        </p:nvSpPr>
        <p:spPr>
          <a:xfrm>
            <a:off x="1547068" y="2679799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7</a:t>
            </a:r>
            <a:endParaRPr lang="en-US" sz="621" dirty="0"/>
          </a:p>
        </p:txBody>
      </p:sp>
      <p:sp>
        <p:nvSpPr>
          <p:cNvPr id="39" name="Text 32"/>
          <p:cNvSpPr/>
          <p:nvPr/>
        </p:nvSpPr>
        <p:spPr>
          <a:xfrm>
            <a:off x="1820568" y="2679799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8</a:t>
            </a:r>
            <a:endParaRPr lang="en-US" sz="621" dirty="0"/>
          </a:p>
        </p:txBody>
      </p:sp>
      <p:sp>
        <p:nvSpPr>
          <p:cNvPr id="40" name="Text 33"/>
          <p:cNvSpPr/>
          <p:nvPr/>
        </p:nvSpPr>
        <p:spPr>
          <a:xfrm>
            <a:off x="2094068" y="2679799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9</a:t>
            </a:r>
            <a:endParaRPr lang="en-US" sz="621" dirty="0"/>
          </a:p>
        </p:txBody>
      </p:sp>
      <p:sp>
        <p:nvSpPr>
          <p:cNvPr id="41" name="Text 34"/>
          <p:cNvSpPr/>
          <p:nvPr/>
        </p:nvSpPr>
        <p:spPr>
          <a:xfrm>
            <a:off x="2283935" y="2652117"/>
            <a:ext cx="2163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10</a:t>
            </a:r>
            <a:endParaRPr lang="en-US" sz="621" dirty="0"/>
          </a:p>
        </p:txBody>
      </p:sp>
      <p:sp>
        <p:nvSpPr>
          <p:cNvPr id="42" name="Text 35"/>
          <p:cNvSpPr/>
          <p:nvPr/>
        </p:nvSpPr>
        <p:spPr>
          <a:xfrm>
            <a:off x="642938" y="2880717"/>
            <a:ext cx="21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11</a:t>
            </a:r>
            <a:endParaRPr lang="en-US" sz="621" dirty="0"/>
          </a:p>
        </p:txBody>
      </p:sp>
      <p:sp>
        <p:nvSpPr>
          <p:cNvPr id="43" name="Text 36"/>
          <p:cNvSpPr/>
          <p:nvPr/>
        </p:nvSpPr>
        <p:spPr>
          <a:xfrm>
            <a:off x="975568" y="2908399"/>
            <a:ext cx="980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12</a:t>
            </a:r>
            <a:endParaRPr lang="en-US" sz="621" dirty="0"/>
          </a:p>
        </p:txBody>
      </p:sp>
      <p:sp>
        <p:nvSpPr>
          <p:cNvPr id="44" name="Text 37"/>
          <p:cNvSpPr/>
          <p:nvPr/>
        </p:nvSpPr>
        <p:spPr>
          <a:xfrm>
            <a:off x="1249068" y="2908399"/>
            <a:ext cx="980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13</a:t>
            </a:r>
            <a:endParaRPr lang="en-US" sz="621" dirty="0"/>
          </a:p>
        </p:txBody>
      </p:sp>
      <p:sp>
        <p:nvSpPr>
          <p:cNvPr id="45" name="Text 38"/>
          <p:cNvSpPr/>
          <p:nvPr/>
        </p:nvSpPr>
        <p:spPr>
          <a:xfrm>
            <a:off x="1522568" y="2908399"/>
            <a:ext cx="980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14</a:t>
            </a:r>
            <a:endParaRPr lang="en-US" sz="621" dirty="0"/>
          </a:p>
        </p:txBody>
      </p:sp>
      <p:sp>
        <p:nvSpPr>
          <p:cNvPr id="46" name="Text 39"/>
          <p:cNvSpPr/>
          <p:nvPr/>
        </p:nvSpPr>
        <p:spPr>
          <a:xfrm>
            <a:off x="1796067" y="2908399"/>
            <a:ext cx="980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15</a:t>
            </a:r>
            <a:endParaRPr lang="en-US" sz="621" dirty="0"/>
          </a:p>
        </p:txBody>
      </p:sp>
      <p:sp>
        <p:nvSpPr>
          <p:cNvPr id="47" name="Text 40"/>
          <p:cNvSpPr/>
          <p:nvPr/>
        </p:nvSpPr>
        <p:spPr>
          <a:xfrm>
            <a:off x="2069567" y="2908399"/>
            <a:ext cx="980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16</a:t>
            </a:r>
            <a:endParaRPr lang="en-US" sz="621" dirty="0"/>
          </a:p>
        </p:txBody>
      </p:sp>
      <p:sp>
        <p:nvSpPr>
          <p:cNvPr id="48" name="Text 41"/>
          <p:cNvSpPr/>
          <p:nvPr/>
        </p:nvSpPr>
        <p:spPr>
          <a:xfrm>
            <a:off x="2283935" y="2880717"/>
            <a:ext cx="2163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17</a:t>
            </a:r>
            <a:endParaRPr lang="en-US" sz="621" dirty="0"/>
          </a:p>
        </p:txBody>
      </p:sp>
      <p:sp>
        <p:nvSpPr>
          <p:cNvPr id="49" name="Text 42"/>
          <p:cNvSpPr/>
          <p:nvPr/>
        </p:nvSpPr>
        <p:spPr>
          <a:xfrm>
            <a:off x="642938" y="3109317"/>
            <a:ext cx="21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18</a:t>
            </a:r>
            <a:endParaRPr lang="en-US" sz="621" dirty="0"/>
          </a:p>
        </p:txBody>
      </p:sp>
      <p:sp>
        <p:nvSpPr>
          <p:cNvPr id="50" name="Text 43"/>
          <p:cNvSpPr/>
          <p:nvPr/>
        </p:nvSpPr>
        <p:spPr>
          <a:xfrm>
            <a:off x="975568" y="3136999"/>
            <a:ext cx="980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19</a:t>
            </a:r>
            <a:endParaRPr lang="en-US" sz="621" dirty="0"/>
          </a:p>
        </p:txBody>
      </p:sp>
      <p:sp>
        <p:nvSpPr>
          <p:cNvPr id="51" name="Shape 44"/>
          <p:cNvSpPr/>
          <p:nvPr/>
        </p:nvSpPr>
        <p:spPr>
          <a:xfrm>
            <a:off x="1189937" y="3109317"/>
            <a:ext cx="216350" cy="171450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52" name="Text 45"/>
          <p:cNvSpPr/>
          <p:nvPr/>
        </p:nvSpPr>
        <p:spPr>
          <a:xfrm>
            <a:off x="1249068" y="3136999"/>
            <a:ext cx="980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20</a:t>
            </a:r>
            <a:endParaRPr lang="en-US" sz="621" dirty="0"/>
          </a:p>
        </p:txBody>
      </p:sp>
      <p:sp>
        <p:nvSpPr>
          <p:cNvPr id="53" name="Text 46"/>
          <p:cNvSpPr/>
          <p:nvPr/>
        </p:nvSpPr>
        <p:spPr>
          <a:xfrm>
            <a:off x="1463436" y="3109317"/>
            <a:ext cx="21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21</a:t>
            </a:r>
            <a:endParaRPr lang="en-US" sz="621" dirty="0"/>
          </a:p>
        </p:txBody>
      </p:sp>
      <p:sp>
        <p:nvSpPr>
          <p:cNvPr id="54" name="Text 47"/>
          <p:cNvSpPr/>
          <p:nvPr/>
        </p:nvSpPr>
        <p:spPr>
          <a:xfrm>
            <a:off x="1736936" y="3109317"/>
            <a:ext cx="21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22</a:t>
            </a:r>
            <a:endParaRPr lang="en-US" sz="621" dirty="0"/>
          </a:p>
        </p:txBody>
      </p:sp>
      <p:sp>
        <p:nvSpPr>
          <p:cNvPr id="55" name="Text 48"/>
          <p:cNvSpPr/>
          <p:nvPr/>
        </p:nvSpPr>
        <p:spPr>
          <a:xfrm>
            <a:off x="2010435" y="3109317"/>
            <a:ext cx="21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23</a:t>
            </a:r>
            <a:endParaRPr lang="en-US" sz="621" dirty="0"/>
          </a:p>
        </p:txBody>
      </p:sp>
      <p:sp>
        <p:nvSpPr>
          <p:cNvPr id="56" name="Text 49"/>
          <p:cNvSpPr/>
          <p:nvPr/>
        </p:nvSpPr>
        <p:spPr>
          <a:xfrm>
            <a:off x="2283935" y="3109317"/>
            <a:ext cx="2163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24</a:t>
            </a:r>
            <a:endParaRPr lang="en-US" sz="621" dirty="0"/>
          </a:p>
        </p:txBody>
      </p:sp>
      <p:sp>
        <p:nvSpPr>
          <p:cNvPr id="57" name="Shape 50"/>
          <p:cNvSpPr/>
          <p:nvPr/>
        </p:nvSpPr>
        <p:spPr>
          <a:xfrm>
            <a:off x="2614613" y="71437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8" name="Text 51"/>
          <p:cNvSpPr/>
          <p:nvPr/>
        </p:nvSpPr>
        <p:spPr>
          <a:xfrm>
            <a:off x="2614613" y="71437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59" name="Shape 52"/>
          <p:cNvSpPr/>
          <p:nvPr/>
        </p:nvSpPr>
        <p:spPr>
          <a:xfrm>
            <a:off x="535781" y="3495080"/>
            <a:ext cx="2071688" cy="43041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621506" y="3580805"/>
            <a:ext cx="6004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2026.01.20 (화)</a:t>
            </a:r>
            <a:endParaRPr lang="en-US" sz="584" dirty="0"/>
          </a:p>
        </p:txBody>
      </p:sp>
      <p:sp>
        <p:nvSpPr>
          <p:cNvPr id="61" name="Text 54"/>
          <p:cNvSpPr/>
          <p:nvPr/>
        </p:nvSpPr>
        <p:spPr>
          <a:xfrm>
            <a:off x="621506" y="3721894"/>
            <a:ext cx="6004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A 아파트 신축공사</a:t>
            </a:r>
            <a:endParaRPr lang="en-US" sz="516" dirty="0"/>
          </a:p>
        </p:txBody>
      </p:sp>
      <p:sp>
        <p:nvSpPr>
          <p:cNvPr id="62" name="Text 55"/>
          <p:cNvSpPr/>
          <p:nvPr/>
        </p:nvSpPr>
        <p:spPr>
          <a:xfrm>
            <a:off x="2232673" y="3645098"/>
            <a:ext cx="28907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1.0 MD</a:t>
            </a:r>
            <a:endParaRPr lang="en-US" sz="584" dirty="0"/>
          </a:p>
        </p:txBody>
      </p:sp>
      <p:sp>
        <p:nvSpPr>
          <p:cNvPr id="63" name="Shape 56"/>
          <p:cNvSpPr/>
          <p:nvPr/>
        </p:nvSpPr>
        <p:spPr>
          <a:xfrm>
            <a:off x="535781" y="3982641"/>
            <a:ext cx="2071688" cy="43041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621506" y="4068366"/>
            <a:ext cx="6004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2026.01.19 (월)</a:t>
            </a:r>
            <a:endParaRPr lang="en-US" sz="584" dirty="0"/>
          </a:p>
        </p:txBody>
      </p:sp>
      <p:sp>
        <p:nvSpPr>
          <p:cNvPr id="65" name="Text 58"/>
          <p:cNvSpPr/>
          <p:nvPr/>
        </p:nvSpPr>
        <p:spPr>
          <a:xfrm>
            <a:off x="621506" y="4209455"/>
            <a:ext cx="6004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A 아파트 신축공사</a:t>
            </a:r>
            <a:endParaRPr lang="en-US" sz="516" dirty="0"/>
          </a:p>
        </p:txBody>
      </p:sp>
      <p:sp>
        <p:nvSpPr>
          <p:cNvPr id="66" name="Text 59"/>
          <p:cNvSpPr/>
          <p:nvPr/>
        </p:nvSpPr>
        <p:spPr>
          <a:xfrm>
            <a:off x="2232673" y="4132659"/>
            <a:ext cx="28907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1.0 MD</a:t>
            </a:r>
            <a:endParaRPr lang="en-US" sz="584" dirty="0"/>
          </a:p>
        </p:txBody>
      </p:sp>
      <p:sp>
        <p:nvSpPr>
          <p:cNvPr id="67" name="Shape 60"/>
          <p:cNvSpPr/>
          <p:nvPr/>
        </p:nvSpPr>
        <p:spPr>
          <a:xfrm>
            <a:off x="2400300" y="39719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8" name="Text 61"/>
          <p:cNvSpPr/>
          <p:nvPr/>
        </p:nvSpPr>
        <p:spPr>
          <a:xfrm>
            <a:off x="2400300" y="397192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69" name="Text 62"/>
          <p:cNvSpPr/>
          <p:nvPr/>
        </p:nvSpPr>
        <p:spPr>
          <a:xfrm>
            <a:off x="3429000" y="428625"/>
            <a:ext cx="5286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[노무자] 나의 출역 현황 (Mobile App)</a:t>
            </a:r>
            <a:endParaRPr lang="en-US" sz="1602" dirty="0"/>
          </a:p>
        </p:txBody>
      </p:sp>
      <p:sp>
        <p:nvSpPr>
          <p:cNvPr id="70" name="Text 63"/>
          <p:cNvSpPr/>
          <p:nvPr/>
        </p:nvSpPr>
        <p:spPr>
          <a:xfrm>
            <a:off x="3429000" y="817959"/>
            <a:ext cx="52863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개인 출역 캘린더, 예상 급여 조회 및 상세 이력 UI</a:t>
            </a:r>
            <a:endParaRPr lang="en-US" sz="834" dirty="0"/>
          </a:p>
        </p:txBody>
      </p:sp>
      <p:sp>
        <p:nvSpPr>
          <p:cNvPr id="71" name="Shape 64"/>
          <p:cNvSpPr/>
          <p:nvPr/>
        </p:nvSpPr>
        <p:spPr>
          <a:xfrm>
            <a:off x="3429000" y="1346597"/>
            <a:ext cx="35718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2" name="Shape 65"/>
          <p:cNvSpPr/>
          <p:nvPr/>
        </p:nvSpPr>
        <p:spPr>
          <a:xfrm>
            <a:off x="3429000" y="1637705"/>
            <a:ext cx="3571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3" name="Text 66"/>
          <p:cNvSpPr/>
          <p:nvPr/>
        </p:nvSpPr>
        <p:spPr>
          <a:xfrm>
            <a:off x="3429000" y="1346597"/>
            <a:ext cx="35718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No</a:t>
            </a:r>
            <a:endParaRPr lang="en-US" sz="634" dirty="0"/>
          </a:p>
        </p:txBody>
      </p:sp>
      <p:sp>
        <p:nvSpPr>
          <p:cNvPr id="74" name="Shape 67"/>
          <p:cNvSpPr/>
          <p:nvPr/>
        </p:nvSpPr>
        <p:spPr>
          <a:xfrm>
            <a:off x="3786188" y="1346597"/>
            <a:ext cx="857250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5" name="Shape 68"/>
          <p:cNvSpPr/>
          <p:nvPr/>
        </p:nvSpPr>
        <p:spPr>
          <a:xfrm>
            <a:off x="3786188" y="1637705"/>
            <a:ext cx="8572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6" name="Text 69"/>
          <p:cNvSpPr/>
          <p:nvPr/>
        </p:nvSpPr>
        <p:spPr>
          <a:xfrm>
            <a:off x="3786188" y="1346597"/>
            <a:ext cx="857250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Element</a:t>
            </a:r>
            <a:endParaRPr lang="en-US" sz="634" dirty="0"/>
          </a:p>
        </p:txBody>
      </p:sp>
      <p:sp>
        <p:nvSpPr>
          <p:cNvPr id="77" name="Shape 70"/>
          <p:cNvSpPr/>
          <p:nvPr/>
        </p:nvSpPr>
        <p:spPr>
          <a:xfrm>
            <a:off x="4643438" y="1346597"/>
            <a:ext cx="4071938" cy="30539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8" name="Shape 71"/>
          <p:cNvSpPr/>
          <p:nvPr/>
        </p:nvSpPr>
        <p:spPr>
          <a:xfrm>
            <a:off x="4643438" y="1637705"/>
            <a:ext cx="407193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9" name="Text 72"/>
          <p:cNvSpPr/>
          <p:nvPr/>
        </p:nvSpPr>
        <p:spPr>
          <a:xfrm>
            <a:off x="4643438" y="1346597"/>
            <a:ext cx="4071938" cy="30539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Implementation Spec</a:t>
            </a:r>
            <a:endParaRPr lang="en-US" sz="634" dirty="0"/>
          </a:p>
        </p:txBody>
      </p:sp>
      <p:sp>
        <p:nvSpPr>
          <p:cNvPr id="80" name="Shape 73"/>
          <p:cNvSpPr/>
          <p:nvPr/>
        </p:nvSpPr>
        <p:spPr>
          <a:xfrm>
            <a:off x="3514725" y="173057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1" name="Text 74"/>
          <p:cNvSpPr/>
          <p:nvPr/>
        </p:nvSpPr>
        <p:spPr>
          <a:xfrm>
            <a:off x="3514725" y="173057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82" name="Text 75"/>
          <p:cNvSpPr/>
          <p:nvPr/>
        </p:nvSpPr>
        <p:spPr>
          <a:xfrm>
            <a:off x="3786188" y="1644848"/>
            <a:ext cx="857250" cy="5643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Salary Card</a:t>
            </a:r>
            <a:endParaRPr lang="en-US" sz="674" dirty="0"/>
          </a:p>
        </p:txBody>
      </p:sp>
      <p:sp>
        <p:nvSpPr>
          <p:cNvPr id="83" name="Text 76"/>
          <p:cNvSpPr/>
          <p:nvPr/>
        </p:nvSpPr>
        <p:spPr>
          <a:xfrm>
            <a:off x="4729163" y="1730573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API: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GET /api/v1/worker/summary</a:t>
            </a:r>
            <a:endParaRPr lang="en-US" sz="674" dirty="0"/>
          </a:p>
        </p:txBody>
      </p:sp>
      <p:sp>
        <p:nvSpPr>
          <p:cNvPr id="84" name="Text 77"/>
          <p:cNvSpPr/>
          <p:nvPr/>
        </p:nvSpPr>
        <p:spPr>
          <a:xfrm>
            <a:off x="4729163" y="1857375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Logic: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totalManDay * unitPrice</a:t>
            </a:r>
            <a:endParaRPr lang="en-US" sz="674" dirty="0"/>
          </a:p>
        </p:txBody>
      </p:sp>
      <p:sp>
        <p:nvSpPr>
          <p:cNvPr id="85" name="Text 78"/>
          <p:cNvSpPr/>
          <p:nvPr/>
        </p:nvSpPr>
        <p:spPr>
          <a:xfrm>
            <a:off x="4729163" y="1984177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Format: 천 단위 콤마 (LocaleString)</a:t>
            </a:r>
            <a:endParaRPr lang="en-US" sz="674" dirty="0"/>
          </a:p>
        </p:txBody>
      </p:sp>
      <p:sp>
        <p:nvSpPr>
          <p:cNvPr id="86" name="Shape 79"/>
          <p:cNvSpPr/>
          <p:nvPr/>
        </p:nvSpPr>
        <p:spPr>
          <a:xfrm>
            <a:off x="3514725" y="2298502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7" name="Text 80"/>
          <p:cNvSpPr/>
          <p:nvPr/>
        </p:nvSpPr>
        <p:spPr>
          <a:xfrm>
            <a:off x="3514725" y="229850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88" name="Text 81"/>
          <p:cNvSpPr/>
          <p:nvPr/>
        </p:nvSpPr>
        <p:spPr>
          <a:xfrm>
            <a:off x="3786188" y="2209205"/>
            <a:ext cx="857250" cy="56792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Calendar</a:t>
            </a:r>
            <a:endParaRPr lang="en-US" sz="674" dirty="0"/>
          </a:p>
        </p:txBody>
      </p:sp>
      <p:sp>
        <p:nvSpPr>
          <p:cNvPr id="89" name="Text 82"/>
          <p:cNvSpPr/>
          <p:nvPr/>
        </p:nvSpPr>
        <p:spPr>
          <a:xfrm>
            <a:off x="4729163" y="2298502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Lib: react-calendar or custom grid</a:t>
            </a:r>
            <a:endParaRPr lang="en-US" sz="674" dirty="0"/>
          </a:p>
        </p:txBody>
      </p:sp>
      <p:sp>
        <p:nvSpPr>
          <p:cNvPr id="90" name="Text 83"/>
          <p:cNvSpPr/>
          <p:nvPr/>
        </p:nvSpPr>
        <p:spPr>
          <a:xfrm>
            <a:off x="4729163" y="2425303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Data: 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GET /api/v1/worker/attendance/monthly</a:t>
            </a:r>
            <a:endParaRPr lang="en-US" sz="674" dirty="0"/>
          </a:p>
        </p:txBody>
      </p:sp>
      <p:sp>
        <p:nvSpPr>
          <p:cNvPr id="91" name="Text 84"/>
          <p:cNvSpPr/>
          <p:nvPr/>
        </p:nvSpPr>
        <p:spPr>
          <a:xfrm>
            <a:off x="4729163" y="2552105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Dot: 출근(Green), 지각(Yellow), 결근(Red)</a:t>
            </a:r>
            <a:endParaRPr lang="en-US" sz="674" dirty="0"/>
          </a:p>
        </p:txBody>
      </p:sp>
      <p:sp>
        <p:nvSpPr>
          <p:cNvPr id="92" name="Shape 85"/>
          <p:cNvSpPr/>
          <p:nvPr/>
        </p:nvSpPr>
        <p:spPr>
          <a:xfrm>
            <a:off x="3514725" y="2866430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3" name="Text 86"/>
          <p:cNvSpPr/>
          <p:nvPr/>
        </p:nvSpPr>
        <p:spPr>
          <a:xfrm>
            <a:off x="3514725" y="286643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94" name="Text 87"/>
          <p:cNvSpPr/>
          <p:nvPr/>
        </p:nvSpPr>
        <p:spPr>
          <a:xfrm>
            <a:off x="3786188" y="2777133"/>
            <a:ext cx="857250" cy="57685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History List</a:t>
            </a:r>
            <a:endParaRPr lang="en-US" sz="674" dirty="0"/>
          </a:p>
        </p:txBody>
      </p:sp>
      <p:sp>
        <p:nvSpPr>
          <p:cNvPr id="95" name="Text 88"/>
          <p:cNvSpPr/>
          <p:nvPr/>
        </p:nvSpPr>
        <p:spPr>
          <a:xfrm>
            <a:off x="4729163" y="2866430"/>
            <a:ext cx="39004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Filter: Selected Date from Calendar</a:t>
            </a:r>
            <a:endParaRPr lang="en-US" sz="674" dirty="0"/>
          </a:p>
        </p:txBody>
      </p:sp>
      <p:sp>
        <p:nvSpPr>
          <p:cNvPr id="96" name="Text 89"/>
          <p:cNvSpPr/>
          <p:nvPr/>
        </p:nvSpPr>
        <p:spPr>
          <a:xfrm>
            <a:off x="4729163" y="2993231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Item: 날짜, 현장명, 공수 표시</a:t>
            </a:r>
            <a:endParaRPr lang="en-US" sz="674" dirty="0"/>
          </a:p>
        </p:txBody>
      </p:sp>
      <p:sp>
        <p:nvSpPr>
          <p:cNvPr id="97" name="Text 90"/>
          <p:cNvSpPr/>
          <p:nvPr/>
        </p:nvSpPr>
        <p:spPr>
          <a:xfrm>
            <a:off x="4729163" y="3128963"/>
            <a:ext cx="39004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Empty: "출역 기록이 없습니다."</a:t>
            </a:r>
            <a:endParaRPr lang="en-US" sz="674" dirty="0"/>
          </a:p>
        </p:txBody>
      </p:sp>
      <p:sp>
        <p:nvSpPr>
          <p:cNvPr id="98" name="Shape 91"/>
          <p:cNvSpPr/>
          <p:nvPr/>
        </p:nvSpPr>
        <p:spPr>
          <a:xfrm>
            <a:off x="3429000" y="3571875"/>
            <a:ext cx="5286375" cy="129290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9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1875" y="3747008"/>
            <a:ext cx="114300" cy="114300"/>
          </a:xfrm>
          <a:prstGeom prst="rect">
            <a:avLst/>
          </a:prstGeom>
        </p:spPr>
      </p:pic>
      <p:sp>
        <p:nvSpPr>
          <p:cNvPr id="100" name="Text 92"/>
          <p:cNvSpPr/>
          <p:nvPr/>
        </p:nvSpPr>
        <p:spPr>
          <a:xfrm>
            <a:off x="3757613" y="3722005"/>
            <a:ext cx="100606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59E0B"/>
                </a:solidFill>
              </a:rPr>
              <a:t>[참고] 급여 정산 기준</a:t>
            </a:r>
            <a:endParaRPr lang="en-US" sz="784" dirty="0"/>
          </a:p>
        </p:txBody>
      </p:sp>
      <p:sp>
        <p:nvSpPr>
          <p:cNvPr id="101" name="Text 93"/>
          <p:cNvSpPr/>
          <p:nvPr/>
        </p:nvSpPr>
        <p:spPr>
          <a:xfrm>
            <a:off x="3571875" y="3972037"/>
            <a:ext cx="5000625" cy="742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• 공수 산정: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- 1.0 MD: 8시간 근무 기준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- 0.5 MD: 4시간 근무 (오전/오후)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- 1.5 MD: 연장 근무 (2시간 이상)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• 지급일: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매월 10일 (전월 실적 기준)</a:t>
            </a:r>
            <a:endParaRPr lang="en-US" sz="6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2026-01-19T05:02:19Z</dcterms:created>
  <dcterms:modified xsi:type="dcterms:W3CDTF">2026-01-19T05:02:19Z</dcterms:modified>
</cp:coreProperties>
</file>